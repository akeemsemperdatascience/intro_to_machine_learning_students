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279" r:id="rId2"/>
    <p:sldId id="256" r:id="rId3"/>
    <p:sldId id="260" r:id="rId4"/>
    <p:sldId id="280" r:id="rId5"/>
    <p:sldId id="265" r:id="rId6"/>
    <p:sldId id="261" r:id="rId7"/>
    <p:sldId id="262" r:id="rId8"/>
    <p:sldId id="257" r:id="rId9"/>
    <p:sldId id="258" r:id="rId10"/>
    <p:sldId id="259" r:id="rId11"/>
    <p:sldId id="264" r:id="rId12"/>
    <p:sldId id="287" r:id="rId13"/>
    <p:sldId id="266" r:id="rId14"/>
    <p:sldId id="267" r:id="rId15"/>
    <p:sldId id="286" r:id="rId16"/>
    <p:sldId id="289" r:id="rId17"/>
    <p:sldId id="290" r:id="rId18"/>
    <p:sldId id="288" r:id="rId19"/>
    <p:sldId id="281" r:id="rId20"/>
    <p:sldId id="274" r:id="rId21"/>
    <p:sldId id="285" r:id="rId22"/>
    <p:sldId id="275" r:id="rId23"/>
    <p:sldId id="291" r:id="rId24"/>
    <p:sldId id="278" r:id="rId25"/>
    <p:sldId id="282" r:id="rId26"/>
    <p:sldId id="276" r:id="rId27"/>
    <p:sldId id="292" r:id="rId28"/>
    <p:sldId id="277" r:id="rId29"/>
    <p:sldId id="293" r:id="rId30"/>
    <p:sldId id="283" r:id="rId31"/>
    <p:sldId id="284" r:id="rId32"/>
    <p:sldId id="268" r:id="rId33"/>
    <p:sldId id="269" r:id="rId34"/>
    <p:sldId id="270" r:id="rId35"/>
    <p:sldId id="272" r:id="rId36"/>
    <p:sldId id="27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0E33CC-5546-A445-B5AD-5431379A0D80}">
          <p14:sldIdLst>
            <p14:sldId id="279"/>
            <p14:sldId id="256"/>
            <p14:sldId id="260"/>
            <p14:sldId id="280"/>
            <p14:sldId id="265"/>
            <p14:sldId id="261"/>
            <p14:sldId id="262"/>
            <p14:sldId id="257"/>
            <p14:sldId id="258"/>
            <p14:sldId id="259"/>
            <p14:sldId id="264"/>
            <p14:sldId id="287"/>
            <p14:sldId id="266"/>
            <p14:sldId id="267"/>
          </p14:sldIdLst>
        </p14:section>
        <p14:section name="Fit" id="{41115A59-0199-AD4C-87B0-3F3BB1023017}">
          <p14:sldIdLst>
            <p14:sldId id="286"/>
            <p14:sldId id="289"/>
            <p14:sldId id="290"/>
            <p14:sldId id="288"/>
            <p14:sldId id="281"/>
            <p14:sldId id="274"/>
            <p14:sldId id="285"/>
            <p14:sldId id="275"/>
            <p14:sldId id="291"/>
            <p14:sldId id="278"/>
            <p14:sldId id="282"/>
            <p14:sldId id="276"/>
            <p14:sldId id="292"/>
            <p14:sldId id="277"/>
            <p14:sldId id="293"/>
            <p14:sldId id="283"/>
            <p14:sldId id="284"/>
            <p14:sldId id="268"/>
            <p14:sldId id="269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4"/>
    <p:restoredTop sz="94799"/>
  </p:normalViewPr>
  <p:slideViewPr>
    <p:cSldViewPr snapToGrid="0" snapToObjects="1">
      <p:cViewPr varScale="1">
        <p:scale>
          <a:sx n="171" d="100"/>
          <a:sy n="17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8:05:07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2412 1647 24575,'-4'6'0,"-3"26"0,1 5 0,3-15 0,-3 18 0,1-5-3569,5-28 3569,0 8 0,0 16 0,0-15-3185,0 16 1,0-1 3184,0-16 0,0 24-2219,3 6 2219,-3-30-1922,3 30 1922,-3-39-845,0 22 0,0 4 845,0-13 1166,0 9 1,0 4-1167,1 2 0,1-4 0,-1-10 0,0 11 0,0 5-460,0-1 1,-2-4 459,1-5 1517,0 5 0,0 4-1517,6 18-3034,-5-36 3034,5 33 3034,2-5-3034,-3 1 4537,4 6-4537,-4-15 0,-1-5-4522,-3-17 4522,4 24 0,7 11 0,-10-30 0,12 31 0,1 0-3039,-9-34 3039,8 31 840,-3-17-840,-5-21 3454,11 31-3454,-10-32 0,-1 9 0,-3-7 5166,-3 4-5166,0 7 4885,0-4-4885,0 7 0,0-17 0,-3 12 0,3-12 0,-6 12 0,6-12 0,-6 15 0,3-2 0,-1-3 0,-4 19 0,4-30 0,-5 29 0,5-29 0,-1 18 0,7-20-6784,46-2 6784,-30-5 0,38-3 0,-46 2-1513,24-3 1,16-3 0,-7 2 1512,-2-1-250,-5 1 0,8-2 0,3 0 250,-3 2 0,5-1 0,-3 1 0,-9 0-2786,17-5 2786,-16 5 0,10 0 0,2 0 0,-3-1 0,4-3 0,-3-1 0,-7 3 0,9 2 0,-2-4 0,9-3 0,-17 6 2786,-26 7-2786,36-12 0,5-1-2284,-21 8 2284,13-5 0,5-1 0,-8 5 0,-8 3 0,-9 1 0,11-2 0,3-1 0,-7 1 0,-4 1 0,-7 2-1015,11-2 1,-5 0 1014,-23 4 547,45-6-547,-31 5 0,28-5 0,0 1 0,-28 3 2300,31-3-2300,-12-1 0,-24 5 0,24-5 2216,-2 1-2216,-1 1 4537,7-3-4537,10 2-4537,-40 4 4537,18-2 0,9 1 0,-25 1 0,27-2 0,12 0-3034,-33 3 3034,32-3 0,1 3 0,-36 0 3034,35 0-3034,-8 0 0,-29 0 0,19 0 0,-2 0 0,-21 0 0,27 3 0,-30-3 4537,17 3-4537,-12-3 6784,2 0-6784,1-3 0,-3 2 0,-1-1 0,-1 2 0,-6 0 0,-3-3 0,9-12-3731,-10 6 3731,9-11-5548,6-31 5548,-10 31 0,3-8 0,1-4 0,-2-7 0,0 3-3710,3-6 3710,-4 5 0,2-4 0,3-4 0,0 5-1366,-5 11 1366,6-17 0,2-7 0,0 7 0,0 2 0,-6 15 0,0-2-677,6-14 1,2-8 0,-3 12 676,0 9 0,-2-6 0,-2 5 0,-7 21 0,6-19 0,0-4 0,-1 4 1014,-1 3 1,1-2-1015,1-6 0,-2 3 3034,-4 2-3034,5-21 0,1 0 0,-6 23 0,3-21 0,-5 43 0,4-38 0,-2 27 0,2-26-3034,6 10 3034,-10 22 0,9-19 0,-5 19 3034,-4 7-3034,-17-1 0,5 7 0,-35 4 0,34-1 0,-21-1 0,0 0 0,17 1 0,-30-2 0,-11 1 0,29-2 0,-10 0 0,-10 0 0,9-1 0,8 0 0,-4 0 0,-3 0 0,-5 0 0,5 0 0,13 0-1517,-18 0 0,6 0 1517,29 0-1015,-24 0 1,-5 0 1014,13 0 1014,-7 0 1,-5 0-1015,-2 5 0,4 0 0,8-3 0,-10 3 0,2 0 3034,21-2-3034,-31 2 0,-4 1 0,17 0 0,-11 0 0,-10 2 0,0 2 0,-4 2 0,8-2-761,18-3 1,-3 0 760,-8 2 0,-15 3 0,-8 3 0,-4 0 0,3 0 0,6-3 0,14-2 0,-1-2 0,1 0 0,-4 3 0,-13 4 0,-2 0 0,8-2 0,16-5-948,8-7 948,-2 4 0,-15 3 0,-8 2 0,-2 0 0,4-1 0,12-3 0,-3 0 0,0-1 0,-3 2 0,-9 2 0,-5 1 0,2-1 0,9-3 0,-1-2 0,6-2 0,8-1-1325,-10 1 1325,7 0 0,-6 1 0,7-1 0,0-2 0,24 0 760,-21 0-760,20 0 2845,8 0-2845,-8 0 0,-17-6 0,21 5 4443,-34-10-4443,26 9 6644,-1-3-6644,-1 5 0,15 0 0,-3 0 0,-6 0 0,8 0 423,-9 0-423,-12-3 0,17 2-6784,-23-4 6784,28 4 0,-9-2 0,9 3 0,-3 0 0,7 0 0,2 0 0</inkml:trace>
  <inkml:trace contextRef="#ctx0" brushRef="#br0" timeOffset="1384">3827 3529 24575,'-12'8'0,"4"-6"0,-20 28 0,18-24 0,-13 18 0,-10 15-8503,20-23 8503,-18 25-1409,8-6 0,2-3 1409,5-8-1517,-7 11 0,1-3 1517,13-20-1015,-21 33 1,-3 6 1014,10-20 0,2 1 0,-3 7 0,5-12 0,7-18 0,-10 16 0,-9 11 0,5-6 0,-7 5 0,4-3 0,-9 9 0,0-1 0,10-10 0,3-4 1014,-5 3 1,0 3-1015,-3 10 0,20-27 0,-18 27 0,6-1 0,17-25 3034,-15 25-3034,-5 7-3034,22-32 3034,-21 32 0,12-20 0,2-3 0,0-8 1517,-1 8 0,-3 3-1517,-3 11 0,1-4-3034,8-10 3034,-8 10 0,-1 4 0,9 0 0,1-5 0,0-11 1517,-2 11 0,2 2-1517,5-8 0,4-16 0,-4 22 0,-4-18 0,4-3 0,-6-1 4537,10-7-4537,-18 10 0,12-9 0,-10 11 0,-2 2 0,12-8-2269,-8 13 1,-1 2 2268,7-13 0,-5 21 0,-8 7 0,14-25-1150,-9 17 0,1 0 1150,9-20 0,-9 20 0,15-29 0,-2 2 0</inkml:trace>
  <inkml:trace contextRef="#ctx0" brushRef="#br0" timeOffset="4219">2629 5724 24575,'-16'4'0,"4"-2"0,-11-2 0,13 0-9831,-37 0 8341,34 0 1381,-21 0 109,28 0-1627,-44 0 1627,30 0 0,-34 0 0,3-2 0,2 0 0,7 1 0,-4 0 0,-10-2 0,13 1 0,-5-1 0,1 1 0,9 0-649,9 0 0,0 1 649,-22-1 0,-9-1 0,0-1 0,1-2 0,1 0 0,11 1 0,-2 1-677,-3-1 1,-11-2 0,21 3 676,29 4 0,-22-3 0,-3-1 0,12 2 1014,-8-1 1,-2-1-1015,0 2 3034,22 1-3034,-31 12 0,37-8 4537,-4 14-4537,-1 0 0,7-8 0,-14 25 0,15-24 6784,-6 7-6784,11-9-6784,8 21 6784,-5-14 0,11 16-4537,0 16 4537,-5-30 0,6 36 0,-7-19 0,-2-2-3034,-3-3 3034,2 4 0,1 3 0,-4 3 0,-1-4 0,-1-8 0,2 12 0,-1-4 0,-1-25-374,0 25 1,0 7 373,0 3 0,0-1 0,0 7 0,1-1 0,-1 5 0,2-8 0,0-16 0,1-1 0,-2 16 0,0 7 0,0-13 2132,3-20-2132,2 17 0,1 16 0,0 3 0,-1-12 0,-1-13 0,0 0 0,1 9 0,0 8 0,1 3 0,1-4 0,4 6 0,1-1 0,-3-9-1790,-2 1 1790,2 3 0,2 9 0,-3-18 2833,-6-25-2833,6 15 0,2 3 0,2-7 303,4 13 0,1-1-303,0-15 4537,-2 4-4537,-3-8 6784,-8-13-6784,18 1-982,-14-5 982,12 0-6459,13 0 6459,-21 0 0,21-2 0,-28 1 0,21-5 0,3-2-4319,-8 2 4319,5 1 0,4-1-1298,14-8 1,-2 1 1297,-12 5 0,7-4 0,13-5 0,1 0 0,-12 4 0,1-1-508,-3 1 1,12-3 0,-1-1 0,-13 5 507,-7 0 1014,9 0 1,3 0-1015,-2-1 0,-6 2 0,-5 6 0,6-6 0,4-1 0,-1 0 0,-6 2 0,-10 2 1517,11-3 0,2-1-1517,6-6 0,-26 11 0,16-7 0,-1 1 1302,-18 10-1302,12-11 1969,-6 8-1969,-11 1-1762,23-6 1762,-23 7 0,11-2-3534,8 0 3534,-15 3 0,17-1-888,21 2 888,-30 2 1615,32 0-1615,-1 0 0,-18 0-1736,24 0 1736,-34 0 0,32 0 0,-35 2 3034,32-1-3034,-10 2-3034,-25-3 3034,24 0 320,-7 0-320,-20 0 3192,45-6-3192,-12-4 0,-5 0 0,4 2 0,-4 1 0,-22 3 0,32-1-239,-19 2 0,-3 0 239,-8-1 0,8 1 0,5 0 0,1-2 0,-4 1-3034,-7 3 3034,7-3 0,3 0 0,6-3 0,-24 0 3034,36-2-3034,-45-16-656,8 13 656,-14-13 0,0-1 0,0 15 0,0-15 0,6-8 0,-5 21 0,5-21 0,-6 27 0,2-32-2378,-1 24 2378,2-24 0,-1-14 0,-1 2 0,-3 23 0,4-28 0,-2 10 0,-3 42-1706,0-16 1706,2 10 2189,-1-10-2189,-7-22 3273,7 26-3273,-2-18 0,0 1 0,4 20 4894,-3-29-4894,0 25 0,0-3 0,0 0 0,3 12 5705,-3-6-5705,2 7 0,-1-5 0,2-3 0,2-2 0,2-2 0,-1 7 0,3-6 0,3-4 0,-4 4 0,9-16 0,-10 24 0,11-24 0,-2 10 0,0 1 0,2-17 0,-11 29 0,4-12 0,-4 1 0,-1-5 0,0-1 0,0-17 0,-3 11 0,3 3 0,-3-14 0,0 31 0,0-29 0,0 29 0,-3-31 0,3 34-6784,-3-31 6784,3 31 0,-6-28 0,2 17-4537,-7-12 4537,7 15 0,-5-4 0,6 9 0,-6 0 0,2 6 4537,-2 8-4537,-22 0 0,16 0 0,-17 0 0,-20 0 0,32 0 0,-30 0 0,-1 0 0,27 0 0,-32 0 0,20-1 0,4-1-4537,9-1 4537,-9 1 0,-2 0-3034,-19-3 3034,36 1 777,-33 1-777,43 0-2286,-32-3 2286,25 5 0,-18-4 0,0-1 0,20 5 2286,-19-5-2286,11 6 0,10 0 0,-23 0 0,23 0 0,-29-3 0,28 3 2257,-15-3-2257,-10-3 4,22 5-4,-22-5 845,-12-2-845,29 3-1658,-25-1 1,-1 0 1657,26 3 0,-29 0 0,4 6 3311,28-3-3311,-21 6 0,2-1 3692,22-3-3692,-38 12 6784,41-13-6784,-13 5 0,17-6 0,0 3 0,3 0 0,-3 1 0,5 4 0,13-4 0,-3 5 0,9-6 0,5 3 0,-16-5 0,9 1 0</inkml:trace>
  <inkml:trace contextRef="#ctx0" brushRef="#br0" timeOffset="5270">4511 3531 24575,'-7'17'0,"4"-10"-9831,6 32 8341,-2-28-665,21 42 2155,-15-40 2155,11 20-2155,12 6-3034,-20-24 3034,21 24 0,-10-14 0,-2-3 0,-7-2 1517,7 2 0,3 4-1517,9 16 0,-2-4-3034,-6-14 3034,7 13 0,2 6 0,-6-2 0,-5-5 2835,-4-7-2835,0 6 0,4 13 0,0 1 0,-6-12 0,-5-3 0,5 14 0,2 12 0,-8-14 0,0 5 0,-2 0 0,0-8-996,0-4 0,2 4 996,-2-4 0,2 12 0,2 8 0,1 6 0,1 1 0,-1 0 0,-1-5 0,-1-6 0,-1-11 0,0 3 0,-1-9 0,1 6 0,0 3 0,2 5 0,1 6 0,0 1 0,0 2 0,0-2 0,0-5 0,-1 3 0,2 2 0,-2-1 0,1-4 0,-2-4 0,0-8-1103,2 13 1,1 0 1102,-4-12 0,1 8 0,0 5 0,1 2 0,1 1 0,1-2 0,1-6 0,4 4 0,3-1 0,0-3 0,-1-4 0,-4-7 0,0 5 0,0-1 181,0-1 1,2 9 0,3 2 0,0-2-1,-1-11-181,13 7 0,-4-12 0,-8-2 0,8 5 0,3 1 0,5-1 0,-26-25 2810,26 23-2810,-20-15 678,-5-12-678,7 13 0,-11-22 0,-7-2 4537,1-22-4537,-2 10 0,0-5 0,0 12 0</inkml:trace>
  <inkml:trace contextRef="#ctx0" brushRef="#br0" timeOffset="8602">6082 7566 24575,'0'-6'0,"-3"2"0,-12-1 0,6 1-9831,-24-5 8341,22 5 1490,-11-1-2155,-23-4 2155,29 7 2155,-28-6-2155,7 2 0,3-1-3034,12 2 3034,-11-2 0,-7 0 0,-12 4 0,5 1 0,15 1 0,-16-1 0,-4 1 0,16 5 0,6 1 0,1-3-1015,-18 5 1,3-1 1014,26-4 2029,-24 6-2029,25-4 0,-19-1 0,18 0 3034,-24-3-3034,25 0 0,-7 5 0,16-1 0,8 8 0,0-5 0,-1 31 0,-1 5 646,2-16-646,-2 17 0,1-3 0,1-28 0,-5 27 0,-2 5 0,1-13 0,1 6 0,-2 4-1624,-6 3 0,0-6 1624,4-9 1169,-3 9 1,0 2-1170,5-10 0,2-5-2947,0-9 2947,-5 37 0,1-17 0,3-2 0,2-8 1473,-3 8 1,-1 4-1474,4 3 0,0-4-2771,-1-12 2771,1 11 0,-1 5 0,1-4 0,0-5 0,2-8 0,-4 14 0,1-5 0,4-27-1250,-1 43 1250,2-33 2414,0 36-2414,0-46 3611,8 2-3611,22-6 0,-9-3 5399,11-3-5399,22-3-2603,-33 2 2603,31-2 0,-40 6-2269,39-7 1,8-2 2268,-22 5-1012,1-1 1,8-1 0,-11 1 1011,-14 1-339,10 1 1,16 0 0,10 0 0,2 0 0,-3 0 0,-11 0 338,8-1 0,1 0 0,-10 1 0,10-1 0,3 1 0,-1 0 0,-6 0 0,-12 2 0,16 1 0,-16 1 0,12 2 0,8 1 0,5 0 0,-1 0 0,-4 0 0,-9-2 0,8 1 0,-8-2 0,12 1 0,-20 0 0,7 1 0,6 0 0,5 1 0,2 0 0,2 0 0,0 0 0,-3 0 0,-2 0 0,-6-1 0,-6 0 0,-8-1 0,11 0 0,-10-1 0,4 0 238,8 2 0,8 1 0,2 0 0,-1-1 0,-5 0-238,-5-2 0,-2 0 0,-4-1 0,-7 1 0,-7-1 0,-1 0 0,24 2 0,10 0 0,-8-3 0,-14-5 0,-8 0 2618,-5 3-2618,22-9 0,-3 0 3916,-32 9-3916,25-13 1876,-31 14-1876,13-6 6784,-8 4-6784,5-2 0,-6 3 0,1-9 0,-6 10 0,20-14 0,2 2 0,-2 3 0,23-8-6784,-19 11 6784,4-4 0,-4 3 0,-25 0 0,2-4 0,-6-6 0,-3 0 0,0 3 0,0-21 0,0 24-2269,0-21 1,0-2 2268,0 20 0,0-29 240,0 0-240,0 26-1557,-3-23 1,0-1 1556,2 25 0,-4-28 0,-1 4 0,5 27 0,-5-28-161,6 1 161,0 27 3034,0-28-3034,0 1-3034,0 26 3034,0-26 0,0 36 0,-5-39 0,3 29 3034,-3-29-3034,-3 11-3034,3 6 3034,-4-9 0,3 19 2539,3 7-2539,0 6 4291,-3-6-4291,3 4 0,-9-4 0,-4-8 0,5 4 6417,-3 1-6417,5-9-5676,-6-4 5676,1 2 0,-11-17 0,16 32 0,-9-11 0,12 15 0,-5 6 0,3 0 0,-15 3 0,14-2-4537,-27 2 4537,25-3 0,-39 5 0,37-3 0,-17 3-3034,-7-2 3034,23-3 0,-22 3 0,-14 5 0,33-5 0,-33 5 0,19-5 0,3-1 0,6 0 1517,-8 1 0,-4 2-1517,3-1 0,3 1-3034,5 0 3034,-31 3 0,45-8 0,-46 3 0,34-3 275,-33 6-275,45-6-1706,-47 3 1706,32-3 0,-29 1 0,0 1 0,29-1 119,-32 1-119,47-2-206,-48-2 206,38 1 1673,-38-2-1673,13-5 3111,28 3-3111,-22-5 0,1 0-141,23 4 141,-22-8 0,30 14 1665,-33-20-1665,21 13-1808,-19-9 0,-1-2 1808,20 8-1209,-15-4 0,2 0 1209,19 8 2347,-16-5-2347,0 0 1931,16 8-1931,-35-14 4537,36 16-4537,-42-4 0,40 5 0,-25 0 0,-1 0 0,21 0 0,-32 0 0,0 0-4537,33 0 4537,-33-3-3034,16 2 3034,21-2 3034,-32 0-3034,23 3-3034,-18-3 3034,15 3 0,-31 0 0,43 0 3034,-24 0-3034,-2 0-3034,-3 0 3034,-4 0 2889,2 0-2889,35 3 4465,-14 0-4465,10 6 0,-3 1 0,7-3 0,3-2 0</inkml:trace>
  <inkml:trace contextRef="#ctx0" brushRef="#br0" timeOffset="12602">6401 1904 24575,'13'0'0,"41"-3"-9831,-38 3 8341,32-3-665,6 0 2155,-36 2 2155,38-1-2155,-5-1-3034,-31 2 3034,34-2 0,-47 1 0,23 0 0,3 0 0,-14-1 1517,9 1 0,4 1-1517,4 1 0,-3 0 0,-9-3 0,14 2 0,11 0 0,-11 0 0,-13-3 0,5 3 0,3-1 0,20-6 0,-35 6-1517,20-4 0,-1 1 1517,-24 4-2029,32-4 2029,-35 4 2029,16-5-2029,-19 6 0,11-3 0,-11 3 758,5 0 1,-8 0-1,-2 0 1</inkml:trace>
  <inkml:trace contextRef="#ctx0" brushRef="#br0" timeOffset="17269">6443 1886 24575,'6'-6'0,"31"-31"-9831,-23 23 8341,22-22 412,-12 9 1,-2 3 1077,-6 6 1077,6-5 1,1-4-1078,5-13 0,-19 26 0,13-18 0,-2 2 4537,-13 18-4537,24-33 0,-22 37 0,6-14 0,-1 10 0,-3 1 0,5-2 0,-1 2 0,-8 10 0,-1-5 0,-3 6 0</inkml:trace>
  <inkml:trace contextRef="#ctx0" brushRef="#br0" timeOffset="18302">6368 1917 24575,'18'28'0,"7"-3"0,-7-12 0,28 6 0,-34-16-4252,18 11 1,-1 2 4251,-16-11 0,19 17-2818,4 3 2818,-25-13 0,26 16 0,-6 3-3034,-18-19 3034,18 16 0,-5 5 0,-15-25 0,12 25 609,-12-19-609,-9-5 0,9 6 0,-10-10 0,2-4 0,-3 2 0</inkml:trace>
  <inkml:trace contextRef="#ctx0" brushRef="#br0" timeOffset="24538">7954 1180 24575,'6'21'0,"1"7"-7616,-4-11 7616,3 1 0,0 15 0,-2-23 0,2 23 0,2 9 0,-6-21-2040,3 26 0,-1 3 2040,-4-23 1035,0 2 0,0 3-1035,-2 0 0,1-3-3595,0-7 3595,0 8 0,-1-1 0,2-18-567,-3 18 0,-2 1 567,3-8 1517,-2 6 0,0 3-1517,-2 13-3034,5-28 3034,-5 29 0,1-20 0,4-14 3034,-8 31-3034,9-23 0,-3 5 0,3 2 4537,0-17-4537,3 16 6784,-3-11-6784,3 2 0,-3-5 0,-3-7 0,3 4 0,-6-7 0,6 8 0,-11 2 0,9-2 0,-20 24 0,18-22 0,-18 28 0,17-26-6784,-15 35 6784,12-32-3115,-4 17 3115,10-27 0,-7 17 0,7-13 0,-6 16 0,3-36 0,3 9-3505,-6-33 3505,7 24 0,-4-10 0,4 17 0,-2 3 0</inkml:trace>
  <inkml:trace contextRef="#ctx0" brushRef="#br0" timeOffset="26172">7914 1310 24575,'10'-6'0,"1"2"0,-7 1 0,24-5 0,-13 6-8503,39-12 8503,-38 13-1043,15-5 1043,-25 6-951,20-3 951,-15 2 0,32-1 0,-33 2 0,27 0 0,-27 0 0,24 2 0,-16 5 0,4-3 0,1 9 0,-17-8 0,16 15 0,-17-14 0,21 24 0,-20-23 0,22 35 0,-24-31 0,18 31 0,-20-31 0,12 19 0,-13-21 4945,5 8-4945,-6-7 0,3 5 0,0-8 3771,3 23-3771,-2-2 1781,-1 2-1781,-3 9 0,0-21 0,0 4 0,-3-5 0,2-10 0,-4-1 0,1 5 0,1-6 0,-11 15 0,11-12 0,-21 18 0,20-17 0,-29 19 0,26-22 0,-27 19 0,25-23 0,-14 15 0,10-13 0,0 5 0,-7-3 0,4-2 0,-6 1 0,6-4 0,-4 1 0,12-2 0,-6 0-6784,2 0 6784,4 0 0,-6 0 0,4 0 0,-5-5 0,5 4 0,-13-13 0,6 6 0,-5-5 0,4 7 0,9 3 6784,-3 3-6784,2 3 0,1-2 0,-11 7 0,11-7-6784,-11 10 6784,13-9 0,-2 3 0,6-5 0,0 0 0</inkml:trace>
  <inkml:trace contextRef="#ctx0" brushRef="#br0" timeOffset="27121">8259 1931 24575,'13'11'0,"-3"-8"0,-4 10-9831,2 7 8341,-6-9 2111,11 39-621,-10-34-956,5 13 0,0 1 956,-6-15-952,8 16 0,0 2 952,-7-16 0,11 23 0,-3 4 0,-2-26 0,3 21 0,-1 0 0,-6-21 979,6 24-979,-2-14 3439,-7-16-3439,12 27 3314,-7-24-3314,2 0 6784,0-1-6784,-2-13 0,-1 8 0,0-9 0,-2 3 0,-1-3 0</inkml:trace>
  <inkml:trace contextRef="#ctx0" brushRef="#br0" timeOffset="33921">2029 4862 24575,'-20'-3'0,"3"0"-9831,-28-3 8341,29 5 4308,-28-5-2818,-9 4-2818,35 1 2818,-35-2 0,47 3-3034,-42 0 3034,32 0 3034,-31 0-3034,-6 6 0,32-2-1517,-30 2 0,-1 0 1517,28-2 3034,-32 4-3034,19-4 0,4 1 4537,9 0-4537,-12 1 0,-11 1 0,11-1-4537,14-3 4537,-7 2 0,-1 1 0,-6-1 0,22-4 0,-39 8 0,46-6 0,-15 1 0,18-2 0,-2-2 0,-3 0 0,2 0 4537,-4 3-4537,6 0 6784,-3 1-6784,5-1 0,-17-3 0,8 2-6784,-31 2 6784,31 2 0,-15-3 0,18 0 0,1 0 0,-6-2 0,7 1 0,-5 1 0,5-2 6784,-2 4-6784,3-4 0,-8 15 0,6-12-1568,-4 12 1568,6-15 0,-8 10 0,8-6 0,-11 4 0,8-1 0,-1-4 0,-5 2 0,5 0 0,1-5 0,3 1 0,3 9 0,-3-5 0,6 16 0,-3-13 1568,3 5-1568,0-5 0,0-2 0,0 16 0,0-14-6784,3 39 6784,-3-35 0,6 26-4537,3 12 4537,-4-25-2448,3 25 2448,-8-43-1112,5 23 1,0 3 1111,-3-10 0,3 10 0,0-2 0,-5-21 0,1 19 0,1 3 0,-2-4 0,0 9 0,-1 10 0,0-9 0,-1-6-131,-1 5 1,-1 8-1,0-9 131,3-12 1014,-3 3 1,0 5-1015,0 4 0,1-3 0,-1-4 0,1 14 0,0 11 0,1-12 0,1-14 0,0 9 0,0 3 0,1-5 0,0-4 0,0-5 1517,0 6 0,0 3-1517,0 2 0,0-6-3034,0-10 3034,1 11 0,0 4 0,2-5 0,1-4 0,3-6 1517,-4 7 0,0 5-1517,4 7 0,0-4-3034,-4-6 3034,2 6 0,1 3 0,1 0 0,0-4 0,-1-8 0,3 14 0,2 10 0,-3-11 0,-1-14-1015,2 8 1,-2-3 1014,-6-23 227,16 44-227,-11-29 0,7 14 0,0-1 0,-8-22 2142,9 21-2142,-7-17 3202,-3-2-3202,12 25-67,-10-29 67,6 18 0,16 16 0,-22-31 0,22 32 0,-3 2-3180,-13-33 3180,2 7 0,1 2-295,11 22 295,-18-32 0,11 23 0,-2 0 0,-13-26 0,9 24-2029,-7-6 2029,-5-19 529,11 38-529,-11-39 0,10 39 0,-10-37 0,5 18 140,0 22-140,-5-33 0,3 34 0,0 1 0,-3-33 772,1 9 1,-1 2-773,-7 18 0,5-31 0,-5 30-185,-2-8 185,6-27 3034,-6 27-3034,5-14-2239,2-16 2239,-1 16 1414,2 0-1414,0-16 4128,0 32-4128,0-17 0,0 0 0,-6 23-1431,5-34 1431,-7 16-1872,1 20 1872,3-38 0,-1 39 0,-1-8-3034,2-26 3034,-2 26 794,3-17-794,3-17 3428,0 23-3428,0-26 0,0 6 0,3-7 0,14 21 0,-7-17-3428,27 23 3428,-27-29 0,13 9 1037,14-5-1037,-17-2-457,26 3 1,3-1 456,-21-1-1167,6-3 1,-4 0 1166,-19-2 0,38 2 0,5-1 0,-18-2 468,15 3 0,10-1-468,-17-2 0,4 0 0,-1 0 0,-8-1 0,-5 0 0,-1-1 0,5 2 0,8 0 0,3-1 0,2 1 0,-2-2 0,5 0 0,2 0 0,-1 0 0,-5 0 0,-6 0 0,11 0 0,0 0 0,-12 0 0,4-1 0,6 1 0,2 0 0,1 0 0,1 1 0,-4 0 0,4 0 0,2 0 0,1 1 0,-1 0 0,-3 0 0,-5 0 0,-5 0 0,11 1 0,-9 0 0,14 0-104,-23-1 1,7-1 0,7 0-1,6 1 1,3-1 0,3 1 0,3-1-1,-1 1 1,0-1 0,-1 0-1,-4 1 1,-3-1 0,-6 0 0,-6 1-1,-8-1 104,25 2 0,-16 0 0,10-1 0,-8-1 0,10 0 0,6 0 0,3 0 0,-3 0 0,-6 0 0,-10-1 0,-15 0 0,10 0 0,-10 1 0,13-1 0,9 1 0,4 0 0,0-1 0,-5 1 0,-10-1 0,5 1 0,-8-1 0,10 0 0,-10 1 0,9-1 0,7 1 0,4-1 0,2 1 0,0-1 0,-4 1 0,-4-1 0,-8 0 0,-10 0 0,15 1 0,-5-2 0,5 1 0,10 0 0,-4 0 0,-19 0 0,-15 0 0,17 1 0,13 0 0,-9 0 0,5 3 574,-8-4 0,7 1 0,-1 1-574,-6 3 0,-2 2 0,-7-2 0,4-2 0,-3 2 0,7 0 0,-1 1 0,16 2 0,-8 0 0,-14 1 0,14 0 0,7-3 0,-4-5 0,-7-2 0,-12 1 136,13-1 0,5-1-136,-6-6 0,-6 1 0,-10 3 0,9-3 0,5-1 0,-4 0 0,-6 0 0,-9 2 1508,9-2 0,4 0-1508,-6 0 0,-5 2-2981,-9 3 2981,9-3 0,3-2 0,18-3 0,-32 5 3034,32-5-3034,0 0-3034,0 0 3034,-19 3 0,0 0 0,25-7 0,-41 11 1088,27-7-1088,-29 9-2389,37-12 2389,-36 12 2389,19-6-2389,9-3 0,-23 8 0,24-7 0,0 1 0,-21 6 1946,28-5-1946,2 3 4537,-29 3-4537,25-5 0,1 0 0,-25 5 0,18-9 0,5-3 0,9-4 0,-3-2-2269,-11 6 1,-7 3 2268,-19 5-1517,15-3 0,-2-2 1517,-15 3-2029,24-3 2029,-27 7 2029,6-1-2029,-7 1 3034,-3 1-3034,9-6 0,-6 8 4537,6-7-4537,-7 7 6784,8-5-6784,1-3 0,-2 4 0,9-9 0,-15 13 0,10-10 0,-11 10 0,2-8 0,-3 6 0,3-4 0,-5 1 0,4 3 0,-4-8 0,-1 6 0,3-7 0,-2-8-3560,2 10 3560,-3-10 0,0 14-1352,-3-20 1352,0 15-2579,1-18 1,1-1 2578,-1 15 0,1-25 0,-2 31 0,0-42 0,0 28-992,2-28 0,-1-2 992,0 25-1151,5-26 0,2 1 1151,-6 26 0,10-27 0,-10 45 0,7-21 0,1-2 0,-3 11 0,3-8 0,1-5 0,-1 2 0,-1 4 0,-2 9 0,4-13 0,-1 4 0,-10 19 608,9-40-608,-8 27 0,2-26 0,0 0 0,-3 27 0,0-32 0,-11 5 3335,8 31-3335,-8-25 0,0 0 0,8 24-455,-6-24 1,-1-1 454,5 24 4537,-4-29-4537,1-6-4537,7 36 4537,-5-35-1517,4 18 0,0 4 1517,1 10 1517,-1-11 0,0-4-1517,2-1 0,0 5-3034,0 7 3034,0-8 0,0-5 0,2 4 0,0 5 0,2 3 1517,-1-4 0,-1-4-1517,-1 2 0,1 3 0,-2 6 0,0-25 0,0-8 0,-3 23 0,0 2 0,2-1 0,1 2 4537,-6-21-4537,3 3 0,3 32 0,-3-25 0,0 0-4435,3 27 4435,-3-26 0,0 6 0,2 21 0,-4-21-3068,-1-3 3068,2 23 0,-5-23 0,3 6 558,2 19-558,-1-20 0,5 26 0,-3-23 0,2 18 0,-7-46 0,6 44 0,-3-21 0,-3-6-626,6 26 626,-7-26 0,7 34 0,-7-36 0,1 26 3034,-1-26-3034,-7-3 0,12 29-1517,-8-23 0,0 2 1517,9 23 0,-12-22 0,0-1 0,10 19 1517,-12-18 0,-2-5-1517,4-4 0,-4-1 0,5 12-3034,2 2 3034,7 20 3034,-9-17-3034,-9-1 0,12 20-1517,-13-17 0,-2 0 1517,14 16 0,-19-15 460,3-2-460,13 19 0,-9-15 0,0 0 0,11 13-1091,-9-9 1,2 0 1090,9 10 0,-33-18 0,32 22 1721,-13-8-1721,-11 8 3,25-1-3,-25 1 0,-9-2 0,26 6 3036,-26-3-3036,10 2 0,2 0-3036,12-1 3036,-10 1 0,-5 0-2,-3-2 1,4 1 1,6 3 1517,-5-2 0,-6 0-1517,-6 0 0,5 1-3034,13 0 3034,-12 0 0,-8-1 0,0 0 0,-4 1 0,10 0 0,-3 0 0,2-1 0,-10-1 0,-1 0 0,9 2 0,-3 0 0,2 1 0,7-1 0,6-1 0,0 0-140,-6 0 0,-6 1 0,-3 0 0,2-1 140,-15-1 0,1 0 0,10 1 0,0-3 0,1 3 0,-12-1 0,1 0 0,4 0 0,0 1 0,10 0 0,-9 0 0,6 0 0,-10-1 0,4 0 0,-3 1 0,8 1 0,7 0 280,-7 0 0,-4-1-280,16 1 0,6 1 0,10 0 0,-11 0 0,-4-1 0,-17-3 0,34 4 3034,-33-5-3034,19 6 0,3 0-3034,7 0 3034,-6 0 0,-6 0 0,-4 0 0,4 0 0,11 0 0,-17 0 0,4 0 0,25 0-1015,-24 0 1,-3 0 1014,15 0 1014,-9-1 1,-5 2-1015,2 6 0,3 1 0,3-4 0,-11 6 0,-12 6 0,11-4 0,15-3 0,-8 2 0,-4 1 0,7-1 0,4-2 0,7-5 1517,-7 5 0,-4 1-1517,-2-6 0,3-2 0,5 2 0,-10-1 0,-9-1 0,10-1 0,12-4 0,-32 2 0,12-4 0,22 4-1517,-21-3 0,-1 0 1517,17 2-1015,-27-3 1,0-1 1014,28 2 0,-10 1 0,4 0 0,22 0 0,-36 1 0,-6 1 0,18 1 935,-12-2 0,-7 1-935,13-1 0,-1 0 0,6 0 0,-3 1 0,-15-1 0,-7-2 0,5-3 0,8 0 0,15 4 0,-22-4 0,6 0 2955,38 4-2955,-30-5 0,-4-1-2796,19 2 2796,-14-1 0,-7-1 0,-1 0 0,4 1 0,11 3 0,-12-5 0,-2 0 0,13 8 0,6 0 0,8-1-1723,-38 0 1723,51 3 1025,-30 3-1025,22-3 1344,-17 6 1,-5 2-1345,1 0 4020,-7 5-4020,-11-10 0,38-4-422,-16-6 0,0 0 422,12 4 2404,-18-11-2404,11 5-3031,16 4 3031,-13-6-1291,6 5 1291,11-1 0,-27-2 0,25 5 4643,-34 2-4643,18 2 0,-5 0 0,-2 2 0,14 2 3983,-8-1-3983,-2 0 2480,13 0-2480,-20-3 0,24 3 0,-24 0 0,25-2-6784,-19 4 6784,19-4-2077,-27 7 2077,25-4 0,-39 8 0,15-3-3849,2 1 3849,5-4 370,11 0-370,7-6-477,-23 6 477,23-5 0,-10 1 0,14-2 949,-6 0 0,8 0 0,-5 0 0</inkml:trace>
  <inkml:trace contextRef="#ctx0" brushRef="#br0" timeOffset="35921">9919 6914 24575,'10'0'0,"27"0"0,-24 0 0,20 1 0,-1 1-7967,-18-2 7967,26 3-3048,-3-6 3048,-17 0 0,17-1 0,6-1-3135,-29 4 3135,29-2 0,-37 3-205,31 0 205,-21 0 3034,19 0-3034,5 0-3034,-24 0 3034,22 0 0,7 6 0,-30-5 0,28 5 0,-15-3 0,-16-3 0,17 3 0,-4-3 3034,-13 0-3034,30-3 926,-32 2-926,13-1 2779,0 2-2779,-12 0 0,20 0 0,-20 0 0,5 0 0,-5 0 0,-4 0 4606,14 0-4606,-1 2 3010,3 2-3010,-5-1 0,-12 0 0,-3-3 0</inkml:trace>
  <inkml:trace contextRef="#ctx0" brushRef="#br0" timeOffset="36904">9934 6946 24575,'-10'0'0,"-1"0"0,7-3 0,-5-6 0,9 2 0,-3-11 0,6 8 0,-3-3 0,11 4 0,-8 3 0,16-8 0,-13 8-6784,19-19 6784,-16 19 0,9-9-4537,5-2 4537,-13 11-1776,35-22 1776,-33 21-2445,31-15 2445,-34 17 0,12-4 239,-10 4-239,-3 4 641,4-5 0,-9 6 0,0-3 0</inkml:trace>
  <inkml:trace contextRef="#ctx0" brushRef="#br0" timeOffset="37770">9858 6943 24575,'14'30'0,"0"-4"0,-2-1 0,-4-14 0,7 15 0,5 2 0,4-3 0,-1 7 0,6-4 0,-18-17 0,4 1 0,-8-4 0,1-4 0,-1 5 0,8 0 0,-4 1 0,0 7 0,-4-9 0,-4 7 0,6 8 0,-5-13 0,2 13 0,5 5 0,-9-17 0,15 31 0,-12-32 0,9 15 0,-9-17 0,6 9 0,-10-9 0,10 9 0,-9-10 0,6 8 0,-7-11 0,1 1 0</inkml:trace>
  <inkml:trace contextRef="#ctx0" brushRef="#br0" timeOffset="38821">11388 6134 24575,'9'0'0,"0"0"0,1 0 0,8 8-3380,-13-3 3380,9 4-5137,1 15 5137,-9-15 0,11 16-3131,-5 17 3131,-7-24-1463,5 26 1,0 1 1462,-8-24 855,6 32-855,-8 2 0,0-36 0,0 36-319,-3-22 1,0-3 318,2-10 1517,-1 9 0,-1 4-1517,-6 20-3034,7-35 3034,-6 35 0,0-6 0,6-30 3034,-6 30-3034,-1-2-3034,4-30 3034,-3 30 0,-6 0 0,11-30 3034,-8 30-3034,3-6 0,3-24 0,-1 18 0,0 0 4537,3-20-4537,0 32 0,3-36 6784,6 11-6784,-5-13 0,5-1 0,-6-3 0</inkml:trace>
  <inkml:trace contextRef="#ctx0" brushRef="#br0" timeOffset="39989">11447 6259 24575,'6'0'0,"0"-3"-9831,34-9 8341,-26 7 4308,26-6-2818,5-1-774,-29 10 774,29-12-3711,0 2 3711,-29 6 485,19-4 1,0 1-486,-19 7-2803,27-9 2803,-31 10 317,13-2-317,-16 3 2960,25 0-2960,2 0-1026,-4 0 1026,-1 0 0,1 8 0,-20-5 1248,19 5-1248,-2 0 0,-20-3 0,19 4 0,-14 2 0,4 5 0,1-5 4537,-7 6-4537,2 14 867,-11-18-867,8 20 0,-8-27-3731,6 49 3731,-4-35-436,0 21 1,-2 1 435,-3-13-3169,0 8 3169,0-17-404,-11 17 404,8-24-323,-11 18 1,-2-1 322,9-17-783,-13 14 0,0-1 783,10-17 1948,-10 18-1948,4-15 1675,12-4-1675,-12 4 3863,1-4-3863,-13-7 0,6 5 0,-25-12 0,35 5-3863,-44-10 3863,43 6 0,-16 0 0,0-1 0,17 1-84,-33 0 84,35 5 0,-18 0 0,3-6 0,-10-3 0,9 1 3822,-14-9-3822,25 12 2158,-15-4-2158,3 7 0,-1 2 0,4 0 0,-7 0 0,22 0 0,-2-9 0,9 7 0,4-6 0</inkml:trace>
  <inkml:trace contextRef="#ctx0" brushRef="#br0" timeOffset="41037">11900 6700 24575,'5'20'0,"-4"-10"0,16 21 0,-11-22-9831,17 13 8341,-15-17-665,18 12 2155,-17-13-879,25 27 879,-24-17 0,13 9 0,-3 16 0,-10-25 0,8 23 0,-2 2 0,-12-26 3034,10 24-3034,-6-1-2903,-3-25 2903,4 28 0,-6-35 0,8 35 0,-8-25 3098,8 25-3098,-3-8-2581,-3-18 2581,4 20 0,-6-29-141,11 27 141,-11-19 0,14 13 3285,-5 0-3285,2-1-3285,4 22 3285,-5-22 2527,-7-2-2527,3-7 0,-8-6 4537,7 5-4537,-1 3 0,2-6 0,-2 8 0,4-2 0,-9-9 0,6 17 0,-7-15 6784,4 10-6784,5 5 0,-6-14 0,16 36 0,-15-35 0,16 33 0,-14-35 0,2 10 0,-6-17 0</inkml:trace>
  <inkml:trace contextRef="#ctx0" brushRef="#br0" timeOffset="42406">12673 5650 24575,'-16'0'0,"4"3"0,7-3-9831,-12 9 8341,7-8 1490,-10 5 1129,0 2-1129,10-3 0,-7 6 0,-2 6 0,12-8 1933,-13 9-1933,-5 10-3473,17-17 3473,-17 18 0,21-23 4333,-18 16-4333,-2 2-3277,0 3 3277,5-10-769,10-6 769,2-7 896,-5 8 1,9-8 0,0-2 0</inkml:trace>
  <inkml:trace contextRef="#ctx0" brushRef="#br0" timeOffset="69008">17045 1544 24575,'-20'7'0,"-9"2"0,0-1-6307,10-6 6307,-32 12 1850,39-13-1850,-22 5 0,-4 2-4629,9-3 4629,-4 0 0,-6 2 0,-19 5 0,4-1-3775,10-6 3775,-14 6 0,5-2 1000,34-9-1000,-14 3 0,-12 3 0,8-2-2814,-1 0 2814,1 0 0,-8 1 0,-1-1 0,-3-3 0,0-2 0,6 1 0,-13 0 0,7 0 0,-7 1 0,16-2 2632,26-2-2632,-25-1 0,-18-1 0,9 0-2441,-2-5 2441,9 5 0,-8 0 0,1 1 0,3-1 0,2 1 0,8 0-42,-1 2 42,2-1 0,-8-1 0,3 0 0,0 2 0,7 1 0,4-3 85,-6 2 1,-3 1-86,-13 1 3034,33 0-3034,-20 3 0,2 3 0,23-2 0,-16 6 0,0 0 0,16-2 0,-16 4 0,0-1 0,16-5 0,-17 7 4537,24-12-4537,-15 7 0,10-6 0,-27 6 0,6-7 0,5 1 0,-9-1 0,1-2 0,17 1 0,-30 0 0,38 0-2269,-24-3 1,-5-2 2268,5 3-759,-6-2 1,-12-2-1,-2 0 1,13 2 758,-5-2-120,10 2 0,-7-1 0,-1 1 120,-5 0 0,0 0 0,7 1 0,-10 1 0,10-1 0,-8 0 0,0 1 0,0 1 0,-1 1 0,9 1 0,-1-1 0,2-1 0,-8 1 0,2 1 0,-6 0 0,8 0 0,11 0 180,-11 0 0,-5 1-180,12 1 0,6-1 0,10 0 0,-9 0 0,-5 1 496,-15 3-496,33-5 0,-22 2 0,1-1 0,24-2-2193,-38 3 2193,41-2 2193,-23 2-2193,20-1 2538,-2-1-2538,-9 5 2189,18-3-2189,-12 0 0,-7 3 0,15-5 0,-17 1-2670,-14 7 2670,24-7-1438,-21 3 1,0 1 1437,21-6-393,-24 3 393,36-3 2680,-23 3-2680,15-3 0,-1-5 0,15 0-1015,40-26 1015,-28 22 1438,19-16-1438,-24 25-1143,27-25 1143,-21 16 0,16-12 0,4-3 0,5-1 0,3-1 0,-13 6-1245,-3 8 1245,-19 4 3034,19-4-3034,3-5 0,-13 14 0,14-10 0,-1 1 0,-12 9 0,15-8 0,-8 8 0,-1 3 0,3-3 2924,1 0-2924,-18 2 0,7-1 0,-31 12 0,12-4-1429,-22 6 1429,22-7 0,-43 12 0,34-7-1147,-14 1 1,0-1 1146,19-6-1385,-22 7 1,-3 1 1384,13-7 375,-10 6 0,-3 1-375,0-3 0,2 0 0,3 2 0,-5-3 0,5 1 2817,18-4-2817,-30 1 85,24 1-85,-21-1-890,15 0 890,11-5 0,-25 12 0,26-7 4138,-10 6-4138,-2 4-4138,-2 1 4138,-2 0 4023,3 3-4023,47-8 0,-20-4 1319,30 9-1319,9 1-3005,-22-6 3005,25 8 0,8-3 0,-29-8 5295,27 5-5295,-1-3 0,-29-6-2648,18 2 1,0 1 2647,-20-2 0,11 2 0,0-1 0,-11 0 3005,8 5-3005,-6 5 0,-17-8 0,7 8 0,-3-10 0,-8-4 0,5 0 0</inkml:trace>
  <inkml:trace contextRef="#ctx0" brushRef="#br0" timeOffset="70789">19818 742 24575,'-4'26'0,"2"4"0,2-3 0,8 15 0,-6-31 0,9 16 0,1 1-6726,-6-14 6726,8 22-2278,-2-7 0,-1-2 2278,-4-8 0,3 7 0,0 6 0,3 8 0,-2-3-3047,-6-8 3047,7 8 0,0 5-13,-10-1 0,-1-5 13,3-10 1517,-2 10 0,-2 4-1517,1-8 0,-2-4-3034,1-6 3034,1 6 0,-2 3 0,-7 22 0,6-35 3034,-6 35-3034,1-2-3034,5-33 3034,-4 33 0,-1 3 0,5-33 0,-5 34 0,7-46 0,-1 19 0,0 3 0,0-11 0,0 8 0,-1 3 0,-6 19 0,6-33 0,-6 36 0,0-5 0,5-28 3034,-8 27-3034,3-5 0,3-24 0,-1 12 0,1-1 0,4-16 0,-2-2 0,3-13 0,0-9 0,0 7 0,0 1 0</inkml:trace>
  <inkml:trace contextRef="#ctx0" brushRef="#br0" timeOffset="72539">19818 932 24575,'3'-4'0,"0"1"0,26-11 0,-18 8-9831,40-20 8341,-39 18 1490,17-7-2155,-9 4 2155,-11 6 2155,20-9-2155,-21 12 0,7-6 0,-3 7 4537,-5-1-4537,19-1 6784,-16 2-6784,24-7-6784,-5 1 6784,-4 0-4537,23-1 4537,-36 7 0,17-2 0,2 0-2364,-19 3 2364,20-3 0,2 3 0,-21 0 0,19 2 0,1 1 0,-19-1 0,22 6-1640,-2-5 1640,-18 4-254,13-3 0,0 1 254,-15-1 0,34 4 0,-37-7 2302,12 4-2302,2 4 0,-16-1 2210,36 17-2210,-17 1 4537,2-2-4537,-9-2 0,-3-2 1340,-7-12-1340,9 17 0,-3-8 0,-11-10-2214,17 20 2214,-18-21 0,11 14 0,-14-13 0,12 11 0,-12-8 0,3 2 0,-5 3 0,-2-2 0,1 0 0,-10 4 0,9-9-1143,-15 14 1143,15-13-2520,-20 27 2520,19-25 0,-14 12 0,6 7 0,2-20-1517,-5 16 0,0 1 1517,7-15 678,-9 11 1,-1 1-679,11-13 0,-25 25 0,25-27 0,-11 6 0,5-4 0,1-1 3705,-4 3-3705,1 4 0,6-12 2509,-20 11-2509,-15-5 0,15 2 0,-11-4 0,36-6-3085,-34 5 3085,24-6 0,-24 6 0,6 3 0,19-8-3515,-41 16 3515,41-14-1951,-38 9 1951,39-10 0,-18 2 0,-2-3 0,19-3-352,-20 1 0,0-2 352,18 1 2199,-25-3-2199,2 3 2519,23 0-2519,-16 0 0,-1 0 1051,19 0-1051,-19 0 2947,6 5-2947,14-3-4358,-37 9 4358,37-10 0,-18 5-2915,-4-1 2915,20-4-303,-19 6 1,0 0 302,18-5 0,-15 6 0,0 1 0,17-7 846,-35 14-846,22-8 0,-4 4 0,17-8 0,14-2 0,35-16 0,-24 11 0,17-7 0,-1 0 0,-16 8 0,18-9 390,-19 8 0,-7-1 0,3 1 0</inkml:trace>
  <inkml:trace contextRef="#ctx0" brushRef="#br0" timeOffset="73257">20537 1656 24575,'0'19'0,"0"1"-9831,3 7 8341,-2-11-665,7 37 2155,-7-39 2155,5 22-2155,0 3 0,-5-22 0,4 23 0,-2 5 4537,-2-30-4537,0 30 0,1 1 6784,1-24-6784,-2 29 0,1 1-6784,1-29 6784,0 30 0,-3-44-4537,6 36 4537,-5-26 0,5 26 0,2-3-3034,-3-28 3034,4 25 1261,2-10-1261,-9-18 3659,12 23-3659,-10-24 0,5 3 0,-8-24 0,1 10 0,-5-16 0</inkml:trace>
  <inkml:trace contextRef="#ctx0" brushRef="#br0" timeOffset="74306">22313 1442 24575,'9'11'0,"-2"9"-9831,2 8 8341,-6-5-665,6 11 2155,-8-24-879,10 40 879,-9-37 0,3 21 0,1 19 0,-5-35 0,7 35 0,-6-18 0,0-3 0,1-10 1517,-1 11 0,-1 4-1517,-1 21-3034,0-34 3034,0 34 0,0-4 0,0-37 0,1 20 0,-2-1 0,-2-24 0,3 30 0,0-30 0,1 6 0,1-12 0</inkml:trace>
  <inkml:trace contextRef="#ctx0" brushRef="#br0" timeOffset="75522">22014 1914 24575,'38'0'0,"-7"0"0,5 4 0,9 2 0,-7-1-9831,6-2 9334,-8 2 1,7 1-1,3 1 497,1-1 0,6-1 0,-3 1 0,-9 0-1078,-10 0 1,0 0 1077,13 1 0,11-1 0,-3 0 0,-17-1 2124,-16-1-2124,35 2 0,4 0-3024,-23-3 3024,19 4 0,1-2 0,-13-8 0,-27 2 3024,36-7-3024,-40 1 7,5-8 1,-10 7 0,-3 0 0</inkml:trace>
  <inkml:trace contextRef="#ctx0" brushRef="#br0" timeOffset="77490">24402 2135 24575,'6'0'0,"0"0"0,-2-5 0,-4-8 0,-1 2 0,-7-15 0,4 17 0,-13-22 0,11 21-8503,-19-35 8503,19 35 0,-8-20-1382,-6 4 1382,16 14-2007,-23-36 2007,21 37 0,-11-20 0,13 20 4254,-4-4-4254,2 0 3759,-1 7-3759,-16-9-168,14 15 168,-11-6 0,13 5-2728,-26-6 2728,20 4-4540,-37-9 4540,39 13 0,-17-5 0,7 6 2257,6-2-2257,-24-2 2274,28 1-2274,-37 0 0,25 3 0,-7 0 0,1 11 0,12 5 0,1 1 0,-4 12 0,18-20 0,-11 21 0,11-20 0,-3 26 0,13-9 0,-6 0 0,12 1 6784,-12-20-6784,6 3 0,-5-7 0,1 1 0,7-1 0,8 7-6784,10 3 6784,-5-4 0,21 9 0,-13-13 0,4 8 0,7-11 0,-33 0 0,30-6 0,-8 0 0,-3-1 0,22 2 0,-40 2 0,18 0 0,-6-3 0,1-6 0,3 4 0,7-20-3998,-27 18 3998,12-10 0,-4-6 0,-9 16-3212,22-33 3212,-25 30-2149,25-25 2149,-24 26 1788,18-16-1788,-14 11 3034,4 1-3034,-6 1 4537,0 12-4537,-5-6 0,7 3 0,-4-1 0,11 1 0,-7 1 6784,9 1-6784,-9-2 0,3 3 0,-7 0 0,-1 0 0</inkml:trace>
  <inkml:trace contextRef="#ctx0" brushRef="#br0" timeOffset="80040">25446 947 24575,'4'27'0,"-1"-4"0,5 24 0,-6-27-4916,5 29 1,0 0 3425,-6-27 4308,5 35-2818,0-7-2818,-5-33 2818,4 33 0,-2-8 0,1 0 0,-1 10 0,-2-19 0,-2-4 0,1-13 0,-3 17-3034,0 4 3034,2-24 81,-3 24 1,0 1-82,3-19-1042,-5 20 1,1 0 1041,3-22 214,-1 16 0,1-2-214,2-19 0,0 30 0,0-33 2295,0 14-2295,0-15 791,3 3 0,-3-7 0,3-2 0</inkml:trace>
  <inkml:trace contextRef="#ctx0" brushRef="#br0" timeOffset="81056">24839 995 24575,'9'-3'0,"7"-1"0,3-5 0,9 2 0,-11 1 0,12 1 0,-6 1 0,-2 1 0,24-6 0,-32 5 0,40-8 0,-38 8-6784,36-10 6784,-36 12-2599,13-6 2599,-21 8-1572,27-9 1572,-21 7 0,21-6-3155,6 5 3155,-23 2 3155,23-1-3155,3 2-1664,-29 0 1664,26 0-454,-6 0 454,-21 0 0,35 2 0,-38-1 0,18 5 0,-14-3 0,19 9 0,-17-7-1282,35 11 1282,-38-14 3034,21 6-3034,3-5 0,-20-2-1517,14 0 0,0 0 1517,-16-1 1322,36-8-1322,-40 6 3148,26-12-3148,-31 10 0,11-2 0,-8 0 0,7 3 0,-2-1 5248,6-1-5248,-9 1 3642,7-2-3642,-8 2 0,-1 2 0,-6 2 0</inkml:trace>
  <inkml:trace contextRef="#ctx0" brushRef="#br0" timeOffset="85456">14725 7300 24575,'33'0'0,"-2"0"0,-2 0-9831,-5 0 8341,19 0 1490,-34 0-2155,28 0 2155,-23 0 2155,23 0-2155,-17 0-1499,-10 0 1499,10 0 0,14 0 0,-18 0 0,20 0 0,2 0 0,-17 0 465,28 0-465,-39 0-2044,43-2 2044,-30 1 0,18-2 0,1 0 0,-20 3-1219,26-6 1219,-36 5 1734,20-1-1734,-23 2-377,42-3 377,-37 2 2091,23-2-2091,17 3 0,-35 0 0,38 0 0,-50-2-1093,34 0 1,5 0 1092,-20-1 1468,14 1 1,7 1-1469,6-2 0,-6 0-3001,-13 2 3001,13-2 0,5 0 0,-9 0 0,-6 1 0,-11 0 0,11 0 0,3-1 0,-2 0 0,-4 0 0,-10 2-655,12-2 0,9 0 0,-10 1 655,-14 1 2029,33-5-2029,-21 4 0,-4 0 0,-8-2 0,9 1 0,5 2 0,0-1 0,-4 1 0,-8 0 1517,8 0 0,3-1-1517,16 2-3034,-32 0 3034,32 0 3034,-16-2-3034,-1 1 0,6-2 0,-13 3-1737,0-3 1737,-15 3 0,28-3 0,-29 3 0,27 0 0,-27 0 2226,27 0-2226,-27 0 0,13 0 0,-16 0 4779,-4 3-4779,-3-3 0,-4 3 0,2-3 0</inkml:trace>
  <inkml:trace contextRef="#ctx0" brushRef="#br0" timeOffset="87124">14831 7283 24575,'17'-13'0,"26"-10"-9831,-30 17 8341,21-11 412,-2 4 1,-1 2 1077,-11-1 1077,10 0 1,6-3-1078,0-3 0,-3 2-3034,-9 6 3034,11-5 0,1 0 0,7-5 0,-25 12 0,16-7 0,-3-1 0,-19 8 0,28-10 0,-31 14 3034,8-4-3034,-16 7 4537,-2-2-4537,-27 14 0,16-8 3838,-13 11-3838,19-13 0,-30 15 0,22-12-3630,-26 12 3630,34-15-2329,-30 18 2329,19-12-1917,-16 10 0,-1 2 1917,18-9 1300,-21 10-1300,1 0-1417,22-14 1417,-22 12-1499,7-7 1499,18-7 3034,-17 5-3034,-12 2 0,-2 0 0,-9 4 0,19 3 0,26-10 4537,12 8-4537,7-11 6784,-3 10-6784,5 2-769,-11-5 769,2 5 0,-6-11 0,14 34-6529,-8-26 6529,9 25-4367,1-5 4367,-9-21 344,10 21-344,4-1 0,0-1-3034,-6-12 3034,5 13 0,3 2 0,-1-7 0,-2-5 0,-5-3 1517,5 4 0,3 2-1517,16 8 0,-21-21 0,16 10 0,0-2 0,-18-14 0,29 12 0,-36-15 1134,11 2 0,-16-3 0,2-3 1</inkml:trace>
  <inkml:trace contextRef="#ctx0" brushRef="#br0" timeOffset="88690">19473 6563 24575,'-2'17'0,"1"-1"0,-2-12-9831,-2 38 8341,3-27 520,-3 27 970,5-36-1302,0 44 1302,0-33 0,0 33 0,0-16 0,0-3 0,0-10 0,0 10 0,0 3-762,0 14 762,0-32 3034,0 31-3034,0-10-2758,0-23 2758,3 22 0,-3-8 0,3-16 1410,0 35-1410,-2-36 0,4 26 0,-1-20 0,-1 2-337,5 6 337,-6-16 2379,12 25-2379,-12-24-1778,17 27 1778,-13-31 0,6 14 0,4-6 0,-1-5 4000,4 8-4000,-4-13 0,-9 9 0,-2-7-2916,4 30 2916,-6-24 0,3 16 0,6 14 0,-8-27 0,11 27 0,1-8-2722,-9-21 2722,11 18 0,-6-9 0,-2-18 0,8 24 0,-10-26 0,-1 6 0,-3-8 0</inkml:trace>
  <inkml:trace contextRef="#ctx0" brushRef="#br0" timeOffset="89995">19311 6599 24575,'10'-3'0,"-4"-3"0,-1 5 0,27-7 0,-19 7 0,21-5 0,8 1-8503,-26 3 8503,26-3 0,-36 2-1236,37-1 1236,-25-2 0,21 0 0,1 0 0,-19 1-1779,15-3 0,-1 0 1779,-19 6 0,15-10 0,-25 12 0,19-11 0,-13 6 0,31-10 0,-34 11 0,26-7 0,-26 9 3558,9-6-3558,4 7 0,-14-1 0,34 2 0,-31 2 0,34 5 0,-34-1 2955,26 9-2955,-14 3 0,-5-3 0,13 13 0,-27-19 0,15 22 0,-12 0 0,0-5 0,-2 2 0,-10 3 0,4-16-2269,-13 17 1,-3 1 2268,8-16 4537,-19 22-4537,-11-3-4537,25-22 4537,-25 20-1517,12-18 0,3-2 1517,7-5 3034,-33 20-3034,19-11 0,4-1-3034,7-6 3034,-8 5 0,-2 2 0,-9 12 0,24-20 3034,-24 18-3034,19-1 0,11-20 0,-11 34 0,16-29 4537,2 12-4537,-15-11 3750,10-7-3750,-13-3 0,14-3 0,-22 5 0,16-4 0,-16 5 0,6-3 0,11-3 0,-11 3 0,10-3 0,4 0 0,-3-3 0,4 3 0,1-3 3034,0 3-3034,-8 3 0,5-3 0,-10 3 0,8 0 0,-1-3 0,0 6 0,5-5 0,12 1 0,-2-2 0,12 0 0,-6-2 0,-5 1 0,1-2 0</inkml:trace>
  <inkml:trace contextRef="#ctx0" brushRef="#br0" timeOffset="90774">19841 7233 24575,'11'3'0,"0"-3"0,6 19 0,-7-12-9831,27 35 8341,-29-30 4308,14 16-2818,-7-3-1419,-6-16 1419,5 15 0,0-9 0,-3-3 0,5 5 0,13 17 0,-19-22-2127,13 19 2127,-17-24 2506,17 23-2506,2 8 0,1-1 0,0 4 0,-21-32 0,12 14 0,-15-15 0,9 1-471,6 10 471,-10-12 0,13 10 0,5 8-3309,-13-20 3309,14 20 1353,4-5-1353,-20-10 2626,35 24-2626,-29-23 0,3 4 0,-11-9 0</inkml:trace>
  <inkml:trace contextRef="#ctx0" brushRef="#br0" timeOffset="91558">20777 6126 24575,'-13'10'0,"-7"10"0,12-14 0,-20 30 0,18-31-9831,-18 39 8341,20-36 716,-18 34 774,20-31 0,-10 8 1127,10-5-1127,-1-8-457,-2 16 457,3-13 0,2 10 0,1-11 2776,1 4-2776,-2-3 0,1-2 0,0-1 0,3-4 0</inkml:trace>
  <inkml:trace contextRef="#ctx0" brushRef="#br0" timeOffset="92557">22123 6903 24575,'6'-4'0,"-2"15"-9831,-1 20 8341,-3-8 1490,0 8-1176,-3-5 1176,2-15 155,-4 33-155,1-33-2696,-2 31 2696,3-31 2696,-3 36-2696,3-10 2893,-1 0-2893,1 11 666,3-33 0,0 7 0,0-14 1</inkml:trace>
  <inkml:trace contextRef="#ctx0" brushRef="#br0" timeOffset="93073">21697 7140 24575,'7'-3'0,"18"-3"0,-18 2 0,22-5 0,-22 9 0,14-3 0,-13 3 0,12-3 0,-12 2 0,9-4 0,-9 4-9831,23-4 8341,-20 4 1490,15-2-2155,27 0 2155,-35 3-520,36-3 520,-45 3-1074,26 0 0,4 0 1074,-10 0 1062,5 0 1,6 0-1063,11-1 0,-6-1 0,-17-1 0,18 1 0,4 0-358,5-7 358,-34 7 3023,33-5-3023,-25 1 33,-20 2-33,24-8 0,-31 8 0,7-1 0</inkml:trace>
  <inkml:trace contextRef="#ctx0" brushRef="#br0" timeOffset="95426">23932 7626 24575,'0'-14'0,"0"3"-9831,-2-7 8341,-2 12 1490,1-11 2818,0 14-2818,-8-29-43,5 23 43,-5-22 0,8 28 0,-16-31 0,14 20 0,-17-20-3953,10 6 3953,7 16-1856,-12-33 1856,13 34 0,-7-28 0,-2 17 3034,6-4-3034,-10 1 0,12 19 4537,-9-11-4537,7 16 0,1-7 6784,0 4-6784,0-2 0,-3 0 0,-1 2 0,-2-4 0,8 4 0,-12-8 0,13 5 0,-16-5 0,14 8 0,-12-5 0,9 9 0,-17-6 0,15 5 0,-21-4 0,22 4 0,-22-2 0,5 9 0,2-5-6784,-23 16 6784,34-12-1641,-18 9 0,-1 0 1641,17-4-1725,-13 6 0,1-1 1725,16-9 0,-9 11-1543,12 0 1543,4-10 2686,-2 31-2686,6-13-977,6 13 977,-2-14 2136,10-6-2136,-9-14 1862,15 9-1862,-11-11 0,2 9 0,14 7 0,-16-9 0,17 9 0,1 1 0,-14-6-1843,16 5 0,-1 1 1843,-19-7 0,19 5 1298,-11 0-1298,-7-14 20,18 16-20,-19-17 377,11 3-377,-12-5 4526,12 0-4526,5-5-114,-9 1 114,6-3-162,1-7 162,-9 9 0,23-15 0,-25 15 0,11-12 0,-15 15 341,12-17-341,2 2 0,-6-1 0,11-10 0,-18 8 0,12-12 0,-11 12-1940,8-11 1940,-11 21-2629,11-24 2629,-14 24 0,8-7 0,-3-5-3034,4 3 3034,-3-7 3034,4-2-3034,-4 13 0,3-9 0,0 13 0,-7 0 0,0 11 4537,-3 2-4537,0 2 0,6 8 0,-8-5 1696,8 5 0,-9-8 0,3 1 0</inkml:trace>
  <inkml:trace contextRef="#ctx0" brushRef="#br0" timeOffset="96859">25164 6127 24575,'4'11'0,"-1"-5"0,-3 8-4916,0 15 1,0 1 3425,0-11 2899,0 8 0,0 4-1409,0 6 0,0-3-2818,0-9 2818,0 8 0,0 5-1517,0 1 0,0-5 1517,0-9 1517,0 9 0,0 3-1517,0 19-3034,0-38 3034,0 35 0,5-6 0,-3-31 3034,3 32-3034,-2-14 0,-2-21 0,1 39 805,-2-41-805,-2 12 0,1-1 0,-2-14-2912,0 36 2912,3-32-2336,-3 35 2336,3-36 627,0 37-627,0-37 0,-5 29 0,3-32 2206,-14 21-2206,7-9 3740,-3 8-3740,7-1 2407,2-13-2407,2 2 6784,-2-9-6784,-5 14 0,6-9 0,-12 21 0,13-22 0,-7 25 0,7-26-6784,-4 15 6784,4-17 0,-2 3 0,3-5 0,-5 9 0,3-7 0,-6 17 0,7-16 0,-4 6 0,-1 1 0,-1-10 0,1 9 0,3-12 0</inkml:trace>
  <inkml:trace contextRef="#ctx0" brushRef="#br0" timeOffset="98008">24769 6312 24575,'34'-14'0,"0"0"-9831,13 5 8341,-23 4-665,25-6 2155,-37 10-440,20-4 1,1-1 439,-7 4 0,5-4 0,3 1 0,-1 3 0,-4 0 0,-4-1 0,5 1 0,3 1 0,24-2 0,-31 2 0,19 0 0,-2 0 0,-23 1 679,23 0-679,-36 0-1130,30 0 1130,-21 0 0,41 0 0,-40 0 0,37 2 0,-38-1 2811,32 7-2811,-24-3 4202,2 1-4202,6-4 0,-23-2 1097,11 3 1,-16-2 0,2 2 0</inkml:trace>
  <inkml:trace contextRef="#ctx0" brushRef="#br0" timeOffset="98742">26458 5792 24575,'-12'5'0,"-1"2"0,0 0-9831,-10 4 8341,17-7 1490,-10 2 1440,-4 5-1440,9-9 0,-11 7 1898,-1 4-1898,-4 13-4140,3-4 4140,2 0 4140,16-2-4140,-4-5 0,3 7 0,-4 6 0,10-19 0,-4 9 0,5-16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33884-94CD-0F4E-BA84-5C402B1D76E4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1A861-F0D7-D84E-A25F-3A724E46A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7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1A861-F0D7-D84E-A25F-3A724E46AE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82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36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27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737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3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2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13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11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3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9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62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AC5D4-C579-7A4E-B275-F588D71CC3B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83ACEB0-5530-F041-9821-279CA0A0E25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15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CAF1-2C8E-A5CB-9191-341F94D1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E090-5662-7FC9-0DD0-C5B7885D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5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AD5A-7A83-5C4C-9676-675895A77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7E239-BEEB-794A-A95E-6522428CD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1555-E665-D946-A295-44711B1F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B30A-BF00-A34A-B7AB-3B3332C81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035" y="1853754"/>
            <a:ext cx="4563100" cy="41997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Trees are one of the simplest to understand models in machine learning. </a:t>
            </a:r>
          </a:p>
          <a:p>
            <a:pPr>
              <a:lnSpc>
                <a:spcPct val="110000"/>
              </a:lnSpc>
            </a:pPr>
            <a:r>
              <a:rPr lang="en-US" dirty="0"/>
              <a:t>A tree is just a series of if statements, until a decision is reached. </a:t>
            </a:r>
          </a:p>
          <a:p>
            <a:pPr>
              <a:lnSpc>
                <a:spcPct val="110000"/>
              </a:lnSpc>
            </a:pPr>
            <a:r>
              <a:rPr lang="en-US" dirty="0"/>
              <a:t>Once the tree is made, making a prediction is dead simple, just follow the tree and make decisions. </a:t>
            </a:r>
          </a:p>
          <a:p>
            <a:pPr>
              <a:lnSpc>
                <a:spcPct val="110000"/>
              </a:lnSpc>
            </a:pPr>
            <a:r>
              <a:rPr lang="en-US" dirty="0"/>
              <a:t>We’ll look at classification trees first, regression are similar once we understand classification.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30BD10B-12D6-C741-9047-F63F4B827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339" y="2015734"/>
            <a:ext cx="6258661" cy="363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506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3EA7-D515-FDCE-7C0E-48FBAD5E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the Forest for the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2676E-3457-5371-3C96-708BE3A7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1592"/>
          </a:xfrm>
        </p:spPr>
        <p:txBody>
          <a:bodyPr/>
          <a:lstStyle/>
          <a:p>
            <a:r>
              <a:rPr lang="en-US" dirty="0"/>
              <a:t>A tree is a fundamentally different type of model from a regression based one. </a:t>
            </a:r>
          </a:p>
          <a:p>
            <a:pPr lvl="1"/>
            <a:r>
              <a:rPr lang="en-US" dirty="0"/>
              <a:t>There’s no equation like y=</a:t>
            </a:r>
            <a:r>
              <a:rPr lang="en-US" dirty="0" err="1"/>
              <a:t>mx+b</a:t>
            </a:r>
            <a:r>
              <a:rPr lang="en-US" dirty="0"/>
              <a:t> to make a prediction. </a:t>
            </a:r>
          </a:p>
          <a:p>
            <a:pPr lvl="1"/>
            <a:r>
              <a:rPr lang="en-US" dirty="0"/>
              <a:t>There’s no linear relationship, as seen in that equation. </a:t>
            </a:r>
          </a:p>
          <a:p>
            <a:pPr lvl="1"/>
            <a:r>
              <a:rPr lang="en-US" dirty="0"/>
              <a:t>The process of creating the model is quite different from gradient descent. </a:t>
            </a:r>
          </a:p>
          <a:p>
            <a:r>
              <a:rPr lang="en-US" dirty="0"/>
              <a:t>The end result is interchangeable. </a:t>
            </a:r>
          </a:p>
          <a:p>
            <a:pPr lvl="1"/>
            <a:r>
              <a:rPr lang="en-US" dirty="0"/>
              <a:t>All models predict Target given Features. </a:t>
            </a:r>
          </a:p>
          <a:p>
            <a:pPr lvl="1"/>
            <a:r>
              <a:rPr lang="en-US" dirty="0"/>
              <a:t>The only thing that changes is how it learns to do so. </a:t>
            </a:r>
          </a:p>
        </p:txBody>
      </p:sp>
    </p:spTree>
    <p:extLst>
      <p:ext uri="{BB962C8B-B14F-4D97-AF65-F5344CB8AC3E}">
        <p14:creationId xmlns:p14="http://schemas.microsoft.com/office/powerpoint/2010/main" val="33662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73CF-9BB8-D249-8490-065C3D16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Tree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3CBF-BCE9-D945-844F-2D58B1319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67" y="2015734"/>
            <a:ext cx="5285367" cy="3791300"/>
          </a:xfrm>
        </p:spPr>
        <p:txBody>
          <a:bodyPr>
            <a:normAutofit/>
          </a:bodyPr>
          <a:lstStyle/>
          <a:p>
            <a:r>
              <a:rPr lang="en-US" dirty="0"/>
              <a:t>The parts of a tree are simple and tree like:</a:t>
            </a:r>
          </a:p>
          <a:p>
            <a:pPr lvl="1"/>
            <a:r>
              <a:rPr lang="en-US" dirty="0"/>
              <a:t>Node– each point. </a:t>
            </a:r>
          </a:p>
          <a:p>
            <a:pPr lvl="1"/>
            <a:r>
              <a:rPr lang="en-US" dirty="0"/>
              <a:t>Decision – node where a split is made.</a:t>
            </a:r>
          </a:p>
          <a:p>
            <a:pPr lvl="1"/>
            <a:r>
              <a:rPr lang="en-US" dirty="0"/>
              <a:t>Terminal/leaf – node where a value is determined.</a:t>
            </a:r>
          </a:p>
          <a:p>
            <a:pPr lvl="1"/>
            <a:r>
              <a:rPr lang="en-US" dirty="0"/>
              <a:t>Brach/Sub-Tree – a segment of a larger tree. </a:t>
            </a:r>
          </a:p>
          <a:p>
            <a:pPr lvl="1"/>
            <a:r>
              <a:rPr lang="en-US" dirty="0"/>
              <a:t>Depth – how many layers the tree has. </a:t>
            </a:r>
          </a:p>
          <a:p>
            <a:pPr lvl="1"/>
            <a:r>
              <a:rPr lang="en-US" dirty="0"/>
              <a:t>Samples – number of items in that node.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0F1B538-8674-E042-8AB4-2076A5CD0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68780" y="2015734"/>
            <a:ext cx="6388404" cy="318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62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092-F9F5-4049-A73E-5D27532C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3930D-FFFB-E743-816D-0DF4EDA30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decisions and the cutoffs are created by looking at the features for the criteria that will do the “best job of deciding” – or that will split the group most sharply.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You are classifying people as horse jockeys or basketball players. </a:t>
            </a:r>
          </a:p>
          <a:p>
            <a:pPr lvl="1"/>
            <a:r>
              <a:rPr lang="en-US" dirty="0"/>
              <a:t>You know their height and hair color. </a:t>
            </a:r>
          </a:p>
          <a:p>
            <a:pPr lvl="1"/>
            <a:r>
              <a:rPr lang="en-US" dirty="0"/>
              <a:t>Height does a better job of splitting the records.</a:t>
            </a:r>
          </a:p>
          <a:p>
            <a:pPr lvl="2"/>
            <a:r>
              <a:rPr lang="en-US" dirty="0"/>
              <a:t>Those &gt;6ft are almost all </a:t>
            </a:r>
            <a:r>
              <a:rPr lang="en-US" dirty="0" err="1"/>
              <a:t>bball</a:t>
            </a:r>
            <a:r>
              <a:rPr lang="en-US" dirty="0"/>
              <a:t> </a:t>
            </a:r>
            <a:r>
              <a:rPr lang="en-US" dirty="0" err="1"/>
              <a:t>playters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Those &lt;6ft are almost all jockeys. </a:t>
            </a:r>
          </a:p>
          <a:p>
            <a:pPr lvl="2"/>
            <a:r>
              <a:rPr lang="en-US" dirty="0"/>
              <a:t>Your choice would be to divide the data based on height. </a:t>
            </a:r>
          </a:p>
          <a:p>
            <a:r>
              <a:rPr lang="en-US" dirty="0"/>
              <a:t>The algorithm finds the decisions that maximize this separation. </a:t>
            </a:r>
          </a:p>
        </p:txBody>
      </p:sp>
    </p:spTree>
    <p:extLst>
      <p:ext uri="{BB962C8B-B14F-4D97-AF65-F5344CB8AC3E}">
        <p14:creationId xmlns:p14="http://schemas.microsoft.com/office/powerpoint/2010/main" val="327502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D9C9-D6C7-6A4D-BACF-FD38590F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89BB-402F-C745-9433-D757D3F38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criteria for how good the separation can be defined by different metrics. </a:t>
            </a:r>
          </a:p>
          <a:p>
            <a:pPr lvl="1"/>
            <a:r>
              <a:rPr lang="en-US" dirty="0"/>
              <a:t>Gini.</a:t>
            </a:r>
          </a:p>
          <a:p>
            <a:pPr lvl="1"/>
            <a:r>
              <a:rPr lang="en-US" dirty="0"/>
              <a:t>Entropy. </a:t>
            </a:r>
          </a:p>
          <a:p>
            <a:r>
              <a:rPr lang="en-US" dirty="0"/>
              <a:t>The math behind each is different, the idea is the same. </a:t>
            </a:r>
          </a:p>
          <a:p>
            <a:pPr lvl="1"/>
            <a:r>
              <a:rPr lang="en-US" dirty="0"/>
              <a:t>There is rarely a substantial difference between the two. </a:t>
            </a:r>
          </a:p>
          <a:p>
            <a:r>
              <a:rPr lang="en-US" dirty="0"/>
              <a:t>Gini is the default. </a:t>
            </a:r>
          </a:p>
        </p:txBody>
      </p:sp>
    </p:spTree>
    <p:extLst>
      <p:ext uri="{BB962C8B-B14F-4D97-AF65-F5344CB8AC3E}">
        <p14:creationId xmlns:p14="http://schemas.microsoft.com/office/powerpoint/2010/main" val="248953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5AF4-FB22-A045-ABA0-1FBD9BB8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AEBA-350D-6746-9554-318393C6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have 4 red gumballs and 0 blue gumballs, that group of 4 is 100% pure.</a:t>
            </a:r>
          </a:p>
          <a:p>
            <a:r>
              <a:rPr lang="en-US" dirty="0"/>
              <a:t>If we have 2 red and 2 blue, that group is 100% impure.</a:t>
            </a:r>
          </a:p>
          <a:p>
            <a:r>
              <a:rPr lang="en-US" dirty="0"/>
              <a:t>If we have 3 red and 1 blue, that group is either 75% or 81% pure, if we use Gini or Entropy respectively.</a:t>
            </a:r>
          </a:p>
          <a:p>
            <a:r>
              <a:rPr lang="en-US" dirty="0"/>
              <a:t>As with most post-COVID political movements, trees want to discriminate.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2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4A4A-2DC7-C74B-8813-1FA141CD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Gini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C57F-ADF6-5848-821A-96A7541D8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r>
              <a:rPr lang="en-US" dirty="0"/>
              <a:t>Gini measures how often a randomly chosen element from the set would be incorrectly labeled.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FBC998-1140-444B-91D5-A45D7176F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2119806"/>
            <a:ext cx="4305998" cy="162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F92602-4F5F-4B45-BDAC-D370BA4CC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63" y="3379720"/>
            <a:ext cx="3019708" cy="3249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52B4F-6F8D-3E4A-8BAD-44C466C01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951" y="4139252"/>
            <a:ext cx="63881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3A67-B4E8-0540-8FF0-60889B16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DE5A-927B-D742-8DDC-8D84EDD0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2015733"/>
            <a:ext cx="5610225" cy="1856180"/>
          </a:xfrm>
        </p:spPr>
        <p:txBody>
          <a:bodyPr>
            <a:normAutofit/>
          </a:bodyPr>
          <a:lstStyle/>
          <a:p>
            <a:r>
              <a:rPr lang="en-US" dirty="0"/>
              <a:t>Entropy is similar to Gini – a measure of impurity. </a:t>
            </a:r>
          </a:p>
          <a:p>
            <a:r>
              <a:rPr lang="en-US" dirty="0"/>
              <a:t>Created to convey the idea of information – the lower the entropy the more “information” it conveys. </a:t>
            </a:r>
          </a:p>
        </p:txBody>
      </p:sp>
      <p:pic>
        <p:nvPicPr>
          <p:cNvPr id="2052" name="Picture 4" descr="The image highlights the variation of entropy over data points, Entropy is the lowest at end and maximum in middle of graph.">
            <a:extLst>
              <a:ext uri="{FF2B5EF4-FFF2-40B4-BE49-F238E27FC236}">
                <a16:creationId xmlns:a16="http://schemas.microsoft.com/office/drawing/2014/main" id="{74E08735-059A-8642-B840-778AF3739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8" r="19004"/>
          <a:stretch/>
        </p:blipFill>
        <p:spPr bwMode="auto">
          <a:xfrm>
            <a:off x="6451186" y="2015733"/>
            <a:ext cx="5091630" cy="399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09AE712-1D3F-034B-88C6-9DC63BB6B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434" y="3994851"/>
            <a:ext cx="5559145" cy="129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24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8BBE-CA3C-2244-A997-B6F6BC24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02F17-797C-6440-A30C-B7581EB00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624901"/>
          </a:xfrm>
        </p:spPr>
        <p:txBody>
          <a:bodyPr/>
          <a:lstStyle/>
          <a:p>
            <a:r>
              <a:rPr lang="en-US" dirty="0"/>
              <a:t>The algorithm looks for the decision that maximizes information gain or purity. </a:t>
            </a:r>
          </a:p>
          <a:p>
            <a:pPr lvl="1"/>
            <a:r>
              <a:rPr lang="en-US" dirty="0"/>
              <a:t>Gain = Gini/ENT before the split – Gini/ENT after the split</a:t>
            </a:r>
          </a:p>
          <a:p>
            <a:pPr lvl="1"/>
            <a:r>
              <a:rPr lang="en-US" dirty="0"/>
              <a:t>The split is the one that makes the tree more pure after. </a:t>
            </a:r>
          </a:p>
          <a:p>
            <a:pPr lvl="1"/>
            <a:r>
              <a:rPr lang="en-US" dirty="0"/>
              <a:t>Maximize discrimination with the division. </a:t>
            </a:r>
          </a:p>
          <a:p>
            <a:r>
              <a:rPr lang="en-US" dirty="0"/>
              <a:t>The series of the decisions makes the tree sequence of decisions. </a:t>
            </a:r>
          </a:p>
          <a:p>
            <a:r>
              <a:rPr lang="en-US" dirty="0"/>
              <a:t>In practice Gini and Entropy will usually give close to the same results</a:t>
            </a:r>
          </a:p>
        </p:txBody>
      </p:sp>
      <p:pic>
        <p:nvPicPr>
          <p:cNvPr id="5122" name="Picture 2" descr="Representation of Gini Index and Entropy">
            <a:extLst>
              <a:ext uri="{FF2B5EF4-FFF2-40B4-BE49-F238E27FC236}">
                <a16:creationId xmlns:a16="http://schemas.microsoft.com/office/drawing/2014/main" id="{0B4F503F-65DF-594A-A2CB-6F3BE111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2" t="11718" r="9548" b="6250"/>
          <a:stretch/>
        </p:blipFill>
        <p:spPr bwMode="auto">
          <a:xfrm>
            <a:off x="2679844" y="4478655"/>
            <a:ext cx="6832311" cy="229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77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F9D6-EC78-6C6E-7378-DBDBDC16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MoRe</a:t>
            </a:r>
            <a:r>
              <a:rPr lang="en-US" dirty="0"/>
              <a:t> Splitting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B460-FE22-8CA6-00A9-4EF92FEB4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88679"/>
          </a:xfrm>
        </p:spPr>
        <p:txBody>
          <a:bodyPr/>
          <a:lstStyle/>
          <a:p>
            <a:r>
              <a:rPr lang="en-US" dirty="0"/>
              <a:t>When there is a numeric feature, the tree decides to split at some point. </a:t>
            </a:r>
          </a:p>
          <a:p>
            <a:pPr lvl="1"/>
            <a:r>
              <a:rPr lang="en-US" dirty="0"/>
              <a:t>E.g. Age &lt; 35 one way, &gt;= 35 the other. </a:t>
            </a:r>
          </a:p>
          <a:p>
            <a:r>
              <a:rPr lang="en-US" dirty="0"/>
              <a:t>Where the cutoff number is set is something the algorithm decides internally. </a:t>
            </a:r>
          </a:p>
          <a:p>
            <a:pPr lvl="1"/>
            <a:r>
              <a:rPr lang="en-US" dirty="0"/>
              <a:t>There are several ways that the tree can pick a point. </a:t>
            </a:r>
          </a:p>
          <a:p>
            <a:pPr lvl="1"/>
            <a:r>
              <a:rPr lang="en-US" dirty="0"/>
              <a:t>E.g. Try every value in the dataset, pick the best. </a:t>
            </a:r>
          </a:p>
          <a:p>
            <a:r>
              <a:rPr lang="en-US" dirty="0"/>
              <a:t>This isn’t really that important for us, we can ignore it. </a:t>
            </a:r>
          </a:p>
        </p:txBody>
      </p:sp>
    </p:spTree>
    <p:extLst>
      <p:ext uri="{BB962C8B-B14F-4D97-AF65-F5344CB8AC3E}">
        <p14:creationId xmlns:p14="http://schemas.microsoft.com/office/powerpoint/2010/main" val="103945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FFD6-22ED-F546-B798-68AAFE8D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Woody Goodness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1374C-BD2A-1F48-A02F-FDEBA81F9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11691"/>
          </a:xfrm>
        </p:spPr>
        <p:txBody>
          <a:bodyPr/>
          <a:lstStyle/>
          <a:p>
            <a:r>
              <a:rPr lang="en-US" dirty="0"/>
              <a:t>Tree benefits:</a:t>
            </a:r>
          </a:p>
          <a:p>
            <a:pPr lvl="1"/>
            <a:r>
              <a:rPr lang="en-US" dirty="0"/>
              <a:t>Simple, understandable, and mirrors human decision making. </a:t>
            </a:r>
          </a:p>
          <a:p>
            <a:pPr lvl="1"/>
            <a:r>
              <a:rPr lang="en-US" dirty="0"/>
              <a:t>Handles non-linear relationships. </a:t>
            </a:r>
          </a:p>
          <a:p>
            <a:pPr lvl="1"/>
            <a:r>
              <a:rPr lang="en-US" dirty="0"/>
              <a:t>Non-parametric – there is no assumption of what the data is, such as normal. </a:t>
            </a:r>
          </a:p>
          <a:p>
            <a:pPr lvl="1"/>
            <a:r>
              <a:rPr lang="en-US" dirty="0"/>
              <a:t>Explainable – we can follow the exact logic of the decisions. </a:t>
            </a:r>
          </a:p>
          <a:p>
            <a:pPr lvl="1"/>
            <a:r>
              <a:rPr lang="en-US" dirty="0"/>
              <a:t>Data prep is minimal – no need to encode or scale data. </a:t>
            </a:r>
          </a:p>
          <a:p>
            <a:pPr lvl="1"/>
            <a:r>
              <a:rPr lang="en-US" dirty="0"/>
              <a:t>Generally computationally efficient with large datasets when making decisions. </a:t>
            </a:r>
          </a:p>
          <a:p>
            <a:r>
              <a:rPr lang="en-US" dirty="0"/>
              <a:t>Can be acceptable in scenarios (finance, insurance, </a:t>
            </a:r>
            <a:r>
              <a:rPr lang="en-US" dirty="0" err="1"/>
              <a:t>etc</a:t>
            </a:r>
            <a:r>
              <a:rPr lang="en-US" dirty="0"/>
              <a:t>…) where a black box model isn’t. </a:t>
            </a:r>
          </a:p>
          <a:p>
            <a:pPr lvl="1"/>
            <a:r>
              <a:rPr lang="en-US" dirty="0"/>
              <a:t>You can show how a decision is made in human language.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3360-6454-764B-82F2-EEA9E2CA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Barky Badness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D4D7-B3CA-C14B-8695-4991E10C0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1348"/>
            <a:ext cx="9603275" cy="3932216"/>
          </a:xfrm>
        </p:spPr>
        <p:txBody>
          <a:bodyPr/>
          <a:lstStyle/>
          <a:p>
            <a:r>
              <a:rPr lang="en-US" dirty="0"/>
              <a:t>Trees have some disadvantages:</a:t>
            </a:r>
          </a:p>
          <a:p>
            <a:pPr lvl="1"/>
            <a:r>
              <a:rPr lang="en-US" dirty="0"/>
              <a:t>Non-robust – small changes in training data can generate wildly different trees. </a:t>
            </a:r>
          </a:p>
          <a:p>
            <a:pPr lvl="2"/>
            <a:r>
              <a:rPr lang="en-US" dirty="0"/>
              <a:t>I.e. a small difference in train-test split can yield different split points, which can then lead to a very different tree. Even if the end results perform almost identically. </a:t>
            </a:r>
          </a:p>
          <a:p>
            <a:pPr lvl="2"/>
            <a:r>
              <a:rPr lang="en-US" dirty="0"/>
              <a:t>What might we try that could mitigate this?</a:t>
            </a:r>
          </a:p>
          <a:p>
            <a:pPr lvl="1"/>
            <a:r>
              <a:rPr lang="en-US" dirty="0"/>
              <a:t>Prone to overfitting (though we can combat that when we code them).</a:t>
            </a:r>
          </a:p>
          <a:p>
            <a:pPr lvl="1"/>
            <a:r>
              <a:rPr lang="en-US" dirty="0"/>
              <a:t>Training with large datasets can be time consuming, especially when attempting to limit overfitting.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345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C457-87EC-AB87-D3B6-C057BAD0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are Too Smart!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6C911-D4FC-CE36-706A-ECED91F4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5" y="1933304"/>
            <a:ext cx="7306536" cy="4036988"/>
          </a:xfrm>
        </p:spPr>
        <p:txBody>
          <a:bodyPr/>
          <a:lstStyle/>
          <a:p>
            <a:r>
              <a:rPr lang="en-US" dirty="0"/>
              <a:t>One thing we see with trees is that they try to be perfect. </a:t>
            </a:r>
          </a:p>
          <a:p>
            <a:pPr lvl="1"/>
            <a:r>
              <a:rPr lang="en-US" dirty="0"/>
              <a:t>If there is a node with 1 T and 1 F, it’ll try to split. </a:t>
            </a:r>
          </a:p>
          <a:p>
            <a:r>
              <a:rPr lang="en-US" dirty="0"/>
              <a:t>This is something called overfitting. </a:t>
            </a:r>
          </a:p>
          <a:p>
            <a:pPr lvl="1"/>
            <a:r>
              <a:rPr lang="en-US" dirty="0"/>
              <a:t>The model is </a:t>
            </a:r>
            <a:r>
              <a:rPr lang="en-US" i="1" dirty="0"/>
              <a:t>too tailored </a:t>
            </a:r>
            <a:r>
              <a:rPr lang="en-US" dirty="0"/>
              <a:t>to the training data. </a:t>
            </a:r>
          </a:p>
          <a:p>
            <a:pPr lvl="1"/>
            <a:r>
              <a:rPr lang="en-US" dirty="0"/>
              <a:t>Model changes its performance too much to make sure it is 100%</a:t>
            </a:r>
          </a:p>
          <a:p>
            <a:r>
              <a:rPr lang="en-US" dirty="0"/>
              <a:t>This can hurt the model’s performance with new data. </a:t>
            </a:r>
          </a:p>
          <a:p>
            <a:pPr lvl="1"/>
            <a:r>
              <a:rPr lang="en-US" dirty="0"/>
              <a:t>The model is perfect with what it knows, but bad on new examples.</a:t>
            </a:r>
          </a:p>
          <a:p>
            <a:r>
              <a:rPr lang="en-US" dirty="0"/>
              <a:t>We want something tailored to data, but still general enough. </a:t>
            </a:r>
          </a:p>
          <a:p>
            <a:pPr lvl="1"/>
            <a:r>
              <a:rPr lang="en-US" dirty="0"/>
              <a:t>We need to constrain the learning of the model to improve!</a:t>
            </a:r>
          </a:p>
        </p:txBody>
      </p:sp>
      <p:pic>
        <p:nvPicPr>
          <p:cNvPr id="4" name="Picture 2" descr="Exercise 2 Evaluating Overfitting Risk of a | Chegg.com">
            <a:extLst>
              <a:ext uri="{FF2B5EF4-FFF2-40B4-BE49-F238E27FC236}">
                <a16:creationId xmlns:a16="http://schemas.microsoft.com/office/drawing/2014/main" id="{7C1E85B3-1488-D265-20A2-D5BA3FB5F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8" r="36655"/>
          <a:stretch/>
        </p:blipFill>
        <p:spPr bwMode="auto">
          <a:xfrm>
            <a:off x="7646169" y="503946"/>
            <a:ext cx="4400866" cy="546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28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D718-8CAE-E011-BEDB-EFCDA7B7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F786F-C040-0224-4124-ED066152F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341938" cy="4199726"/>
          </a:xfrm>
        </p:spPr>
        <p:txBody>
          <a:bodyPr>
            <a:normAutofit/>
          </a:bodyPr>
          <a:lstStyle/>
          <a:p>
            <a:r>
              <a:rPr lang="en-US" dirty="0"/>
              <a:t>When we train a model it learns from the training data. </a:t>
            </a:r>
          </a:p>
          <a:p>
            <a:r>
              <a:rPr lang="en-US" dirty="0"/>
              <a:t>A model can learn too much, or too little from that data. </a:t>
            </a:r>
          </a:p>
          <a:p>
            <a:r>
              <a:rPr lang="en-US" dirty="0"/>
              <a:t>The training data is a sample of reality. </a:t>
            </a:r>
          </a:p>
          <a:p>
            <a:pPr lvl="1"/>
            <a:r>
              <a:rPr lang="en-US" dirty="0"/>
              <a:t>Model should </a:t>
            </a:r>
            <a:r>
              <a:rPr lang="en-US" dirty="0" err="1"/>
              <a:t>perfrom</a:t>
            </a:r>
            <a:r>
              <a:rPr lang="en-US" dirty="0"/>
              <a:t> well with it. </a:t>
            </a:r>
          </a:p>
          <a:p>
            <a:pPr lvl="1"/>
            <a:r>
              <a:rPr lang="en-US" dirty="0"/>
              <a:t>New data is similar, but different.</a:t>
            </a:r>
          </a:p>
          <a:p>
            <a:r>
              <a:rPr lang="en-US" dirty="0"/>
              <a:t>This balance is overfitting vs underfitting. </a:t>
            </a:r>
          </a:p>
          <a:p>
            <a:pPr lvl="1"/>
            <a:r>
              <a:rPr lang="en-US" dirty="0"/>
              <a:t>How customized to training data is model? </a:t>
            </a:r>
          </a:p>
        </p:txBody>
      </p:sp>
      <p:pic>
        <p:nvPicPr>
          <p:cNvPr id="1032" name="Picture 8" descr="What is Underfitting? - AIML.com">
            <a:extLst>
              <a:ext uri="{FF2B5EF4-FFF2-40B4-BE49-F238E27FC236}">
                <a16:creationId xmlns:a16="http://schemas.microsoft.com/office/drawing/2014/main" id="{B3625F69-7535-13C5-09CD-9FE460B54B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72"/>
          <a:stretch>
            <a:fillRect/>
          </a:stretch>
        </p:blipFill>
        <p:spPr bwMode="auto">
          <a:xfrm>
            <a:off x="5341937" y="1182029"/>
            <a:ext cx="6850063" cy="449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29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CA33-620F-6DB5-C28C-13D50CAA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AF65F-8836-A470-219B-C5279804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5789"/>
          </a:xfrm>
        </p:spPr>
        <p:txBody>
          <a:bodyPr>
            <a:normAutofit/>
          </a:bodyPr>
          <a:lstStyle/>
          <a:p>
            <a:r>
              <a:rPr lang="en-US" dirty="0"/>
              <a:t>Trees make the overfitting really explicit and clear. </a:t>
            </a:r>
          </a:p>
          <a:p>
            <a:r>
              <a:rPr lang="en-US" dirty="0"/>
              <a:t>The tree decides, at each step, the best split to improve accuracy. </a:t>
            </a:r>
          </a:p>
          <a:p>
            <a:pPr lvl="1"/>
            <a:r>
              <a:rPr lang="en-US" dirty="0"/>
              <a:t>Eventually, the good splits are used up – some impurity, no easy improvements. </a:t>
            </a:r>
          </a:p>
          <a:p>
            <a:r>
              <a:rPr lang="en-US" dirty="0"/>
              <a:t>E.g. Suppose you are predicting who will pass a class. </a:t>
            </a:r>
          </a:p>
          <a:p>
            <a:pPr lvl="1"/>
            <a:r>
              <a:rPr lang="en-US" dirty="0"/>
              <a:t>Initial splits based on attendance, doing the work, taking notes, </a:t>
            </a:r>
            <a:r>
              <a:rPr lang="en-US" dirty="0" err="1"/>
              <a:t>etc</a:t>
            </a:r>
            <a:r>
              <a:rPr lang="en-US" dirty="0"/>
              <a:t>… are good. </a:t>
            </a:r>
          </a:p>
          <a:p>
            <a:pPr lvl="1"/>
            <a:r>
              <a:rPr lang="en-US" dirty="0"/>
              <a:t>Eventually you’ll have nodes with people with similar ‘big’ habits, who both passed and failed. </a:t>
            </a:r>
          </a:p>
          <a:p>
            <a:pPr lvl="1"/>
            <a:r>
              <a:rPr lang="en-US" dirty="0"/>
              <a:t>The tree will use anything it has in data to divide the group, even if not really generalizable. </a:t>
            </a:r>
          </a:p>
          <a:p>
            <a:pPr lvl="2"/>
            <a:r>
              <a:rPr lang="en-US" dirty="0"/>
              <a:t>Paid tuition, address, birth month, id number, </a:t>
            </a:r>
            <a:r>
              <a:rPr lang="en-US" dirty="0" err="1"/>
              <a:t>etc</a:t>
            </a:r>
            <a:r>
              <a:rPr lang="en-US" dirty="0"/>
              <a:t>… Anything that happens to split node better here. </a:t>
            </a:r>
          </a:p>
          <a:p>
            <a:pPr lvl="1"/>
            <a:r>
              <a:rPr lang="en-US" dirty="0"/>
              <a:t>These really specific splits likely aren’t broad rules that work in most cases. </a:t>
            </a:r>
          </a:p>
          <a:p>
            <a:r>
              <a:rPr lang="en-US" dirty="0"/>
              <a:t>We need to stop the model from learning this stuff that doesn’t transfer. But How? </a:t>
            </a:r>
          </a:p>
        </p:txBody>
      </p:sp>
      <p:pic>
        <p:nvPicPr>
          <p:cNvPr id="2050" name="Picture 2" descr="Decision Trees — Applied Machine Learning in Python">
            <a:extLst>
              <a:ext uri="{FF2B5EF4-FFF2-40B4-BE49-F238E27FC236}">
                <a16:creationId xmlns:a16="http://schemas.microsoft.com/office/drawing/2014/main" id="{4E88A869-09DB-28EC-E35A-D67B521B2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34" t="62103"/>
          <a:stretch>
            <a:fillRect/>
          </a:stretch>
        </p:blipFill>
        <p:spPr bwMode="auto">
          <a:xfrm>
            <a:off x="8720254" y="157800"/>
            <a:ext cx="3337931" cy="259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894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15C9-018F-6541-851A-C9C642C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Error – Tree that is Overfitted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FF36D-B6F5-B040-9518-D4A55ACA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284972" cy="10492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Exercise 2 Evaluating Overfitting Risk of a | Chegg.com">
            <a:extLst>
              <a:ext uri="{FF2B5EF4-FFF2-40B4-BE49-F238E27FC236}">
                <a16:creationId xmlns:a16="http://schemas.microsoft.com/office/drawing/2014/main" id="{46B7ABF7-5F76-694B-A31D-282AFD539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8" r="36655"/>
          <a:stretch/>
        </p:blipFill>
        <p:spPr bwMode="auto">
          <a:xfrm>
            <a:off x="7791134" y="1329136"/>
            <a:ext cx="4400866" cy="546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llustration of the underfitting/overfitting issue on a simple... |  Download Scientific Diagram">
            <a:extLst>
              <a:ext uri="{FF2B5EF4-FFF2-40B4-BE49-F238E27FC236}">
                <a16:creationId xmlns:a16="http://schemas.microsoft.com/office/drawing/2014/main" id="{004D4E4B-0A72-D9AA-BA17-41C0C654A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201" y="3105550"/>
            <a:ext cx="7773752" cy="296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62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E8E3-4B26-DA14-5FCC-B8AA35BB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Make Sure Models Fit Well?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52D9B-2129-A676-E067-DC7A3CB9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When Jesse tells you a knock knock joke but you're the one who knocks :  r/breakingbad">
            <a:extLst>
              <a:ext uri="{FF2B5EF4-FFF2-40B4-BE49-F238E27FC236}">
                <a16:creationId xmlns:a16="http://schemas.microsoft.com/office/drawing/2014/main" id="{0C2978AF-4469-5CF2-3D03-C63EB2400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414" y="2197443"/>
            <a:ext cx="5441171" cy="308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574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703A-BE2E-F57D-6138-D70CF3DE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Better Trees -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8C54-8CFA-C92F-608B-FB27F99CE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4287"/>
          </a:xfrm>
        </p:spPr>
        <p:txBody>
          <a:bodyPr/>
          <a:lstStyle/>
          <a:p>
            <a:r>
              <a:rPr lang="en-US" dirty="0"/>
              <a:t>Hyperparameters are basically the settings that the algorithm uses while making a model.</a:t>
            </a:r>
          </a:p>
          <a:p>
            <a:pPr lvl="1"/>
            <a:r>
              <a:rPr lang="en-US" dirty="0"/>
              <a:t>Each algorithm has a different family of hyperparameters. </a:t>
            </a:r>
          </a:p>
          <a:p>
            <a:pPr lvl="1"/>
            <a:r>
              <a:rPr lang="en-US" dirty="0"/>
              <a:t>The algorithm makes a model from data, using the HPs as its settings to do so. </a:t>
            </a:r>
          </a:p>
          <a:p>
            <a:r>
              <a:rPr lang="en-US" dirty="0"/>
              <a:t>We can create different models with different HPs. </a:t>
            </a:r>
          </a:p>
          <a:p>
            <a:pPr lvl="1"/>
            <a:r>
              <a:rPr lang="en-US" dirty="0"/>
              <a:t>These models may perform very differently.</a:t>
            </a:r>
          </a:p>
          <a:p>
            <a:r>
              <a:rPr lang="en-US" dirty="0"/>
              <a:t>Tree hyperparameters can help us tailor our tree models:</a:t>
            </a:r>
          </a:p>
          <a:p>
            <a:pPr lvl="1"/>
            <a:r>
              <a:rPr lang="en-US" dirty="0"/>
              <a:t>Maximum number of levels in the tree. </a:t>
            </a:r>
          </a:p>
          <a:p>
            <a:pPr lvl="1"/>
            <a:r>
              <a:rPr lang="en-US" dirty="0"/>
              <a:t>Gini vs entropy for splits. </a:t>
            </a:r>
          </a:p>
          <a:p>
            <a:pPr lvl="1"/>
            <a:r>
              <a:rPr lang="en-US" dirty="0"/>
              <a:t>Minimum number of samples in a node to allow it to split. </a:t>
            </a:r>
          </a:p>
          <a:p>
            <a:pPr lvl="1"/>
            <a:r>
              <a:rPr lang="en-US" dirty="0"/>
              <a:t>Maximum total number of leaves. </a:t>
            </a:r>
          </a:p>
        </p:txBody>
      </p:sp>
    </p:spTree>
    <p:extLst>
      <p:ext uri="{BB962C8B-B14F-4D97-AF65-F5344CB8AC3E}">
        <p14:creationId xmlns:p14="http://schemas.microsoft.com/office/powerpoint/2010/main" val="6546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7117-A532-3A19-B44E-2B1A8264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3B4E1-8DD4-1E12-2DC2-2E84F7818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468200" cy="3954245"/>
          </a:xfrm>
        </p:spPr>
        <p:txBody>
          <a:bodyPr/>
          <a:lstStyle/>
          <a:p>
            <a:r>
              <a:rPr lang="en-US" dirty="0"/>
              <a:t>Every model has different hyperparameters. </a:t>
            </a:r>
          </a:p>
          <a:p>
            <a:r>
              <a:rPr lang="en-US" dirty="0"/>
              <a:t>For a tree, they mainly relate to limits on growth:</a:t>
            </a:r>
          </a:p>
          <a:p>
            <a:pPr lvl="1"/>
            <a:r>
              <a:rPr lang="en-US" dirty="0"/>
              <a:t>Max number of levels. </a:t>
            </a:r>
          </a:p>
          <a:p>
            <a:pPr lvl="1"/>
            <a:r>
              <a:rPr lang="en-US" dirty="0"/>
              <a:t>Minimum items in a leaf to allow a split. </a:t>
            </a:r>
          </a:p>
          <a:p>
            <a:pPr lvl="1"/>
            <a:r>
              <a:rPr lang="en-US" dirty="0"/>
              <a:t>Maximum number of features to use. </a:t>
            </a:r>
          </a:p>
          <a:p>
            <a:r>
              <a:rPr lang="en-US" dirty="0"/>
              <a:t>This is something we want to get used to looking up in documentation.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2497F-4420-6DA9-5F73-37D17F91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779" y="0"/>
            <a:ext cx="4719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24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FB88-6CDD-12AE-73E0-9CEC1B34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Many Parameters!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6AA7C-5A86-FB19-8C90-806DD6BA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7646"/>
          </a:xfrm>
        </p:spPr>
        <p:txBody>
          <a:bodyPr/>
          <a:lstStyle/>
          <a:p>
            <a:r>
              <a:rPr lang="en-US" dirty="0"/>
              <a:t>Parameters are the things that the model learns internally while training. </a:t>
            </a:r>
          </a:p>
          <a:p>
            <a:pPr lvl="1"/>
            <a:r>
              <a:rPr lang="en-US" dirty="0"/>
              <a:t>In a tree – split criteria. </a:t>
            </a:r>
          </a:p>
          <a:p>
            <a:pPr lvl="1"/>
            <a:r>
              <a:rPr lang="en-US" dirty="0"/>
              <a:t>In other models – weights, values, centers, </a:t>
            </a:r>
            <a:r>
              <a:rPr lang="en-US" dirty="0" err="1"/>
              <a:t>etc</a:t>
            </a:r>
            <a:r>
              <a:rPr lang="en-US" dirty="0"/>
              <a:t>… (This will make more sense later) </a:t>
            </a:r>
          </a:p>
          <a:p>
            <a:r>
              <a:rPr lang="en-US" dirty="0"/>
              <a:t>Hyperparameters are the things the model is told from the developer. </a:t>
            </a:r>
          </a:p>
          <a:p>
            <a:pPr lvl="1"/>
            <a:r>
              <a:rPr lang="en-US" dirty="0"/>
              <a:t>The rules on how the training process can run. </a:t>
            </a:r>
          </a:p>
          <a:p>
            <a:pPr lvl="1"/>
            <a:r>
              <a:rPr lang="en-US" dirty="0"/>
              <a:t>Settings for how it does its job. </a:t>
            </a:r>
          </a:p>
          <a:p>
            <a:r>
              <a:rPr lang="en-US" dirty="0"/>
              <a:t>Creating a model will require [model type + HP choices + Data]. </a:t>
            </a:r>
          </a:p>
          <a:p>
            <a:pPr lvl="1"/>
            <a:r>
              <a:rPr lang="en-US" dirty="0"/>
              <a:t>We often want to compare different HP sets against each other. </a:t>
            </a:r>
          </a:p>
          <a:p>
            <a:pPr lvl="1"/>
            <a:r>
              <a:rPr lang="en-US" dirty="0"/>
              <a:t>Soon we’ll look at tools to automate testing and comparing HP settings. </a:t>
            </a:r>
          </a:p>
          <a:p>
            <a:pPr lvl="1"/>
            <a:r>
              <a:rPr lang="en-US" dirty="0"/>
              <a:t>Can use HP settings to mitigate over/under fitting in a model. </a:t>
            </a:r>
          </a:p>
        </p:txBody>
      </p:sp>
    </p:spTree>
    <p:extLst>
      <p:ext uri="{BB962C8B-B14F-4D97-AF65-F5344CB8AC3E}">
        <p14:creationId xmlns:p14="http://schemas.microsoft.com/office/powerpoint/2010/main" val="55262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E728-E29E-AE00-CF43-506F4953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455" y="804519"/>
            <a:ext cx="4492534" cy="1049235"/>
          </a:xfrm>
        </p:spPr>
        <p:txBody>
          <a:bodyPr/>
          <a:lstStyle/>
          <a:p>
            <a:r>
              <a:rPr lang="en-US" dirty="0"/>
              <a:t>Parameter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11E54-4B22-0364-379B-D803A615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455" y="2015732"/>
            <a:ext cx="3773399" cy="3450613"/>
          </a:xfrm>
        </p:spPr>
        <p:txBody>
          <a:bodyPr/>
          <a:lstStyle/>
          <a:p>
            <a:r>
              <a:rPr lang="en-US" dirty="0"/>
              <a:t>Hyperparameters:</a:t>
            </a:r>
          </a:p>
          <a:p>
            <a:pPr lvl="1"/>
            <a:r>
              <a:rPr lang="en-US" dirty="0"/>
              <a:t>Us</a:t>
            </a:r>
          </a:p>
          <a:p>
            <a:pPr lvl="1"/>
            <a:r>
              <a:rPr lang="en-US" dirty="0"/>
              <a:t>Control training. </a:t>
            </a:r>
          </a:p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Algorithm. </a:t>
            </a:r>
          </a:p>
          <a:p>
            <a:pPr lvl="1"/>
            <a:r>
              <a:rPr lang="en-US" dirty="0"/>
              <a:t>Control predictions. </a:t>
            </a:r>
          </a:p>
        </p:txBody>
      </p:sp>
      <p:pic>
        <p:nvPicPr>
          <p:cNvPr id="4098" name="Picture 2" descr="Parameters Vs Hyperparameters in Machine Learning | by Lekhansh | Medium">
            <a:extLst>
              <a:ext uri="{FF2B5EF4-FFF2-40B4-BE49-F238E27FC236}">
                <a16:creationId xmlns:a16="http://schemas.microsoft.com/office/drawing/2014/main" id="{719F9DFF-A219-2152-6CCC-19EADEA70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68" y="0"/>
            <a:ext cx="6935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917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A6BA-10E2-0D27-27FB-10A6B139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the Model with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41A7-4567-7ABA-D4A3-B7E570BB7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want our model to:</a:t>
            </a:r>
          </a:p>
          <a:p>
            <a:pPr lvl="1"/>
            <a:r>
              <a:rPr lang="en-US" dirty="0"/>
              <a:t>Learn the data well, so it can make accurate predictions. </a:t>
            </a:r>
          </a:p>
          <a:p>
            <a:pPr lvl="1"/>
            <a:r>
              <a:rPr lang="en-US" dirty="0"/>
              <a:t>Not become overly customized to the specifics, so it can make good predictions on new data. </a:t>
            </a:r>
          </a:p>
          <a:p>
            <a:r>
              <a:rPr lang="en-US" dirty="0"/>
              <a:t>We want to balance overfitting and underfitting. </a:t>
            </a:r>
          </a:p>
          <a:p>
            <a:r>
              <a:rPr lang="en-US" dirty="0"/>
              <a:t>Trees can tend to overfit if we don’t constrain their growth. </a:t>
            </a:r>
          </a:p>
          <a:p>
            <a:pPr lvl="1"/>
            <a:r>
              <a:rPr lang="en-US" dirty="0"/>
              <a:t>E.g. if a node has a T and F, just split so each node is perfect. </a:t>
            </a:r>
          </a:p>
          <a:p>
            <a:r>
              <a:rPr lang="en-US" dirty="0"/>
              <a:t>We want to let our tree fit to data, but limit how far it can go. </a:t>
            </a:r>
          </a:p>
          <a:p>
            <a:pPr lvl="1"/>
            <a:r>
              <a:rPr lang="en-US" dirty="0"/>
              <a:t>The model can get to 100% in training, we want to constrain that growth. </a:t>
            </a:r>
          </a:p>
          <a:p>
            <a:pPr lvl="1"/>
            <a:r>
              <a:rPr lang="en-US" dirty="0"/>
              <a:t>The most common thing we’ll do with tuning is limiting overfitting. </a:t>
            </a:r>
          </a:p>
        </p:txBody>
      </p:sp>
    </p:spTree>
    <p:extLst>
      <p:ext uri="{BB962C8B-B14F-4D97-AF65-F5344CB8AC3E}">
        <p14:creationId xmlns:p14="http://schemas.microsoft.com/office/powerpoint/2010/main" val="161820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5BAC-F066-22A5-C78B-839F878A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E997D-1DD1-0E10-9517-476BBBF67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Another concept that can combat overfitting is regularization. </a:t>
            </a:r>
          </a:p>
          <a:p>
            <a:r>
              <a:rPr lang="en-US" dirty="0"/>
              <a:t>Regularization modifies the loss (or </a:t>
            </a:r>
            <a:r>
              <a:rPr lang="en-US" dirty="0" err="1"/>
              <a:t>equiv</a:t>
            </a:r>
            <a:r>
              <a:rPr lang="en-US" dirty="0"/>
              <a:t>) function to penalize growth of the model:</a:t>
            </a:r>
          </a:p>
          <a:p>
            <a:pPr lvl="1"/>
            <a:r>
              <a:rPr lang="en-US" dirty="0"/>
              <a:t>Loss being minimized is the goal, the algorithm only tries to do that. </a:t>
            </a:r>
          </a:p>
          <a:p>
            <a:pPr lvl="1"/>
            <a:r>
              <a:rPr lang="en-US" dirty="0"/>
              <a:t>Normally more accuracy means less loss, so the model wants to overfit. </a:t>
            </a:r>
          </a:p>
          <a:p>
            <a:pPr lvl="1"/>
            <a:r>
              <a:rPr lang="en-US" dirty="0"/>
              <a:t>Regularization changes the loss to a combination of [loss + penalty]</a:t>
            </a:r>
          </a:p>
          <a:p>
            <a:r>
              <a:rPr lang="en-US" dirty="0"/>
              <a:t>The penalty is a value that gets bigger the mode the model ‘grows’ (or adapts). </a:t>
            </a:r>
          </a:p>
          <a:p>
            <a:pPr lvl="1"/>
            <a:r>
              <a:rPr lang="en-US" dirty="0"/>
              <a:t>Learning reduces error, but increases the penalty. </a:t>
            </a:r>
          </a:p>
          <a:p>
            <a:pPr lvl="1"/>
            <a:r>
              <a:rPr lang="en-US" dirty="0"/>
              <a:t>The model can only get more complex, or grow, if the increase in accuracy ‘outweighs’ the penalty of that growth. </a:t>
            </a:r>
          </a:p>
          <a:p>
            <a:r>
              <a:rPr lang="en-US" dirty="0"/>
              <a:t>The strength of regularization allows us to control the amount of learning. </a:t>
            </a:r>
          </a:p>
        </p:txBody>
      </p:sp>
    </p:spTree>
    <p:extLst>
      <p:ext uri="{BB962C8B-B14F-4D97-AF65-F5344CB8AC3E}">
        <p14:creationId xmlns:p14="http://schemas.microsoft.com/office/powerpoint/2010/main" val="229087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865D-3AC6-8773-A8DB-8D784AAE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Cost Complexity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45A1-6F0B-E82B-5DDB-82E4B9C34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73" y="1853754"/>
            <a:ext cx="9929091" cy="4199727"/>
          </a:xfrm>
        </p:spPr>
        <p:txBody>
          <a:bodyPr>
            <a:normAutofit/>
          </a:bodyPr>
          <a:lstStyle/>
          <a:p>
            <a:r>
              <a:rPr lang="en-US" dirty="0"/>
              <a:t>Cost complexity pruning is a way to reduce the complexity of a tree after it is made. </a:t>
            </a:r>
          </a:p>
          <a:p>
            <a:r>
              <a:rPr lang="en-US" dirty="0"/>
              <a:t>CCP finds the leaves that are least beneficial. </a:t>
            </a:r>
          </a:p>
          <a:p>
            <a:r>
              <a:rPr lang="en-US" dirty="0"/>
              <a:t>The complexity parameter is used to define the cost-complexity measure, R</a:t>
            </a:r>
            <a:r>
              <a:rPr lang="el-GR" dirty="0"/>
              <a:t>α(</a:t>
            </a:r>
            <a:r>
              <a:rPr lang="en-US" dirty="0"/>
              <a:t>T) of a given tree (or branch of a tree) T: </a:t>
            </a:r>
          </a:p>
          <a:p>
            <a:pPr lvl="1"/>
            <a:r>
              <a:rPr lang="en-US" dirty="0"/>
              <a:t>R</a:t>
            </a:r>
            <a:r>
              <a:rPr lang="el-GR" dirty="0"/>
              <a:t>α(</a:t>
            </a:r>
            <a:r>
              <a:rPr lang="en-US" dirty="0"/>
              <a:t>T)=R(T)+</a:t>
            </a:r>
            <a:r>
              <a:rPr lang="el-GR" dirty="0"/>
              <a:t>α|</a:t>
            </a:r>
            <a:r>
              <a:rPr lang="en-US" dirty="0"/>
              <a:t>T|</a:t>
            </a:r>
          </a:p>
          <a:p>
            <a:pPr lvl="1"/>
            <a:r>
              <a:rPr lang="en-US" dirty="0"/>
              <a:t>Where |T| is the number of terminal nodes in T and</a:t>
            </a:r>
          </a:p>
          <a:p>
            <a:pPr lvl="1"/>
            <a:r>
              <a:rPr lang="en-US" dirty="0"/>
              <a:t>R(T) is traditionally defined as the total misclassification rate of the terminal nodes.</a:t>
            </a:r>
          </a:p>
          <a:p>
            <a:r>
              <a:rPr lang="en-US" dirty="0"/>
              <a:t>Parts of the tree that were least helpful are pruned. </a:t>
            </a:r>
          </a:p>
          <a:p>
            <a:r>
              <a:rPr lang="en-US" dirty="0"/>
              <a:t>Acts to limit tree size like hyperparameter limits, but dynamically based on the tree.</a:t>
            </a:r>
          </a:p>
        </p:txBody>
      </p:sp>
    </p:spTree>
    <p:extLst>
      <p:ext uri="{BB962C8B-B14F-4D97-AF65-F5344CB8AC3E}">
        <p14:creationId xmlns:p14="http://schemas.microsoft.com/office/powerpoint/2010/main" val="3354885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5FA5C0-EE16-1990-AFF7-040D4C4D7849}"/>
                  </a:ext>
                </a:extLst>
              </p14:cNvPr>
              <p14:cNvContentPartPr/>
              <p14:nvPr/>
            </p14:nvContentPartPr>
            <p14:xfrm>
              <a:off x="207360" y="267120"/>
              <a:ext cx="9317880" cy="326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5FA5C0-EE16-1990-AFF7-040D4C4D78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000" y="257760"/>
                <a:ext cx="9336600" cy="3279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FAB5FD9-C6AC-E842-B7A7-2DF888E263A5}"/>
              </a:ext>
            </a:extLst>
          </p:cNvPr>
          <p:cNvSpPr txBox="1"/>
          <p:nvPr/>
        </p:nvSpPr>
        <p:spPr>
          <a:xfrm>
            <a:off x="207361" y="3675017"/>
            <a:ext cx="4234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is the loss, what the algo minimizes.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 is misclassification pre split.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R’ is misclassification post split.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R’ &lt; R then tree splits.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metric is improved.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489E7-D069-C81F-2531-808FD2792F86}"/>
              </a:ext>
            </a:extLst>
          </p:cNvPr>
          <p:cNvSpPr txBox="1"/>
          <p:nvPr/>
        </p:nvSpPr>
        <p:spPr>
          <a:xfrm>
            <a:off x="6096000" y="2917371"/>
            <a:ext cx="58886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Pruned: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R+a</a:t>
            </a:r>
            <a:r>
              <a:rPr lang="en-US" dirty="0"/>
              <a:t>*T is the new loss.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 is still misclassification.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Alpha is a HP we set.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 is the number of term. nodes (size of tree).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dirty="0" err="1"/>
              <a:t>R’+a</a:t>
            </a:r>
            <a:r>
              <a:rPr lang="en-US" dirty="0"/>
              <a:t>*T &lt; </a:t>
            </a:r>
            <a:r>
              <a:rPr lang="en-US" dirty="0" err="1"/>
              <a:t>R+a</a:t>
            </a:r>
            <a:r>
              <a:rPr lang="en-US" dirty="0"/>
              <a:t>*T then tree splits.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still needs to be improved, however…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will improve if we reduce misclassifications.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Loss will get worse if we make tree bigger.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 split to improve loss, the gain from acc must outweigh the penalty from growth.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68986-3270-3D2E-C34C-5B97A4BA0648}"/>
              </a:ext>
            </a:extLst>
          </p:cNvPr>
          <p:cNvSpPr txBox="1"/>
          <p:nvPr/>
        </p:nvSpPr>
        <p:spPr>
          <a:xfrm>
            <a:off x="9525240" y="2228671"/>
            <a:ext cx="3457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 has two 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Errors (unchanged).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Size of model (new).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loss is minimized. 	</a:t>
            </a:r>
          </a:p>
        </p:txBody>
      </p:sp>
    </p:spTree>
    <p:extLst>
      <p:ext uri="{BB962C8B-B14F-4D97-AF65-F5344CB8AC3E}">
        <p14:creationId xmlns:p14="http://schemas.microsoft.com/office/powerpoint/2010/main" val="3343556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72B1-1C72-7FE0-9237-0E15D46E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Be More Alpha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0268F-9F8B-ADFA-92C1-6DE2CFA88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853753"/>
            <a:ext cx="7693572" cy="4199727"/>
          </a:xfrm>
        </p:spPr>
        <p:txBody>
          <a:bodyPr>
            <a:normAutofit/>
          </a:bodyPr>
          <a:lstStyle/>
          <a:p>
            <a:r>
              <a:rPr lang="en-US" dirty="0"/>
              <a:t>In the CCP equation R</a:t>
            </a:r>
            <a:r>
              <a:rPr lang="el-GR" dirty="0"/>
              <a:t>α(</a:t>
            </a:r>
            <a:r>
              <a:rPr lang="en-US" dirty="0"/>
              <a:t>T)=R(T)+</a:t>
            </a:r>
            <a:r>
              <a:rPr lang="el-GR" dirty="0"/>
              <a:t>α|</a:t>
            </a:r>
            <a:r>
              <a:rPr lang="en-US" dirty="0"/>
              <a:t>T| the alpha-t is a penalty. </a:t>
            </a:r>
          </a:p>
          <a:p>
            <a:pPr lvl="1"/>
            <a:r>
              <a:rPr lang="en-US" dirty="0"/>
              <a:t>The larger the number of terminal nodes gets, the larger the penalty. </a:t>
            </a:r>
          </a:p>
          <a:p>
            <a:pPr lvl="1"/>
            <a:r>
              <a:rPr lang="en-US" dirty="0"/>
              <a:t>The larger alpha gets, the larger the penalty. </a:t>
            </a:r>
          </a:p>
          <a:p>
            <a:r>
              <a:rPr lang="en-US" dirty="0"/>
              <a:t>Effectively removes things that have many terminal leaves. </a:t>
            </a:r>
          </a:p>
          <a:p>
            <a:pPr lvl="1"/>
            <a:r>
              <a:rPr lang="en-US" dirty="0"/>
              <a:t>Larger trees will generate larger penalties in branches. </a:t>
            </a:r>
          </a:p>
          <a:p>
            <a:pPr lvl="1"/>
            <a:r>
              <a:rPr lang="en-US" dirty="0"/>
              <a:t>Tends to limit overfitting, as it stops large branches from being developed. </a:t>
            </a:r>
          </a:p>
          <a:p>
            <a:r>
              <a:rPr lang="en-US" dirty="0"/>
              <a:t>Adding a penalty to “size” is a common strategy. </a:t>
            </a:r>
          </a:p>
          <a:p>
            <a:pPr lvl="1"/>
            <a:r>
              <a:rPr lang="en-US" dirty="0"/>
              <a:t>If a split is going to happen, it needs to “overcome” the penalty incurred by increasing the number of terminal nodes ( |T| increases ). </a:t>
            </a:r>
          </a:p>
          <a:p>
            <a:pPr lvl="1"/>
            <a:r>
              <a:rPr lang="en-US" dirty="0"/>
              <a:t>R(T) needs to decrease, or more accuracy, to overcome alpha-T increase.</a:t>
            </a:r>
          </a:p>
        </p:txBody>
      </p:sp>
      <p:pic>
        <p:nvPicPr>
          <p:cNvPr id="2050" name="Picture 2" descr="Stream Chad music | Listen to songs, albums, playlists for free on  SoundCloud">
            <a:extLst>
              <a:ext uri="{FF2B5EF4-FFF2-40B4-BE49-F238E27FC236}">
                <a16:creationId xmlns:a16="http://schemas.microsoft.com/office/drawing/2014/main" id="{53F075D9-6980-3E8E-1C91-D244837A2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0924" y="1952672"/>
            <a:ext cx="3966851" cy="39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985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FB35-2231-F2D8-4B0B-09701A66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it Regular(</a:t>
            </a:r>
            <a:r>
              <a:rPr lang="en-US" dirty="0" err="1"/>
              <a:t>ized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46A87-B2D2-1378-2D6B-EC9B384DF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8348"/>
          </a:xfrm>
        </p:spPr>
        <p:txBody>
          <a:bodyPr/>
          <a:lstStyle/>
          <a:p>
            <a:r>
              <a:rPr lang="en-US" dirty="0"/>
              <a:t>This type of constraint on growth, regularization, is quite common. </a:t>
            </a:r>
          </a:p>
          <a:p>
            <a:pPr lvl="1"/>
            <a:r>
              <a:rPr lang="en-US" dirty="0"/>
              <a:t>Easy to implement – just change the loss function. </a:t>
            </a:r>
          </a:p>
          <a:p>
            <a:pPr lvl="1"/>
            <a:r>
              <a:rPr lang="en-US" dirty="0"/>
              <a:t>Can work anywhere with loss (and a size metric). </a:t>
            </a:r>
          </a:p>
          <a:p>
            <a:pPr lvl="1"/>
            <a:r>
              <a:rPr lang="en-US" dirty="0"/>
              <a:t>‘Automatic’ – growth can be limited throughout training*.</a:t>
            </a:r>
          </a:p>
          <a:p>
            <a:r>
              <a:rPr lang="en-US" dirty="0"/>
              <a:t>On the downside, we need to provide alpha as a hyperparameter. </a:t>
            </a:r>
          </a:p>
          <a:p>
            <a:r>
              <a:rPr lang="en-US" dirty="0"/>
              <a:t>Instead of targeting “most accurate model” we target “most accurate considering size”. </a:t>
            </a:r>
          </a:p>
          <a:p>
            <a:pPr lvl="1"/>
            <a:r>
              <a:rPr lang="en-US" dirty="0"/>
              <a:t>Big trees have great accuracy, but the size will cause their loss to be large.</a:t>
            </a:r>
          </a:p>
          <a:p>
            <a:pPr lvl="1"/>
            <a:r>
              <a:rPr lang="en-US" dirty="0"/>
              <a:t>If the tree can’t get big, it can’t overfit much. </a:t>
            </a:r>
          </a:p>
        </p:txBody>
      </p:sp>
    </p:spTree>
    <p:extLst>
      <p:ext uri="{BB962C8B-B14F-4D97-AF65-F5344CB8AC3E}">
        <p14:creationId xmlns:p14="http://schemas.microsoft.com/office/powerpoint/2010/main" val="1318359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E27A-7A16-2BB7-84CA-2A46F279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some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B18D2-4522-6750-133C-560FB6822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Trees are one of the most approachable model types to understand:</a:t>
            </a:r>
          </a:p>
          <a:p>
            <a:pPr lvl="1"/>
            <a:r>
              <a:rPr lang="en-US" dirty="0"/>
              <a:t>We can visualize the entire process and walk through decisions in English. </a:t>
            </a:r>
          </a:p>
          <a:p>
            <a:r>
              <a:rPr lang="en-US" dirty="0"/>
              <a:t>Trees tend to be greedy, so we need ways to limit the overfitting. </a:t>
            </a:r>
          </a:p>
          <a:p>
            <a:pPr lvl="1"/>
            <a:r>
              <a:rPr lang="en-US" dirty="0"/>
              <a:t>Tuning the settings of hyperparameters and regularization. </a:t>
            </a:r>
          </a:p>
          <a:p>
            <a:pPr lvl="1"/>
            <a:r>
              <a:rPr lang="en-US" dirty="0"/>
              <a:t>Tree creation algorithms seek purity – each node is uniform. </a:t>
            </a:r>
          </a:p>
          <a:p>
            <a:r>
              <a:rPr lang="en-US" dirty="0"/>
              <a:t>Trees do the same thing as regression, but in a totally different mathematical way. </a:t>
            </a:r>
          </a:p>
          <a:p>
            <a:pPr lvl="1"/>
            <a:r>
              <a:rPr lang="en-US" dirty="0"/>
              <a:t>Linear models assume a linear relationship, trees are non-parametric. </a:t>
            </a:r>
          </a:p>
          <a:p>
            <a:pPr lvl="1"/>
            <a:r>
              <a:rPr lang="en-US" dirty="0"/>
              <a:t>Different data may work better with one or the other (or some other type). </a:t>
            </a:r>
          </a:p>
          <a:p>
            <a:r>
              <a:rPr lang="en-US" dirty="0"/>
              <a:t>Many of the best non neural network models use some trees in </a:t>
            </a:r>
            <a:r>
              <a:rPr lang="en-US"/>
              <a:t>different ways…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89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7E66-E01D-4267-703B-A39F6431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DC37-6101-BD34-4CBD-910AA65D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Sklearn has gotten much better in the recent version in handling </a:t>
            </a:r>
            <a:r>
              <a:rPr lang="en-US" dirty="0" err="1"/>
              <a:t>dataframes</a:t>
            </a:r>
            <a:r>
              <a:rPr lang="en-US" dirty="0"/>
              <a:t> natively. </a:t>
            </a:r>
          </a:p>
          <a:p>
            <a:r>
              <a:rPr lang="en-US" dirty="0"/>
              <a:t>Many/most of the examples have a step to convert to array before the model part. </a:t>
            </a:r>
          </a:p>
          <a:p>
            <a:pPr lvl="1"/>
            <a:r>
              <a:rPr lang="en-US" dirty="0"/>
              <a:t>I.e. do prep stuff with data in </a:t>
            </a:r>
            <a:r>
              <a:rPr lang="en-US" dirty="0" err="1"/>
              <a:t>dataframe</a:t>
            </a:r>
            <a:r>
              <a:rPr lang="en-US" dirty="0"/>
              <a:t>, convert to array, feed to pipeline/model/</a:t>
            </a:r>
            <a:r>
              <a:rPr lang="en-US" dirty="0" err="1"/>
              <a:t>gridsearch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 avoid this more easily now and sklearn will (more often) handle it ok. </a:t>
            </a:r>
          </a:p>
          <a:p>
            <a:r>
              <a:rPr lang="en-US" dirty="0"/>
              <a:t>I generally like the conversion step when learning, it’s a clear delineation. </a:t>
            </a:r>
          </a:p>
          <a:p>
            <a:pPr lvl="1"/>
            <a:r>
              <a:rPr lang="en-US" dirty="0"/>
              <a:t>All the prep work is done on the </a:t>
            </a:r>
            <a:r>
              <a:rPr lang="en-US" dirty="0" err="1"/>
              <a:t>dataframe</a:t>
            </a:r>
            <a:r>
              <a:rPr lang="en-US" dirty="0"/>
              <a:t>, we make the </a:t>
            </a:r>
            <a:r>
              <a:rPr lang="en-US"/>
              <a:t>conversion when done. </a:t>
            </a:r>
            <a:endParaRPr lang="en-US" dirty="0"/>
          </a:p>
          <a:p>
            <a:r>
              <a:rPr lang="en-US" dirty="0"/>
              <a:t>The array conversion doesn’t really change anything in functionality. </a:t>
            </a:r>
          </a:p>
          <a:p>
            <a:pPr lvl="1"/>
            <a:r>
              <a:rPr lang="en-US" dirty="0"/>
              <a:t>The results are the same, and the process is only different in that one or two lines. </a:t>
            </a:r>
          </a:p>
          <a:p>
            <a:pPr lvl="1"/>
            <a:r>
              <a:rPr lang="en-US" dirty="0"/>
              <a:t>The algorithm does a conversion internally and just obscures it from you. </a:t>
            </a:r>
          </a:p>
          <a:p>
            <a:pPr lvl="1"/>
            <a:r>
              <a:rPr lang="en-US" dirty="0"/>
              <a:t>When we do neural networks we’ll need to do that conversion (often) again. </a:t>
            </a:r>
          </a:p>
        </p:txBody>
      </p:sp>
    </p:spTree>
    <p:extLst>
      <p:ext uri="{BB962C8B-B14F-4D97-AF65-F5344CB8AC3E}">
        <p14:creationId xmlns:p14="http://schemas.microsoft.com/office/powerpoint/2010/main" val="3356818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490F-BC2C-044B-8523-7C6267DB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and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9EB3-B819-984C-8511-DC1ED84C2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08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3279-10DF-FC47-B9CB-3807B8F8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and Classes – </a:t>
            </a:r>
            <a:r>
              <a:rPr lang="en-US" dirty="0" err="1"/>
              <a:t>DataFrame</a:t>
            </a:r>
            <a:r>
              <a:rPr lang="en-US" dirty="0"/>
              <a:t> Class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2DEA-975A-644C-A9B0-B0D3F217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EEAADC4-51AD-3E40-8BF6-F0BEE67257BC}"/>
              </a:ext>
            </a:extLst>
          </p:cNvPr>
          <p:cNvSpPr/>
          <p:nvPr/>
        </p:nvSpPr>
        <p:spPr>
          <a:xfrm>
            <a:off x="1300163" y="1853754"/>
            <a:ext cx="9754691" cy="4175571"/>
          </a:xfrm>
          <a:prstGeom prst="fram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A4C78-2AEC-8844-9254-592651E03C49}"/>
              </a:ext>
            </a:extLst>
          </p:cNvPr>
          <p:cNvSpPr/>
          <p:nvPr/>
        </p:nvSpPr>
        <p:spPr>
          <a:xfrm>
            <a:off x="5966542" y="2589131"/>
            <a:ext cx="4388741" cy="270726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Attributes:</a:t>
            </a:r>
          </a:p>
          <a:p>
            <a:pPr algn="ctr"/>
            <a:r>
              <a:rPr lang="en-US" sz="4000" dirty="0"/>
              <a:t>Data</a:t>
            </a:r>
          </a:p>
          <a:p>
            <a:pPr algn="ctr"/>
            <a:r>
              <a:rPr lang="en-US" sz="4000" dirty="0"/>
              <a:t>Columns</a:t>
            </a:r>
          </a:p>
          <a:p>
            <a:pPr algn="ctr"/>
            <a:r>
              <a:rPr lang="en-US" sz="4000" dirty="0"/>
              <a:t>Size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1F709-DDB9-1D40-9695-F53862D2CCB6}"/>
              </a:ext>
            </a:extLst>
          </p:cNvPr>
          <p:cNvSpPr/>
          <p:nvPr/>
        </p:nvSpPr>
        <p:spPr>
          <a:xfrm>
            <a:off x="2206831" y="2589132"/>
            <a:ext cx="3157649" cy="2707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Methods:</a:t>
            </a:r>
          </a:p>
          <a:p>
            <a:pPr algn="ctr"/>
            <a:r>
              <a:rPr lang="en-US" sz="4000" dirty="0"/>
              <a:t>Head</a:t>
            </a:r>
          </a:p>
          <a:p>
            <a:pPr algn="ctr"/>
            <a:r>
              <a:rPr lang="en-US" sz="4000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479432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887B-D849-7C4B-833A-F5E7D898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Class -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E1CF-607E-544A-9CBE-8753C08C1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create a DF we instantiate, or create an object of, that class. </a:t>
            </a:r>
          </a:p>
          <a:p>
            <a:pPr lvl="1"/>
            <a:r>
              <a:rPr lang="en-US" dirty="0"/>
              <a:t>Df = </a:t>
            </a:r>
            <a:r>
              <a:rPr lang="en-US" dirty="0" err="1"/>
              <a:t>pd.read_csv</a:t>
            </a:r>
            <a:r>
              <a:rPr lang="en-US" dirty="0"/>
              <a:t>(“</a:t>
            </a:r>
            <a:r>
              <a:rPr lang="en-US" dirty="0" err="1"/>
              <a:t>some_data.csv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That object, df, has all the stuff in the previous image – the data, attributes, and functions. </a:t>
            </a:r>
          </a:p>
          <a:p>
            <a:r>
              <a:rPr lang="en-US" dirty="0" err="1"/>
              <a:t>Df.columns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Give me the value of that attribute.</a:t>
            </a:r>
          </a:p>
          <a:p>
            <a:r>
              <a:rPr lang="en-US" dirty="0" err="1"/>
              <a:t>Df.head</a:t>
            </a:r>
            <a:r>
              <a:rPr lang="en-US" dirty="0"/>
              <a:t>():</a:t>
            </a:r>
          </a:p>
          <a:p>
            <a:pPr lvl="1"/>
            <a:r>
              <a:rPr lang="en-US" dirty="0"/>
              <a:t>Run this function on the object</a:t>
            </a:r>
          </a:p>
        </p:txBody>
      </p:sp>
    </p:spTree>
    <p:extLst>
      <p:ext uri="{BB962C8B-B14F-4D97-AF65-F5344CB8AC3E}">
        <p14:creationId xmlns:p14="http://schemas.microsoft.com/office/powerpoint/2010/main" val="2873554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3FB8-AFBC-7A44-9C32-48FBB550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Make A Class – for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9456-535C-0448-A7C0-6132F866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519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can try to make our own class, to help with EDA, what should it contain?</a:t>
            </a:r>
          </a:p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. (An object in an object).</a:t>
            </a:r>
          </a:p>
          <a:p>
            <a:pPr lvl="1"/>
            <a:r>
              <a:rPr lang="en-US" dirty="0"/>
              <a:t>Some other helpful stuff? E.g. a list of categorical variables. </a:t>
            </a:r>
          </a:p>
          <a:p>
            <a:r>
              <a:rPr lang="en-US" dirty="0"/>
              <a:t>Functions:</a:t>
            </a:r>
          </a:p>
          <a:p>
            <a:pPr lvl="1"/>
            <a:r>
              <a:rPr lang="en-US" dirty="0"/>
              <a:t>Generate histograms.</a:t>
            </a:r>
          </a:p>
          <a:p>
            <a:pPr lvl="1"/>
            <a:r>
              <a:rPr lang="en-US" dirty="0"/>
              <a:t>Print EDA stuff. </a:t>
            </a:r>
          </a:p>
          <a:p>
            <a:r>
              <a:rPr lang="en-US" dirty="0"/>
              <a:t>Use:</a:t>
            </a:r>
          </a:p>
          <a:p>
            <a:pPr lvl="1"/>
            <a:r>
              <a:rPr lang="en-US" dirty="0"/>
              <a:t>Create an “EDA” object by loading the </a:t>
            </a:r>
            <a:r>
              <a:rPr lang="en-US" dirty="0" err="1"/>
              <a:t>dataframe</a:t>
            </a:r>
            <a:r>
              <a:rPr lang="en-US" dirty="0"/>
              <a:t> we are using. </a:t>
            </a:r>
          </a:p>
          <a:p>
            <a:pPr lvl="1"/>
            <a:r>
              <a:rPr lang="en-US" dirty="0"/>
              <a:t>Call the “give me EDA” function to get it all spit out for us. </a:t>
            </a:r>
          </a:p>
          <a:p>
            <a:pPr lvl="1"/>
            <a:r>
              <a:rPr lang="en-US" dirty="0"/>
              <a:t>We can reuse this by creating an EDA object for each df, then we can just call the EDA function.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FE7B4-D3F9-6548-84E8-43BD85314DD2}"/>
              </a:ext>
            </a:extLst>
          </p:cNvPr>
          <p:cNvSpPr txBox="1"/>
          <p:nvPr/>
        </p:nvSpPr>
        <p:spPr>
          <a:xfrm>
            <a:off x="8912352" y="2621280"/>
            <a:ext cx="2950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 </a:t>
            </a:r>
            <a:r>
              <a:rPr lang="en-US" dirty="0"/>
              <a:t>We can also extend classes – or basically make a “</a:t>
            </a:r>
            <a:r>
              <a:rPr lang="en-US" dirty="0" err="1"/>
              <a:t>dataframe</a:t>
            </a:r>
            <a:r>
              <a:rPr lang="en-US" dirty="0"/>
              <a:t>+” adding what we want. We’ll do this later for transformations. </a:t>
            </a:r>
          </a:p>
        </p:txBody>
      </p:sp>
    </p:spTree>
    <p:extLst>
      <p:ext uri="{BB962C8B-B14F-4D97-AF65-F5344CB8AC3E}">
        <p14:creationId xmlns:p14="http://schemas.microsoft.com/office/powerpoint/2010/main" val="887552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3279-10DF-FC47-B9CB-3807B8F8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and Classes – </a:t>
            </a:r>
            <a:r>
              <a:rPr lang="en-US" dirty="0" err="1"/>
              <a:t>DataFrame</a:t>
            </a:r>
            <a:r>
              <a:rPr lang="en-US" dirty="0"/>
              <a:t> Class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2DEA-975A-644C-A9B0-B0D3F217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EEAADC4-51AD-3E40-8BF6-F0BEE67257BC}"/>
              </a:ext>
            </a:extLst>
          </p:cNvPr>
          <p:cNvSpPr/>
          <p:nvPr/>
        </p:nvSpPr>
        <p:spPr>
          <a:xfrm>
            <a:off x="1300163" y="1853754"/>
            <a:ext cx="9754691" cy="4175571"/>
          </a:xfrm>
          <a:prstGeom prst="fram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A4C78-2AEC-8844-9254-592651E03C49}"/>
              </a:ext>
            </a:extLst>
          </p:cNvPr>
          <p:cNvSpPr/>
          <p:nvPr/>
        </p:nvSpPr>
        <p:spPr>
          <a:xfrm>
            <a:off x="5966542" y="2589131"/>
            <a:ext cx="4388741" cy="270726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Attributes:</a:t>
            </a:r>
          </a:p>
          <a:p>
            <a:pPr algn="ctr"/>
            <a:r>
              <a:rPr lang="en-US" sz="4000" dirty="0" err="1"/>
              <a:t>Dataframe</a:t>
            </a:r>
            <a:endParaRPr lang="en-US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1F709-DDB9-1D40-9695-F53862D2CCB6}"/>
              </a:ext>
            </a:extLst>
          </p:cNvPr>
          <p:cNvSpPr/>
          <p:nvPr/>
        </p:nvSpPr>
        <p:spPr>
          <a:xfrm>
            <a:off x="2206831" y="2589132"/>
            <a:ext cx="3157649" cy="2707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Methods:</a:t>
            </a:r>
          </a:p>
          <a:p>
            <a:pPr algn="ctr"/>
            <a:r>
              <a:rPr lang="en-US" sz="4000" dirty="0" err="1"/>
              <a:t>Make_EDA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7300977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20403</TotalTime>
  <Words>2867</Words>
  <Application>Microsoft Macintosh PowerPoint</Application>
  <PresentationFormat>Widescreen</PresentationFormat>
  <Paragraphs>272</Paragraphs>
  <Slides>36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Gill Sans MT</vt:lpstr>
      <vt:lpstr>Gallery</vt:lpstr>
      <vt:lpstr>PowerPoint Presentation</vt:lpstr>
      <vt:lpstr>Trees</vt:lpstr>
      <vt:lpstr>Trees</vt:lpstr>
      <vt:lpstr>See the Forest for the Trees</vt:lpstr>
      <vt:lpstr>Tree Parts</vt:lpstr>
      <vt:lpstr>Building the Tree</vt:lpstr>
      <vt:lpstr>Criteria</vt:lpstr>
      <vt:lpstr>Scenario</vt:lpstr>
      <vt:lpstr>Gini</vt:lpstr>
      <vt:lpstr>Entropy</vt:lpstr>
      <vt:lpstr>Splitting Decision</vt:lpstr>
      <vt:lpstr>MoRe Splitting Decisions</vt:lpstr>
      <vt:lpstr>Woody Goodness</vt:lpstr>
      <vt:lpstr>Barky Badness</vt:lpstr>
      <vt:lpstr>Trees are Too Smart!</vt:lpstr>
      <vt:lpstr>Fits</vt:lpstr>
      <vt:lpstr>Overfitting A tree</vt:lpstr>
      <vt:lpstr>Variance Error – Tree that is Overfitted </vt:lpstr>
      <vt:lpstr>How can we Make Sure Models Fit Well?</vt:lpstr>
      <vt:lpstr>Making Better Trees - Hyperparameters</vt:lpstr>
      <vt:lpstr>HP Options</vt:lpstr>
      <vt:lpstr>So Many Parameters!</vt:lpstr>
      <vt:lpstr>Parameter world</vt:lpstr>
      <vt:lpstr>Tuning the Model with Hyperparameters</vt:lpstr>
      <vt:lpstr>Regularization</vt:lpstr>
      <vt:lpstr>Cost Complexity Pruning</vt:lpstr>
      <vt:lpstr>PowerPoint Presentation</vt:lpstr>
      <vt:lpstr>Be More Alpha</vt:lpstr>
      <vt:lpstr>Keep it Regular(ized)</vt:lpstr>
      <vt:lpstr>Use some Trees</vt:lpstr>
      <vt:lpstr>General Notes</vt:lpstr>
      <vt:lpstr>EDA and Classes</vt:lpstr>
      <vt:lpstr>EDA and Classes – DataFrame Class Object</vt:lpstr>
      <vt:lpstr>Using a Class - Dataframe</vt:lpstr>
      <vt:lpstr>We can Make A Class – for EDA</vt:lpstr>
      <vt:lpstr>EDA and Classes – DataFrame Class 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45</cp:revision>
  <dcterms:created xsi:type="dcterms:W3CDTF">2022-01-01T00:47:46Z</dcterms:created>
  <dcterms:modified xsi:type="dcterms:W3CDTF">2026-01-07T18:25:07Z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2026-01-07T17:36:20Z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48786981-68eb-4dfb-83a9-a72a3e7a2bed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