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4" r:id="rId2"/>
    <p:sldId id="275" r:id="rId3"/>
    <p:sldId id="278" r:id="rId4"/>
    <p:sldId id="279" r:id="rId5"/>
    <p:sldId id="280" r:id="rId6"/>
    <p:sldId id="282" r:id="rId7"/>
    <p:sldId id="283" r:id="rId8"/>
    <p:sldId id="284" r:id="rId9"/>
    <p:sldId id="285" r:id="rId10"/>
    <p:sldId id="286" r:id="rId11"/>
    <p:sldId id="281" r:id="rId12"/>
    <p:sldId id="256" r:id="rId13"/>
    <p:sldId id="259" r:id="rId14"/>
    <p:sldId id="265" r:id="rId15"/>
    <p:sldId id="260" r:id="rId16"/>
    <p:sldId id="261" r:id="rId17"/>
    <p:sldId id="267" r:id="rId18"/>
    <p:sldId id="268" r:id="rId19"/>
    <p:sldId id="272" r:id="rId20"/>
    <p:sldId id="266" r:id="rId21"/>
    <p:sldId id="257" r:id="rId22"/>
    <p:sldId id="276" r:id="rId23"/>
    <p:sldId id="258" r:id="rId24"/>
    <p:sldId id="263" r:id="rId25"/>
    <p:sldId id="262" r:id="rId26"/>
    <p:sldId id="264" r:id="rId27"/>
    <p:sldId id="273" r:id="rId28"/>
    <p:sldId id="27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usekeeping" id="{33E36BA8-3A57-3B4E-BAFD-54DFE8AF1573}">
          <p14:sldIdLst>
            <p14:sldId id="274"/>
          </p14:sldIdLst>
        </p14:section>
        <p14:section name="Tree Review" id="{EE63E630-E2D8-9446-99A2-E7FA6CAA8DD5}">
          <p14:sldIdLst>
            <p14:sldId id="275"/>
            <p14:sldId id="278"/>
            <p14:sldId id="279"/>
          </p14:sldIdLst>
        </p14:section>
        <p14:section name="Column Transformers" id="{D5F507F4-8C52-E142-B8B6-EB4E3AAF95C6}">
          <p14:sldIdLst>
            <p14:sldId id="280"/>
          </p14:sldIdLst>
        </p14:section>
        <p14:section name="Imputation" id="{7F23A84F-D104-5C40-85A1-EF6543157625}">
          <p14:sldIdLst>
            <p14:sldId id="282"/>
            <p14:sldId id="283"/>
            <p14:sldId id="284"/>
            <p14:sldId id="285"/>
            <p14:sldId id="286"/>
          </p14:sldIdLst>
        </p14:section>
        <p14:section name="Wrap Review" id="{914CEF13-8187-314B-9A90-928FCE460C57}">
          <p14:sldIdLst>
            <p14:sldId id="281"/>
          </p14:sldIdLst>
        </p14:section>
        <p14:section name="Grid Search" id="{321F9CA6-3FF3-EB4A-A06F-CAC9A6181378}">
          <p14:sldIdLst>
            <p14:sldId id="256"/>
          </p14:sldIdLst>
        </p14:section>
        <p14:section name="HPs" id="{711FEDA5-9028-9B4D-9D17-CE0CF82BE75F}">
          <p14:sldIdLst>
            <p14:sldId id="259"/>
            <p14:sldId id="265"/>
          </p14:sldIdLst>
        </p14:section>
        <p14:section name="Grid Search" id="{E8348101-BACB-1E4F-809F-E2C3E4A9859C}">
          <p14:sldIdLst>
            <p14:sldId id="260"/>
            <p14:sldId id="261"/>
            <p14:sldId id="267"/>
            <p14:sldId id="268"/>
            <p14:sldId id="272"/>
          </p14:sldIdLst>
        </p14:section>
        <p14:section name="GS Results" id="{7EA0949F-5E56-E94A-ACF3-2DC975C5893C}">
          <p14:sldIdLst>
            <p14:sldId id="266"/>
          </p14:sldIdLst>
        </p14:section>
        <p14:section name="Cross Validation" id="{DC71D002-5CA9-5D4E-8F14-F07F442E8C57}">
          <p14:sldIdLst>
            <p14:sldId id="257"/>
            <p14:sldId id="276"/>
            <p14:sldId id="258"/>
            <p14:sldId id="263"/>
            <p14:sldId id="262"/>
            <p14:sldId id="264"/>
          </p14:sldIdLst>
        </p14:section>
        <p14:section name="Conclusion" id="{A8CA0993-2A1C-0745-9EA8-B47624E99B31}">
          <p14:sldIdLst>
            <p14:sldId id="273"/>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1"/>
    <p:restoredTop sz="95897"/>
  </p:normalViewPr>
  <p:slideViewPr>
    <p:cSldViewPr snapToGrid="0" snapToObjects="1">
      <p:cViewPr varScale="1">
        <p:scale>
          <a:sx n="153" d="100"/>
          <a:sy n="153" d="100"/>
        </p:scale>
        <p:origin x="16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6T16:07:39.247"/>
    </inkml:context>
    <inkml:brush xml:id="br0">
      <inkml:brushProperty name="width" value="0.05" units="cm"/>
      <inkml:brushProperty name="height" value="0.05" units="cm"/>
      <inkml:brushProperty name="color" value="#E71224"/>
    </inkml:brush>
  </inkml:definitions>
  <inkml:trace contextRef="#ctx0" brushRef="#br0">1051 1 24575,'-9'4'0,"0"-3"0,4 7 0,-3-7 0,2 7 0,-3-3 0,0 4 0,0-3 0,4 2 0,-12 1 0,10-3 0,-27 15 0,21-14 0,-25 14 0,26-11 0,-26 12 0,25-15 0,-21 18 0,23-22-6784,-11 17 6784,12-18-4537,-12 15 4537,11-15-1014,-14 14 1014,13-14-57,-17 15 57,16-15 4006,-25 14-4006,29-10 0,-36 7 0,35-7 0,-36 10 0,33-13 0,-38 17 0,36-18 0,-35 19 0,37-18 5990,-21 18-5990,27-15 2251,-14 3-2251,19-1 145,-14 1-145,10-3 0,-12 15 0,12-14 0,-6 10 0,3 1 0,-2-11 0,2 9 0,1-10 0,-1 7 0,-10 18 0,4-5 0,-7 18 0,12-19 0,-3 5 0,8-14 0,-8 13 0,11-16 0,-14 29 0,14-28 0,-10 36 0,11-35 0,-12 39 0,11-39 0,-10 56 0,11-53 0,-3 61 0,4-62 0,0 46 0,0-49 0,0 36 0,0-35-6784,4 35 6784,-3-36-2260,12 53 2260,-7-49-3788,11 69 3788,-11-67-2534,7 75 2534,-12-75 1318,11 71-1318,-10-72 0,15 56 0,-11-59 198,20 63-198,-18-60 2591,21 52-2591,-26-57 0,18 40 0,-19-34 0,15 47 0,-15-45 0,18 65 0,-12-67-1889,21 72 1889,-20-74-1016,24 57 1016,-25-59-150,22 42 150,-23-43 0,22 31 0,-25-33 0,46 70 0,-42-59 0,38 59 1765,-39-70-1765,11 21 2765,-9-23-2765,33 72 1085,-28-54-1085,25 42 0,0 0 5835,-29-42-5835,26 31 0,-1-4 2864,-28-36-2864,18 25 0,0 1 0,-20-27 0,36 64 0,-36-66 0,28 50 0,-30-52 0,18 40 0,-19-41 0,19 57 0,-18-52-452,9 31 452,-12-41 0,13 46 0,-10-35 0,17 71 0,-17-72 0,13 55 0,-14-57 0,15 45 0,-15-46 0,14 50 0,-14-48-6634,19 60 6634,-14-59-1232,10 30 0,0 1 1232,-7-27-1811,12 29 1,1-1 1810,-13-36-2310,41 71 2310,-41-71 0,28 51 0,-31-56-903,23 44 903,-18-43 0,22 51 0,-21-45 0,25 49 0,-29-49 0,41 57 0,-43-55 61,33 31 0,3 3-61,-26-25 0,37 33 0,1-1 0,-33-34 0,39 40 0,3 0 0,-39-39 0,23 19 0,14 14 0,-14-14 0,-18-18-41,21 17 1,14 13-1,-15-12 41,-22-17 0,22 14 0,15 10 0,-14-12 0,-17-12 0,23 15 0,17 13 0,-16-14 0,-20-15 0,20 14 0,16 11 0,-18-12 0,-26-19 0,22 12 0,16 10 0,-18-10 0,-25-13 44,40 24 1,-2-3-45,-48-29 2073,40 28-2073,-49-35 3100,7 11-3100,-8-11 4635,0 11-4635,3-15 6487,-7 14-6487,8-10 0,-4 20 0,4-18 0,9 29 0,-7-32 0,19 28 0,-17-30 0,16 17 0,-17-14 0,18 12 0,-18-12 0,26 10 0,-28-10-6784,39 20 6784,-37-18-4537,59 37 4537,-52-38-1517,24 18 0,1 0 1517,-24-20-1397,64 27 1397,-63-29 2341,39 18-2341,-42-19 0,4 6 0,-18-8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6T16:07:43.342"/>
    </inkml:context>
    <inkml:brush xml:id="br0">
      <inkml:brushProperty name="width" value="0.05" units="cm"/>
      <inkml:brushProperty name="height" value="0.05" units="cm"/>
      <inkml:brushProperty name="color" value="#E71224"/>
    </inkml:brush>
  </inkml:definitions>
  <inkml:trace contextRef="#ctx0" brushRef="#br0">1 10 24575,'9'0'0,"1"0"0,-1 0 0,0 0 0,21 0 0,-15 0 0,15 0 0,-5 0 0,-11 0 0,53-5 0,-47 4 0,59-3 0,-62 4 0,54 0 0,-53 0 0,49 0 0,-52 4 0,44 1 0,-43 1 0,51 2 0,-50-7 0,71 11 0,-67-10-6784,71 10 6784,-74-11-4537,78 8 4537,-74-4 0,66 0 0,-72-1-1134,43 0 1134,-44-3 0,27 7 0,-29-7-2658,21 16 2658,-22-14 2033,39 25-2033,-35-19 0,56 20 0,-55-22-876,32 12 0,2-1 876,-27-12 0,32 14 0,-3 1 0,-38-12-1552,76 28 1552,-75-27 0,67 35 0,-65-39 0,61 47 0,-64-42 0,26 20 0,1 1 0,-28-16 938,22 17 1,3 1-939,-10-10 2959,13 16-2959,8 2 4424,-37-27-4424,27 23 0,2-1 6615,-25-21-6615,31 29 0,0 0 509,-32-30-509,27 24 0,4 5-6784,-6-6 6784,11 9-4015,-10-5 4015,-35-34-1502,19 25 1502,-19-25 0,22 30 0,-25-25 0,17 9 0,-20-14 0,7-7 4051,-7 7-4051,3-3 5071,0 0-5071,-3 4 3179,4-4-3179,3 8 0,-6-3 0,10 3-6784,14 29 6784,-16-24 0,21 21 0,0 1 0,-17-22-47,53 49 47,-39-49-4521,26 29 4521,-28-34-2474,20 33 2474,-36-36 2898,40 40-2898,-40-36 0,37 36 0,-34-35 0,26 39 0,-27-39 0,30 52 0,-27-50 0,31 54 0,-32-55-1356,16 26 1356,-20-36 0,-1 7 3988,-4-8-3988,-1 0 4530,1 3-4530,8 1 0,-7 2 695,7-2-695,4 19 2950,4-9-2950,24 37 121,-23-36-121,29 41 0,-37-49 0,33 51 0,-38-48 0,24 39 0,-30-39 0,18 39 0,-15-43 0,12 55 0,-12-53 0,11 54 0,-15-52 0,14 39 0,-14-39 0,6 14 0,-8-20 0,5 13 0,0-14 0,8 37 0,-7-34 0,15 44 0,-18-41 0,14 40 0,-12-38 0,4 46 0,-4-46-6784,4 59 6784,-8-56-4537,7 64 4537,-7-65-3034,3 65 3034,-4-65-2029,0 57 2029,4-59 990,1 67-990,5-62 0,-1 70 0,0-77 1487,5 56-1487,-8-59 3255,10 35-3255,-13-34 2007,13 18-2007,-14-19 5863,11 11-5863,-12-12 2782,7 8-2782,-7-8 0,15 15 0,-8-12 0,18 20 0,-19-20 0,18 12 0,-22-14 0,13 6 0,-11-11 0,1 10 0,-2-9 0,0 18 0,-3-12 0,7 24 0,-7-23 0,3 28 0,-4-29 0,4 29 0,-3-25 0,4 22 0,-5-22 0,0 8 0,0-15 0,0 20 0,-5-21 0,4 24 0,-3-26 0,4 11 0,-4-13 0,-1 11 0,0-9 0,-3 15 0,7-12 0,-7 3 0,7-3 0,-4-1 0,5 0 0,5 0 0,-4 0 0,7 1 0,-3-5 0,13 11 0,-7-13 0,15 22 0,-15-22 0,19 26 0,-17-25 0,8 24 0,-16-21 0,4 23 0,-8-18 0,7 22 0,-7-22 0,3 22 0,-4-21 0,0 12 0,0-15 0,4 24 0,-3-20 0,4 37 0,-5-37-993,4 16 993,-3-21-372,3 0 372,-4 0 0,0 1 0,0-1 0,4 4 0,-3-3 0,7 0 0,-3 6 974,1-9-974,2 15 391,-7-12-391,3 3 0,-4-4 0,0 1 0,4-1 0,1 0 0,5 0 0,-1-4 0,-4 3 0,3-2 0,-2-1 0,3 3 0,0-7 0,-4 7 0,4-7 0,0 7 0,1-7 0,8 8 0,-12-4 0,15 4 0,-14-4 0,15 3 0,-16-3 0,23 4 0,-24 1 0,49-1 0,-42 0 0,47 0 0,-45-4 0,16 0 0,-20-5 0,-1 0 0,0 0 0,1 0 0,11 0 0,-8 0 0,33 0 0,-30 0 0,63 0 0,-58 0 0,63 0 0,-64 0 0,40 0 0,-41 0 0,27 0 0,-32 0 0,20 4 0,-23-3 0,11 3 0,-12-4 0,29-4 0,-24 3 0,48-8 0,-46 8 0,37-3 0,-36 4 0,25-4 0,-25 3 0,16-3 0,-22 4 0,9 0 0,-10 0 0,2 0 0,-4 0 0,1 0 0,-1 0 0,25 4 0,-19-3 0,57 7 0,-54-7 0,70 3 0,-64-4-6784,44 0 6784,-50-4-121,12-1 121,-20 0 0,4 1 0,-5 4 0,4 0 0,-2 0 6724,27-4-6724,-23 3 0,40-4 0,-40 5 181,27 0-181,-30 0 0,10 0 0,-13 0 0,1 0 0,-1 0 0,0 0 0,1 0 0,-1 0 0,0 0 0,1 0 0,-5 0 0,-1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08869B-B997-C44A-8CF0-2B81EEC5537A}" type="datetimeFigureOut">
              <a:rPr lang="en-US" smtClean="0"/>
              <a:t>1/13/26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EB44AFA6-E58A-1340-9C11-F591E1844282}"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861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8869B-B997-C44A-8CF0-2B81EEC5537A}" type="datetimeFigureOut">
              <a:rPr lang="en-US" smtClean="0"/>
              <a:t>1/13/26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4AFA6-E58A-1340-9C11-F591E1844282}"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8110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8869B-B997-C44A-8CF0-2B81EEC5537A}" type="datetimeFigureOut">
              <a:rPr lang="en-US" smtClean="0"/>
              <a:t>1/13/26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4AFA6-E58A-1340-9C11-F591E1844282}"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08597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08869B-B997-C44A-8CF0-2B81EEC5537A}" type="datetimeFigureOut">
              <a:rPr lang="en-US" smtClean="0"/>
              <a:t>1/13/26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4AFA6-E58A-1340-9C11-F591E1844282}"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5682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08869B-B997-C44A-8CF0-2B81EEC5537A}" type="datetimeFigureOut">
              <a:rPr lang="en-US" smtClean="0"/>
              <a:t>1/13/26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44AFA6-E58A-1340-9C11-F591E1844282}"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773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08869B-B997-C44A-8CF0-2B81EEC5537A}" type="datetimeFigureOut">
              <a:rPr lang="en-US" smtClean="0"/>
              <a:t>1/13/26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44AFA6-E58A-1340-9C11-F591E1844282}"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6816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08869B-B997-C44A-8CF0-2B81EEC5537A}" type="datetimeFigureOut">
              <a:rPr lang="en-US" smtClean="0"/>
              <a:t>1/13/26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44AFA6-E58A-1340-9C11-F591E1844282}" type="slidenum">
              <a:rPr lang="en-US" smtClean="0"/>
              <a:t>‹#›</a:t>
            </a:fld>
            <a:endParaRPr lang="en-US"/>
          </a:p>
        </p:txBody>
      </p:sp>
    </p:spTree>
    <p:extLst>
      <p:ext uri="{BB962C8B-B14F-4D97-AF65-F5344CB8AC3E}">
        <p14:creationId xmlns:p14="http://schemas.microsoft.com/office/powerpoint/2010/main" val="2938899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08869B-B997-C44A-8CF0-2B81EEC5537A}" type="datetimeFigureOut">
              <a:rPr lang="en-US" smtClean="0"/>
              <a:t>1/13/26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4AFA6-E58A-1340-9C11-F591E1844282}"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324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108869B-B997-C44A-8CF0-2B81EEC5537A}" type="datetimeFigureOut">
              <a:rPr lang="en-US" smtClean="0"/>
              <a:t>1/13/26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EB44AFA6-E58A-1340-9C11-F591E1844282}"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606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8869B-B997-C44A-8CF0-2B81EEC5537A}" type="datetimeFigureOut">
              <a:rPr lang="en-US" smtClean="0"/>
              <a:t>1/13/26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4AFA6-E58A-1340-9C11-F591E1844282}"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0632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8869B-B997-C44A-8CF0-2B81EEC5537A}" type="datetimeFigureOut">
              <a:rPr lang="en-US" smtClean="0"/>
              <a:t>1/13/26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4AFA6-E58A-1340-9C11-F591E1844282}"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7099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108869B-B997-C44A-8CF0-2B81EEC5537A}" type="datetimeFigureOut">
              <a:rPr lang="en-US" smtClean="0"/>
              <a:t>1/13/26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B44AFA6-E58A-1340-9C11-F591E1844282}"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681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2.xml"/><Relationship Id="rId4" Type="http://schemas.openxmlformats.org/officeDocument/2006/relationships/image" Target="../media/image1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1E28B-99E5-4108-3240-4C2FB10CBC3C}"/>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C505E9DA-837E-2A49-D322-B5CC03BFFEDC}"/>
              </a:ext>
            </a:extLst>
          </p:cNvPr>
          <p:cNvSpPr>
            <a:spLocks noGrp="1"/>
          </p:cNvSpPr>
          <p:nvPr>
            <p:ph idx="1"/>
          </p:nvPr>
        </p:nvSpPr>
        <p:spPr>
          <a:xfrm>
            <a:off x="1451579" y="1893728"/>
            <a:ext cx="9603275" cy="4231129"/>
          </a:xfrm>
        </p:spPr>
        <p:txBody>
          <a:bodyPr>
            <a:normAutofit lnSpcReduction="10000"/>
          </a:bodyPr>
          <a:lstStyle/>
          <a:p>
            <a:r>
              <a:rPr lang="en-US" dirty="0" err="1"/>
              <a:t>Gridsearch</a:t>
            </a:r>
            <a:r>
              <a:rPr lang="en-US" dirty="0"/>
              <a:t> and model tuning (Intro to ML.. In chapter 5):</a:t>
            </a:r>
          </a:p>
          <a:p>
            <a:pPr lvl="1"/>
            <a:r>
              <a:rPr lang="en-US" dirty="0"/>
              <a:t>Grid search for hp tuning. </a:t>
            </a:r>
          </a:p>
          <a:p>
            <a:pPr lvl="1"/>
            <a:r>
              <a:rPr lang="en-US" dirty="0"/>
              <a:t>Cross validation. </a:t>
            </a:r>
          </a:p>
          <a:p>
            <a:r>
              <a:rPr lang="en-US" dirty="0"/>
              <a:t>If we have time, forest and ensemble models (we should be able to):</a:t>
            </a:r>
          </a:p>
          <a:p>
            <a:pPr lvl="1"/>
            <a:r>
              <a:rPr lang="en-US" dirty="0"/>
              <a:t>“Ensembles of Decision Trees” in chapter 2, but just bagging – we’ll do boosting later. </a:t>
            </a:r>
          </a:p>
          <a:p>
            <a:pPr lvl="1"/>
            <a:r>
              <a:rPr lang="en-US" dirty="0"/>
              <a:t>Pretty easy idea – let me know honestly how you guys feel with pace of concepts. </a:t>
            </a:r>
          </a:p>
          <a:p>
            <a:r>
              <a:rPr lang="en-US" dirty="0"/>
              <a:t>Assignment 1, part 2 and making a tree-based model. </a:t>
            </a:r>
          </a:p>
          <a:p>
            <a:pPr lvl="1"/>
            <a:r>
              <a:rPr lang="en-US" dirty="0"/>
              <a:t>You can do it now. </a:t>
            </a:r>
          </a:p>
          <a:p>
            <a:pPr lvl="1"/>
            <a:r>
              <a:rPr lang="en-US" dirty="0"/>
              <a:t>You may want to use a forest (probably later today), but that switch is easy in your pipeline. </a:t>
            </a:r>
          </a:p>
          <a:p>
            <a:r>
              <a:rPr lang="en-US" dirty="0"/>
              <a:t>A few imputation details. </a:t>
            </a:r>
          </a:p>
        </p:txBody>
      </p:sp>
    </p:spTree>
    <p:extLst>
      <p:ext uri="{BB962C8B-B14F-4D97-AF65-F5344CB8AC3E}">
        <p14:creationId xmlns:p14="http://schemas.microsoft.com/office/powerpoint/2010/main" val="9179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2D3B6-CA6B-A7AB-ECF6-863B4CAE5676}"/>
              </a:ext>
            </a:extLst>
          </p:cNvPr>
          <p:cNvSpPr>
            <a:spLocks noGrp="1"/>
          </p:cNvSpPr>
          <p:nvPr>
            <p:ph type="title"/>
          </p:nvPr>
        </p:nvSpPr>
        <p:spPr>
          <a:xfrm>
            <a:off x="1451579" y="804519"/>
            <a:ext cx="9603275" cy="1049235"/>
          </a:xfrm>
        </p:spPr>
        <p:txBody>
          <a:bodyPr>
            <a:normAutofit/>
          </a:bodyPr>
          <a:lstStyle/>
          <a:p>
            <a:r>
              <a:rPr lang="en-US" dirty="0"/>
              <a:t>Tree Review</a:t>
            </a:r>
          </a:p>
        </p:txBody>
      </p:sp>
      <p:sp>
        <p:nvSpPr>
          <p:cNvPr id="3" name="Content Placeholder 2">
            <a:extLst>
              <a:ext uri="{FF2B5EF4-FFF2-40B4-BE49-F238E27FC236}">
                <a16:creationId xmlns:a16="http://schemas.microsoft.com/office/drawing/2014/main" id="{679335DE-0B38-3BF4-8FBB-68B9AF485589}"/>
              </a:ext>
            </a:extLst>
          </p:cNvPr>
          <p:cNvSpPr>
            <a:spLocks noGrp="1"/>
          </p:cNvSpPr>
          <p:nvPr>
            <p:ph idx="1"/>
          </p:nvPr>
        </p:nvSpPr>
        <p:spPr>
          <a:xfrm>
            <a:off x="1" y="1853754"/>
            <a:ext cx="3782044" cy="4199727"/>
          </a:xfrm>
        </p:spPr>
        <p:txBody>
          <a:bodyPr>
            <a:normAutofit/>
          </a:bodyPr>
          <a:lstStyle/>
          <a:p>
            <a:r>
              <a:rPr lang="en-US" dirty="0"/>
              <a:t>Remember trees - created by playing </a:t>
            </a:r>
            <a:r>
              <a:rPr lang="en-US" dirty="0" err="1"/>
              <a:t>plinko</a:t>
            </a:r>
            <a:r>
              <a:rPr lang="en-US" dirty="0"/>
              <a:t> with the data:</a:t>
            </a:r>
          </a:p>
          <a:p>
            <a:pPr lvl="1"/>
            <a:r>
              <a:rPr lang="en-US" dirty="0"/>
              <a:t>At each node, choose whichever feature can split data the best. </a:t>
            </a:r>
          </a:p>
          <a:p>
            <a:pPr lvl="1"/>
            <a:r>
              <a:rPr lang="en-US" dirty="0"/>
              <a:t>Gini/entropy measure of purity.</a:t>
            </a:r>
          </a:p>
          <a:p>
            <a:pPr lvl="1"/>
            <a:r>
              <a:rPr lang="en-US" dirty="0"/>
              <a:t>Repeat splitting whatever data is in that node until perfect or a limit is hit.  </a:t>
            </a:r>
          </a:p>
        </p:txBody>
      </p:sp>
      <p:pic>
        <p:nvPicPr>
          <p:cNvPr id="1026" name="Picture 2" descr="Decision Tree">
            <a:extLst>
              <a:ext uri="{FF2B5EF4-FFF2-40B4-BE49-F238E27FC236}">
                <a16:creationId xmlns:a16="http://schemas.microsoft.com/office/drawing/2014/main" id="{75530184-4381-F67D-095A-A5CEC94EFA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35211" y="2367280"/>
            <a:ext cx="8500935" cy="3189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3984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9418F-4EBB-2966-1C7F-72FCC49F19E5}"/>
              </a:ext>
            </a:extLst>
          </p:cNvPr>
          <p:cNvSpPr>
            <a:spLocks noGrp="1"/>
          </p:cNvSpPr>
          <p:nvPr>
            <p:ph type="title"/>
          </p:nvPr>
        </p:nvSpPr>
        <p:spPr/>
        <p:txBody>
          <a:bodyPr/>
          <a:lstStyle/>
          <a:p>
            <a:r>
              <a:rPr lang="en-US" dirty="0"/>
              <a:t>Trees</a:t>
            </a:r>
          </a:p>
        </p:txBody>
      </p:sp>
      <p:sp>
        <p:nvSpPr>
          <p:cNvPr id="3" name="Content Placeholder 2">
            <a:extLst>
              <a:ext uri="{FF2B5EF4-FFF2-40B4-BE49-F238E27FC236}">
                <a16:creationId xmlns:a16="http://schemas.microsoft.com/office/drawing/2014/main" id="{1F89CE91-EE5A-9953-7163-878F97B3E872}"/>
              </a:ext>
            </a:extLst>
          </p:cNvPr>
          <p:cNvSpPr>
            <a:spLocks noGrp="1"/>
          </p:cNvSpPr>
          <p:nvPr>
            <p:ph idx="1"/>
          </p:nvPr>
        </p:nvSpPr>
        <p:spPr>
          <a:xfrm>
            <a:off x="56367" y="1853753"/>
            <a:ext cx="7228265" cy="4271473"/>
          </a:xfrm>
        </p:spPr>
        <p:txBody>
          <a:bodyPr>
            <a:normAutofit/>
          </a:bodyPr>
          <a:lstStyle/>
          <a:p>
            <a:r>
              <a:rPr lang="en-US" dirty="0"/>
              <a:t>Not inherently linear, like regression models.</a:t>
            </a:r>
          </a:p>
          <a:p>
            <a:pPr lvl="1"/>
            <a:r>
              <a:rPr lang="en-US" dirty="0"/>
              <a:t>Can better capture non-linear relationships. </a:t>
            </a:r>
          </a:p>
          <a:p>
            <a:r>
              <a:rPr lang="en-US" dirty="0"/>
              <a:t>Simple and comprehensible by a human, able to be displayed visually. </a:t>
            </a:r>
          </a:p>
          <a:p>
            <a:r>
              <a:rPr lang="en-US" dirty="0"/>
              <a:t>Quick to predict (can be slow to train). </a:t>
            </a:r>
          </a:p>
          <a:p>
            <a:r>
              <a:rPr lang="en-US" dirty="0"/>
              <a:t>Very strong tendency to be </a:t>
            </a:r>
            <a:r>
              <a:rPr lang="en-US" i="1" dirty="0"/>
              <a:t>high variance </a:t>
            </a:r>
            <a:r>
              <a:rPr lang="en-US" dirty="0"/>
              <a:t>in error:</a:t>
            </a:r>
          </a:p>
          <a:p>
            <a:pPr lvl="1"/>
            <a:r>
              <a:rPr lang="en-US" dirty="0"/>
              <a:t>Will always overfit, to perfection if possible, if we don’t limit growth. </a:t>
            </a:r>
          </a:p>
          <a:p>
            <a:pPr lvl="1"/>
            <a:r>
              <a:rPr lang="en-US" dirty="0"/>
              <a:t>We need to use HPs or regularization to prevent the model from learning too much. </a:t>
            </a:r>
          </a:p>
          <a:p>
            <a:pPr lvl="1"/>
            <a:r>
              <a:rPr lang="en-US" dirty="0"/>
              <a:t>E.g. both trees here have the same purity (</a:t>
            </a:r>
            <a:r>
              <a:rPr lang="en-US" dirty="0" err="1"/>
              <a:t>gini</a:t>
            </a:r>
            <a:r>
              <a:rPr lang="en-US" dirty="0"/>
              <a:t>/</a:t>
            </a:r>
            <a:r>
              <a:rPr lang="en-US" dirty="0" err="1"/>
              <a:t>ent</a:t>
            </a:r>
            <a:r>
              <a:rPr lang="en-US" dirty="0"/>
              <a:t>.) score. </a:t>
            </a:r>
          </a:p>
        </p:txBody>
      </p:sp>
      <p:pic>
        <p:nvPicPr>
          <p:cNvPr id="4098" name="Picture 2" descr="Lecture 1: Binary Classification with Linear Predictors 1 Linear Predictors  2 Binary Classification with Linear Predictors">
            <a:extLst>
              <a:ext uri="{FF2B5EF4-FFF2-40B4-BE49-F238E27FC236}">
                <a16:creationId xmlns:a16="http://schemas.microsoft.com/office/drawing/2014/main" id="{B74FF517-6A55-EABA-0590-06144B1C1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2770" y="0"/>
            <a:ext cx="4489230" cy="370770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ow to prove it in math: why deeper decision trees will never have higher  expected cross entropy? - DataScienceCentral.com">
            <a:extLst>
              <a:ext uri="{FF2B5EF4-FFF2-40B4-BE49-F238E27FC236}">
                <a16:creationId xmlns:a16="http://schemas.microsoft.com/office/drawing/2014/main" id="{E23B13EE-8B2C-EC5C-454F-9C3A0D631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4631" y="4051300"/>
            <a:ext cx="4907369" cy="27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537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1A20-1F5F-06F5-805A-0E978D7566E4}"/>
              </a:ext>
            </a:extLst>
          </p:cNvPr>
          <p:cNvSpPr>
            <a:spLocks noGrp="1"/>
          </p:cNvSpPr>
          <p:nvPr>
            <p:ph type="title"/>
          </p:nvPr>
        </p:nvSpPr>
        <p:spPr/>
        <p:txBody>
          <a:bodyPr/>
          <a:lstStyle/>
          <a:p>
            <a:r>
              <a:rPr lang="en-US" dirty="0"/>
              <a:t>Tuning the Tree</a:t>
            </a:r>
          </a:p>
        </p:txBody>
      </p:sp>
      <p:sp>
        <p:nvSpPr>
          <p:cNvPr id="3" name="Content Placeholder 2">
            <a:extLst>
              <a:ext uri="{FF2B5EF4-FFF2-40B4-BE49-F238E27FC236}">
                <a16:creationId xmlns:a16="http://schemas.microsoft.com/office/drawing/2014/main" id="{3D7EDB21-D897-3D92-743E-3E1C6A4864E5}"/>
              </a:ext>
            </a:extLst>
          </p:cNvPr>
          <p:cNvSpPr>
            <a:spLocks noGrp="1"/>
          </p:cNvSpPr>
          <p:nvPr>
            <p:ph idx="1"/>
          </p:nvPr>
        </p:nvSpPr>
        <p:spPr>
          <a:xfrm>
            <a:off x="1451579" y="1942424"/>
            <a:ext cx="9603275" cy="4111057"/>
          </a:xfrm>
        </p:spPr>
        <p:txBody>
          <a:bodyPr/>
          <a:lstStyle/>
          <a:p>
            <a:r>
              <a:rPr lang="en-US" dirty="0"/>
              <a:t>To make a tree model that work well (not overfitted) we need to tune it. </a:t>
            </a:r>
          </a:p>
          <a:p>
            <a:r>
              <a:rPr lang="en-US" dirty="0"/>
              <a:t>Hyperparameters:</a:t>
            </a:r>
          </a:p>
          <a:p>
            <a:pPr lvl="1"/>
            <a:r>
              <a:rPr lang="en-US" dirty="0"/>
              <a:t>Settings for the model training process, such as max depth, min items in a leaf, criterion, </a:t>
            </a:r>
            <a:r>
              <a:rPr lang="en-US" dirty="0" err="1"/>
              <a:t>etc</a:t>
            </a:r>
            <a:r>
              <a:rPr lang="en-US" dirty="0"/>
              <a:t>…</a:t>
            </a:r>
          </a:p>
          <a:p>
            <a:pPr lvl="1"/>
            <a:r>
              <a:rPr lang="en-US" dirty="0"/>
              <a:t>We can set limits to (mainly) constrain growth, then the tree must optimize within that. </a:t>
            </a:r>
          </a:p>
          <a:p>
            <a:r>
              <a:rPr lang="en-US" dirty="0"/>
              <a:t>Regularization (Cost Complexity Pruning):</a:t>
            </a:r>
          </a:p>
          <a:p>
            <a:pPr lvl="1"/>
            <a:r>
              <a:rPr lang="en-US" dirty="0"/>
              <a:t>Regularization is the concept of adding a penalty to the </a:t>
            </a:r>
            <a:r>
              <a:rPr lang="en-US" i="1" dirty="0"/>
              <a:t>growth</a:t>
            </a:r>
            <a:r>
              <a:rPr lang="en-US" dirty="0"/>
              <a:t> of a model. </a:t>
            </a:r>
          </a:p>
          <a:p>
            <a:pPr lvl="1"/>
            <a:r>
              <a:rPr lang="en-US" dirty="0"/>
              <a:t>In order to overfit the data, the model must grow, so this combats that. </a:t>
            </a:r>
          </a:p>
          <a:p>
            <a:pPr lvl="1"/>
            <a:r>
              <a:rPr lang="en-US" dirty="0"/>
              <a:t>Requires each split to improve overall purity by at least some (adjustable by hp) amount. </a:t>
            </a:r>
          </a:p>
          <a:p>
            <a:pPr lvl="1"/>
            <a:r>
              <a:rPr lang="en-US" dirty="0"/>
              <a:t>Done after the tree is made, but is seamless to us. </a:t>
            </a:r>
          </a:p>
        </p:txBody>
      </p:sp>
    </p:spTree>
    <p:extLst>
      <p:ext uri="{BB962C8B-B14F-4D97-AF65-F5344CB8AC3E}">
        <p14:creationId xmlns:p14="http://schemas.microsoft.com/office/powerpoint/2010/main" val="42529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AD35-A0BA-5D33-4E68-01BA5616B135}"/>
              </a:ext>
            </a:extLst>
          </p:cNvPr>
          <p:cNvSpPr>
            <a:spLocks noGrp="1"/>
          </p:cNvSpPr>
          <p:nvPr>
            <p:ph type="title"/>
          </p:nvPr>
        </p:nvSpPr>
        <p:spPr/>
        <p:txBody>
          <a:bodyPr/>
          <a:lstStyle/>
          <a:p>
            <a:r>
              <a:rPr lang="en-US" dirty="0"/>
              <a:t>Shove a Column Transformer up Your Pipe</a:t>
            </a:r>
          </a:p>
        </p:txBody>
      </p:sp>
      <p:sp>
        <p:nvSpPr>
          <p:cNvPr id="3" name="Content Placeholder 2">
            <a:extLst>
              <a:ext uri="{FF2B5EF4-FFF2-40B4-BE49-F238E27FC236}">
                <a16:creationId xmlns:a16="http://schemas.microsoft.com/office/drawing/2014/main" id="{5C21AD5A-7176-B6A2-2362-82549C3E863C}"/>
              </a:ext>
            </a:extLst>
          </p:cNvPr>
          <p:cNvSpPr>
            <a:spLocks noGrp="1"/>
          </p:cNvSpPr>
          <p:nvPr>
            <p:ph idx="1"/>
          </p:nvPr>
        </p:nvSpPr>
        <p:spPr>
          <a:xfrm>
            <a:off x="6488482" y="1853754"/>
            <a:ext cx="5703518" cy="4199727"/>
          </a:xfrm>
        </p:spPr>
        <p:txBody>
          <a:bodyPr>
            <a:normAutofit lnSpcReduction="10000"/>
          </a:bodyPr>
          <a:lstStyle/>
          <a:p>
            <a:r>
              <a:rPr lang="en-US" dirty="0"/>
              <a:t>Column transformers are another pipeline item. </a:t>
            </a:r>
          </a:p>
          <a:p>
            <a:r>
              <a:rPr lang="en-US" dirty="0"/>
              <a:t>CTs are basically a pipeline with branching:</a:t>
            </a:r>
          </a:p>
          <a:p>
            <a:pPr lvl="1"/>
            <a:r>
              <a:rPr lang="en-US" dirty="0"/>
              <a:t>We can treat a CT like any other transformer object in connecting them. </a:t>
            </a:r>
          </a:p>
          <a:p>
            <a:pPr lvl="1"/>
            <a:r>
              <a:rPr lang="en-US" dirty="0"/>
              <a:t>Inside a CT we can specify different paths (pipelines), and which features go down them. </a:t>
            </a:r>
          </a:p>
          <a:p>
            <a:pPr lvl="1"/>
            <a:r>
              <a:rPr lang="en-US" dirty="0"/>
              <a:t>The output of the CT is just like a pipeline, it’ll recombine the data for us. </a:t>
            </a:r>
          </a:p>
          <a:p>
            <a:r>
              <a:rPr lang="en-US" dirty="0"/>
              <a:t>Mainly needed for mixed data types (cat/num). </a:t>
            </a:r>
          </a:p>
          <a:p>
            <a:r>
              <a:rPr lang="en-US" dirty="0"/>
              <a:t>All pipe-</a:t>
            </a:r>
            <a:r>
              <a:rPr lang="en-US" dirty="0" err="1"/>
              <a:t>ish</a:t>
            </a:r>
            <a:r>
              <a:rPr lang="en-US" dirty="0"/>
              <a:t> things can be combined in any way. </a:t>
            </a:r>
          </a:p>
          <a:p>
            <a:pPr lvl="1"/>
            <a:r>
              <a:rPr lang="en-US" dirty="0"/>
              <a:t>They accept/output an array(-like) dataset. </a:t>
            </a:r>
          </a:p>
        </p:txBody>
      </p:sp>
      <p:pic>
        <p:nvPicPr>
          <p:cNvPr id="5122" name="Picture 2" descr="Building Machine Learning Pipeline using Scikit-Learn - YouTube">
            <a:extLst>
              <a:ext uri="{FF2B5EF4-FFF2-40B4-BE49-F238E27FC236}">
                <a16:creationId xmlns:a16="http://schemas.microsoft.com/office/drawing/2014/main" id="{9D5CC952-32EA-166F-C453-7699724DE9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932" r="27523"/>
          <a:stretch/>
        </p:blipFill>
        <p:spPr bwMode="auto">
          <a:xfrm>
            <a:off x="174146" y="2366741"/>
            <a:ext cx="6314336" cy="274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5834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6CF7-94D8-75A0-5AB9-C027969001F0}"/>
              </a:ext>
            </a:extLst>
          </p:cNvPr>
          <p:cNvSpPr>
            <a:spLocks noGrp="1"/>
          </p:cNvSpPr>
          <p:nvPr>
            <p:ph type="title"/>
          </p:nvPr>
        </p:nvSpPr>
        <p:spPr/>
        <p:txBody>
          <a:bodyPr/>
          <a:lstStyle/>
          <a:p>
            <a:r>
              <a:rPr lang="en-US" dirty="0"/>
              <a:t>Imputation</a:t>
            </a:r>
          </a:p>
        </p:txBody>
      </p:sp>
      <p:sp>
        <p:nvSpPr>
          <p:cNvPr id="3" name="Content Placeholder 2">
            <a:extLst>
              <a:ext uri="{FF2B5EF4-FFF2-40B4-BE49-F238E27FC236}">
                <a16:creationId xmlns:a16="http://schemas.microsoft.com/office/drawing/2014/main" id="{25026123-057B-847A-5B91-C819B9CB1E32}"/>
              </a:ext>
            </a:extLst>
          </p:cNvPr>
          <p:cNvSpPr>
            <a:spLocks noGrp="1"/>
          </p:cNvSpPr>
          <p:nvPr>
            <p:ph idx="1"/>
          </p:nvPr>
        </p:nvSpPr>
        <p:spPr>
          <a:xfrm>
            <a:off x="1451579" y="1920240"/>
            <a:ext cx="9603275" cy="4023360"/>
          </a:xfrm>
        </p:spPr>
        <p:txBody>
          <a:bodyPr/>
          <a:lstStyle/>
          <a:p>
            <a:r>
              <a:rPr lang="en-US" dirty="0"/>
              <a:t>Imputation allows us to keep data despite having missing values.</a:t>
            </a:r>
          </a:p>
          <a:p>
            <a:pPr lvl="1"/>
            <a:r>
              <a:rPr lang="en-US" dirty="0" err="1"/>
              <a:t>Gnerally</a:t>
            </a:r>
            <a:r>
              <a:rPr lang="en-US" dirty="0"/>
              <a:t> can’t process data with blank spaces. </a:t>
            </a:r>
          </a:p>
          <a:p>
            <a:r>
              <a:rPr lang="en-US" dirty="0"/>
              <a:t>Suppose we are doing the long-form census and some respondents leave INCOME blank. </a:t>
            </a:r>
          </a:p>
          <a:p>
            <a:pPr lvl="1"/>
            <a:r>
              <a:rPr lang="en-US" dirty="0"/>
              <a:t>We can’t redo it. </a:t>
            </a:r>
          </a:p>
          <a:p>
            <a:pPr lvl="1"/>
            <a:r>
              <a:rPr lang="en-US" dirty="0"/>
              <a:t>Removing the entire row costs us valuable other data. </a:t>
            </a:r>
          </a:p>
          <a:p>
            <a:r>
              <a:rPr lang="en-US" dirty="0"/>
              <a:t>But, we’re literally inventing fake data to fill the blanks – seems risky. </a:t>
            </a:r>
          </a:p>
          <a:p>
            <a:r>
              <a:rPr lang="en-US" dirty="0"/>
              <a:t>Doing quality imputation is a scenario/specific task. </a:t>
            </a:r>
          </a:p>
          <a:p>
            <a:r>
              <a:rPr lang="en-US" dirty="0"/>
              <a:t>We need to combine judgment and results. </a:t>
            </a:r>
          </a:p>
        </p:txBody>
      </p:sp>
    </p:spTree>
    <p:extLst>
      <p:ext uri="{BB962C8B-B14F-4D97-AF65-F5344CB8AC3E}">
        <p14:creationId xmlns:p14="http://schemas.microsoft.com/office/powerpoint/2010/main" val="453607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D18E1-4E39-AB8E-C16D-3E31581524FE}"/>
              </a:ext>
            </a:extLst>
          </p:cNvPr>
          <p:cNvSpPr>
            <a:spLocks noGrp="1"/>
          </p:cNvSpPr>
          <p:nvPr>
            <p:ph type="title"/>
          </p:nvPr>
        </p:nvSpPr>
        <p:spPr/>
        <p:txBody>
          <a:bodyPr/>
          <a:lstStyle/>
          <a:p>
            <a:r>
              <a:rPr lang="en-US" dirty="0"/>
              <a:t>Real Imputation – Why is it missing? </a:t>
            </a:r>
          </a:p>
        </p:txBody>
      </p:sp>
      <p:sp>
        <p:nvSpPr>
          <p:cNvPr id="3" name="Content Placeholder 2">
            <a:extLst>
              <a:ext uri="{FF2B5EF4-FFF2-40B4-BE49-F238E27FC236}">
                <a16:creationId xmlns:a16="http://schemas.microsoft.com/office/drawing/2014/main" id="{EB37B4E9-545B-6C52-3A4A-D6F473AD13BC}"/>
              </a:ext>
            </a:extLst>
          </p:cNvPr>
          <p:cNvSpPr>
            <a:spLocks noGrp="1"/>
          </p:cNvSpPr>
          <p:nvPr>
            <p:ph idx="1"/>
          </p:nvPr>
        </p:nvSpPr>
        <p:spPr>
          <a:xfrm>
            <a:off x="1451579" y="1853754"/>
            <a:ext cx="9603275" cy="4281039"/>
          </a:xfrm>
        </p:spPr>
        <p:txBody>
          <a:bodyPr>
            <a:normAutofit lnSpcReduction="10000"/>
          </a:bodyPr>
          <a:lstStyle/>
          <a:p>
            <a:r>
              <a:rPr lang="en-US" dirty="0"/>
              <a:t>First concept – if it is missing, why? A.k.a. can we predict if a value is missing? </a:t>
            </a:r>
          </a:p>
          <a:p>
            <a:r>
              <a:rPr lang="en-US" dirty="0"/>
              <a:t>Missing completely at random (MCAR). </a:t>
            </a:r>
          </a:p>
          <a:p>
            <a:pPr lvl="1"/>
            <a:r>
              <a:rPr lang="en-US" dirty="0"/>
              <a:t>One dude’s census form got a drop of water on it in the mail and the income is illegible. </a:t>
            </a:r>
          </a:p>
          <a:p>
            <a:pPr lvl="1"/>
            <a:r>
              <a:rPr lang="en-US" dirty="0"/>
              <a:t>There’s no reason this one is missing, totally random. </a:t>
            </a:r>
          </a:p>
          <a:p>
            <a:r>
              <a:rPr lang="en-US" dirty="0"/>
              <a:t>Missing at random (MAR). </a:t>
            </a:r>
          </a:p>
          <a:p>
            <a:pPr lvl="1"/>
            <a:r>
              <a:rPr lang="en-US" dirty="0"/>
              <a:t>The probability a value is missing has some correlation to the </a:t>
            </a:r>
            <a:r>
              <a:rPr lang="en-US" i="1" dirty="0"/>
              <a:t>other</a:t>
            </a:r>
            <a:r>
              <a:rPr lang="en-US" dirty="0"/>
              <a:t> features collected. </a:t>
            </a:r>
          </a:p>
          <a:p>
            <a:pPr lvl="1"/>
            <a:r>
              <a:rPr lang="en-US" dirty="0"/>
              <a:t>Media consumed by certain professions encourages leaving income field blank. </a:t>
            </a:r>
          </a:p>
          <a:p>
            <a:r>
              <a:rPr lang="en-US" dirty="0"/>
              <a:t>Missing not at random (MNAR). </a:t>
            </a:r>
          </a:p>
          <a:p>
            <a:pPr lvl="1"/>
            <a:r>
              <a:rPr lang="en-US" dirty="0"/>
              <a:t>The probability a value is missing depends on its value. </a:t>
            </a:r>
          </a:p>
          <a:p>
            <a:pPr lvl="1"/>
            <a:r>
              <a:rPr lang="en-US" dirty="0"/>
              <a:t>Higher income people tend to leave income blank. </a:t>
            </a:r>
          </a:p>
          <a:p>
            <a:pPr lvl="1"/>
            <a:endParaRPr lang="en-US" dirty="0"/>
          </a:p>
          <a:p>
            <a:endParaRPr lang="en-US" dirty="0"/>
          </a:p>
        </p:txBody>
      </p:sp>
    </p:spTree>
    <p:extLst>
      <p:ext uri="{BB962C8B-B14F-4D97-AF65-F5344CB8AC3E}">
        <p14:creationId xmlns:p14="http://schemas.microsoft.com/office/powerpoint/2010/main" val="4116022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9E460-D162-3923-D60A-6348BB34E535}"/>
              </a:ext>
            </a:extLst>
          </p:cNvPr>
          <p:cNvSpPr>
            <a:spLocks noGrp="1"/>
          </p:cNvSpPr>
          <p:nvPr>
            <p:ph type="title"/>
          </p:nvPr>
        </p:nvSpPr>
        <p:spPr/>
        <p:txBody>
          <a:bodyPr/>
          <a:lstStyle/>
          <a:p>
            <a:r>
              <a:rPr lang="en-US" dirty="0"/>
              <a:t>Imputation depends on Cause</a:t>
            </a:r>
          </a:p>
        </p:txBody>
      </p:sp>
      <p:sp>
        <p:nvSpPr>
          <p:cNvPr id="3" name="Content Placeholder 2">
            <a:extLst>
              <a:ext uri="{FF2B5EF4-FFF2-40B4-BE49-F238E27FC236}">
                <a16:creationId xmlns:a16="http://schemas.microsoft.com/office/drawing/2014/main" id="{E12FDB43-08C2-3141-9B66-3843532447F3}"/>
              </a:ext>
            </a:extLst>
          </p:cNvPr>
          <p:cNvSpPr>
            <a:spLocks noGrp="1"/>
          </p:cNvSpPr>
          <p:nvPr>
            <p:ph idx="1"/>
          </p:nvPr>
        </p:nvSpPr>
        <p:spPr>
          <a:xfrm>
            <a:off x="1451579" y="1853753"/>
            <a:ext cx="9603275" cy="4199727"/>
          </a:xfrm>
        </p:spPr>
        <p:txBody>
          <a:bodyPr/>
          <a:lstStyle/>
          <a:p>
            <a:r>
              <a:rPr lang="en-US" dirty="0"/>
              <a:t>Remember, the perfect imputation will generate the exact correct value. </a:t>
            </a:r>
          </a:p>
          <a:p>
            <a:pPr lvl="1"/>
            <a:r>
              <a:rPr lang="en-US" dirty="0"/>
              <a:t>Different missing causes will tend towards different patterns of what’s missing. </a:t>
            </a:r>
          </a:p>
          <a:p>
            <a:r>
              <a:rPr lang="en-US" dirty="0"/>
              <a:t>MCAR – Easiest. Simple methods, imputation or deletion, are usable here. </a:t>
            </a:r>
          </a:p>
          <a:p>
            <a:pPr lvl="1"/>
            <a:r>
              <a:rPr lang="en-US" dirty="0"/>
              <a:t>Simple imputer as we’ve been using thus far. </a:t>
            </a:r>
          </a:p>
          <a:p>
            <a:r>
              <a:rPr lang="en-US" dirty="0"/>
              <a:t>MAR – Harder. Multiple imputation – use other features to predict imputed one. </a:t>
            </a:r>
          </a:p>
          <a:p>
            <a:pPr lvl="1"/>
            <a:r>
              <a:rPr lang="en-US" dirty="0"/>
              <a:t>E.g. if income is missing, use location, career, and age to predict it. (E.g. </a:t>
            </a:r>
            <a:r>
              <a:rPr lang="en-US" dirty="0" err="1"/>
              <a:t>kNN</a:t>
            </a:r>
            <a:r>
              <a:rPr lang="en-US" dirty="0"/>
              <a:t> imputer). </a:t>
            </a:r>
          </a:p>
          <a:p>
            <a:pPr lvl="1"/>
            <a:r>
              <a:rPr lang="en-US" dirty="0"/>
              <a:t>Basically, a small regression/classification model to predict the feature. </a:t>
            </a:r>
          </a:p>
          <a:p>
            <a:r>
              <a:rPr lang="en-US" dirty="0"/>
              <a:t>MNAR – Hardest. Statistical analysis of whatever the topic is needed. Sensitivity analysis.</a:t>
            </a:r>
          </a:p>
          <a:p>
            <a:pPr lvl="1"/>
            <a:r>
              <a:rPr lang="en-US" dirty="0"/>
              <a:t>Need to project the incomes of the missing people, but how much is the dist. shifted? </a:t>
            </a:r>
          </a:p>
        </p:txBody>
      </p:sp>
    </p:spTree>
    <p:extLst>
      <p:ext uri="{BB962C8B-B14F-4D97-AF65-F5344CB8AC3E}">
        <p14:creationId xmlns:p14="http://schemas.microsoft.com/office/powerpoint/2010/main" val="418489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8D79-E2D9-A042-85E3-DD7C97D0A26D}"/>
              </a:ext>
            </a:extLst>
          </p:cNvPr>
          <p:cNvSpPr>
            <a:spLocks noGrp="1"/>
          </p:cNvSpPr>
          <p:nvPr>
            <p:ph type="title"/>
          </p:nvPr>
        </p:nvSpPr>
        <p:spPr/>
        <p:txBody>
          <a:bodyPr/>
          <a:lstStyle/>
          <a:p>
            <a:r>
              <a:rPr lang="en-US" dirty="0"/>
              <a:t>Don’t Dispute your Impute</a:t>
            </a:r>
          </a:p>
        </p:txBody>
      </p:sp>
      <p:sp>
        <p:nvSpPr>
          <p:cNvPr id="3" name="Content Placeholder 2">
            <a:extLst>
              <a:ext uri="{FF2B5EF4-FFF2-40B4-BE49-F238E27FC236}">
                <a16:creationId xmlns:a16="http://schemas.microsoft.com/office/drawing/2014/main" id="{CCE5A603-4540-A322-F2B2-443818F4D52D}"/>
              </a:ext>
            </a:extLst>
          </p:cNvPr>
          <p:cNvSpPr>
            <a:spLocks noGrp="1"/>
          </p:cNvSpPr>
          <p:nvPr>
            <p:ph idx="1"/>
          </p:nvPr>
        </p:nvSpPr>
        <p:spPr>
          <a:xfrm>
            <a:off x="1451579" y="1853754"/>
            <a:ext cx="9603275" cy="4199727"/>
          </a:xfrm>
        </p:spPr>
        <p:txBody>
          <a:bodyPr>
            <a:normAutofit lnSpcReduction="10000"/>
          </a:bodyPr>
          <a:lstStyle/>
          <a:p>
            <a:r>
              <a:rPr lang="en-US" dirty="0"/>
              <a:t>Imputation is a domain specific thing, each problem is different. </a:t>
            </a:r>
          </a:p>
          <a:p>
            <a:pPr lvl="1"/>
            <a:r>
              <a:rPr lang="en-US" dirty="0"/>
              <a:t>Each model uses a feature differently, so impacts of imputation vary. </a:t>
            </a:r>
          </a:p>
          <a:p>
            <a:r>
              <a:rPr lang="en-US" dirty="0"/>
              <a:t>Each method will change the data, we need judgment to evaluate the best. </a:t>
            </a:r>
          </a:p>
          <a:p>
            <a:r>
              <a:rPr lang="en-US" dirty="0"/>
              <a:t>As data grows, details of imputation tend to matter less. </a:t>
            </a:r>
          </a:p>
          <a:p>
            <a:pPr lvl="1"/>
            <a:r>
              <a:rPr lang="en-US" dirty="0"/>
              <a:t>The biggest imputation concerns are ‘small data’ – surveys, medical data, census. </a:t>
            </a:r>
          </a:p>
          <a:p>
            <a:pPr lvl="1"/>
            <a:r>
              <a:rPr lang="en-US" dirty="0"/>
              <a:t>Where data collection costs money or is impossible, keeping data matters. </a:t>
            </a:r>
          </a:p>
          <a:p>
            <a:pPr lvl="1"/>
            <a:r>
              <a:rPr lang="en-US" dirty="0"/>
              <a:t>SME big in decisions. If income is missing, how to best estimate? Not just a stats answer. </a:t>
            </a:r>
          </a:p>
          <a:p>
            <a:r>
              <a:rPr lang="en-US" dirty="0"/>
              <a:t>We don’t worry too much about imputation. </a:t>
            </a:r>
          </a:p>
          <a:p>
            <a:pPr lvl="1"/>
            <a:r>
              <a:rPr lang="en-US" dirty="0"/>
              <a:t>In your project class, that might be a good chance to dig deeper. </a:t>
            </a:r>
          </a:p>
          <a:p>
            <a:pPr lvl="1"/>
            <a:r>
              <a:rPr lang="en-US" dirty="0"/>
              <a:t>I put a link to an online text in the resources on bright space, if you’re curious. </a:t>
            </a:r>
          </a:p>
        </p:txBody>
      </p:sp>
    </p:spTree>
    <p:extLst>
      <p:ext uri="{BB962C8B-B14F-4D97-AF65-F5344CB8AC3E}">
        <p14:creationId xmlns:p14="http://schemas.microsoft.com/office/powerpoint/2010/main" val="1471974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10784-8E8C-E17F-5A78-AB2850A6E817}"/>
              </a:ext>
            </a:extLst>
          </p:cNvPr>
          <p:cNvSpPr>
            <a:spLocks noGrp="1"/>
          </p:cNvSpPr>
          <p:nvPr>
            <p:ph idx="4294967295"/>
          </p:nvPr>
        </p:nvSpPr>
        <p:spPr>
          <a:xfrm>
            <a:off x="353357" y="126125"/>
            <a:ext cx="11723029" cy="5875282"/>
          </a:xfrm>
        </p:spPr>
        <p:txBody>
          <a:bodyPr>
            <a:normAutofit/>
          </a:bodyPr>
          <a:lstStyle/>
          <a:p>
            <a:r>
              <a:rPr lang="en-CA" sz="1600" b="1" dirty="0"/>
              <a:t>Hot-deck</a:t>
            </a:r>
            <a:r>
              <a:rPr lang="en-CA" sz="1600" dirty="0"/>
              <a:t> </a:t>
            </a:r>
            <a:r>
              <a:rPr lang="en-CA" sz="1600" b="1" dirty="0"/>
              <a:t>imputation</a:t>
            </a:r>
            <a:r>
              <a:rPr lang="en-CA" sz="1600" dirty="0"/>
              <a:t> uses the answers from another record of the same survey, referred to as the donor, to answer the question (or set of questions) that needs imputation. The donor can be randomly selected from a pool of donors with the same set of predetermined characteristics. For example, if a questionnaire has been returned with the yearly income missing, then we could determine donor characteristics as records with the same province, same occupation and same amount of experience as the respondent from the survey requiring imputation. A list of possible donors matching these criteria is created and one of them is randomly selected. Once a donor is found, the donor response (in this case, the yearly income) replaces the missing or invalid response.</a:t>
            </a:r>
          </a:p>
          <a:p>
            <a:r>
              <a:rPr lang="en-CA" sz="1600" b="1" dirty="0"/>
              <a:t>Cold-deck</a:t>
            </a:r>
            <a:r>
              <a:rPr lang="en-CA" sz="1600" dirty="0"/>
              <a:t> </a:t>
            </a:r>
            <a:r>
              <a:rPr lang="en-CA" sz="1600" b="1" dirty="0"/>
              <a:t>imputation</a:t>
            </a:r>
            <a:r>
              <a:rPr lang="en-CA" sz="1600" dirty="0"/>
              <a:t> is similar to hot-deck imputation. The difference is that hot-deck</a:t>
            </a:r>
            <a:r>
              <a:rPr lang="en-CA" sz="1600" b="1" dirty="0"/>
              <a:t> </a:t>
            </a:r>
            <a:r>
              <a:rPr lang="en-CA" sz="1600" dirty="0"/>
              <a:t>imputation uses donors from the same survey, while cold-deck imputation uses donors from another source, such as historical data from an earlier iteration of the same survey or from administrative data.</a:t>
            </a:r>
          </a:p>
          <a:p>
            <a:r>
              <a:rPr lang="en-CA" sz="1600" b="1" dirty="0"/>
              <a:t>Mean value imputation</a:t>
            </a:r>
            <a:r>
              <a:rPr lang="en-CA" sz="1600" dirty="0"/>
              <a:t> is to replace the missing or inconsistent value by the mean value calculated from the responding units with the same set of predetermined characteristics. For example, if a record is missing a total number for an individual’s yearly income, then we could impute the observed average income in that individual’s province for the same occupation with the same level of experience as the respondent. One drawback of mean imputation is that it destroys distribution and the relationships between variables by creating an artificial spike at the group mean. This artificially lowers the estimated sampling variance of the final estimates if conventional formulas for the sampling variance are used.</a:t>
            </a:r>
          </a:p>
          <a:p>
            <a:r>
              <a:rPr lang="en-CA" sz="1600" b="1" dirty="0"/>
              <a:t>Nearest neighbor imputation</a:t>
            </a:r>
            <a:r>
              <a:rPr lang="en-CA" sz="1600" dirty="0"/>
              <a:t> is another type of donor imputation.</a:t>
            </a:r>
            <a:r>
              <a:rPr lang="en-CA" sz="1600" b="1" dirty="0"/>
              <a:t> </a:t>
            </a:r>
            <a:r>
              <a:rPr lang="en-CA" sz="1600" dirty="0"/>
              <a:t>In this case, some sort of criteria must be developed to determine the responding unit the most similar to the unit with the missing value in accordance with the predetermined characteristics. The closest unit to the missing value is then used as the donor.</a:t>
            </a:r>
          </a:p>
        </p:txBody>
      </p:sp>
    </p:spTree>
    <p:extLst>
      <p:ext uri="{BB962C8B-B14F-4D97-AF65-F5344CB8AC3E}">
        <p14:creationId xmlns:p14="http://schemas.microsoft.com/office/powerpoint/2010/main" val="2540885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4EC-8076-DBE6-370D-E720DE1C89BC}"/>
              </a:ext>
            </a:extLst>
          </p:cNvPr>
          <p:cNvSpPr>
            <a:spLocks noGrp="1"/>
          </p:cNvSpPr>
          <p:nvPr>
            <p:ph type="title"/>
          </p:nvPr>
        </p:nvSpPr>
        <p:spPr/>
        <p:txBody>
          <a:bodyPr/>
          <a:lstStyle/>
          <a:p>
            <a:r>
              <a:rPr lang="en-US" dirty="0"/>
              <a:t>So we should be able to…</a:t>
            </a:r>
          </a:p>
        </p:txBody>
      </p:sp>
      <p:sp>
        <p:nvSpPr>
          <p:cNvPr id="3" name="Content Placeholder 2">
            <a:extLst>
              <a:ext uri="{FF2B5EF4-FFF2-40B4-BE49-F238E27FC236}">
                <a16:creationId xmlns:a16="http://schemas.microsoft.com/office/drawing/2014/main" id="{A644FA37-BBAE-D12D-FB17-34C8BED5DFBF}"/>
              </a:ext>
            </a:extLst>
          </p:cNvPr>
          <p:cNvSpPr>
            <a:spLocks noGrp="1"/>
          </p:cNvSpPr>
          <p:nvPr>
            <p:ph idx="1"/>
          </p:nvPr>
        </p:nvSpPr>
        <p:spPr>
          <a:xfrm>
            <a:off x="1451579" y="1899138"/>
            <a:ext cx="9603275" cy="4095863"/>
          </a:xfrm>
        </p:spPr>
        <p:txBody>
          <a:bodyPr/>
          <a:lstStyle/>
          <a:p>
            <a:r>
              <a:rPr lang="en-US" dirty="0"/>
              <a:t>At this point, with some refreshment of last year, you should feel ok to:</a:t>
            </a:r>
          </a:p>
          <a:p>
            <a:pPr lvl="1"/>
            <a:r>
              <a:rPr lang="en-US" dirty="0"/>
              <a:t>Load, explore, and clean data prior to use. </a:t>
            </a:r>
          </a:p>
          <a:p>
            <a:pPr lvl="1"/>
            <a:r>
              <a:rPr lang="en-US" dirty="0"/>
              <a:t>Do train-test split and format data for training. </a:t>
            </a:r>
          </a:p>
          <a:p>
            <a:pPr lvl="1"/>
            <a:r>
              <a:rPr lang="en-US" dirty="0"/>
              <a:t>Decide on classification/regression model, set target and features. </a:t>
            </a:r>
          </a:p>
          <a:p>
            <a:pPr lvl="1"/>
            <a:r>
              <a:rPr lang="en-US" dirty="0"/>
              <a:t>Create a pipeline to process the data (now with CT branching and mixed data). </a:t>
            </a:r>
          </a:p>
          <a:p>
            <a:pPr lvl="2"/>
            <a:r>
              <a:rPr lang="en-US" dirty="0"/>
              <a:t>Impute, scale, encode should be usable and make sense. </a:t>
            </a:r>
          </a:p>
          <a:p>
            <a:pPr lvl="1"/>
            <a:r>
              <a:rPr lang="en-US" dirty="0"/>
              <a:t>Make models with different hyperparameters and evaluate accuracy metrics.</a:t>
            </a:r>
          </a:p>
          <a:p>
            <a:pPr lvl="1"/>
            <a:r>
              <a:rPr lang="en-US" dirty="0"/>
              <a:t>Tune a model (a </a:t>
            </a:r>
            <a:r>
              <a:rPr lang="en-US"/>
              <a:t>bit) </a:t>
            </a:r>
            <a:r>
              <a:rPr lang="en-US" dirty="0"/>
              <a:t>to get better performance. </a:t>
            </a:r>
          </a:p>
        </p:txBody>
      </p:sp>
    </p:spTree>
    <p:extLst>
      <p:ext uri="{BB962C8B-B14F-4D97-AF65-F5344CB8AC3E}">
        <p14:creationId xmlns:p14="http://schemas.microsoft.com/office/powerpoint/2010/main" val="2792496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EF34-9FA4-884D-9E8D-C13B94F38403}"/>
              </a:ext>
            </a:extLst>
          </p:cNvPr>
          <p:cNvSpPr>
            <a:spLocks noGrp="1"/>
          </p:cNvSpPr>
          <p:nvPr>
            <p:ph type="ctrTitle"/>
          </p:nvPr>
        </p:nvSpPr>
        <p:spPr/>
        <p:txBody>
          <a:bodyPr/>
          <a:lstStyle/>
          <a:p>
            <a:r>
              <a:rPr lang="en-US" dirty="0"/>
              <a:t>Grids and Pipes</a:t>
            </a:r>
          </a:p>
        </p:txBody>
      </p:sp>
      <p:sp>
        <p:nvSpPr>
          <p:cNvPr id="3" name="Subtitle 2">
            <a:extLst>
              <a:ext uri="{FF2B5EF4-FFF2-40B4-BE49-F238E27FC236}">
                <a16:creationId xmlns:a16="http://schemas.microsoft.com/office/drawing/2014/main" id="{E5A9FF99-AD19-DE49-A6EA-36CB10813D3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98952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0B66-1F2C-334C-861A-AB1A1DF68A3E}"/>
              </a:ext>
            </a:extLst>
          </p:cNvPr>
          <p:cNvSpPr>
            <a:spLocks noGrp="1"/>
          </p:cNvSpPr>
          <p:nvPr>
            <p:ph type="title"/>
          </p:nvPr>
        </p:nvSpPr>
        <p:spPr/>
        <p:txBody>
          <a:bodyPr/>
          <a:lstStyle/>
          <a:p>
            <a:r>
              <a:rPr lang="en-US" dirty="0"/>
              <a:t>Hyperparameters</a:t>
            </a:r>
          </a:p>
        </p:txBody>
      </p:sp>
      <p:sp>
        <p:nvSpPr>
          <p:cNvPr id="3" name="Content Placeholder 2">
            <a:extLst>
              <a:ext uri="{FF2B5EF4-FFF2-40B4-BE49-F238E27FC236}">
                <a16:creationId xmlns:a16="http://schemas.microsoft.com/office/drawing/2014/main" id="{38EA68BA-23B2-4041-8B7C-7F3DDE245056}"/>
              </a:ext>
            </a:extLst>
          </p:cNvPr>
          <p:cNvSpPr>
            <a:spLocks noGrp="1"/>
          </p:cNvSpPr>
          <p:nvPr>
            <p:ph idx="1"/>
          </p:nvPr>
        </p:nvSpPr>
        <p:spPr>
          <a:xfrm>
            <a:off x="1451579" y="2015732"/>
            <a:ext cx="9603275" cy="3877992"/>
          </a:xfrm>
        </p:spPr>
        <p:txBody>
          <a:bodyPr/>
          <a:lstStyle/>
          <a:p>
            <a:r>
              <a:rPr lang="en-US" dirty="0"/>
              <a:t>We looked at using hyperparameters to make accurate models. </a:t>
            </a:r>
          </a:p>
          <a:p>
            <a:r>
              <a:rPr lang="en-US" dirty="0"/>
              <a:t>Each algorithm has different hyperparameters. </a:t>
            </a:r>
          </a:p>
          <a:p>
            <a:r>
              <a:rPr lang="en-US" dirty="0"/>
              <a:t>Hyperparameters are variables set ahead of time that control the training process. </a:t>
            </a:r>
          </a:p>
          <a:p>
            <a:pPr lvl="1"/>
            <a:r>
              <a:rPr lang="en-US" dirty="0"/>
              <a:t>Parameters are what the model learns. In a tree, the split points and order. </a:t>
            </a:r>
          </a:p>
          <a:p>
            <a:r>
              <a:rPr lang="en-US" dirty="0"/>
              <a:t>We can’t evaluate optimal HP ahead of time, we need to set them and see the results. </a:t>
            </a:r>
          </a:p>
          <a:p>
            <a:pPr lvl="1"/>
            <a:r>
              <a:rPr lang="en-US" dirty="0"/>
              <a:t>With many hyperparameters, they tend not to be independent. </a:t>
            </a:r>
          </a:p>
          <a:p>
            <a:pPr lvl="1"/>
            <a:r>
              <a:rPr lang="en-US" dirty="0"/>
              <a:t>Trial and error! </a:t>
            </a:r>
          </a:p>
          <a:p>
            <a:endParaRPr lang="en-US" dirty="0"/>
          </a:p>
        </p:txBody>
      </p:sp>
    </p:spTree>
    <p:extLst>
      <p:ext uri="{BB962C8B-B14F-4D97-AF65-F5344CB8AC3E}">
        <p14:creationId xmlns:p14="http://schemas.microsoft.com/office/powerpoint/2010/main" val="3573903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B97F6-817D-1427-2123-476684C40D72}"/>
              </a:ext>
            </a:extLst>
          </p:cNvPr>
          <p:cNvSpPr>
            <a:spLocks noGrp="1"/>
          </p:cNvSpPr>
          <p:nvPr>
            <p:ph type="title"/>
          </p:nvPr>
        </p:nvSpPr>
        <p:spPr/>
        <p:txBody>
          <a:bodyPr/>
          <a:lstStyle/>
          <a:p>
            <a:r>
              <a:rPr lang="en-US" dirty="0"/>
              <a:t>Tuning a model</a:t>
            </a:r>
          </a:p>
        </p:txBody>
      </p:sp>
      <p:sp>
        <p:nvSpPr>
          <p:cNvPr id="3" name="Content Placeholder 2">
            <a:extLst>
              <a:ext uri="{FF2B5EF4-FFF2-40B4-BE49-F238E27FC236}">
                <a16:creationId xmlns:a16="http://schemas.microsoft.com/office/drawing/2014/main" id="{CB26749A-D830-A266-DF1F-67DC6517B00B}"/>
              </a:ext>
            </a:extLst>
          </p:cNvPr>
          <p:cNvSpPr>
            <a:spLocks noGrp="1"/>
          </p:cNvSpPr>
          <p:nvPr>
            <p:ph idx="1"/>
          </p:nvPr>
        </p:nvSpPr>
        <p:spPr>
          <a:xfrm>
            <a:off x="669073" y="1853754"/>
            <a:ext cx="7833739" cy="4199727"/>
          </a:xfrm>
        </p:spPr>
        <p:txBody>
          <a:bodyPr/>
          <a:lstStyle/>
          <a:p>
            <a:r>
              <a:rPr lang="en-US" dirty="0"/>
              <a:t>When we make a model, we need to make it to see how good it is. </a:t>
            </a:r>
          </a:p>
          <a:p>
            <a:pPr lvl="1"/>
            <a:r>
              <a:rPr lang="en-US" dirty="0"/>
              <a:t>With hyperparameters we often don’t really have a good idea what to pick. </a:t>
            </a:r>
          </a:p>
          <a:p>
            <a:r>
              <a:rPr lang="en-US" dirty="0"/>
              <a:t>However, making a bunch of trials and comparing the results is boring. </a:t>
            </a:r>
          </a:p>
          <a:p>
            <a:pPr lvl="1"/>
            <a:r>
              <a:rPr lang="en-US" dirty="0"/>
              <a:t>Programmers are lazy!</a:t>
            </a:r>
          </a:p>
          <a:p>
            <a:pPr lvl="1"/>
            <a:r>
              <a:rPr lang="en-US" dirty="0"/>
              <a:t>Loops work, but they are repetitive and annoying to do. </a:t>
            </a:r>
          </a:p>
          <a:p>
            <a:r>
              <a:rPr lang="en-US" dirty="0"/>
              <a:t>We can automate this, test several trials, and just pick the best result. </a:t>
            </a:r>
          </a:p>
          <a:p>
            <a:pPr lvl="1"/>
            <a:r>
              <a:rPr lang="en-US" dirty="0"/>
              <a:t>Repeat the exact same training and evaluation process. </a:t>
            </a:r>
          </a:p>
          <a:p>
            <a:pPr lvl="1"/>
            <a:r>
              <a:rPr lang="en-US" dirty="0"/>
              <a:t>On each repetition, try a different selection of hyperparameters. </a:t>
            </a:r>
          </a:p>
          <a:p>
            <a:r>
              <a:rPr lang="en-US" dirty="0"/>
              <a:t>Process is always the same, or template-able, so we can automate. </a:t>
            </a:r>
          </a:p>
        </p:txBody>
      </p:sp>
      <p:pic>
        <p:nvPicPr>
          <p:cNvPr id="4" name="Picture 3">
            <a:extLst>
              <a:ext uri="{FF2B5EF4-FFF2-40B4-BE49-F238E27FC236}">
                <a16:creationId xmlns:a16="http://schemas.microsoft.com/office/drawing/2014/main" id="{590C3B82-BB3C-CE52-B102-3D8D5836C55E}"/>
              </a:ext>
            </a:extLst>
          </p:cNvPr>
          <p:cNvPicPr>
            <a:picLocks noChangeAspect="1"/>
          </p:cNvPicPr>
          <p:nvPr/>
        </p:nvPicPr>
        <p:blipFill>
          <a:blip r:embed="rId2"/>
          <a:stretch>
            <a:fillRect/>
          </a:stretch>
        </p:blipFill>
        <p:spPr>
          <a:xfrm>
            <a:off x="8502812" y="713677"/>
            <a:ext cx="3549882" cy="4583151"/>
          </a:xfrm>
          <a:prstGeom prst="rect">
            <a:avLst/>
          </a:prstGeom>
        </p:spPr>
      </p:pic>
    </p:spTree>
    <p:extLst>
      <p:ext uri="{BB962C8B-B14F-4D97-AF65-F5344CB8AC3E}">
        <p14:creationId xmlns:p14="http://schemas.microsoft.com/office/powerpoint/2010/main" val="486346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F13F9-9798-1342-9890-739B07B65201}"/>
              </a:ext>
            </a:extLst>
          </p:cNvPr>
          <p:cNvSpPr>
            <a:spLocks noGrp="1"/>
          </p:cNvSpPr>
          <p:nvPr>
            <p:ph type="title"/>
          </p:nvPr>
        </p:nvSpPr>
        <p:spPr/>
        <p:txBody>
          <a:bodyPr/>
          <a:lstStyle/>
          <a:p>
            <a:r>
              <a:rPr lang="en-US" dirty="0"/>
              <a:t>Grid Search</a:t>
            </a:r>
          </a:p>
        </p:txBody>
      </p:sp>
      <p:sp>
        <p:nvSpPr>
          <p:cNvPr id="3" name="Content Placeholder 2">
            <a:extLst>
              <a:ext uri="{FF2B5EF4-FFF2-40B4-BE49-F238E27FC236}">
                <a16:creationId xmlns:a16="http://schemas.microsoft.com/office/drawing/2014/main" id="{E00C4EB6-4FB4-0A49-84EF-245ACB6E4B6D}"/>
              </a:ext>
            </a:extLst>
          </p:cNvPr>
          <p:cNvSpPr>
            <a:spLocks noGrp="1"/>
          </p:cNvSpPr>
          <p:nvPr>
            <p:ph idx="1"/>
          </p:nvPr>
        </p:nvSpPr>
        <p:spPr>
          <a:xfrm>
            <a:off x="1451579" y="1853754"/>
            <a:ext cx="9603275" cy="4199727"/>
          </a:xfrm>
        </p:spPr>
        <p:txBody>
          <a:bodyPr/>
          <a:lstStyle/>
          <a:p>
            <a:r>
              <a:rPr lang="en-US" dirty="0"/>
              <a:t>We could loop through different combinations of HPs and collect scores. </a:t>
            </a:r>
          </a:p>
          <a:p>
            <a:pPr lvl="1"/>
            <a:r>
              <a:rPr lang="en-US" dirty="0"/>
              <a:t>Complex and clumsy – multiple nested loops. </a:t>
            </a:r>
          </a:p>
          <a:p>
            <a:r>
              <a:rPr lang="en-US" dirty="0" err="1"/>
              <a:t>Sklearn</a:t>
            </a:r>
            <a:r>
              <a:rPr lang="en-US" dirty="0"/>
              <a:t> provides a simplification – </a:t>
            </a:r>
            <a:r>
              <a:rPr lang="en-US" dirty="0" err="1"/>
              <a:t>GridSearchCV</a:t>
            </a:r>
            <a:r>
              <a:rPr lang="en-US" dirty="0"/>
              <a:t>. </a:t>
            </a:r>
          </a:p>
          <a:p>
            <a:r>
              <a:rPr lang="en-US" dirty="0"/>
              <a:t>Grid search takes a list of HP values we want to try, checks every combination, and returns the best model. </a:t>
            </a:r>
          </a:p>
          <a:p>
            <a:r>
              <a:rPr lang="en-US" dirty="0"/>
              <a:t>Same result of looping through each value. </a:t>
            </a:r>
          </a:p>
          <a:p>
            <a:r>
              <a:rPr lang="en-US" dirty="0"/>
              <a:t>Also a randomized version – for when we have no idea what HP values may work. </a:t>
            </a:r>
          </a:p>
          <a:p>
            <a:pPr lvl="1"/>
            <a:r>
              <a:rPr lang="en-US" dirty="0"/>
              <a:t>Concept of searching HP values is common, there are several approaches. </a:t>
            </a:r>
          </a:p>
          <a:p>
            <a:r>
              <a:rPr lang="en-US" dirty="0"/>
              <a:t>CV = cross validation….</a:t>
            </a:r>
          </a:p>
        </p:txBody>
      </p:sp>
    </p:spTree>
    <p:extLst>
      <p:ext uri="{BB962C8B-B14F-4D97-AF65-F5344CB8AC3E}">
        <p14:creationId xmlns:p14="http://schemas.microsoft.com/office/powerpoint/2010/main" val="1801966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48F2-81D0-8245-B30B-AACA1A4507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DEFB1E-D96B-9841-8081-947CC14EA912}"/>
              </a:ext>
            </a:extLst>
          </p:cNvPr>
          <p:cNvSpPr>
            <a:spLocks noGrp="1"/>
          </p:cNvSpPr>
          <p:nvPr>
            <p:ph idx="1"/>
          </p:nvPr>
        </p:nvSpPr>
        <p:spPr/>
        <p:txBody>
          <a:bodyPr/>
          <a:lstStyle/>
          <a:p>
            <a:endParaRPr lang="en-US"/>
          </a:p>
        </p:txBody>
      </p:sp>
      <p:pic>
        <p:nvPicPr>
          <p:cNvPr id="1026" name="Picture 2" descr="Hyperparameter tuning using Grid Search and Random Search: A Conceptual  Guide | by Jack Stalfort | Medium">
            <a:extLst>
              <a:ext uri="{FF2B5EF4-FFF2-40B4-BE49-F238E27FC236}">
                <a16:creationId xmlns:a16="http://schemas.microsoft.com/office/drawing/2014/main" id="{4B079130-CD8E-1749-8C90-2A8B5BA193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0525"/>
            <a:ext cx="12192000" cy="607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90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C333-55C6-BD8D-749C-E3BCB3E4679D}"/>
              </a:ext>
            </a:extLst>
          </p:cNvPr>
          <p:cNvSpPr>
            <a:spLocks noGrp="1"/>
          </p:cNvSpPr>
          <p:nvPr>
            <p:ph type="title"/>
          </p:nvPr>
        </p:nvSpPr>
        <p:spPr>
          <a:xfrm>
            <a:off x="1451579" y="804519"/>
            <a:ext cx="9603275" cy="1049235"/>
          </a:xfrm>
        </p:spPr>
        <p:txBody>
          <a:bodyPr>
            <a:normAutofit/>
          </a:bodyPr>
          <a:lstStyle/>
          <a:p>
            <a:r>
              <a:rPr lang="en-US" dirty="0"/>
              <a:t>Hyperparameters</a:t>
            </a:r>
          </a:p>
        </p:txBody>
      </p:sp>
      <p:pic>
        <p:nvPicPr>
          <p:cNvPr id="1026" name="Picture 2" descr="python 3.x - Optimizing SVR() parameters using GridSearchCv - Stack Overflow">
            <a:extLst>
              <a:ext uri="{FF2B5EF4-FFF2-40B4-BE49-F238E27FC236}">
                <a16:creationId xmlns:a16="http://schemas.microsoft.com/office/drawing/2014/main" id="{5ECF7045-1B99-9B77-FDC6-282963948E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290"/>
          <a:stretch/>
        </p:blipFill>
        <p:spPr bwMode="auto">
          <a:xfrm>
            <a:off x="0" y="2360931"/>
            <a:ext cx="6096000" cy="29155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9DE95DB-6427-C72C-838E-DCF994837D1D}"/>
              </a:ext>
            </a:extLst>
          </p:cNvPr>
          <p:cNvSpPr>
            <a:spLocks noGrp="1"/>
          </p:cNvSpPr>
          <p:nvPr>
            <p:ph idx="1"/>
          </p:nvPr>
        </p:nvSpPr>
        <p:spPr>
          <a:xfrm>
            <a:off x="6096000" y="2015734"/>
            <a:ext cx="6096001" cy="4037747"/>
          </a:xfrm>
        </p:spPr>
        <p:txBody>
          <a:bodyPr>
            <a:normAutofit/>
          </a:bodyPr>
          <a:lstStyle/>
          <a:p>
            <a:r>
              <a:rPr lang="en-US" dirty="0"/>
              <a:t>The grid search takes in a list of values to try for each parameter you want to change.</a:t>
            </a:r>
          </a:p>
          <a:p>
            <a:r>
              <a:rPr lang="en-US" dirty="0"/>
              <a:t>A model is made for each combination of parameters that you provide. </a:t>
            </a:r>
          </a:p>
          <a:p>
            <a:pPr lvl="1"/>
            <a:r>
              <a:rPr lang="en-US" dirty="0"/>
              <a:t>Can become a time issue with large sets. </a:t>
            </a:r>
          </a:p>
          <a:p>
            <a:pPr lvl="1"/>
            <a:r>
              <a:rPr lang="en-US" dirty="0"/>
              <a:t>Every model has different possible HP choices. </a:t>
            </a:r>
          </a:p>
          <a:p>
            <a:r>
              <a:rPr lang="en-US" dirty="0"/>
              <a:t>The GSCV object works just like a pipe in code.</a:t>
            </a:r>
          </a:p>
          <a:p>
            <a:r>
              <a:rPr lang="en-US" dirty="0"/>
              <a:t>Results in the best performing model of those tried. </a:t>
            </a:r>
          </a:p>
          <a:p>
            <a:pPr lvl="1"/>
            <a:r>
              <a:rPr lang="en-US" dirty="0"/>
              <a:t>We can specify a scoring metric, or take default. </a:t>
            </a:r>
          </a:p>
        </p:txBody>
      </p:sp>
    </p:spTree>
    <p:extLst>
      <p:ext uri="{BB962C8B-B14F-4D97-AF65-F5344CB8AC3E}">
        <p14:creationId xmlns:p14="http://schemas.microsoft.com/office/powerpoint/2010/main" val="966754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BE41-E786-902C-7AB8-79C1DE80533D}"/>
              </a:ext>
            </a:extLst>
          </p:cNvPr>
          <p:cNvSpPr>
            <a:spLocks noGrp="1"/>
          </p:cNvSpPr>
          <p:nvPr>
            <p:ph type="title"/>
          </p:nvPr>
        </p:nvSpPr>
        <p:spPr/>
        <p:txBody>
          <a:bodyPr/>
          <a:lstStyle/>
          <a:p>
            <a:r>
              <a:rPr lang="en-US" dirty="0"/>
              <a:t>Grid Usage</a:t>
            </a:r>
          </a:p>
        </p:txBody>
      </p:sp>
      <p:sp>
        <p:nvSpPr>
          <p:cNvPr id="3" name="Content Placeholder 2">
            <a:extLst>
              <a:ext uri="{FF2B5EF4-FFF2-40B4-BE49-F238E27FC236}">
                <a16:creationId xmlns:a16="http://schemas.microsoft.com/office/drawing/2014/main" id="{378CBF58-40EA-90BF-CC12-A75E42456509}"/>
              </a:ext>
            </a:extLst>
          </p:cNvPr>
          <p:cNvSpPr>
            <a:spLocks noGrp="1"/>
          </p:cNvSpPr>
          <p:nvPr>
            <p:ph idx="1"/>
          </p:nvPr>
        </p:nvSpPr>
        <p:spPr>
          <a:xfrm>
            <a:off x="1451579" y="1853754"/>
            <a:ext cx="9603275" cy="4318446"/>
          </a:xfrm>
        </p:spPr>
        <p:txBody>
          <a:bodyPr/>
          <a:lstStyle/>
          <a:p>
            <a:r>
              <a:rPr lang="en-US" dirty="0"/>
              <a:t>The grid search will automate the trials that we’d have to do manually. </a:t>
            </a:r>
          </a:p>
          <a:p>
            <a:r>
              <a:rPr lang="en-US" dirty="0"/>
              <a:t>We get the best model of all possibilities. </a:t>
            </a:r>
          </a:p>
          <a:p>
            <a:pPr lvl="1"/>
            <a:r>
              <a:rPr lang="en-US" dirty="0"/>
              <a:t>We are still limited by providing a non-massive good set of options, which isn’t always clear. </a:t>
            </a:r>
          </a:p>
          <a:p>
            <a:r>
              <a:rPr lang="en-US" dirty="0"/>
              <a:t>There are other approaches to this automated testing process that can be smarter. </a:t>
            </a:r>
          </a:p>
          <a:p>
            <a:pPr lvl="1"/>
            <a:r>
              <a:rPr lang="en-US" dirty="0"/>
              <a:t>Some things have large numbers of possible options, or wide ranges for numerical HPs. </a:t>
            </a:r>
          </a:p>
          <a:p>
            <a:pPr lvl="1"/>
            <a:r>
              <a:rPr lang="en-US" dirty="0"/>
              <a:t>We generally don’t know exactly what a good set of things to try is. </a:t>
            </a:r>
          </a:p>
          <a:p>
            <a:pPr lvl="1"/>
            <a:r>
              <a:rPr lang="en-US" dirty="0"/>
              <a:t>For numerical values, dialing into an exact value is even more challenging. </a:t>
            </a:r>
          </a:p>
          <a:p>
            <a:pPr lvl="1"/>
            <a:r>
              <a:rPr lang="en-US" dirty="0"/>
              <a:t>Randomized search will try random values – good if we have no real idea. </a:t>
            </a:r>
          </a:p>
          <a:p>
            <a:pPr lvl="1"/>
            <a:r>
              <a:rPr lang="en-US" dirty="0"/>
              <a:t>Halving grid search in </a:t>
            </a:r>
            <a:r>
              <a:rPr lang="en-US" dirty="0" err="1"/>
              <a:t>sklearn</a:t>
            </a:r>
            <a:r>
              <a:rPr lang="en-US" dirty="0"/>
              <a:t> uses a smarter approach to find good combinations. </a:t>
            </a:r>
          </a:p>
          <a:p>
            <a:r>
              <a:rPr lang="en-US" dirty="0"/>
              <a:t>We can get information out of the GSCV after training by grabbing its attributes. </a:t>
            </a:r>
          </a:p>
        </p:txBody>
      </p:sp>
    </p:spTree>
    <p:extLst>
      <p:ext uri="{BB962C8B-B14F-4D97-AF65-F5344CB8AC3E}">
        <p14:creationId xmlns:p14="http://schemas.microsoft.com/office/powerpoint/2010/main" val="1466301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81C9-241D-CD8C-8ED2-83B4ADCACB98}"/>
              </a:ext>
            </a:extLst>
          </p:cNvPr>
          <p:cNvSpPr>
            <a:spLocks noGrp="1"/>
          </p:cNvSpPr>
          <p:nvPr>
            <p:ph type="title"/>
          </p:nvPr>
        </p:nvSpPr>
        <p:spPr/>
        <p:txBody>
          <a:bodyPr/>
          <a:lstStyle/>
          <a:p>
            <a:r>
              <a:rPr lang="en-US" dirty="0"/>
              <a:t>Grids and Pipes</a:t>
            </a:r>
          </a:p>
        </p:txBody>
      </p:sp>
      <p:sp>
        <p:nvSpPr>
          <p:cNvPr id="3" name="Content Placeholder 2">
            <a:extLst>
              <a:ext uri="{FF2B5EF4-FFF2-40B4-BE49-F238E27FC236}">
                <a16:creationId xmlns:a16="http://schemas.microsoft.com/office/drawing/2014/main" id="{77E34CAC-A722-6F8F-37B1-7FE90B9B92B2}"/>
              </a:ext>
            </a:extLst>
          </p:cNvPr>
          <p:cNvSpPr>
            <a:spLocks noGrp="1"/>
          </p:cNvSpPr>
          <p:nvPr>
            <p:ph idx="1"/>
          </p:nvPr>
        </p:nvSpPr>
        <p:spPr>
          <a:xfrm>
            <a:off x="0" y="1853754"/>
            <a:ext cx="4992688" cy="4199727"/>
          </a:xfrm>
        </p:spPr>
        <p:txBody>
          <a:bodyPr/>
          <a:lstStyle/>
          <a:p>
            <a:r>
              <a:rPr lang="en-US" dirty="0"/>
              <a:t>This example is a (too) complex one. </a:t>
            </a:r>
          </a:p>
          <a:p>
            <a:r>
              <a:rPr lang="en-US" dirty="0"/>
              <a:t>Important:</a:t>
            </a:r>
          </a:p>
          <a:p>
            <a:pPr lvl="1"/>
            <a:r>
              <a:rPr lang="en-US" dirty="0"/>
              <a:t>We can refer to items by name. </a:t>
            </a:r>
          </a:p>
          <a:p>
            <a:pPr lvl="1"/>
            <a:r>
              <a:rPr lang="en-US" dirty="0"/>
              <a:t>Each ‘layer’ is separated by a double underscore. </a:t>
            </a:r>
          </a:p>
          <a:p>
            <a:pPr lvl="1"/>
            <a:r>
              <a:rPr lang="en-US" dirty="0"/>
              <a:t>We can access any hyperparameter this way. </a:t>
            </a:r>
          </a:p>
          <a:p>
            <a:pPr lvl="1"/>
            <a:r>
              <a:rPr lang="en-US" dirty="0"/>
              <a:t>This can be any # of layers deep, each layer just adds a double underscore. </a:t>
            </a:r>
          </a:p>
          <a:p>
            <a:r>
              <a:rPr lang="en-US" dirty="0"/>
              <a:t>We can also tell the grid search to use different error metrics – f1, recall, </a:t>
            </a:r>
            <a:r>
              <a:rPr lang="en-US" dirty="0" err="1"/>
              <a:t>etc</a:t>
            </a:r>
            <a:r>
              <a:rPr lang="en-US" dirty="0"/>
              <a:t>…</a:t>
            </a:r>
          </a:p>
        </p:txBody>
      </p:sp>
      <p:pic>
        <p:nvPicPr>
          <p:cNvPr id="3074" name="Picture 2" descr="Kevin Markham on X: &quot;🤖⚡ scikit-learn tip #49: You can tune 2+ models using  the same grid search! Here's how: 1. Create multiple parameter dictionaries  2. Specify the model within each dictionary">
            <a:extLst>
              <a:ext uri="{FF2B5EF4-FFF2-40B4-BE49-F238E27FC236}">
                <a16:creationId xmlns:a16="http://schemas.microsoft.com/office/drawing/2014/main" id="{92671C52-E636-2FE2-E601-4DE723EF1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2687" y="0"/>
            <a:ext cx="71993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322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C75F3-3F2C-8D8A-51B4-AFA274DE84CD}"/>
              </a:ext>
            </a:extLst>
          </p:cNvPr>
          <p:cNvSpPr>
            <a:spLocks noGrp="1"/>
          </p:cNvSpPr>
          <p:nvPr>
            <p:ph type="title"/>
          </p:nvPr>
        </p:nvSpPr>
        <p:spPr/>
        <p:txBody>
          <a:bodyPr/>
          <a:lstStyle/>
          <a:p>
            <a:r>
              <a:rPr lang="en-US" dirty="0"/>
              <a:t>Measuring Results</a:t>
            </a:r>
          </a:p>
        </p:txBody>
      </p:sp>
      <p:sp>
        <p:nvSpPr>
          <p:cNvPr id="3" name="Content Placeholder 2">
            <a:extLst>
              <a:ext uri="{FF2B5EF4-FFF2-40B4-BE49-F238E27FC236}">
                <a16:creationId xmlns:a16="http://schemas.microsoft.com/office/drawing/2014/main" id="{A4064B8C-03BD-AD68-A540-78B12F337CCF}"/>
              </a:ext>
            </a:extLst>
          </p:cNvPr>
          <p:cNvSpPr>
            <a:spLocks noGrp="1"/>
          </p:cNvSpPr>
          <p:nvPr>
            <p:ph idx="1"/>
          </p:nvPr>
        </p:nvSpPr>
        <p:spPr/>
        <p:txBody>
          <a:bodyPr/>
          <a:lstStyle/>
          <a:p>
            <a:r>
              <a:rPr lang="en-US" dirty="0"/>
              <a:t>The grid search will build each model that you specify and capture the results. </a:t>
            </a:r>
          </a:p>
          <a:p>
            <a:r>
              <a:rPr lang="en-US" dirty="0"/>
              <a:t>The results are tabulated from the test data. </a:t>
            </a:r>
          </a:p>
          <a:p>
            <a:pPr lvl="1"/>
            <a:r>
              <a:rPr lang="en-US" dirty="0"/>
              <a:t>We have several trials of each model, to ensure accuracy…</a:t>
            </a:r>
          </a:p>
          <a:p>
            <a:r>
              <a:rPr lang="en-US" dirty="0"/>
              <a:t>We can get the model directly from the </a:t>
            </a:r>
            <a:r>
              <a:rPr lang="en-US" dirty="0" err="1"/>
              <a:t>gridsearch</a:t>
            </a:r>
            <a:r>
              <a:rPr lang="en-US" dirty="0"/>
              <a:t>. </a:t>
            </a:r>
          </a:p>
          <a:p>
            <a:pPr lvl="1"/>
            <a:r>
              <a:rPr lang="en-US" dirty="0"/>
              <a:t>Could also get hp values, or other info. </a:t>
            </a:r>
          </a:p>
        </p:txBody>
      </p:sp>
    </p:spTree>
    <p:extLst>
      <p:ext uri="{BB962C8B-B14F-4D97-AF65-F5344CB8AC3E}">
        <p14:creationId xmlns:p14="http://schemas.microsoft.com/office/powerpoint/2010/main" val="162911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08F73-ECBC-A742-A24C-FC86683D7927}"/>
              </a:ext>
            </a:extLst>
          </p:cNvPr>
          <p:cNvSpPr>
            <a:spLocks noGrp="1"/>
          </p:cNvSpPr>
          <p:nvPr>
            <p:ph type="title"/>
          </p:nvPr>
        </p:nvSpPr>
        <p:spPr/>
        <p:txBody>
          <a:bodyPr/>
          <a:lstStyle/>
          <a:p>
            <a:r>
              <a:rPr lang="en-US" dirty="0"/>
              <a:t>Train-Test Split</a:t>
            </a:r>
          </a:p>
        </p:txBody>
      </p:sp>
      <p:sp>
        <p:nvSpPr>
          <p:cNvPr id="3" name="Content Placeholder 2">
            <a:extLst>
              <a:ext uri="{FF2B5EF4-FFF2-40B4-BE49-F238E27FC236}">
                <a16:creationId xmlns:a16="http://schemas.microsoft.com/office/drawing/2014/main" id="{EF86B73C-2EF1-8D40-9C71-E086225228AB}"/>
              </a:ext>
            </a:extLst>
          </p:cNvPr>
          <p:cNvSpPr>
            <a:spLocks noGrp="1"/>
          </p:cNvSpPr>
          <p:nvPr>
            <p:ph idx="1"/>
          </p:nvPr>
        </p:nvSpPr>
        <p:spPr>
          <a:xfrm>
            <a:off x="1451579" y="1853754"/>
            <a:ext cx="9603275" cy="4199727"/>
          </a:xfrm>
        </p:spPr>
        <p:txBody>
          <a:bodyPr>
            <a:normAutofit/>
          </a:bodyPr>
          <a:lstStyle/>
          <a:p>
            <a:r>
              <a:rPr lang="en-US" dirty="0"/>
              <a:t>We are used to splitting data when building models:</a:t>
            </a:r>
          </a:p>
          <a:p>
            <a:pPr lvl="1"/>
            <a:r>
              <a:rPr lang="en-US" dirty="0"/>
              <a:t>Training data (~75%) used to create the predictive model. </a:t>
            </a:r>
          </a:p>
          <a:p>
            <a:pPr lvl="1"/>
            <a:r>
              <a:rPr lang="en-US" dirty="0"/>
              <a:t>Testing data (~25%) used to evaluate the accuracy of the model. </a:t>
            </a:r>
          </a:p>
          <a:p>
            <a:r>
              <a:rPr lang="en-US" dirty="0"/>
              <a:t>This split allows us to accurately assess the accuracy on “new” data. </a:t>
            </a:r>
          </a:p>
          <a:p>
            <a:pPr lvl="1"/>
            <a:r>
              <a:rPr lang="en-US" dirty="0"/>
              <a:t>As we can see with trees, training accuracy isn’t the best metric. </a:t>
            </a:r>
          </a:p>
          <a:p>
            <a:r>
              <a:rPr lang="en-US" dirty="0"/>
              <a:t>The split amounts can change, generally bigger data = smaller test data split. </a:t>
            </a:r>
          </a:p>
          <a:p>
            <a:r>
              <a:rPr lang="en-US" dirty="0"/>
              <a:t>Problem – random splits in the data can lead to variance in results:</a:t>
            </a:r>
          </a:p>
          <a:p>
            <a:pPr lvl="1"/>
            <a:r>
              <a:rPr lang="en-US" dirty="0"/>
              <a:t>Think of drastically different trees we get when data is split differently.</a:t>
            </a:r>
          </a:p>
          <a:p>
            <a:pPr lvl="1"/>
            <a:r>
              <a:rPr lang="en-US" dirty="0"/>
              <a:t>We hate variance, we’re too OCD!</a:t>
            </a:r>
          </a:p>
        </p:txBody>
      </p:sp>
      <p:pic>
        <p:nvPicPr>
          <p:cNvPr id="1026" name="Picture 2" descr="Train Test Split: What it Means and How to Use It | Built In">
            <a:extLst>
              <a:ext uri="{FF2B5EF4-FFF2-40B4-BE49-F238E27FC236}">
                <a16:creationId xmlns:a16="http://schemas.microsoft.com/office/drawing/2014/main" id="{518EE349-1D72-BDD6-C1F1-A12288F54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3492" y="69404"/>
            <a:ext cx="5143500" cy="178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547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17717-D4C2-7820-246C-C813712C5D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D26543-9768-4FC6-5E05-6F4C5D2F03DE}"/>
              </a:ext>
            </a:extLst>
          </p:cNvPr>
          <p:cNvSpPr>
            <a:spLocks noGrp="1"/>
          </p:cNvSpPr>
          <p:nvPr>
            <p:ph idx="1"/>
          </p:nvPr>
        </p:nvSpPr>
        <p:spPr/>
        <p:txBody>
          <a:bodyPr/>
          <a:lstStyle/>
          <a:p>
            <a:endParaRPr lang="en-US"/>
          </a:p>
        </p:txBody>
      </p:sp>
      <p:pic>
        <p:nvPicPr>
          <p:cNvPr id="2050" name="Picture 2" descr="K-fold Cross-validation - Shiksha Online">
            <a:extLst>
              <a:ext uri="{FF2B5EF4-FFF2-40B4-BE49-F238E27FC236}">
                <a16:creationId xmlns:a16="http://schemas.microsoft.com/office/drawing/2014/main" id="{D1F1C324-45E3-9B80-E87C-9723B1DC1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1219200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147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BC97-342B-364B-A65F-4714E9B96CC8}"/>
              </a:ext>
            </a:extLst>
          </p:cNvPr>
          <p:cNvSpPr>
            <a:spLocks noGrp="1"/>
          </p:cNvSpPr>
          <p:nvPr>
            <p:ph type="title"/>
          </p:nvPr>
        </p:nvSpPr>
        <p:spPr/>
        <p:txBody>
          <a:bodyPr/>
          <a:lstStyle/>
          <a:p>
            <a:r>
              <a:rPr lang="en-US" dirty="0"/>
              <a:t>Cross Validation</a:t>
            </a:r>
          </a:p>
        </p:txBody>
      </p:sp>
      <p:sp>
        <p:nvSpPr>
          <p:cNvPr id="3" name="Content Placeholder 2">
            <a:extLst>
              <a:ext uri="{FF2B5EF4-FFF2-40B4-BE49-F238E27FC236}">
                <a16:creationId xmlns:a16="http://schemas.microsoft.com/office/drawing/2014/main" id="{FE367509-85C1-4F4F-9E79-062EB68C1546}"/>
              </a:ext>
            </a:extLst>
          </p:cNvPr>
          <p:cNvSpPr>
            <a:spLocks noGrp="1"/>
          </p:cNvSpPr>
          <p:nvPr>
            <p:ph idx="1"/>
          </p:nvPr>
        </p:nvSpPr>
        <p:spPr>
          <a:xfrm>
            <a:off x="1451579" y="1853754"/>
            <a:ext cx="9603275" cy="4199727"/>
          </a:xfrm>
        </p:spPr>
        <p:txBody>
          <a:bodyPr/>
          <a:lstStyle/>
          <a:p>
            <a:r>
              <a:rPr lang="en-US" dirty="0"/>
              <a:t>Cross validation addresses this problem by repeating the split concept repeatedly. </a:t>
            </a:r>
          </a:p>
          <a:p>
            <a:r>
              <a:rPr lang="en-US" dirty="0"/>
              <a:t>K-fold Cross Validation:</a:t>
            </a:r>
          </a:p>
          <a:p>
            <a:pPr lvl="1"/>
            <a:r>
              <a:rPr lang="en-US" dirty="0"/>
              <a:t>Randomly split the data into K subsets. </a:t>
            </a:r>
          </a:p>
          <a:p>
            <a:pPr lvl="1"/>
            <a:r>
              <a:rPr lang="en-US" dirty="0"/>
              <a:t>Use k-1 set for training data. </a:t>
            </a:r>
          </a:p>
          <a:p>
            <a:pPr lvl="1"/>
            <a:r>
              <a:rPr lang="en-US" dirty="0"/>
              <a:t>Use the other set for validation data. </a:t>
            </a:r>
          </a:p>
          <a:p>
            <a:pPr lvl="1"/>
            <a:r>
              <a:rPr lang="en-US" dirty="0"/>
              <a:t>Repeat for all K subsets. </a:t>
            </a:r>
          </a:p>
          <a:p>
            <a:pPr lvl="1"/>
            <a:r>
              <a:rPr lang="en-US" dirty="0"/>
              <a:t>Average results together. </a:t>
            </a:r>
          </a:p>
          <a:p>
            <a:r>
              <a:rPr lang="en-US" dirty="0"/>
              <a:t>Mitigates variation from data randomly in one set or the other. </a:t>
            </a:r>
          </a:p>
          <a:p>
            <a:r>
              <a:rPr lang="en-US" dirty="0"/>
              <a:t>K of 5 to 10 is typical (for smaller sets – as data grows, this can be limited by time). </a:t>
            </a:r>
          </a:p>
        </p:txBody>
      </p:sp>
    </p:spTree>
    <p:extLst>
      <p:ext uri="{BB962C8B-B14F-4D97-AF65-F5344CB8AC3E}">
        <p14:creationId xmlns:p14="http://schemas.microsoft.com/office/powerpoint/2010/main" val="225779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A3B9F-9172-A64F-BB0D-FBBC4C33E3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F18FDB6-8835-0543-9EFF-E3DCBCB058C1}"/>
              </a:ext>
            </a:extLst>
          </p:cNvPr>
          <p:cNvSpPr>
            <a:spLocks noGrp="1"/>
          </p:cNvSpPr>
          <p:nvPr>
            <p:ph idx="1"/>
          </p:nvPr>
        </p:nvSpPr>
        <p:spPr/>
        <p:txBody>
          <a:bodyPr/>
          <a:lstStyle/>
          <a:p>
            <a:endParaRPr lang="en-US"/>
          </a:p>
        </p:txBody>
      </p:sp>
      <p:pic>
        <p:nvPicPr>
          <p:cNvPr id="3074" name="Picture 2" descr="Cross-Validation ó GridSearchCV? - Stack Overflow en español">
            <a:extLst>
              <a:ext uri="{FF2B5EF4-FFF2-40B4-BE49-F238E27FC236}">
                <a16:creationId xmlns:a16="http://schemas.microsoft.com/office/drawing/2014/main" id="{E280AF27-99E9-0147-A6EB-99D1C9EDC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0"/>
            <a:ext cx="1205071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411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9F2DC-F780-9744-9CD0-A96E1EF491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6BEFAD-BD91-1D48-B3EE-0944C4A7EA6B}"/>
              </a:ext>
            </a:extLst>
          </p:cNvPr>
          <p:cNvSpPr>
            <a:spLocks noGrp="1"/>
          </p:cNvSpPr>
          <p:nvPr>
            <p:ph idx="1"/>
          </p:nvPr>
        </p:nvSpPr>
        <p:spPr/>
        <p:txBody>
          <a:bodyPr/>
          <a:lstStyle/>
          <a:p>
            <a:endParaRPr lang="en-US"/>
          </a:p>
        </p:txBody>
      </p:sp>
      <p:pic>
        <p:nvPicPr>
          <p:cNvPr id="2050" name="Picture 2" descr="k-fold cross-validation explained in plain English | by Rukshan Pramoditha  | Towards Data Science">
            <a:extLst>
              <a:ext uri="{FF2B5EF4-FFF2-40B4-BE49-F238E27FC236}">
                <a16:creationId xmlns:a16="http://schemas.microsoft.com/office/drawing/2014/main" id="{649B83FE-D053-8D4A-A67F-30F70B36F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600" y="0"/>
            <a:ext cx="8178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54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A0E9B-9C17-9045-8B4F-604ECD41830A}"/>
              </a:ext>
            </a:extLst>
          </p:cNvPr>
          <p:cNvSpPr>
            <a:spLocks noGrp="1"/>
          </p:cNvSpPr>
          <p:nvPr>
            <p:ph type="title"/>
          </p:nvPr>
        </p:nvSpPr>
        <p:spPr/>
        <p:txBody>
          <a:bodyPr/>
          <a:lstStyle/>
          <a:p>
            <a:r>
              <a:rPr lang="en-US" dirty="0"/>
              <a:t>Grid Search CV</a:t>
            </a:r>
          </a:p>
        </p:txBody>
      </p:sp>
      <p:sp>
        <p:nvSpPr>
          <p:cNvPr id="3" name="Content Placeholder 2">
            <a:extLst>
              <a:ext uri="{FF2B5EF4-FFF2-40B4-BE49-F238E27FC236}">
                <a16:creationId xmlns:a16="http://schemas.microsoft.com/office/drawing/2014/main" id="{FAB61C53-141F-A147-9728-E590A47A6326}"/>
              </a:ext>
            </a:extLst>
          </p:cNvPr>
          <p:cNvSpPr>
            <a:spLocks noGrp="1"/>
          </p:cNvSpPr>
          <p:nvPr>
            <p:ph idx="1"/>
          </p:nvPr>
        </p:nvSpPr>
        <p:spPr>
          <a:xfrm>
            <a:off x="1451579" y="1853754"/>
            <a:ext cx="9603275" cy="4199727"/>
          </a:xfrm>
        </p:spPr>
        <p:txBody>
          <a:bodyPr/>
          <a:lstStyle/>
          <a:p>
            <a:r>
              <a:rPr lang="en-US" dirty="0"/>
              <a:t>Grid Search CV combines these two into one simple call. </a:t>
            </a:r>
          </a:p>
          <a:p>
            <a:pPr lvl="1"/>
            <a:r>
              <a:rPr lang="en-US" dirty="0"/>
              <a:t>Test every HP combination.</a:t>
            </a:r>
          </a:p>
          <a:p>
            <a:pPr lvl="1"/>
            <a:r>
              <a:rPr lang="en-US" dirty="0"/>
              <a:t>Use cross validation to calculate scores. </a:t>
            </a:r>
          </a:p>
          <a:p>
            <a:pPr lvl="1"/>
            <a:r>
              <a:rPr lang="en-US" dirty="0"/>
              <a:t>Identify best model. </a:t>
            </a:r>
          </a:p>
          <a:p>
            <a:r>
              <a:rPr lang="en-US" dirty="0"/>
              <a:t>In place of one “normal” score we get the cross-validated score, and best HP combo. </a:t>
            </a:r>
          </a:p>
          <a:p>
            <a:r>
              <a:rPr lang="en-US" dirty="0"/>
              <a:t>Need to specify choices for HP in the grid (or use smart/random chooser). </a:t>
            </a:r>
          </a:p>
          <a:p>
            <a:r>
              <a:rPr lang="en-US" dirty="0"/>
              <a:t>This will give us an easy way to get the best model, within the range we define. </a:t>
            </a:r>
          </a:p>
          <a:p>
            <a:pPr lvl="1"/>
            <a:r>
              <a:rPr lang="en-US" dirty="0"/>
              <a:t>This may take a long time, so we still need to be kind of selective. </a:t>
            </a:r>
          </a:p>
          <a:p>
            <a:endParaRPr lang="en-US" dirty="0"/>
          </a:p>
        </p:txBody>
      </p:sp>
    </p:spTree>
    <p:extLst>
      <p:ext uri="{BB962C8B-B14F-4D97-AF65-F5344CB8AC3E}">
        <p14:creationId xmlns:p14="http://schemas.microsoft.com/office/powerpoint/2010/main" val="3385832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7F7E-1C79-29A9-1558-5C7E572F2C8D}"/>
              </a:ext>
            </a:extLst>
          </p:cNvPr>
          <p:cNvSpPr>
            <a:spLocks noGrp="1"/>
          </p:cNvSpPr>
          <p:nvPr>
            <p:ph type="title"/>
          </p:nvPr>
        </p:nvSpPr>
        <p:spPr/>
        <p:txBody>
          <a:bodyPr/>
          <a:lstStyle/>
          <a:p>
            <a:r>
              <a:rPr lang="en-US" dirty="0"/>
              <a:t>In Practice…</a:t>
            </a:r>
          </a:p>
        </p:txBody>
      </p:sp>
      <p:sp>
        <p:nvSpPr>
          <p:cNvPr id="3" name="Content Placeholder 2">
            <a:extLst>
              <a:ext uri="{FF2B5EF4-FFF2-40B4-BE49-F238E27FC236}">
                <a16:creationId xmlns:a16="http://schemas.microsoft.com/office/drawing/2014/main" id="{D67CE7CB-5CE3-6CBE-BC27-5A122BDEFBB4}"/>
              </a:ext>
            </a:extLst>
          </p:cNvPr>
          <p:cNvSpPr>
            <a:spLocks noGrp="1"/>
          </p:cNvSpPr>
          <p:nvPr>
            <p:ph idx="1"/>
          </p:nvPr>
        </p:nvSpPr>
        <p:spPr>
          <a:xfrm>
            <a:off x="1451579" y="1926772"/>
            <a:ext cx="9603275" cy="4126710"/>
          </a:xfrm>
        </p:spPr>
        <p:txBody>
          <a:bodyPr/>
          <a:lstStyle/>
          <a:p>
            <a:r>
              <a:rPr lang="en-US" dirty="0"/>
              <a:t>Grid search can be used to easily choose a good set of HP for your model. </a:t>
            </a:r>
          </a:p>
          <a:p>
            <a:r>
              <a:rPr lang="en-US" dirty="0"/>
              <a:t>Setup a grid of potential choices for HP:</a:t>
            </a:r>
          </a:p>
          <a:p>
            <a:pPr lvl="1"/>
            <a:r>
              <a:rPr lang="en-US" dirty="0"/>
              <a:t>This isn’t generally something we can know ahead of time, need to guess and test. </a:t>
            </a:r>
          </a:p>
          <a:p>
            <a:r>
              <a:rPr lang="en-US" dirty="0"/>
              <a:t>If we have the data and/or this is important, use explicit test set. </a:t>
            </a:r>
          </a:p>
          <a:p>
            <a:r>
              <a:rPr lang="en-US" dirty="0"/>
              <a:t>Allow grid search to test and generate the best model. </a:t>
            </a:r>
          </a:p>
          <a:p>
            <a:r>
              <a:rPr lang="en-US" dirty="0"/>
              <a:t>Use this model for actual predictions. </a:t>
            </a:r>
          </a:p>
          <a:p>
            <a:r>
              <a:rPr lang="en-US" dirty="0"/>
              <a:t>Concerns:</a:t>
            </a:r>
          </a:p>
          <a:p>
            <a:pPr lvl="1"/>
            <a:r>
              <a:rPr lang="en-US" dirty="0"/>
              <a:t>Time - larger data, more CV rounds lead to better results, but can be slow. </a:t>
            </a:r>
          </a:p>
          <a:p>
            <a:pPr lvl="1"/>
            <a:r>
              <a:rPr lang="en-US" dirty="0"/>
              <a:t>Bad choices for the grid can lead to poor results. (“Smart” grid algorithms can help this). </a:t>
            </a:r>
          </a:p>
        </p:txBody>
      </p:sp>
    </p:spTree>
    <p:extLst>
      <p:ext uri="{BB962C8B-B14F-4D97-AF65-F5344CB8AC3E}">
        <p14:creationId xmlns:p14="http://schemas.microsoft.com/office/powerpoint/2010/main" val="1275805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A8169-49E1-4B46-C408-5B705300EE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995835-DD3C-32CA-96A6-AF80D2905186}"/>
              </a:ext>
            </a:extLst>
          </p:cNvPr>
          <p:cNvSpPr>
            <a:spLocks noGrp="1"/>
          </p:cNvSpPr>
          <p:nvPr>
            <p:ph idx="1"/>
          </p:nvPr>
        </p:nvSpPr>
        <p:spPr/>
        <p:txBody>
          <a:bodyPr/>
          <a:lstStyle/>
          <a:p>
            <a:endParaRPr lang="en-US"/>
          </a:p>
        </p:txBody>
      </p:sp>
      <p:pic>
        <p:nvPicPr>
          <p:cNvPr id="3074" name="Picture 2" descr="k-Fold Cross-Validation">
            <a:extLst>
              <a:ext uri="{FF2B5EF4-FFF2-40B4-BE49-F238E27FC236}">
                <a16:creationId xmlns:a16="http://schemas.microsoft.com/office/drawing/2014/main" id="{EFF951C4-231A-93C2-A0BF-3CEFE0BA9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4A3BF48-251A-01C6-C74E-4874B734AFDD}"/>
                  </a:ext>
                </a:extLst>
              </p14:cNvPr>
              <p14:cNvContentPartPr/>
              <p14:nvPr/>
            </p14:nvContentPartPr>
            <p14:xfrm>
              <a:off x="1772653" y="3467893"/>
              <a:ext cx="1437120" cy="2554200"/>
            </p14:xfrm>
          </p:contentPart>
        </mc:Choice>
        <mc:Fallback xmlns="">
          <p:pic>
            <p:nvPicPr>
              <p:cNvPr id="4" name="Ink 3">
                <a:extLst>
                  <a:ext uri="{FF2B5EF4-FFF2-40B4-BE49-F238E27FC236}">
                    <a16:creationId xmlns:a16="http://schemas.microsoft.com/office/drawing/2014/main" id="{A4A3BF48-251A-01C6-C74E-4874B734AFDD}"/>
                  </a:ext>
                </a:extLst>
              </p:cNvPr>
              <p:cNvPicPr/>
              <p:nvPr/>
            </p:nvPicPr>
            <p:blipFill>
              <a:blip r:embed="rId4"/>
              <a:stretch>
                <a:fillRect/>
              </a:stretch>
            </p:blipFill>
            <p:spPr>
              <a:xfrm>
                <a:off x="1764013" y="3459253"/>
                <a:ext cx="1454760" cy="2571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22F07EE3-79B8-62A5-6F9F-72C13BDF3143}"/>
                  </a:ext>
                </a:extLst>
              </p14:cNvPr>
              <p14:cNvContentPartPr/>
              <p14:nvPr/>
            </p14:nvContentPartPr>
            <p14:xfrm>
              <a:off x="2169733" y="3425413"/>
              <a:ext cx="2354400" cy="1954080"/>
            </p14:xfrm>
          </p:contentPart>
        </mc:Choice>
        <mc:Fallback xmlns="">
          <p:pic>
            <p:nvPicPr>
              <p:cNvPr id="5" name="Ink 4">
                <a:extLst>
                  <a:ext uri="{FF2B5EF4-FFF2-40B4-BE49-F238E27FC236}">
                    <a16:creationId xmlns:a16="http://schemas.microsoft.com/office/drawing/2014/main" id="{22F07EE3-79B8-62A5-6F9F-72C13BDF3143}"/>
                  </a:ext>
                </a:extLst>
              </p:cNvPr>
              <p:cNvPicPr/>
              <p:nvPr/>
            </p:nvPicPr>
            <p:blipFill>
              <a:blip r:embed="rId6"/>
              <a:stretch>
                <a:fillRect/>
              </a:stretch>
            </p:blipFill>
            <p:spPr>
              <a:xfrm>
                <a:off x="2161093" y="3416413"/>
                <a:ext cx="2372040" cy="1971720"/>
              </a:xfrm>
              <a:prstGeom prst="rect">
                <a:avLst/>
              </a:prstGeom>
            </p:spPr>
          </p:pic>
        </mc:Fallback>
      </mc:AlternateContent>
      <p:sp>
        <p:nvSpPr>
          <p:cNvPr id="6" name="TextBox 5">
            <a:extLst>
              <a:ext uri="{FF2B5EF4-FFF2-40B4-BE49-F238E27FC236}">
                <a16:creationId xmlns:a16="http://schemas.microsoft.com/office/drawing/2014/main" id="{3E50A4DC-87D1-D747-3FF8-76C805FB4436}"/>
              </a:ext>
            </a:extLst>
          </p:cNvPr>
          <p:cNvSpPr txBox="1"/>
          <p:nvPr/>
        </p:nvSpPr>
        <p:spPr>
          <a:xfrm>
            <a:off x="314433" y="4493162"/>
            <a:ext cx="1796143" cy="2031325"/>
          </a:xfrm>
          <a:prstGeom prst="rect">
            <a:avLst/>
          </a:prstGeom>
          <a:noFill/>
        </p:spPr>
        <p:txBody>
          <a:bodyPr wrap="square" rtlCol="0">
            <a:spAutoFit/>
          </a:bodyPr>
          <a:lstStyle/>
          <a:p>
            <a:r>
              <a:rPr lang="en-US" dirty="0"/>
              <a:t>Explicit test set is ‘correct’ way to do things, but we can skip it for less critical things (especially with small data). </a:t>
            </a:r>
          </a:p>
        </p:txBody>
      </p:sp>
    </p:spTree>
    <p:extLst>
      <p:ext uri="{BB962C8B-B14F-4D97-AF65-F5344CB8AC3E}">
        <p14:creationId xmlns:p14="http://schemas.microsoft.com/office/powerpoint/2010/main" val="26889477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7737</TotalTime>
  <Words>2582</Words>
  <Application>Microsoft Macintosh PowerPoint</Application>
  <PresentationFormat>Widescreen</PresentationFormat>
  <Paragraphs>199</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Gill Sans MT</vt:lpstr>
      <vt:lpstr>Gallery</vt:lpstr>
      <vt:lpstr>Housekeeping</vt:lpstr>
      <vt:lpstr>Tree Review</vt:lpstr>
      <vt:lpstr>Trees</vt:lpstr>
      <vt:lpstr>Tuning the Tree</vt:lpstr>
      <vt:lpstr>Shove a Column Transformer up Your Pipe</vt:lpstr>
      <vt:lpstr>Imputation</vt:lpstr>
      <vt:lpstr>Real Imputation – Why is it missing? </vt:lpstr>
      <vt:lpstr>Imputation depends on Cause</vt:lpstr>
      <vt:lpstr>Don’t Dispute your Impute</vt:lpstr>
      <vt:lpstr>PowerPoint Presentation</vt:lpstr>
      <vt:lpstr>So we should be able to…</vt:lpstr>
      <vt:lpstr>Grids and Pipes</vt:lpstr>
      <vt:lpstr>Hyperparameters</vt:lpstr>
      <vt:lpstr>Tuning a model</vt:lpstr>
      <vt:lpstr>Grid Search</vt:lpstr>
      <vt:lpstr>PowerPoint Presentation</vt:lpstr>
      <vt:lpstr>Hyperparameters</vt:lpstr>
      <vt:lpstr>Grid Usage</vt:lpstr>
      <vt:lpstr>Grids and Pipes</vt:lpstr>
      <vt:lpstr>Measuring Results</vt:lpstr>
      <vt:lpstr>Train-Test Split</vt:lpstr>
      <vt:lpstr>PowerPoint Presentation</vt:lpstr>
      <vt:lpstr>Cross Validation</vt:lpstr>
      <vt:lpstr>PowerPoint Presentation</vt:lpstr>
      <vt:lpstr>PowerPoint Presentation</vt:lpstr>
      <vt:lpstr>Grid Search CV</vt:lpstr>
      <vt:lpstr>In Practice…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Akeem Semper</dc:creator>
  <cp:lastModifiedBy>Akeem Semper</cp:lastModifiedBy>
  <cp:revision>39</cp:revision>
  <dcterms:created xsi:type="dcterms:W3CDTF">2022-01-09T14:29:39Z</dcterms:created>
  <dcterms:modified xsi:type="dcterms:W3CDTF">2026-01-15T21:36:18Z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2026-01-14T16:30:00Z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9a1583de-bd6e-45ee-9615-ee57b4d5d4ae</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