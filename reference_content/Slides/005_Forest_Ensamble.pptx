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6" r:id="rId3"/>
    <p:sldId id="257" r:id="rId4"/>
    <p:sldId id="260" r:id="rId5"/>
    <p:sldId id="274" r:id="rId6"/>
    <p:sldId id="262" r:id="rId7"/>
    <p:sldId id="259" r:id="rId8"/>
    <p:sldId id="261" r:id="rId9"/>
    <p:sldId id="271" r:id="rId10"/>
    <p:sldId id="273" r:id="rId11"/>
    <p:sldId id="272" r:id="rId12"/>
    <p:sldId id="265" r:id="rId13"/>
    <p:sldId id="275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9"/>
    <p:restoredTop sz="95897"/>
  </p:normalViewPr>
  <p:slideViewPr>
    <p:cSldViewPr snapToGrid="0" snapToObjects="1">
      <p:cViewPr varScale="1">
        <p:scale>
          <a:sx n="142" d="100"/>
          <a:sy n="142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36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21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98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38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63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8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97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7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98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64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F9EFD-ACEF-7249-9847-E06D18B32B3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BB763C1-7444-5440-BCA1-084B609DCC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99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6989-A94F-4D4C-8C4F-63FCF990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C034-C210-804E-AB3F-34808CC04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EDForests</a:t>
            </a:r>
            <a:r>
              <a:rPr lang="en-US" dirty="0"/>
              <a:t> and Ensemble Models</a:t>
            </a:r>
          </a:p>
          <a:p>
            <a:r>
              <a:rPr lang="en-US" dirty="0" err="1"/>
              <a:t>Gridsearch</a:t>
            </a:r>
            <a:r>
              <a:rPr lang="en-US" dirty="0"/>
              <a:t>, cross validation, and forests. </a:t>
            </a:r>
          </a:p>
        </p:txBody>
      </p:sp>
    </p:spTree>
    <p:extLst>
      <p:ext uri="{BB962C8B-B14F-4D97-AF65-F5344CB8AC3E}">
        <p14:creationId xmlns:p14="http://schemas.microsoft.com/office/powerpoint/2010/main" val="92564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B4F9-D8BE-994F-B474-6E7500E3D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Forest and the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1EF7E-A3F3-FE4B-A444-81807C46E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3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9D6B-AECA-0849-A8B7-E7F8B1F63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51B8-41E1-5049-827A-2FAE48951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allowed us to make predictions that are transparent and simple. </a:t>
            </a:r>
          </a:p>
          <a:p>
            <a:r>
              <a:rPr lang="en-US" dirty="0"/>
              <a:t>Trees suffered in their lack of stability and tendency to overfit. </a:t>
            </a:r>
          </a:p>
          <a:p>
            <a:r>
              <a:rPr lang="en-US" dirty="0"/>
              <a:t>What’s better than a tree?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forest!!!! </a:t>
            </a:r>
          </a:p>
        </p:txBody>
      </p:sp>
      <p:pic>
        <p:nvPicPr>
          <p:cNvPr id="2050" name="Picture 2" descr="Don&amp;#39;t Miss The Forest For The Trees">
            <a:extLst>
              <a:ext uri="{FF2B5EF4-FFF2-40B4-BE49-F238E27FC236}">
                <a16:creationId xmlns:a16="http://schemas.microsoft.com/office/drawing/2014/main" id="{4EC553C8-836C-B34C-9729-2757FB2CF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522" y="3010868"/>
            <a:ext cx="5590478" cy="2958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52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3ABC-EB45-9D49-838D-E77855F2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78A66-7B09-CB48-ACCA-64437857D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Ensemble learning models are just combinations of more than one model.</a:t>
            </a:r>
          </a:p>
          <a:p>
            <a:r>
              <a:rPr lang="en-US" dirty="0"/>
              <a:t>Ensemble models can be split into two big types - bagging and boosting. </a:t>
            </a:r>
          </a:p>
          <a:p>
            <a:r>
              <a:rPr lang="en-US" dirty="0"/>
              <a:t>Bagging:</a:t>
            </a:r>
          </a:p>
          <a:p>
            <a:pPr lvl="1"/>
            <a:r>
              <a:rPr lang="en-US" dirty="0"/>
              <a:t>Creating different models in parallel. </a:t>
            </a:r>
          </a:p>
          <a:p>
            <a:pPr lvl="1"/>
            <a:r>
              <a:rPr lang="en-US" dirty="0"/>
              <a:t>E.g. a forest is a bunch of parallel trees. </a:t>
            </a:r>
          </a:p>
          <a:p>
            <a:r>
              <a:rPr lang="en-US" dirty="0"/>
              <a:t>Boosting:</a:t>
            </a:r>
          </a:p>
          <a:p>
            <a:pPr lvl="1"/>
            <a:r>
              <a:rPr lang="en-US" dirty="0"/>
              <a:t>Using results of one model to improve later ones. </a:t>
            </a:r>
          </a:p>
          <a:p>
            <a:pPr lvl="1"/>
            <a:r>
              <a:rPr lang="en-US" dirty="0"/>
              <a:t>We’ll look at this later in the course. </a:t>
            </a:r>
          </a:p>
        </p:txBody>
      </p:sp>
    </p:spTree>
    <p:extLst>
      <p:ext uri="{BB962C8B-B14F-4D97-AF65-F5344CB8AC3E}">
        <p14:creationId xmlns:p14="http://schemas.microsoft.com/office/powerpoint/2010/main" val="54253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3FCD-760A-8697-51DD-FC0B1C74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Ensembles –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096A-5973-7D11-4ED4-374EE59E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Random Forest Algorithm in Machine Learning - GeeksforGeeks">
            <a:extLst>
              <a:ext uri="{FF2B5EF4-FFF2-40B4-BE49-F238E27FC236}">
                <a16:creationId xmlns:a16="http://schemas.microsoft.com/office/drawing/2014/main" id="{85E7C467-59E9-F9D7-E096-5A06813B9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1778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09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3400-005E-B24F-AD86-CF8A577A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yourself up by the Bootstraps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9AC5-E986-E44D-9512-1B080128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9188451" cy="4301719"/>
          </a:xfrm>
        </p:spPr>
        <p:txBody>
          <a:bodyPr>
            <a:normAutofit/>
          </a:bodyPr>
          <a:lstStyle/>
          <a:p>
            <a:r>
              <a:rPr lang="en-US" dirty="0"/>
              <a:t>Bagging starts with creating ‘bootstrapped’ data sets.</a:t>
            </a:r>
          </a:p>
          <a:p>
            <a:pPr lvl="1"/>
            <a:r>
              <a:rPr lang="en-US" dirty="0"/>
              <a:t>Each dataset is the same size as the original. </a:t>
            </a:r>
          </a:p>
          <a:p>
            <a:pPr lvl="1"/>
            <a:r>
              <a:rPr lang="en-US" dirty="0"/>
              <a:t>Each set selects random items from the dataset WITH replacement. </a:t>
            </a:r>
          </a:p>
          <a:p>
            <a:pPr lvl="1"/>
            <a:r>
              <a:rPr lang="en-US" dirty="0"/>
              <a:t>Each dataset may have 0 or more copies of each training row. </a:t>
            </a:r>
          </a:p>
          <a:p>
            <a:r>
              <a:rPr lang="en-US" dirty="0"/>
              <a:t>Each dataset is built from the same ‘stuff’ as the original, but the balance is different. </a:t>
            </a:r>
          </a:p>
          <a:p>
            <a:r>
              <a:rPr lang="en-US" dirty="0"/>
              <a:t>“</a:t>
            </a:r>
            <a:r>
              <a:rPr lang="en-CA" dirty="0"/>
              <a:t>can encourage the individuals of an ensemble to explore features that may otherwise not be considered”</a:t>
            </a:r>
            <a:endParaRPr lang="en-US" dirty="0"/>
          </a:p>
          <a:p>
            <a:r>
              <a:rPr lang="en-US" dirty="0"/>
              <a:t>Can also limit a selection of features in each dataset (implementation varies). </a:t>
            </a:r>
          </a:p>
          <a:p>
            <a:pPr lvl="1"/>
            <a:r>
              <a:rPr lang="en-US" dirty="0"/>
              <a:t>I.e. select a random subset of features for each training set. </a:t>
            </a:r>
          </a:p>
          <a:p>
            <a:pPr lvl="1"/>
            <a:r>
              <a:rPr lang="en-US" dirty="0"/>
              <a:t>Can also limit features available to each individual split. 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BC695C-63DC-9949-8149-CD22A0AD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450" y="2015732"/>
            <a:ext cx="28448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8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AAB2-9EF2-3A40-9549-5A5CC5A3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AA0A-ED02-E140-8E1E-5F0B4C95E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Forests are an ensemble of multiple trees. (Default is 100). </a:t>
            </a:r>
          </a:p>
          <a:p>
            <a:r>
              <a:rPr lang="en-US" dirty="0"/>
              <a:t>Each tree is created from a random bootstrapped selection of data. </a:t>
            </a:r>
          </a:p>
          <a:p>
            <a:r>
              <a:rPr lang="en-US" dirty="0"/>
              <a:t>Each tree makes its own predictions on the test data. </a:t>
            </a:r>
          </a:p>
          <a:p>
            <a:r>
              <a:rPr lang="en-US" dirty="0"/>
              <a:t>The predictions are voted (or averaged, for regression) to create a final result. </a:t>
            </a:r>
          </a:p>
          <a:p>
            <a:r>
              <a:rPr lang="en-US" dirty="0"/>
              <a:t>Result:</a:t>
            </a:r>
          </a:p>
          <a:p>
            <a:pPr lvl="1"/>
            <a:r>
              <a:rPr lang="en-US" dirty="0"/>
              <a:t>The random variation in tree results due to splits is neutralized. </a:t>
            </a:r>
          </a:p>
          <a:p>
            <a:pPr lvl="1"/>
            <a:r>
              <a:rPr lang="en-US" dirty="0"/>
              <a:t>Less variance in results. </a:t>
            </a:r>
          </a:p>
          <a:p>
            <a:pPr lvl="1"/>
            <a:r>
              <a:rPr lang="en-US" dirty="0"/>
              <a:t>Individual overfitted trees will be “outvoted” for final results tabulation. </a:t>
            </a:r>
          </a:p>
          <a:p>
            <a:pPr lvl="1"/>
            <a:r>
              <a:rPr lang="en-US" dirty="0"/>
              <a:t>Requirement for ‘majority’ limits the long, overfit branches that we saw with trees. </a:t>
            </a:r>
          </a:p>
        </p:txBody>
      </p:sp>
    </p:spTree>
    <p:extLst>
      <p:ext uri="{BB962C8B-B14F-4D97-AF65-F5344CB8AC3E}">
        <p14:creationId xmlns:p14="http://schemas.microsoft.com/office/powerpoint/2010/main" val="182720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F36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random+forest+classifier+algorithm cheap buy online">
            <a:extLst>
              <a:ext uri="{FF2B5EF4-FFF2-40B4-BE49-F238E27FC236}">
                <a16:creationId xmlns:a16="http://schemas.microsoft.com/office/drawing/2014/main" id="{B905D420-0BB6-9844-A34F-D4E526D23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1395" y="643467"/>
            <a:ext cx="1012921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1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andom Forest Regression. Random Forest Regression is a… | by Chaya | Level  Up Coding">
            <a:extLst>
              <a:ext uri="{FF2B5EF4-FFF2-40B4-BE49-F238E27FC236}">
                <a16:creationId xmlns:a16="http://schemas.microsoft.com/office/drawing/2014/main" id="{F7042FD7-56A2-6538-A1F4-C109E12F1C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9334" y="643467"/>
            <a:ext cx="877333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25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7D65-8D9F-C838-FE7D-015E0202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Forests Against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C5B5D-35BD-314A-454F-0326FD5A5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853754"/>
            <a:ext cx="10893287" cy="4199727"/>
          </a:xfrm>
        </p:spPr>
        <p:txBody>
          <a:bodyPr>
            <a:normAutofit/>
          </a:bodyPr>
          <a:lstStyle/>
          <a:p>
            <a:r>
              <a:rPr lang="en-US" dirty="0"/>
              <a:t>Forest model are more resilient to overfitting than individual trees. </a:t>
            </a:r>
          </a:p>
          <a:p>
            <a:r>
              <a:rPr lang="en-US" dirty="0"/>
              <a:t>Trees tend to overfit by splitting nodes by less important features to get slightly better. </a:t>
            </a:r>
          </a:p>
          <a:p>
            <a:pPr lvl="1"/>
            <a:r>
              <a:rPr lang="en-US" dirty="0"/>
              <a:t>By definition, it is looking at the less important stuff to separate similar records. </a:t>
            </a:r>
          </a:p>
          <a:p>
            <a:r>
              <a:rPr lang="en-US" dirty="0"/>
              <a:t>Forests give each model a slightly different training data set. </a:t>
            </a:r>
          </a:p>
          <a:p>
            <a:pPr lvl="1"/>
            <a:r>
              <a:rPr lang="en-US" dirty="0"/>
              <a:t>Only some models will be able to overfit (in any particular way) since they don’t all have the data. </a:t>
            </a:r>
          </a:p>
          <a:p>
            <a:pPr lvl="1"/>
            <a:r>
              <a:rPr lang="en-US" dirty="0"/>
              <a:t>The final result is a vote of all the models. Only “major” tendencies will be in most/all trees. </a:t>
            </a:r>
          </a:p>
          <a:p>
            <a:r>
              <a:rPr lang="en-US" dirty="0"/>
              <a:t>Even if some trees overfit, that can be overcome as those will ‘loose the vote’ of all trees. </a:t>
            </a:r>
          </a:p>
          <a:p>
            <a:r>
              <a:rPr lang="en-US" dirty="0"/>
              <a:t>Only ‘trends’ in the data that exist in many of the models will persist. </a:t>
            </a:r>
          </a:p>
          <a:p>
            <a:pPr lvl="1"/>
            <a:r>
              <a:rPr lang="en-US" dirty="0"/>
              <a:t>We’re using the instability of the tree for us – each tree is different, but the ‘overlap’ persists in the model. </a:t>
            </a:r>
          </a:p>
        </p:txBody>
      </p:sp>
    </p:spTree>
    <p:extLst>
      <p:ext uri="{BB962C8B-B14F-4D97-AF65-F5344CB8AC3E}">
        <p14:creationId xmlns:p14="http://schemas.microsoft.com/office/powerpoint/2010/main" val="198665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E754-9848-3946-B842-CD18EEA7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35FB-5E8B-B946-9935-528C378D8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78172"/>
          </a:xfrm>
        </p:spPr>
        <p:txBody>
          <a:bodyPr/>
          <a:lstStyle/>
          <a:p>
            <a:r>
              <a:rPr lang="en-US" dirty="0"/>
              <a:t>Can be both accurate and simple. </a:t>
            </a:r>
          </a:p>
          <a:p>
            <a:pPr lvl="1"/>
            <a:r>
              <a:rPr lang="en-US" dirty="0"/>
              <a:t>Not really explainable in the same way that trees are though. </a:t>
            </a:r>
          </a:p>
          <a:p>
            <a:r>
              <a:rPr lang="en-US" dirty="0"/>
              <a:t>Combining multiple models with a specific weakness can mitigate that weakness. </a:t>
            </a:r>
          </a:p>
          <a:p>
            <a:pPr lvl="1"/>
            <a:r>
              <a:rPr lang="en-US" dirty="0"/>
              <a:t>Trees often overfit if they are accurate. </a:t>
            </a:r>
          </a:p>
          <a:p>
            <a:pPr lvl="1"/>
            <a:r>
              <a:rPr lang="en-US" dirty="0"/>
              <a:t>Multiple trees from different training sets fights this. </a:t>
            </a:r>
          </a:p>
          <a:p>
            <a:r>
              <a:rPr lang="en-US" dirty="0"/>
              <a:t>Boosted (</a:t>
            </a:r>
            <a:r>
              <a:rPr lang="en-US" dirty="0" err="1"/>
              <a:t>adaboost</a:t>
            </a:r>
            <a:r>
              <a:rPr lang="en-US" dirty="0"/>
              <a:t>, </a:t>
            </a:r>
            <a:r>
              <a:rPr lang="en-US" dirty="0" err="1"/>
              <a:t>xgboost</a:t>
            </a:r>
            <a:r>
              <a:rPr lang="en-US" dirty="0"/>
              <a:t>) tree models are very accurate. </a:t>
            </a:r>
          </a:p>
        </p:txBody>
      </p:sp>
    </p:spTree>
    <p:extLst>
      <p:ext uri="{BB962C8B-B14F-4D97-AF65-F5344CB8AC3E}">
        <p14:creationId xmlns:p14="http://schemas.microsoft.com/office/powerpoint/2010/main" val="217004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BD2A-0665-D0CA-16FB-C6C7192B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Boost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D02F0-A4B9-1CDB-67DB-9421847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Ensembles have another type – boosting ensembles. </a:t>
            </a:r>
          </a:p>
          <a:p>
            <a:r>
              <a:rPr lang="en-US" dirty="0"/>
              <a:t>Boosting works in sequence - one model feeds the next, each improves slightly. </a:t>
            </a:r>
          </a:p>
          <a:p>
            <a:pPr lvl="1"/>
            <a:r>
              <a:rPr lang="en-US" dirty="0"/>
              <a:t>Based on weak learners – small simple models that each aren’t that good. </a:t>
            </a:r>
          </a:p>
          <a:p>
            <a:r>
              <a:rPr lang="en-US" dirty="0"/>
              <a:t>We’ll worry about boosted models at the end of the sklearn stuff. </a:t>
            </a:r>
          </a:p>
          <a:p>
            <a:pPr lvl="1"/>
            <a:r>
              <a:rPr lang="en-US" dirty="0"/>
              <a:t>These models are the ‘best’ for most non-NN things. </a:t>
            </a:r>
          </a:p>
        </p:txBody>
      </p:sp>
    </p:spTree>
    <p:extLst>
      <p:ext uri="{BB962C8B-B14F-4D97-AF65-F5344CB8AC3E}">
        <p14:creationId xmlns:p14="http://schemas.microsoft.com/office/powerpoint/2010/main" val="2396456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6E52-2A51-35C0-CDD0-8E96D547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Learner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3F862-F847-809F-8C8A-C7B9B2587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9332"/>
            <a:ext cx="9603275" cy="4114149"/>
          </a:xfrm>
        </p:spPr>
        <p:txBody>
          <a:bodyPr/>
          <a:lstStyle/>
          <a:p>
            <a:r>
              <a:rPr lang="en-US" dirty="0"/>
              <a:t>We will care more about weak learners later, but we need the basics. </a:t>
            </a:r>
          </a:p>
          <a:p>
            <a:r>
              <a:rPr lang="en-US" dirty="0"/>
              <a:t>A strong learner is a model that gets “high accuracy”. </a:t>
            </a:r>
          </a:p>
          <a:p>
            <a:pPr lvl="1"/>
            <a:r>
              <a:rPr lang="en-US" dirty="0"/>
              <a:t>Regression and trees both make strong learners. </a:t>
            </a:r>
          </a:p>
          <a:p>
            <a:pPr lvl="1"/>
            <a:r>
              <a:rPr lang="en-US" dirty="0"/>
              <a:t>Error comes from tailoring predictions too much to training data. </a:t>
            </a:r>
          </a:p>
          <a:p>
            <a:r>
              <a:rPr lang="en-US" dirty="0"/>
              <a:t>A weak learner is a model that can be slightly better than chance. </a:t>
            </a:r>
          </a:p>
          <a:p>
            <a:pPr lvl="1"/>
            <a:r>
              <a:rPr lang="en-US" dirty="0"/>
              <a:t>A 2 level tree is a weak model. </a:t>
            </a:r>
          </a:p>
          <a:p>
            <a:pPr lvl="1"/>
            <a:r>
              <a:rPr lang="en-US" dirty="0"/>
              <a:t>Error comes from not learning enough from training data. </a:t>
            </a:r>
          </a:p>
          <a:p>
            <a:r>
              <a:rPr lang="en-US" dirty="0"/>
              <a:t>This leads us to the next topic – bias vs variance. </a:t>
            </a:r>
          </a:p>
          <a:p>
            <a:r>
              <a:rPr lang="en-US" dirty="0"/>
              <a:t>Forests mitigate the strong learner error through the ensemble. </a:t>
            </a:r>
          </a:p>
        </p:txBody>
      </p:sp>
    </p:spTree>
    <p:extLst>
      <p:ext uri="{BB962C8B-B14F-4D97-AF65-F5344CB8AC3E}">
        <p14:creationId xmlns:p14="http://schemas.microsoft.com/office/powerpoint/2010/main" val="339820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E754-9848-3946-B842-CD18EEA7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35FB-5E8B-B946-9935-528C378D8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88360" cy="4037749"/>
          </a:xfrm>
        </p:spPr>
        <p:txBody>
          <a:bodyPr/>
          <a:lstStyle/>
          <a:p>
            <a:r>
              <a:rPr lang="en-US" dirty="0"/>
              <a:t>Can be both accurate and simple. </a:t>
            </a:r>
          </a:p>
          <a:p>
            <a:r>
              <a:rPr lang="en-US" dirty="0"/>
              <a:t>Combining multiple models with a specific weakness can mitigate that weakness. </a:t>
            </a:r>
          </a:p>
          <a:p>
            <a:pPr lvl="1"/>
            <a:r>
              <a:rPr lang="en-US" dirty="0"/>
              <a:t>Trees often overfit if they are accurate. </a:t>
            </a:r>
          </a:p>
          <a:p>
            <a:pPr lvl="1"/>
            <a:r>
              <a:rPr lang="en-US" dirty="0"/>
              <a:t>Multiple trees from different training sets fights this – it must learn, but some data is missing.</a:t>
            </a:r>
          </a:p>
          <a:p>
            <a:r>
              <a:rPr lang="en-US" dirty="0"/>
              <a:t>Large ensembles can have a time or space concern, they aren’t that fast. </a:t>
            </a:r>
          </a:p>
          <a:p>
            <a:pPr lvl="1"/>
            <a:r>
              <a:rPr lang="en-US" dirty="0"/>
              <a:t>Highly parallelized code and many cores can accelerate this in places. </a:t>
            </a:r>
          </a:p>
          <a:p>
            <a:r>
              <a:rPr lang="en-US" dirty="0"/>
              <a:t>Boosted (</a:t>
            </a:r>
            <a:r>
              <a:rPr lang="en-US" dirty="0" err="1"/>
              <a:t>adaboost</a:t>
            </a:r>
            <a:r>
              <a:rPr lang="en-US" dirty="0"/>
              <a:t>, </a:t>
            </a:r>
            <a:r>
              <a:rPr lang="en-US" dirty="0" err="1"/>
              <a:t>xgboost</a:t>
            </a:r>
            <a:r>
              <a:rPr lang="en-US" dirty="0"/>
              <a:t>) tree models that we will talk about later on are very accurate. </a:t>
            </a:r>
          </a:p>
        </p:txBody>
      </p:sp>
    </p:spTree>
    <p:extLst>
      <p:ext uri="{BB962C8B-B14F-4D97-AF65-F5344CB8AC3E}">
        <p14:creationId xmlns:p14="http://schemas.microsoft.com/office/powerpoint/2010/main" val="4993740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12738</TotalTime>
  <Words>847</Words>
  <Application>Microsoft Macintosh PowerPoint</Application>
  <PresentationFormat>Widescreen</PresentationFormat>
  <Paragraphs>82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Today</vt:lpstr>
      <vt:lpstr>The Forest and the Trees</vt:lpstr>
      <vt:lpstr>Trees</vt:lpstr>
      <vt:lpstr>Ensemble Models</vt:lpstr>
      <vt:lpstr>Bagging Ensembles – Random Forest</vt:lpstr>
      <vt:lpstr>Pull yourself up by the Bootstraps</vt:lpstr>
      <vt:lpstr>Forests</vt:lpstr>
      <vt:lpstr>PowerPoint Presentation</vt:lpstr>
      <vt:lpstr>PowerPoint Presentation</vt:lpstr>
      <vt:lpstr>Forests Against Overfitting</vt:lpstr>
      <vt:lpstr>Forests</vt:lpstr>
      <vt:lpstr>Don’t Boost it!</vt:lpstr>
      <vt:lpstr>Learner Strength</vt:lpstr>
      <vt:lpstr>Forests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Forest and the Trees</dc:title>
  <dc:creator>Akeem Semper</dc:creator>
  <cp:lastModifiedBy>Akeem Semper</cp:lastModifiedBy>
  <cp:revision>22</cp:revision>
  <dcterms:created xsi:type="dcterms:W3CDTF">2022-01-09T15:02:02Z</dcterms:created>
  <dcterms:modified xsi:type="dcterms:W3CDTF">2026-01-20T15:29:56Z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2026-01-15T18:11:38Z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3725d00d-966d-4d9b-a4f7-29363d051cf2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