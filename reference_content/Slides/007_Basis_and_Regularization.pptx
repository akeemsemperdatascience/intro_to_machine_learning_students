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301" r:id="rId11"/>
    <p:sldId id="289" r:id="rId12"/>
    <p:sldId id="290" r:id="rId13"/>
    <p:sldId id="291" r:id="rId14"/>
    <p:sldId id="292" r:id="rId15"/>
    <p:sldId id="293" r:id="rId16"/>
    <p:sldId id="256" r:id="rId17"/>
    <p:sldId id="259" r:id="rId18"/>
    <p:sldId id="260" r:id="rId19"/>
    <p:sldId id="294" r:id="rId20"/>
    <p:sldId id="261" r:id="rId21"/>
    <p:sldId id="302" r:id="rId22"/>
    <p:sldId id="262" r:id="rId23"/>
    <p:sldId id="263" r:id="rId24"/>
    <p:sldId id="303" r:id="rId25"/>
    <p:sldId id="297" r:id="rId26"/>
    <p:sldId id="295" r:id="rId27"/>
    <p:sldId id="298" r:id="rId28"/>
    <p:sldId id="296" r:id="rId29"/>
    <p:sldId id="264" r:id="rId30"/>
    <p:sldId id="258" r:id="rId31"/>
    <p:sldId id="266" r:id="rId32"/>
    <p:sldId id="267" r:id="rId33"/>
    <p:sldId id="304" r:id="rId34"/>
    <p:sldId id="268" r:id="rId35"/>
    <p:sldId id="269" r:id="rId36"/>
    <p:sldId id="283" r:id="rId37"/>
    <p:sldId id="284" r:id="rId38"/>
    <p:sldId id="257" r:id="rId39"/>
    <p:sldId id="265" r:id="rId40"/>
    <p:sldId id="270" r:id="rId41"/>
    <p:sldId id="285" r:id="rId42"/>
    <p:sldId id="299" r:id="rId43"/>
    <p:sldId id="287" r:id="rId44"/>
    <p:sldId id="271" r:id="rId45"/>
    <p:sldId id="300" r:id="rId46"/>
    <p:sldId id="305" r:id="rId47"/>
    <p:sldId id="288" r:id="rId48"/>
    <p:sldId id="272" r:id="rId49"/>
    <p:sldId id="273" r:id="rId5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41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144" y="-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5A9B-CA1C-EF43-AB33-17909BB2FF7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8914BD4-D52F-984F-9158-5EA58B4950D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8018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5A9B-CA1C-EF43-AB33-17909BB2FF7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4BD4-D52F-984F-9158-5EA58B4950DA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431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5A9B-CA1C-EF43-AB33-17909BB2FF7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4BD4-D52F-984F-9158-5EA58B4950D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88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5A9B-CA1C-EF43-AB33-17909BB2FF7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4BD4-D52F-984F-9158-5EA58B4950DA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126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5A9B-CA1C-EF43-AB33-17909BB2FF7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4BD4-D52F-984F-9158-5EA58B4950DA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547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5A9B-CA1C-EF43-AB33-17909BB2FF7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4BD4-D52F-984F-9158-5EA58B4950DA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8670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5A9B-CA1C-EF43-AB33-17909BB2FF7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4BD4-D52F-984F-9158-5EA58B495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67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5A9B-CA1C-EF43-AB33-17909BB2FF7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4BD4-D52F-984F-9158-5EA58B4950DA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507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A2C5A9B-CA1C-EF43-AB33-17909BB2FF7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4BD4-D52F-984F-9158-5EA58B4950DA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382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5A9B-CA1C-EF43-AB33-17909BB2FF7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4BD4-D52F-984F-9158-5EA58B4950DA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7119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C5A9B-CA1C-EF43-AB33-17909BB2FF7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14BD4-D52F-984F-9158-5EA58B4950D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91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C5A9B-CA1C-EF43-AB33-17909BB2FF74}" type="datetimeFigureOut">
              <a:rPr lang="en-US" smtClean="0"/>
              <a:t>1/20/26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8914BD4-D52F-984F-9158-5EA58B4950D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125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CC0E5-E4D1-14DD-30BC-91C49E12F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 - Imputation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F216C-695B-1B75-9F73-9C9C76990D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58009"/>
            <a:ext cx="9603275" cy="4095472"/>
          </a:xfrm>
        </p:spPr>
        <p:txBody>
          <a:bodyPr/>
          <a:lstStyle/>
          <a:p>
            <a:r>
              <a:rPr lang="en-US" dirty="0"/>
              <a:t>Generally, models can’t handle missing data – they’ll fail. </a:t>
            </a:r>
          </a:p>
          <a:p>
            <a:r>
              <a:rPr lang="en-US" dirty="0"/>
              <a:t>If we have missing data, we need to do something with it:</a:t>
            </a:r>
          </a:p>
          <a:p>
            <a:pPr lvl="1"/>
            <a:r>
              <a:rPr lang="en-US" dirty="0"/>
              <a:t>Delete it. </a:t>
            </a:r>
          </a:p>
          <a:p>
            <a:pPr lvl="1"/>
            <a:r>
              <a:rPr lang="en-US" dirty="0"/>
              <a:t>Impute it – fill in a placeholder value for the missing spot. </a:t>
            </a:r>
          </a:p>
          <a:p>
            <a:r>
              <a:rPr lang="en-US" dirty="0"/>
              <a:t>Doing either of these is both a simple requirement and potentially complex decision. </a:t>
            </a:r>
          </a:p>
          <a:p>
            <a:pPr lvl="1"/>
            <a:r>
              <a:rPr lang="en-US" dirty="0"/>
              <a:t>We need to do something to make it work, and doing imputation/deletion is simple. </a:t>
            </a:r>
          </a:p>
          <a:p>
            <a:pPr lvl="1"/>
            <a:r>
              <a:rPr lang="en-US" dirty="0"/>
              <a:t>We need some real knowledge, including domain knowledge, to do it well. </a:t>
            </a:r>
          </a:p>
          <a:p>
            <a:r>
              <a:rPr lang="en-US" dirty="0"/>
              <a:t>We are leaning more towards the former – we need imputation but don’t dig into it. </a:t>
            </a:r>
          </a:p>
        </p:txBody>
      </p:sp>
    </p:spTree>
    <p:extLst>
      <p:ext uri="{BB962C8B-B14F-4D97-AF65-F5344CB8AC3E}">
        <p14:creationId xmlns:p14="http://schemas.microsoft.com/office/powerpoint/2010/main" val="309553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87AE3-8B7A-731D-9AF2-7D6A6BE80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Impute or Delete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497EC-F264-475A-DD90-E4A919E1C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first decision is to choose to remove data if we have missing values, or impute them.</a:t>
            </a:r>
          </a:p>
          <a:p>
            <a:r>
              <a:rPr lang="en-US" dirty="0"/>
              <a:t>This is situation dependent – the real-world impact of the values matters. </a:t>
            </a:r>
          </a:p>
          <a:p>
            <a:r>
              <a:rPr lang="en-US" dirty="0"/>
              <a:t>We can also analyze the data to help make better decisions.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38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AE932-6866-9A4C-4407-7B7F14EE0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Why is Data missing?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B78903-89B7-A156-F376-92EF71F34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28192"/>
            <a:ext cx="5622284" cy="4125290"/>
          </a:xfrm>
        </p:spPr>
        <p:txBody>
          <a:bodyPr>
            <a:normAutofit/>
          </a:bodyPr>
          <a:lstStyle/>
          <a:p>
            <a:r>
              <a:rPr lang="en-US" dirty="0"/>
              <a:t>Data can be missing for several reasons.</a:t>
            </a:r>
          </a:p>
          <a:p>
            <a:r>
              <a:rPr lang="en-US" dirty="0"/>
              <a:t>Missing at Random:</a:t>
            </a:r>
          </a:p>
          <a:p>
            <a:pPr lvl="1"/>
            <a:r>
              <a:rPr lang="en-US" dirty="0"/>
              <a:t>Things missing are partially dependent on </a:t>
            </a:r>
            <a:r>
              <a:rPr lang="en-US" i="1" dirty="0"/>
              <a:t>other</a:t>
            </a:r>
            <a:r>
              <a:rPr lang="en-US" dirty="0"/>
              <a:t> values in the data. </a:t>
            </a:r>
          </a:p>
          <a:p>
            <a:r>
              <a:rPr lang="en-US" dirty="0"/>
              <a:t>Missing Completely at Random:</a:t>
            </a:r>
          </a:p>
          <a:p>
            <a:pPr lvl="1"/>
            <a:r>
              <a:rPr lang="en-US" dirty="0"/>
              <a:t>This is totally random missing values. </a:t>
            </a:r>
          </a:p>
          <a:p>
            <a:r>
              <a:rPr lang="en-US" dirty="0"/>
              <a:t>Missing not at Random:</a:t>
            </a:r>
          </a:p>
          <a:p>
            <a:pPr lvl="1"/>
            <a:r>
              <a:rPr lang="en-US" dirty="0"/>
              <a:t>Things missing are depending on </a:t>
            </a:r>
            <a:r>
              <a:rPr lang="en-US" i="1" dirty="0"/>
              <a:t>their</a:t>
            </a:r>
            <a:r>
              <a:rPr lang="en-US" dirty="0"/>
              <a:t> values in the data.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EF0C328-96A8-21C0-A11F-A6D9676282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54139" y="2103484"/>
            <a:ext cx="4606539" cy="4309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0162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85C85-34A0-EC37-E779-D5A783D54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Completely at Random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CBE3B-A7C9-1071-294F-584E71758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2513" y="1853754"/>
            <a:ext cx="10058400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is the simplest – an assumption that missing data is randomly distributed. </a:t>
            </a:r>
          </a:p>
          <a:p>
            <a:r>
              <a:rPr lang="en-US" dirty="0"/>
              <a:t>There is no connection between the values in data and if it is missing. </a:t>
            </a:r>
          </a:p>
          <a:p>
            <a:r>
              <a:rPr lang="en-US" dirty="0"/>
              <a:t>This is the best candidate for deletion:</a:t>
            </a:r>
          </a:p>
          <a:p>
            <a:pPr lvl="1"/>
            <a:r>
              <a:rPr lang="en-US" dirty="0"/>
              <a:t>The randomness means that losing some data doesn’t impact results. </a:t>
            </a:r>
          </a:p>
          <a:p>
            <a:pPr lvl="1"/>
            <a:r>
              <a:rPr lang="en-US" dirty="0"/>
              <a:t>The only real concern is sample size – in large datasets deletion is easier. </a:t>
            </a:r>
          </a:p>
          <a:p>
            <a:pPr lvl="1"/>
            <a:r>
              <a:rPr lang="en-US" dirty="0"/>
              <a:t>If we shrink a large dataset by 10% (or more) or something, nothing really changes in the model. </a:t>
            </a:r>
          </a:p>
          <a:p>
            <a:r>
              <a:rPr lang="en-US" dirty="0"/>
              <a:t>If a column is missing a lot of data, we may be better of deleting that column. </a:t>
            </a:r>
          </a:p>
          <a:p>
            <a:pPr lvl="1"/>
            <a:r>
              <a:rPr lang="en-US" dirty="0"/>
              <a:t>This varies depending on the exact data, and what is missing. </a:t>
            </a:r>
          </a:p>
          <a:p>
            <a:pPr lvl="1"/>
            <a:r>
              <a:rPr lang="en-US" dirty="0"/>
              <a:t>Rule of thumb, if it is about 20% or so, start considering – though more missing values than you’d think might be ok in terms of results. </a:t>
            </a:r>
          </a:p>
        </p:txBody>
      </p:sp>
    </p:spTree>
    <p:extLst>
      <p:ext uri="{BB962C8B-B14F-4D97-AF65-F5344CB8AC3E}">
        <p14:creationId xmlns:p14="http://schemas.microsoft.com/office/powerpoint/2010/main" val="346494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1610E-B1B2-9EC0-6DA1-D3C72B136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at Random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B4DB3-7C27-0688-4C06-673F4AA0C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48070"/>
            <a:ext cx="9603275" cy="4105411"/>
          </a:xfrm>
        </p:spPr>
        <p:txBody>
          <a:bodyPr/>
          <a:lstStyle/>
          <a:p>
            <a:r>
              <a:rPr lang="en-US" dirty="0"/>
              <a:t>Missing at random is the default assumption – missing data has some relation with the other values in the data.</a:t>
            </a:r>
          </a:p>
          <a:p>
            <a:pPr lvl="1"/>
            <a:r>
              <a:rPr lang="en-US" dirty="0"/>
              <a:t>“The missingness can be explained by variables on which you have full information”. </a:t>
            </a:r>
          </a:p>
          <a:p>
            <a:r>
              <a:rPr lang="en-US" dirty="0"/>
              <a:t>Suppose we have census data and the income field is missing from many:</a:t>
            </a:r>
          </a:p>
          <a:p>
            <a:pPr lvl="1"/>
            <a:r>
              <a:rPr lang="en-US" dirty="0"/>
              <a:t>Whether or not the income is missing doesn’t depend on the income value. </a:t>
            </a:r>
          </a:p>
          <a:p>
            <a:pPr lvl="1"/>
            <a:r>
              <a:rPr lang="en-US" dirty="0"/>
              <a:t>Whether or not the income is missing can depend on other values – age, location,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r>
              <a:rPr lang="en-US" dirty="0"/>
              <a:t>This is a good candidate for imputation:</a:t>
            </a:r>
          </a:p>
          <a:p>
            <a:pPr lvl="1"/>
            <a:r>
              <a:rPr lang="en-US" dirty="0"/>
              <a:t>The imputed value of the mean (or similar) won’t convey a pattern to the data. (no relation.)</a:t>
            </a:r>
          </a:p>
          <a:p>
            <a:pPr lvl="1"/>
            <a:r>
              <a:rPr lang="en-US" dirty="0"/>
              <a:t>The other values, potentially, can help ‘smart’ imputation be accurate. </a:t>
            </a:r>
          </a:p>
        </p:txBody>
      </p:sp>
    </p:spTree>
    <p:extLst>
      <p:ext uri="{BB962C8B-B14F-4D97-AF65-F5344CB8AC3E}">
        <p14:creationId xmlns:p14="http://schemas.microsoft.com/office/powerpoint/2010/main" val="870624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E75FE-89DF-0460-08B5-F1B307507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Not at Random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D9C3E-3E9D-E19F-FB6A-D02F280F0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28192"/>
            <a:ext cx="9603275" cy="4125290"/>
          </a:xfrm>
        </p:spPr>
        <p:txBody>
          <a:bodyPr/>
          <a:lstStyle/>
          <a:p>
            <a:r>
              <a:rPr lang="en-US" dirty="0"/>
              <a:t>The worst case – missing values depend on their value. </a:t>
            </a:r>
          </a:p>
          <a:p>
            <a:pPr lvl="1"/>
            <a:r>
              <a:rPr lang="en-US" dirty="0"/>
              <a:t>E.g. high income people may tend to fill out the field on the census, low income don’t. </a:t>
            </a:r>
          </a:p>
          <a:p>
            <a:pPr lvl="1"/>
            <a:r>
              <a:rPr lang="en-US" dirty="0"/>
              <a:t>Overweight people may be less likely to fill out weight in a health survey. </a:t>
            </a:r>
          </a:p>
          <a:p>
            <a:pPr lvl="1"/>
            <a:r>
              <a:rPr lang="en-US" dirty="0"/>
              <a:t>It can also depend on variables outside our dataset or other values as well. </a:t>
            </a:r>
          </a:p>
          <a:p>
            <a:r>
              <a:rPr lang="en-US" dirty="0"/>
              <a:t>If we just imputed a mean, that would skew the distribution, and that’s bad. </a:t>
            </a:r>
          </a:p>
          <a:p>
            <a:pPr lvl="1"/>
            <a:r>
              <a:rPr lang="en-US" dirty="0"/>
              <a:t>The imputed value has different distributions in the missing vs present sets. </a:t>
            </a:r>
          </a:p>
          <a:p>
            <a:r>
              <a:rPr lang="en-US" dirty="0"/>
              <a:t>‘Good’ imputation can use more elaborate methods (e.g. estimate proper distribution of the values to be imputed) than we will look at. </a:t>
            </a:r>
          </a:p>
        </p:txBody>
      </p:sp>
    </p:spTree>
    <p:extLst>
      <p:ext uri="{BB962C8B-B14F-4D97-AF65-F5344CB8AC3E}">
        <p14:creationId xmlns:p14="http://schemas.microsoft.com/office/powerpoint/2010/main" val="2864861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7DA2D-2F89-96AC-D20C-BFB9BE9C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Rules of Thumb</a:t>
            </a:r>
          </a:p>
        </p:txBody>
      </p:sp>
      <p:pic>
        <p:nvPicPr>
          <p:cNvPr id="2050" name="Picture 2" descr="Data cleaning: Types of Missingness | by Keerti Prajapati | Medium">
            <a:extLst>
              <a:ext uri="{FF2B5EF4-FFF2-40B4-BE49-F238E27FC236}">
                <a16:creationId xmlns:a16="http://schemas.microsoft.com/office/drawing/2014/main" id="{D2BDAEB9-DCBD-56C8-3C85-41F00111C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1853754"/>
            <a:ext cx="6161583" cy="4621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2AFAF-794C-DC88-7B8A-3EC01CE9F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583" y="1853754"/>
            <a:ext cx="6030418" cy="4278689"/>
          </a:xfrm>
        </p:spPr>
        <p:txBody>
          <a:bodyPr>
            <a:normAutofit/>
          </a:bodyPr>
          <a:lstStyle/>
          <a:p>
            <a:r>
              <a:rPr lang="en-US" sz="2400" dirty="0"/>
              <a:t>This requires specific knowledge to do ‘right’. </a:t>
            </a:r>
          </a:p>
          <a:p>
            <a:r>
              <a:rPr lang="en-US" sz="2400" dirty="0"/>
              <a:t>Medicine has lots of analysis on missing data from medical studies. </a:t>
            </a:r>
          </a:p>
          <a:p>
            <a:pPr lvl="1"/>
            <a:r>
              <a:rPr lang="en-US" sz="2000" dirty="0"/>
              <a:t>High consequence, hard to get more data, expensive, low-</a:t>
            </a:r>
            <a:r>
              <a:rPr lang="en-US" sz="2000" dirty="0" err="1"/>
              <a:t>ish</a:t>
            </a:r>
            <a:r>
              <a:rPr lang="en-US" sz="2000" dirty="0"/>
              <a:t> samples to start. </a:t>
            </a:r>
          </a:p>
          <a:p>
            <a:pPr lvl="1"/>
            <a:r>
              <a:rPr lang="en-US" sz="2000" dirty="0"/>
              <a:t>Avoid skewing data for things like life exp.</a:t>
            </a:r>
          </a:p>
          <a:p>
            <a:r>
              <a:rPr lang="en-US" sz="2400" dirty="0"/>
              <a:t>For us, we need to make reasonable choices.</a:t>
            </a:r>
          </a:p>
          <a:p>
            <a:pPr lvl="1"/>
            <a:r>
              <a:rPr lang="en-US" sz="2200" dirty="0"/>
              <a:t>One generally must happen. </a:t>
            </a:r>
          </a:p>
          <a:p>
            <a:pPr lvl="1"/>
            <a:r>
              <a:rPr lang="en-US" sz="2200" dirty="0"/>
              <a:t> It’s not really a critical thing for us. </a:t>
            </a:r>
          </a:p>
        </p:txBody>
      </p:sp>
    </p:spTree>
    <p:extLst>
      <p:ext uri="{BB962C8B-B14F-4D97-AF65-F5344CB8AC3E}">
        <p14:creationId xmlns:p14="http://schemas.microsoft.com/office/powerpoint/2010/main" val="417589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4DE43-34D4-8CD9-9375-35D185407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Impute This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2EB21-CD15-975B-44E8-6C9DA242C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29603"/>
          </a:xfrm>
        </p:spPr>
        <p:txBody>
          <a:bodyPr/>
          <a:lstStyle/>
          <a:p>
            <a:r>
              <a:rPr lang="en-US" dirty="0"/>
              <a:t>Imputation is something we need and use all the time, but it is more complex in reality. </a:t>
            </a:r>
          </a:p>
          <a:p>
            <a:r>
              <a:rPr lang="en-US" dirty="0"/>
              <a:t>Good imputation requires some more elaborate analysis, unless it is simple. </a:t>
            </a:r>
          </a:p>
          <a:p>
            <a:r>
              <a:rPr lang="en-US" dirty="0"/>
              <a:t>Any solution - imputing or deleting – can introduce bias into the data. </a:t>
            </a:r>
          </a:p>
          <a:p>
            <a:r>
              <a:rPr lang="en-US" dirty="0"/>
              <a:t>Ideally we want to minimize that bias (i.e. don’t change the data patterns):</a:t>
            </a:r>
          </a:p>
          <a:p>
            <a:pPr lvl="1"/>
            <a:r>
              <a:rPr lang="en-US" dirty="0"/>
              <a:t>If deleting data, we want to ensure that we aren’t deleting data from one part of the dist. </a:t>
            </a:r>
          </a:p>
          <a:p>
            <a:pPr lvl="1"/>
            <a:r>
              <a:rPr lang="en-US" dirty="0"/>
              <a:t>For imputing data, we want to ensure that the data we insert matches the dist. </a:t>
            </a:r>
          </a:p>
          <a:p>
            <a:pPr lvl="1"/>
            <a:r>
              <a:rPr lang="en-US" dirty="0"/>
              <a:t>There is no perfect answer – everything is a patch. </a:t>
            </a:r>
          </a:p>
          <a:p>
            <a:r>
              <a:rPr lang="en-US" dirty="0"/>
              <a:t>At a high level, the ML models pick up on patterns in data. Imputation generates fake data, but if done well, won’t impact that pattern – so the model learns the same thing. </a:t>
            </a:r>
          </a:p>
        </p:txBody>
      </p:sp>
    </p:spTree>
    <p:extLst>
      <p:ext uri="{BB962C8B-B14F-4D97-AF65-F5344CB8AC3E}">
        <p14:creationId xmlns:p14="http://schemas.microsoft.com/office/powerpoint/2010/main" val="61414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2A6FB-B8EF-94E4-3037-EDA3D4419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Example –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A196F-ECBB-5D46-C158-25DD2A698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12" y="1853754"/>
            <a:ext cx="5118137" cy="4199727"/>
          </a:xfrm>
        </p:spPr>
        <p:txBody>
          <a:bodyPr>
            <a:normAutofit/>
          </a:bodyPr>
          <a:lstStyle/>
          <a:p>
            <a:r>
              <a:rPr lang="en-US" dirty="0"/>
              <a:t>This has simple mean imputation on height.</a:t>
            </a:r>
          </a:p>
          <a:p>
            <a:r>
              <a:rPr lang="en-US" dirty="0"/>
              <a:t>Inserting the imputed height introduces some bias. </a:t>
            </a:r>
          </a:p>
          <a:p>
            <a:pPr lvl="1"/>
            <a:r>
              <a:rPr lang="en-US" dirty="0"/>
              <a:t>The average weight of the imputed data is higher than the observed. </a:t>
            </a:r>
          </a:p>
          <a:p>
            <a:pPr lvl="1"/>
            <a:r>
              <a:rPr lang="en-US" dirty="0"/>
              <a:t>Those heavy players are likely taller in reality. </a:t>
            </a:r>
          </a:p>
          <a:p>
            <a:r>
              <a:rPr lang="en-US" dirty="0"/>
              <a:t>The model shifts due to bias. </a:t>
            </a:r>
          </a:p>
          <a:p>
            <a:r>
              <a:rPr lang="en-US" dirty="0"/>
              <a:t>The upper picture is better – no change in pattern of the data. </a:t>
            </a:r>
          </a:p>
        </p:txBody>
      </p:sp>
      <p:pic>
        <p:nvPicPr>
          <p:cNvPr id="3074" name="Picture 2" descr="3 problems with mean imputation - The DO Loop">
            <a:extLst>
              <a:ext uri="{FF2B5EF4-FFF2-40B4-BE49-F238E27FC236}">
                <a16:creationId xmlns:a16="http://schemas.microsoft.com/office/drawing/2014/main" id="{2902D8A1-12D1-46A2-C5D3-1DB78B5DBC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48549" y="1575413"/>
            <a:ext cx="7043451" cy="5282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1.3.1 Listwise deletion">
            <a:extLst>
              <a:ext uri="{FF2B5EF4-FFF2-40B4-BE49-F238E27FC236}">
                <a16:creationId xmlns:a16="http://schemas.microsoft.com/office/drawing/2014/main" id="{E5AC9998-DB6D-4609-3CA6-1967230639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78" t="2872" r="1892" b="4897"/>
          <a:stretch/>
        </p:blipFill>
        <p:spPr bwMode="auto">
          <a:xfrm>
            <a:off x="9611392" y="38158"/>
            <a:ext cx="2580607" cy="2519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7465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D79E0-3965-7AF2-FFB9-878B31B7F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 – </a:t>
            </a:r>
            <a:r>
              <a:rPr lang="en-US" dirty="0" err="1"/>
              <a:t>BiG</a:t>
            </a:r>
            <a:r>
              <a:rPr lang="en-US" dirty="0"/>
              <a:t> Time ML Stuff!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62819E-D5B7-02EC-A934-CBF54A96E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5"/>
            <a:ext cx="9603275" cy="4199726"/>
          </a:xfrm>
        </p:spPr>
        <p:txBody>
          <a:bodyPr/>
          <a:lstStyle/>
          <a:p>
            <a:r>
              <a:rPr lang="en-US" dirty="0"/>
              <a:t>Regularization in linear models (ch2, </a:t>
            </a:r>
            <a:r>
              <a:rPr lang="en-US"/>
              <a:t>~pg51):</a:t>
            </a:r>
            <a:endParaRPr lang="en-US" dirty="0"/>
          </a:p>
          <a:p>
            <a:pPr lvl="1"/>
            <a:r>
              <a:rPr lang="en-US" dirty="0"/>
              <a:t>Basis functions and bias/variance fit review. </a:t>
            </a:r>
          </a:p>
          <a:p>
            <a:pPr lvl="1"/>
            <a:r>
              <a:rPr lang="en-US" dirty="0"/>
              <a:t>Residual plots and analysis. </a:t>
            </a:r>
          </a:p>
          <a:p>
            <a:pPr lvl="1"/>
            <a:r>
              <a:rPr lang="en-US" dirty="0"/>
              <a:t>Types and theory of regularization. </a:t>
            </a:r>
          </a:p>
          <a:p>
            <a:pPr lvl="1"/>
            <a:r>
              <a:rPr lang="en-US" dirty="0"/>
              <a:t>Variable selection with regularization. </a:t>
            </a:r>
          </a:p>
          <a:p>
            <a:r>
              <a:rPr lang="en-US" dirty="0"/>
              <a:t>Checkpoint – manipulating data and pipelines. </a:t>
            </a:r>
          </a:p>
          <a:p>
            <a:pPr lvl="1"/>
            <a:r>
              <a:rPr lang="en-US" dirty="0"/>
              <a:t>Next time we’ll use some 2D data – images. </a:t>
            </a:r>
          </a:p>
          <a:p>
            <a:pPr lvl="1"/>
            <a:r>
              <a:rPr lang="en-US" dirty="0"/>
              <a:t>It isn’t really hard, but it is a bit easier to get confused with data, shapes,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/>
            <a:r>
              <a:rPr lang="en-US" dirty="0"/>
              <a:t>If this feels hard or confusing, please ask and we can try to figure it out. </a:t>
            </a:r>
          </a:p>
          <a:p>
            <a:r>
              <a:rPr lang="en-US" dirty="0"/>
              <a:t>You guys are all comfortable with one-hot encoding, right?</a:t>
            </a:r>
          </a:p>
        </p:txBody>
      </p:sp>
    </p:spTree>
    <p:extLst>
      <p:ext uri="{BB962C8B-B14F-4D97-AF65-F5344CB8AC3E}">
        <p14:creationId xmlns:p14="http://schemas.microsoft.com/office/powerpoint/2010/main" val="2125533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E0C32-FEA6-8211-AB14-F349D363A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thing Happened!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1FDF7-2F2A-D3C7-5E2D-95D8551DD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There’s been new news on machine learning in the past week or so. </a:t>
            </a:r>
          </a:p>
          <a:p>
            <a:r>
              <a:rPr lang="en-US" dirty="0"/>
              <a:t>Existing large models are basically mega-</a:t>
            </a:r>
            <a:r>
              <a:rPr lang="en-US" dirty="0" err="1"/>
              <a:t>corp</a:t>
            </a:r>
            <a:r>
              <a:rPr lang="en-US" dirty="0"/>
              <a:t> only due to needed resources. </a:t>
            </a:r>
          </a:p>
          <a:p>
            <a:pPr lvl="1"/>
            <a:r>
              <a:rPr lang="en-US" dirty="0"/>
              <a:t>10s of thousands of GPUs, each costing 10s of thousands of dollars, to train. </a:t>
            </a:r>
          </a:p>
          <a:p>
            <a:pPr lvl="1"/>
            <a:r>
              <a:rPr lang="en-US" dirty="0"/>
              <a:t>Companies are literally looking at nuclear reactors to power the data centers. </a:t>
            </a:r>
          </a:p>
          <a:p>
            <a:pPr lvl="1"/>
            <a:r>
              <a:rPr lang="en-US" dirty="0"/>
              <a:t>Costs can be in the hundreds of millions, next-gen models may cost billions to train. </a:t>
            </a:r>
          </a:p>
          <a:p>
            <a:pPr lvl="1"/>
            <a:r>
              <a:rPr lang="en-US" dirty="0"/>
              <a:t>Only Google, FB, MS invested OpenAI can really do this, no one else has the resources. </a:t>
            </a:r>
          </a:p>
          <a:p>
            <a:r>
              <a:rPr lang="en-US" dirty="0"/>
              <a:t>A Chinese company </a:t>
            </a:r>
            <a:r>
              <a:rPr lang="en-US" dirty="0" err="1"/>
              <a:t>Deepseek</a:t>
            </a:r>
            <a:r>
              <a:rPr lang="en-US" dirty="0"/>
              <a:t> released a new model that is supposedly much more efficient on HW and training time than competitors like ChatGPT. </a:t>
            </a:r>
          </a:p>
          <a:p>
            <a:pPr lvl="1"/>
            <a:r>
              <a:rPr lang="en-US" dirty="0"/>
              <a:t>This was apparently a side project of some hedge fund guys? They had spare GPU time. </a:t>
            </a:r>
          </a:p>
        </p:txBody>
      </p:sp>
    </p:spTree>
    <p:extLst>
      <p:ext uri="{BB962C8B-B14F-4D97-AF65-F5344CB8AC3E}">
        <p14:creationId xmlns:p14="http://schemas.microsoft.com/office/powerpoint/2010/main" val="4096302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7640C-6ECC-32F9-9863-7211AC0E0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Could be Really Big!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A17D5-4BEE-85AF-285A-1C02DCB36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6885" y="1853754"/>
            <a:ext cx="9934833" cy="4199727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 err="1"/>
              <a:t>DeepSeek</a:t>
            </a:r>
            <a:r>
              <a:rPr lang="en-US" dirty="0"/>
              <a:t> people made the training process more efficient, keeping performance. </a:t>
            </a:r>
          </a:p>
          <a:p>
            <a:pPr lvl="1"/>
            <a:r>
              <a:rPr lang="en-US" dirty="0"/>
              <a:t>A bunch of optimizations – lower precision values, multi-token predictions (later). </a:t>
            </a:r>
          </a:p>
          <a:p>
            <a:pPr lvl="1"/>
            <a:r>
              <a:rPr lang="en-US" dirty="0"/>
              <a:t>Mixture of Experts – basically a combination of smaller specialized models vs one massive. </a:t>
            </a:r>
          </a:p>
          <a:p>
            <a:pPr lvl="1"/>
            <a:r>
              <a:rPr lang="en-US" dirty="0"/>
              <a:t>Other optimizations to maximize utilization and minimize moving data. </a:t>
            </a:r>
          </a:p>
          <a:p>
            <a:pPr lvl="1"/>
            <a:r>
              <a:rPr lang="en-US" dirty="0"/>
              <a:t>This stuff already exists, so it might also have some private stuff or a weird combo. </a:t>
            </a:r>
          </a:p>
          <a:p>
            <a:pPr lvl="1"/>
            <a:r>
              <a:rPr lang="en-US" dirty="0"/>
              <a:t>Much more achievable on consumer grade hardware, or lower end enterprise. </a:t>
            </a:r>
          </a:p>
          <a:p>
            <a:r>
              <a:rPr lang="en-US" dirty="0"/>
              <a:t>If these techniques work well in general, we should see smaller (universities, hobbyists, small companies) orgs able to develop models that are more competitive with the large players. </a:t>
            </a:r>
          </a:p>
          <a:p>
            <a:pPr lvl="1"/>
            <a:r>
              <a:rPr lang="en-US" dirty="0"/>
              <a:t>~$5 million vs ~$100 million training costs for similar performance. (Rumored)</a:t>
            </a:r>
          </a:p>
          <a:p>
            <a:pPr lvl="1"/>
            <a:r>
              <a:rPr lang="en-US" dirty="0"/>
              <a:t>China is under US export restrictions stopping them from getting state of the art GPUs. </a:t>
            </a:r>
          </a:p>
        </p:txBody>
      </p:sp>
    </p:spTree>
    <p:extLst>
      <p:ext uri="{BB962C8B-B14F-4D97-AF65-F5344CB8AC3E}">
        <p14:creationId xmlns:p14="http://schemas.microsoft.com/office/powerpoint/2010/main" val="1293684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9E821-FDD0-AE9E-9903-2BD26964C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Changes May be Underfoot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79DD7-0791-A1C2-E059-8A29DB0B1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4530" y="1853754"/>
            <a:ext cx="10058399" cy="4199727"/>
          </a:xfrm>
        </p:spPr>
        <p:txBody>
          <a:bodyPr>
            <a:normAutofit/>
          </a:bodyPr>
          <a:lstStyle/>
          <a:p>
            <a:r>
              <a:rPr lang="en-US" dirty="0"/>
              <a:t>This may potentially cause serious changes in the industry soon. </a:t>
            </a:r>
          </a:p>
          <a:p>
            <a:pPr lvl="1"/>
            <a:r>
              <a:rPr lang="en-US" dirty="0"/>
              <a:t>NVDA lost $600 billion in one day of trading. </a:t>
            </a:r>
          </a:p>
          <a:p>
            <a:pPr lvl="1"/>
            <a:r>
              <a:rPr lang="en-US" dirty="0"/>
              <a:t>Facebook is said to be readying “multiple war rooms” (which sounds appropriately stupid) to figure out the details of how it works. </a:t>
            </a:r>
          </a:p>
          <a:p>
            <a:r>
              <a:rPr lang="en-US" dirty="0"/>
              <a:t>GPU market might change drastically – NVDA was really juicing their monopoly position. </a:t>
            </a:r>
          </a:p>
          <a:p>
            <a:pPr lvl="1"/>
            <a:r>
              <a:rPr lang="en-US" dirty="0"/>
              <a:t>The GPUs needed for this are </a:t>
            </a:r>
            <a:r>
              <a:rPr lang="en-US" dirty="0" err="1"/>
              <a:t>nVidia</a:t>
            </a:r>
            <a:r>
              <a:rPr lang="en-US" dirty="0"/>
              <a:t> only, expensive, and limited – the company controlled this. </a:t>
            </a:r>
          </a:p>
          <a:p>
            <a:r>
              <a:rPr lang="en-US" dirty="0"/>
              <a:t>The ability to run inference (generate data) on smaller devices may be huge. (Reading needed)</a:t>
            </a:r>
          </a:p>
          <a:p>
            <a:pPr lvl="1"/>
            <a:r>
              <a:rPr lang="en-US" dirty="0"/>
              <a:t>Smarter Siri-like AI models able to run offline. On-device things like self driving cars may be better. </a:t>
            </a:r>
          </a:p>
          <a:p>
            <a:pPr lvl="1"/>
            <a:r>
              <a:rPr lang="en-US" dirty="0"/>
              <a:t>For data sensitive clients, this may matter a lot – a bank won’t provide their data to OAI for customized models, creating a large custom one from scratch is too expensive, this may bridge. </a:t>
            </a:r>
          </a:p>
        </p:txBody>
      </p:sp>
    </p:spTree>
    <p:extLst>
      <p:ext uri="{BB962C8B-B14F-4D97-AF65-F5344CB8AC3E}">
        <p14:creationId xmlns:p14="http://schemas.microsoft.com/office/powerpoint/2010/main" val="1928250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55CAA-CEDC-AB0D-A911-3C28EC9E1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Farther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DDC6A-0B70-33B0-2DB3-66BD191CA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9816" y="1853754"/>
            <a:ext cx="10169611" cy="4199727"/>
          </a:xfrm>
        </p:spPr>
        <p:txBody>
          <a:bodyPr>
            <a:normAutofit/>
          </a:bodyPr>
          <a:lstStyle/>
          <a:p>
            <a:r>
              <a:rPr lang="en-US" dirty="0"/>
              <a:t>Adapting something like this to image/video models could be even more impactful. </a:t>
            </a:r>
          </a:p>
          <a:p>
            <a:pPr lvl="1"/>
            <a:r>
              <a:rPr lang="en-US" dirty="0"/>
              <a:t>Could reduce massive video needs ‘down to’ the current expensive GPU specs. </a:t>
            </a:r>
          </a:p>
          <a:p>
            <a:pPr lvl="1"/>
            <a:r>
              <a:rPr lang="en-US" dirty="0"/>
              <a:t>Training image/video (or 4k) models is even more intensive than text, so benefits may be greater. </a:t>
            </a:r>
          </a:p>
          <a:p>
            <a:r>
              <a:rPr lang="en-US" dirty="0"/>
              <a:t>Could help speed development in things like self driving cars. </a:t>
            </a:r>
          </a:p>
          <a:p>
            <a:r>
              <a:rPr lang="en-US" dirty="0"/>
              <a:t>Will probably spur a bunch of grad students and smart AI researchers to expand on what the </a:t>
            </a:r>
            <a:r>
              <a:rPr lang="en-US" dirty="0" err="1"/>
              <a:t>deepseek</a:t>
            </a:r>
            <a:r>
              <a:rPr lang="en-US" dirty="0"/>
              <a:t> people found, expand it, ‘test it’, adapt it, and document it for us normal folk. </a:t>
            </a:r>
          </a:p>
          <a:p>
            <a:pPr lvl="1"/>
            <a:r>
              <a:rPr lang="en-US" dirty="0"/>
              <a:t>People will try similar things in all type of scenarios and see what works. </a:t>
            </a:r>
          </a:p>
          <a:p>
            <a:pPr lvl="1"/>
            <a:r>
              <a:rPr lang="en-US" dirty="0"/>
              <a:t>HW demands are still huge for cutting edge things, but universities, companies, gov’ts have that. </a:t>
            </a:r>
          </a:p>
          <a:p>
            <a:r>
              <a:rPr lang="en-US" dirty="0"/>
              <a:t>Current LLMs train for 1 or 2 epochs, could these techniques make multiple epochs practical? </a:t>
            </a:r>
          </a:p>
        </p:txBody>
      </p:sp>
    </p:spTree>
    <p:extLst>
      <p:ext uri="{BB962C8B-B14F-4D97-AF65-F5344CB8AC3E}">
        <p14:creationId xmlns:p14="http://schemas.microsoft.com/office/powerpoint/2010/main" val="36279265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911B6-CB2C-C4B7-372D-C135CD0A5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Geopolitical Fun!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BD7E-44EE-7401-3321-AE5FE47A2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8441277" cy="4312268"/>
          </a:xfrm>
        </p:spPr>
        <p:txBody>
          <a:bodyPr>
            <a:normAutofit fontScale="92500"/>
          </a:bodyPr>
          <a:lstStyle/>
          <a:p>
            <a:r>
              <a:rPr lang="en-US" dirty="0"/>
              <a:t>Thankfully, this is happening at a time of global tranquility, where rational leaders will carefully consider the impacts and act in the good of humanity. </a:t>
            </a:r>
          </a:p>
          <a:p>
            <a:r>
              <a:rPr lang="en-US" dirty="0"/>
              <a:t>Said leaders would also never resort to protectionist tactics like tariffs.</a:t>
            </a:r>
          </a:p>
          <a:p>
            <a:r>
              <a:rPr lang="en-US" dirty="0"/>
              <a:t>Some tech bros genuinely think their AI is the most important thing to humanity. </a:t>
            </a:r>
          </a:p>
          <a:p>
            <a:r>
              <a:rPr lang="en-US" dirty="0"/>
              <a:t>It is massive to Taiwan and China/US interest there for chip making. </a:t>
            </a:r>
          </a:p>
          <a:p>
            <a:r>
              <a:rPr lang="en-US" dirty="0"/>
              <a:t>AI investments have been massive – under certain assumptions. </a:t>
            </a:r>
          </a:p>
          <a:p>
            <a:pPr lvl="1"/>
            <a:r>
              <a:rPr lang="en-US" dirty="0"/>
              <a:t>Biggest wins and easy to monopolize – barrier to entry is massive. </a:t>
            </a:r>
          </a:p>
          <a:p>
            <a:r>
              <a:rPr lang="en-US" dirty="0"/>
              <a:t>These massive investments look less awesome now. How much? </a:t>
            </a:r>
          </a:p>
          <a:p>
            <a:pPr lvl="1"/>
            <a:r>
              <a:rPr lang="en-US" dirty="0"/>
              <a:t>DS has kind of commoditized the pricing of LLMs now. </a:t>
            </a:r>
          </a:p>
          <a:p>
            <a:pPr lvl="1"/>
            <a:r>
              <a:rPr lang="en-US" dirty="0"/>
              <a:t>Lower entry barriers means mass competitors vs a handful. </a:t>
            </a:r>
          </a:p>
        </p:txBody>
      </p:sp>
      <p:pic>
        <p:nvPicPr>
          <p:cNvPr id="9220" name="Picture 4" descr="UT/TT Poll: Support for Trump Increases, Divisiveness Remains - UT News">
            <a:extLst>
              <a:ext uri="{FF2B5EF4-FFF2-40B4-BE49-F238E27FC236}">
                <a16:creationId xmlns:a16="http://schemas.microsoft.com/office/drawing/2014/main" id="{36E204D5-DEF8-5498-CA08-E6300CBB4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1277" y="1123985"/>
            <a:ext cx="3616943" cy="2409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Trump critics say inauguration optics show oligarchy in action | Technology  News | Al Jazeera">
            <a:extLst>
              <a:ext uri="{FF2B5EF4-FFF2-40B4-BE49-F238E27FC236}">
                <a16:creationId xmlns:a16="http://schemas.microsoft.com/office/drawing/2014/main" id="{4CB9BAA4-8B93-42D0-1CC0-282D3A219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2617" y="3533793"/>
            <a:ext cx="4795603" cy="3194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87120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41502-66C4-9F47-9818-FC9477B18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9957" y="802298"/>
            <a:ext cx="9414896" cy="2541431"/>
          </a:xfrm>
        </p:spPr>
        <p:txBody>
          <a:bodyPr>
            <a:normAutofit fontScale="90000"/>
          </a:bodyPr>
          <a:lstStyle/>
          <a:p>
            <a:r>
              <a:rPr lang="en-US" dirty="0"/>
              <a:t>Linear Regression with non-Linear Data and Regularization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C6A61-2478-0649-A251-5AA8272DE2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81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90414-D605-0F44-8CB9-D56F82CDE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Linear and non-Linear</a:t>
            </a:r>
          </a:p>
        </p:txBody>
      </p:sp>
      <p:pic>
        <p:nvPicPr>
          <p:cNvPr id="14338" name="Picture 2" descr="Anscombe's quartet - Wikipedia">
            <a:extLst>
              <a:ext uri="{FF2B5EF4-FFF2-40B4-BE49-F238E27FC236}">
                <a16:creationId xmlns:a16="http://schemas.microsoft.com/office/drawing/2014/main" id="{6BD7D81C-F295-4567-2F8D-1BF8B5746D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4" r="4372"/>
          <a:stretch/>
        </p:blipFill>
        <p:spPr bwMode="auto">
          <a:xfrm>
            <a:off x="1867" y="1853754"/>
            <a:ext cx="6836607" cy="490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57618-72E4-7342-81F2-61B66A6C3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92299" y="2015734"/>
            <a:ext cx="5297834" cy="4037747"/>
          </a:xfrm>
        </p:spPr>
        <p:txBody>
          <a:bodyPr>
            <a:normAutofit/>
          </a:bodyPr>
          <a:lstStyle/>
          <a:p>
            <a:r>
              <a:rPr lang="en-US" dirty="0"/>
              <a:t>Linear models are excellent….</a:t>
            </a:r>
          </a:p>
          <a:p>
            <a:r>
              <a:rPr lang="en-US" dirty="0"/>
              <a:t>… If there’s a linear relationship in the data. </a:t>
            </a:r>
          </a:p>
          <a:p>
            <a:r>
              <a:rPr lang="en-US" dirty="0"/>
              <a:t>For non-linear relationships, linear regressions can struggle – they can’t ‘capture’ curves.</a:t>
            </a:r>
          </a:p>
          <a:p>
            <a:pPr lvl="1"/>
            <a:r>
              <a:rPr lang="en-US" dirty="0"/>
              <a:t>Linear models can’t learn non-linear relationships (trees can).</a:t>
            </a:r>
          </a:p>
          <a:p>
            <a:r>
              <a:rPr lang="en-US" dirty="0"/>
              <a:t>We first saw this with Anscombe’s Quartet.</a:t>
            </a:r>
          </a:p>
          <a:p>
            <a:pPr lvl="1"/>
            <a:r>
              <a:rPr lang="en-US" dirty="0"/>
              <a:t>Same regression, r2, mean, variance. </a:t>
            </a:r>
          </a:p>
          <a:p>
            <a:pPr lvl="1"/>
            <a:r>
              <a:rPr lang="en-US" dirty="0"/>
              <a:t>Only one would yield good predictions. </a:t>
            </a:r>
          </a:p>
        </p:txBody>
      </p:sp>
    </p:spTree>
    <p:extLst>
      <p:ext uri="{BB962C8B-B14F-4D97-AF65-F5344CB8AC3E}">
        <p14:creationId xmlns:p14="http://schemas.microsoft.com/office/powerpoint/2010/main" val="1606411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9BB0C-59CF-E749-BF0C-351B78CB7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need a Hero - Basis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09189E-5EDD-CB40-A30D-A98C3B78E7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We can adapt linear regression to non-linear relationships by using a basis function. </a:t>
            </a:r>
          </a:p>
          <a:p>
            <a:r>
              <a:rPr lang="en-US" dirty="0"/>
              <a:t>Basis functions are a transformation that changes the x to a function of x.</a:t>
            </a:r>
          </a:p>
          <a:p>
            <a:r>
              <a:rPr lang="en-CA" dirty="0"/>
              <a:t>If we have a basis function: 𝜙</a:t>
            </a:r>
            <a:r>
              <a:rPr lang="en-CA" baseline="-25000" dirty="0"/>
              <a:t>𝑗</a:t>
            </a:r>
            <a:r>
              <a:rPr lang="en-CA" dirty="0"/>
              <a:t>()</a:t>
            </a:r>
            <a:endParaRPr lang="en-CA" baseline="-25000" dirty="0"/>
          </a:p>
          <a:p>
            <a:r>
              <a:rPr lang="en-CA" dirty="0"/>
              <a:t>Each x value then becomes: 𝜙</a:t>
            </a:r>
            <a:r>
              <a:rPr lang="en-CA" baseline="-25000" dirty="0"/>
              <a:t>𝑗</a:t>
            </a:r>
            <a:r>
              <a:rPr lang="en-CA" dirty="0"/>
              <a:t>(𝑥</a:t>
            </a:r>
            <a:r>
              <a:rPr lang="en-CA" baseline="-25000" dirty="0"/>
              <a:t>𝑖</a:t>
            </a:r>
            <a:r>
              <a:rPr lang="en-CA" dirty="0"/>
              <a:t>)</a:t>
            </a:r>
          </a:p>
          <a:p>
            <a:r>
              <a:rPr lang="en-CA" dirty="0"/>
              <a:t>This function could be anything, the closer it captures the pattern in data, the better.</a:t>
            </a:r>
          </a:p>
          <a:p>
            <a:r>
              <a:rPr lang="en-CA" dirty="0"/>
              <a:t>Similar to something like a log-transformation in stats – we can transform the data, make it more normal (or linear), then use things that work with the transformed form. </a:t>
            </a:r>
            <a:br>
              <a:rPr lang="en-CA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952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051EF-E476-AA3D-77E6-42AF4D8DB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Recall – Stats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167FD-93ED-9E55-1932-0097C770A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850" y="1853754"/>
            <a:ext cx="5872774" cy="4199727"/>
          </a:xfrm>
        </p:spPr>
        <p:txBody>
          <a:bodyPr>
            <a:normAutofit/>
          </a:bodyPr>
          <a:lstStyle/>
          <a:p>
            <a:r>
              <a:rPr lang="en-US" dirty="0"/>
              <a:t>Recall in stats where we frequently do things like log-transformations.</a:t>
            </a:r>
          </a:p>
          <a:p>
            <a:pPr lvl="1"/>
            <a:r>
              <a:rPr lang="en-US" dirty="0"/>
              <a:t>E.g. income or wage analysis.  Generalizations. </a:t>
            </a:r>
          </a:p>
          <a:p>
            <a:r>
              <a:rPr lang="en-US" dirty="0"/>
              <a:t>Data that fits a certain pattern allows for tools that assume that pattern to function better. </a:t>
            </a:r>
          </a:p>
          <a:p>
            <a:pPr lvl="1"/>
            <a:r>
              <a:rPr lang="en-US" dirty="0"/>
              <a:t>Log: we can do parametric tests (e.g. t-test) or improve model (e.g. regression target).</a:t>
            </a:r>
          </a:p>
          <a:p>
            <a:pPr lvl="1"/>
            <a:r>
              <a:rPr lang="en-US" dirty="0"/>
              <a:t>Basis: we can use a parametric model (linear models assume linear data) on non-linear data. </a:t>
            </a:r>
          </a:p>
          <a:p>
            <a:r>
              <a:rPr lang="en-US" dirty="0"/>
              <a:t>Residual plots can show this sometimes. </a:t>
            </a:r>
          </a:p>
        </p:txBody>
      </p:sp>
      <p:pic>
        <p:nvPicPr>
          <p:cNvPr id="10242" name="Picture 2" descr="Log Transformation Fig 2. shows the graph of Log transformed price -  mathiaspeguet.fr">
            <a:extLst>
              <a:ext uri="{FF2B5EF4-FFF2-40B4-BE49-F238E27FC236}">
                <a16:creationId xmlns:a16="http://schemas.microsoft.com/office/drawing/2014/main" id="{E0C9D8F4-9939-6E72-2FE1-2C93A00A2F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44623" y="2015734"/>
            <a:ext cx="6036918" cy="4286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0612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8FEA7-478B-0843-A547-5692158F5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Polynomial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AFBC82-E12D-2C4A-A1C0-B4EC394FC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8130"/>
            <a:ext cx="9603275" cy="4194313"/>
          </a:xfrm>
        </p:spPr>
        <p:txBody>
          <a:bodyPr>
            <a:normAutofit/>
          </a:bodyPr>
          <a:lstStyle/>
          <a:p>
            <a:r>
              <a:rPr lang="en-US" dirty="0"/>
              <a:t>Maybe the most common example is a polynomial function. </a:t>
            </a:r>
          </a:p>
          <a:p>
            <a:r>
              <a:rPr lang="en-US" dirty="0"/>
              <a:t>We can replace each x in a linear regression with a polynomial function of </a:t>
            </a:r>
            <a:r>
              <a:rPr lang="en-US" dirty="0" err="1"/>
              <a:t>x</a:t>
            </a:r>
            <a:r>
              <a:rPr lang="en-US" baseline="30000" dirty="0" err="1"/>
              <a:t>n</a:t>
            </a:r>
            <a:r>
              <a:rPr lang="en-US" dirty="0"/>
              <a:t>.</a:t>
            </a:r>
          </a:p>
          <a:p>
            <a:pPr lvl="1"/>
            <a:r>
              <a:rPr lang="en-CA" dirty="0"/>
              <a:t>y=b+m</a:t>
            </a:r>
            <a:r>
              <a:rPr lang="en-CA" baseline="-25000" dirty="0"/>
              <a:t>1</a:t>
            </a:r>
            <a:r>
              <a:rPr lang="en-CA" dirty="0"/>
              <a:t>x+m</a:t>
            </a:r>
            <a:r>
              <a:rPr lang="en-CA" baseline="-25000" dirty="0"/>
              <a:t>2</a:t>
            </a:r>
            <a:r>
              <a:rPr lang="en-CA" dirty="0"/>
              <a:t>x</a:t>
            </a:r>
            <a:r>
              <a:rPr lang="en-CA" baseline="30000" dirty="0"/>
              <a:t>2</a:t>
            </a:r>
            <a:r>
              <a:rPr lang="en-CA" dirty="0"/>
              <a:t>+m</a:t>
            </a:r>
            <a:r>
              <a:rPr lang="en-CA" baseline="-25000" dirty="0"/>
              <a:t>3</a:t>
            </a:r>
            <a:r>
              <a:rPr lang="en-CA" dirty="0"/>
              <a:t>x</a:t>
            </a:r>
            <a:r>
              <a:rPr lang="en-CA" baseline="30000" dirty="0"/>
              <a:t>3</a:t>
            </a:r>
            <a:r>
              <a:rPr lang="en-CA" dirty="0"/>
              <a:t>…..</a:t>
            </a:r>
          </a:p>
          <a:p>
            <a:r>
              <a:rPr lang="en-CA" dirty="0"/>
              <a:t>This is still a linear model, but one of polynomial functions.</a:t>
            </a:r>
          </a:p>
          <a:p>
            <a:pPr lvl="1"/>
            <a:r>
              <a:rPr lang="en-CA" dirty="0"/>
              <a:t>The linear part refers to the coefficients never interact. </a:t>
            </a:r>
          </a:p>
          <a:p>
            <a:r>
              <a:rPr lang="en-CA" dirty="0"/>
              <a:t>In </a:t>
            </a:r>
            <a:r>
              <a:rPr lang="en-CA" dirty="0" err="1"/>
              <a:t>sklearn</a:t>
            </a:r>
            <a:r>
              <a:rPr lang="en-CA" dirty="0"/>
              <a:t>, this is done with the </a:t>
            </a:r>
            <a:r>
              <a:rPr lang="en-CA" dirty="0" err="1"/>
              <a:t>PolynomialFeature</a:t>
            </a:r>
            <a:r>
              <a:rPr lang="en-CA" dirty="0"/>
              <a:t> transformation. </a:t>
            </a:r>
          </a:p>
          <a:p>
            <a:pPr lvl="1"/>
            <a:r>
              <a:rPr lang="en-CA" dirty="0"/>
              <a:t>We can add it in a pipe. </a:t>
            </a:r>
          </a:p>
          <a:p>
            <a:pPr lvl="1"/>
            <a:r>
              <a:rPr lang="en-CA" dirty="0"/>
              <a:t>Note: This increases complexity of the model – more dimensions are generated!</a:t>
            </a:r>
          </a:p>
          <a:p>
            <a:pPr lvl="1"/>
            <a:r>
              <a:rPr lang="en-US" dirty="0"/>
              <a:t>E.g. linear regression is in 1D on the example, after basis it is in 2D. </a:t>
            </a:r>
          </a:p>
        </p:txBody>
      </p:sp>
    </p:spTree>
    <p:extLst>
      <p:ext uri="{BB962C8B-B14F-4D97-AF65-F5344CB8AC3E}">
        <p14:creationId xmlns:p14="http://schemas.microsoft.com/office/powerpoint/2010/main" val="1802978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0CD47-DBC5-47DE-BF7D-D623E989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Model Growth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1CABA-AB8B-471C-F372-53A4EECCB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11" y="1853754"/>
            <a:ext cx="5984789" cy="419972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900" dirty="0"/>
              <a:t>As with a tree, the larger the model, the more complex a relationship it can adapt. 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The larger the degree, the more parameters are added.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Linear models are simple – X+1 parameters. 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After basis transformation, data is larger, so X is larger. 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Dimensions are expanded. 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Model becomes larger. </a:t>
            </a:r>
          </a:p>
          <a:p>
            <a:pPr lvl="1">
              <a:lnSpc>
                <a:spcPct val="110000"/>
              </a:lnSpc>
            </a:pPr>
            <a:r>
              <a:rPr lang="en-US" sz="1700" dirty="0"/>
              <a:t>We can’t fit the linear model well in X dimensions, but we might be able to in </a:t>
            </a:r>
            <a:r>
              <a:rPr lang="en-US" sz="1700" dirty="0" err="1"/>
              <a:t>X^n</a:t>
            </a:r>
            <a:r>
              <a:rPr lang="en-US" sz="1700" dirty="0"/>
              <a:t> dimensions…</a:t>
            </a:r>
          </a:p>
          <a:p>
            <a:pPr>
              <a:lnSpc>
                <a:spcPct val="110000"/>
              </a:lnSpc>
            </a:pPr>
            <a:r>
              <a:rPr lang="en-US" sz="1900" dirty="0"/>
              <a:t>More parameters -&gt; more learning -&gt; more complex.</a:t>
            </a:r>
          </a:p>
        </p:txBody>
      </p:sp>
      <p:pic>
        <p:nvPicPr>
          <p:cNvPr id="17410" name="Picture 2" descr="Polynomial basis functions | Download Table">
            <a:extLst>
              <a:ext uri="{FF2B5EF4-FFF2-40B4-BE49-F238E27FC236}">
                <a16:creationId xmlns:a16="http://schemas.microsoft.com/office/drawing/2014/main" id="{FD42C58E-8B5C-09DB-7208-C7EBC6015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21949" y="2668676"/>
            <a:ext cx="5758840" cy="2002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5791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F2D8-5C64-1846-89C5-CF86F872F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8" y="140090"/>
            <a:ext cx="9603275" cy="1049235"/>
          </a:xfrm>
        </p:spPr>
        <p:txBody>
          <a:bodyPr/>
          <a:lstStyle/>
          <a:p>
            <a:r>
              <a:rPr lang="en-US" dirty="0"/>
              <a:t>Result of Polynomial Feature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0FCD3-96A8-D44B-B7F8-91AD746151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B0EA68-7AA2-5245-BB7F-8A1C13420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1144001"/>
            <a:ext cx="9084616" cy="5713999"/>
          </a:xfrm>
          <a:prstGeom prst="rect">
            <a:avLst/>
          </a:prstGeom>
        </p:spPr>
      </p:pic>
      <p:pic>
        <p:nvPicPr>
          <p:cNvPr id="2058" name="Picture 10" descr="Emoticon Thumb Up transparent PNG - StickPNG">
            <a:extLst>
              <a:ext uri="{FF2B5EF4-FFF2-40B4-BE49-F238E27FC236}">
                <a16:creationId xmlns:a16="http://schemas.microsoft.com/office/drawing/2014/main" id="{20909E10-1304-104D-9060-312F49F22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087" y="3429000"/>
            <a:ext cx="2741826" cy="2602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0166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3C631-41E5-D948-9121-6A7827C79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Basis Success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BDE20-53A6-9D44-BA81-836F059B7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278689"/>
          </a:xfrm>
        </p:spPr>
        <p:txBody>
          <a:bodyPr/>
          <a:lstStyle/>
          <a:p>
            <a:r>
              <a:rPr lang="en-US" dirty="0"/>
              <a:t>What a victory! We can model a non-linear relationship with a linear regression. </a:t>
            </a:r>
          </a:p>
          <a:p>
            <a:pPr lvl="1"/>
            <a:r>
              <a:rPr lang="en-US" dirty="0"/>
              <a:t>More flexible and applicable simple models – a linear model can learn non-linear things. </a:t>
            </a:r>
          </a:p>
          <a:p>
            <a:pPr lvl="1"/>
            <a:r>
              <a:rPr lang="en-US" dirty="0"/>
              <a:t>The transformation allows the data to fit the constraints of the model’s function. </a:t>
            </a:r>
          </a:p>
          <a:p>
            <a:r>
              <a:rPr lang="en-US" dirty="0"/>
              <a:t>Basis functions aren’t only polynomial, it could be anything:</a:t>
            </a:r>
          </a:p>
          <a:p>
            <a:pPr lvl="1"/>
            <a:r>
              <a:rPr lang="en-US" dirty="0"/>
              <a:t>Gaussian – example in 5.06 PDSH</a:t>
            </a:r>
          </a:p>
          <a:p>
            <a:pPr lvl="1"/>
            <a:r>
              <a:rPr lang="en-CA" dirty="0"/>
              <a:t>Rectified Linear Units</a:t>
            </a:r>
            <a:r>
              <a:rPr lang="en-US" dirty="0"/>
              <a:t> (</a:t>
            </a:r>
            <a:r>
              <a:rPr lang="en-US" dirty="0" err="1"/>
              <a:t>Relu</a:t>
            </a:r>
            <a:r>
              <a:rPr lang="en-US" dirty="0"/>
              <a:t>) – will come up again in neural networks. </a:t>
            </a:r>
          </a:p>
          <a:p>
            <a:pPr lvl="1"/>
            <a:r>
              <a:rPr lang="en-US" dirty="0"/>
              <a:t>Radial - revisit in SVM and clustering. </a:t>
            </a:r>
          </a:p>
          <a:p>
            <a:r>
              <a:rPr lang="en-CA" dirty="0"/>
              <a:t>Why?</a:t>
            </a:r>
          </a:p>
          <a:p>
            <a:pPr lvl="1"/>
            <a:r>
              <a:rPr lang="en-CA" dirty="0"/>
              <a:t>Really useful in applying linear regression to any random scenario. (Good for old math)</a:t>
            </a:r>
          </a:p>
          <a:p>
            <a:pPr lvl="1"/>
            <a:r>
              <a:rPr lang="en-CA" dirty="0"/>
              <a:t>Helps classification with “weird” borders (~1.5 - 2 weeks from now). Linear </a:t>
            </a:r>
            <a:r>
              <a:rPr lang="en-CA" dirty="0" err="1"/>
              <a:t>seperability</a:t>
            </a:r>
            <a:r>
              <a:rPr lang="en-CA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19427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54162-4A01-C9BA-DDFB-474B05F4F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Basis and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B7EDB-D9C8-17DB-BD4B-3E08293253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4883303" cy="4199727"/>
          </a:xfrm>
        </p:spPr>
        <p:txBody>
          <a:bodyPr>
            <a:normAutofit/>
          </a:bodyPr>
          <a:lstStyle/>
          <a:p>
            <a:r>
              <a:rPr lang="en-US" dirty="0"/>
              <a:t>Models using basis functions are more complex – the ceiling of what they can learn is higher. </a:t>
            </a:r>
          </a:p>
          <a:p>
            <a:pPr lvl="1"/>
            <a:r>
              <a:rPr lang="en-US" dirty="0"/>
              <a:t>The data needs are also higher.</a:t>
            </a:r>
          </a:p>
          <a:p>
            <a:pPr lvl="1"/>
            <a:r>
              <a:rPr lang="en-US" dirty="0"/>
              <a:t>Data will have an ‘adequate’ complexity.</a:t>
            </a:r>
          </a:p>
          <a:p>
            <a:r>
              <a:rPr lang="en-US" dirty="0"/>
              <a:t>Non-linear curves can be modeled with linear models. </a:t>
            </a:r>
          </a:p>
          <a:p>
            <a:pPr lvl="1"/>
            <a:r>
              <a:rPr lang="en-US" dirty="0"/>
              <a:t>This was more critical pre fast computers and other models. </a:t>
            </a:r>
          </a:p>
          <a:p>
            <a:r>
              <a:rPr lang="en-US" dirty="0"/>
              <a:t>Linear model + non-linear-ness is good…</a:t>
            </a:r>
          </a:p>
        </p:txBody>
      </p:sp>
      <p:pic>
        <p:nvPicPr>
          <p:cNvPr id="18436" name="Picture 4" descr="A Comparison of Basis Expansions in Regression">
            <a:extLst>
              <a:ext uri="{FF2B5EF4-FFF2-40B4-BE49-F238E27FC236}">
                <a16:creationId xmlns:a16="http://schemas.microsoft.com/office/drawing/2014/main" id="{617C4AAE-5783-A2D4-E279-599E3156F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3304" y="2264251"/>
            <a:ext cx="7308695" cy="309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10282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12867-D29D-BC3E-703A-D6ABC5D09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Improving Models with Residuals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88153-8430-C7A1-3F6F-FAB8BE43E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290" name="Picture 2" descr="Interpreting Residual Plots to Improve Your Regression">
            <a:extLst>
              <a:ext uri="{FF2B5EF4-FFF2-40B4-BE49-F238E27FC236}">
                <a16:creationId xmlns:a16="http://schemas.microsoft.com/office/drawing/2014/main" id="{5C857AAF-9C5C-79D1-FAB9-FF07FDFB1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284" y="2015732"/>
            <a:ext cx="7151431" cy="4113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3740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A6DEC-52F2-EA3D-000F-7515B5E06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C8BCD-8514-FBB1-634F-45CE5E863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53754"/>
            <a:ext cx="4419600" cy="4199727"/>
          </a:xfrm>
        </p:spPr>
        <p:txBody>
          <a:bodyPr>
            <a:normAutofit/>
          </a:bodyPr>
          <a:lstStyle/>
          <a:p>
            <a:r>
              <a:rPr lang="en-US" dirty="0"/>
              <a:t>We can capture some of these missed relationships in residual plots. </a:t>
            </a:r>
          </a:p>
          <a:p>
            <a:r>
              <a:rPr lang="en-US" dirty="0"/>
              <a:t>Patterns in residuals are patterns missed by the model. </a:t>
            </a:r>
          </a:p>
          <a:p>
            <a:r>
              <a:rPr lang="en-US" dirty="0"/>
              <a:t>Might not be easy to eyeball fit as we can here – need to test (in SVM…).</a:t>
            </a:r>
          </a:p>
          <a:p>
            <a:r>
              <a:rPr lang="en-US" dirty="0"/>
              <a:t>We want random residuals. </a:t>
            </a:r>
          </a:p>
          <a:p>
            <a:pPr lvl="1"/>
            <a:r>
              <a:rPr lang="en-US" dirty="0"/>
              <a:t>No correlation between Y and Error. </a:t>
            </a:r>
          </a:p>
          <a:p>
            <a:pPr lvl="1"/>
            <a:r>
              <a:rPr lang="en-US" dirty="0"/>
              <a:t>Basis ‘captures’ this pattern in model.</a:t>
            </a:r>
          </a:p>
          <a:p>
            <a:pPr lvl="1"/>
            <a:r>
              <a:rPr lang="en-US" dirty="0"/>
              <a:t>Still have error, but not systemic error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1FC09C-A90A-DB44-36BD-7CE88231F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1973249"/>
            <a:ext cx="7772400" cy="408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388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593DA-6D0F-7186-F4E7-9EB4153A1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Q-Q Plots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0FCF0-7FF0-E232-671B-C09E5315B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41" y="2015733"/>
            <a:ext cx="6594165" cy="628614"/>
          </a:xfrm>
        </p:spPr>
        <p:txBody>
          <a:bodyPr/>
          <a:lstStyle/>
          <a:p>
            <a:r>
              <a:rPr lang="en-US" dirty="0"/>
              <a:t>For the stats-</a:t>
            </a:r>
            <a:r>
              <a:rPr lang="en-US" dirty="0" err="1"/>
              <a:t>ier</a:t>
            </a:r>
            <a:r>
              <a:rPr lang="en-US" dirty="0"/>
              <a:t> among us, the Q-Q plot show this. </a:t>
            </a:r>
          </a:p>
        </p:txBody>
      </p:sp>
      <p:pic>
        <p:nvPicPr>
          <p:cNvPr id="13314" name="Picture 2" descr="Shows a QQ Distribution for model fit available in linear regressions of stats iQ. ">
            <a:extLst>
              <a:ext uri="{FF2B5EF4-FFF2-40B4-BE49-F238E27FC236}">
                <a16:creationId xmlns:a16="http://schemas.microsoft.com/office/drawing/2014/main" id="{D31CDAE1-C409-0B2B-8911-A2D0FDC12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43" y="2599823"/>
            <a:ext cx="4712367" cy="4234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enter image description here">
            <a:extLst>
              <a:ext uri="{FF2B5EF4-FFF2-40B4-BE49-F238E27FC236}">
                <a16:creationId xmlns:a16="http://schemas.microsoft.com/office/drawing/2014/main" id="{84BAFBB6-3A26-ECAF-29AC-F3B2CECD3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3214" y="160638"/>
            <a:ext cx="5803602" cy="6659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95291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02BCA-68CD-7DFB-C92B-D1639877B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Types in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C5701-245A-93DC-22B3-466BA0A96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 descr="Bias and Variance in Machine Learning: An In Depth Explanation">
            <a:extLst>
              <a:ext uri="{FF2B5EF4-FFF2-40B4-BE49-F238E27FC236}">
                <a16:creationId xmlns:a16="http://schemas.microsoft.com/office/drawing/2014/main" id="{3B0FA41C-6E4C-8E45-DB42-38AE5FC7C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440" y="1978420"/>
            <a:ext cx="6777120" cy="4135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75985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21253-26B1-E449-A90A-47F25F2E9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 in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2E779-0813-8346-8DD9-96C68B621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Bias Error:</a:t>
            </a:r>
          </a:p>
          <a:p>
            <a:pPr lvl="1"/>
            <a:r>
              <a:rPr lang="en-US" dirty="0"/>
              <a:t>Error due to assumptions made in the modelling process. </a:t>
            </a:r>
          </a:p>
          <a:p>
            <a:pPr lvl="1"/>
            <a:r>
              <a:rPr lang="en-US" dirty="0"/>
              <a:t>Generally results in underfitting. </a:t>
            </a:r>
          </a:p>
          <a:p>
            <a:pPr lvl="1"/>
            <a:r>
              <a:rPr lang="en-US" dirty="0"/>
              <a:t>E.g. assuming a linear relationship. </a:t>
            </a:r>
          </a:p>
          <a:p>
            <a:r>
              <a:rPr lang="en-US" dirty="0"/>
              <a:t>Variance Error:</a:t>
            </a:r>
          </a:p>
          <a:p>
            <a:pPr lvl="1"/>
            <a:r>
              <a:rPr lang="en-US" dirty="0"/>
              <a:t>Error due to variations in the training data.</a:t>
            </a:r>
          </a:p>
          <a:p>
            <a:pPr lvl="1"/>
            <a:r>
              <a:rPr lang="en-US" dirty="0"/>
              <a:t>Generally results in overfitting. </a:t>
            </a:r>
          </a:p>
          <a:p>
            <a:pPr lvl="1"/>
            <a:r>
              <a:rPr lang="en-US" dirty="0"/>
              <a:t>E.g. different training sets for trees generate very different models. </a:t>
            </a:r>
          </a:p>
          <a:p>
            <a:r>
              <a:rPr lang="en-US" dirty="0"/>
              <a:t>Irreducible Error:</a:t>
            </a:r>
          </a:p>
          <a:p>
            <a:pPr lvl="1"/>
            <a:r>
              <a:rPr lang="en-US" dirty="0"/>
              <a:t>Error that we can’t fix through modeling, it in inherent in the data. </a:t>
            </a:r>
          </a:p>
          <a:p>
            <a:pPr lvl="1"/>
            <a:r>
              <a:rPr lang="en-US" dirty="0"/>
              <a:t>May be able to fix it by cleaning data (removing outliers, correcting missing data,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3142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CDDE5CDF-1512-4CDA-B956-23D223F8D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B029D7D8-5A6B-4C76-94C8-15798C6C5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A5C9319C-E20D-4884-952F-60B6A58C3E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62C9703D-C8F9-44AD-A7C0-C2F3871F8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160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3.6.10.16. Bias and variance of polynomial fit — Scipy lecture notes">
            <a:extLst>
              <a:ext uri="{FF2B5EF4-FFF2-40B4-BE49-F238E27FC236}">
                <a16:creationId xmlns:a16="http://schemas.microsoft.com/office/drawing/2014/main" id="{C790E6D7-7508-EF40-B99A-33851F3E99C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3467" y="953596"/>
            <a:ext cx="10905066" cy="4252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48300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415C9-018F-6541-851A-C9C642CA6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Variance Error – Tree that is Overfitted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FF36D-B6F5-B040-9518-D4A55ACA8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Exercise 2 Evaluating Overfitting Risk of a | Chegg.com">
            <a:extLst>
              <a:ext uri="{FF2B5EF4-FFF2-40B4-BE49-F238E27FC236}">
                <a16:creationId xmlns:a16="http://schemas.microsoft.com/office/drawing/2014/main" id="{46B7ABF7-5F76-694B-A31D-282AFD539D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78" r="36655"/>
          <a:stretch/>
        </p:blipFill>
        <p:spPr bwMode="auto">
          <a:xfrm>
            <a:off x="3895567" y="1391655"/>
            <a:ext cx="4400866" cy="54663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96281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14968-5704-3D45-99C5-A24DAA164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Balancing 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26497-CD43-634A-832F-9797A7217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600" y="1853754"/>
            <a:ext cx="7708313" cy="4288629"/>
          </a:xfrm>
        </p:spPr>
        <p:txBody>
          <a:bodyPr>
            <a:normAutofit/>
          </a:bodyPr>
          <a:lstStyle/>
          <a:p>
            <a:r>
              <a:rPr lang="en-US" dirty="0"/>
              <a:t>A good model requires a balance between Bias and Variance. </a:t>
            </a:r>
          </a:p>
          <a:p>
            <a:r>
              <a:rPr lang="en-US" dirty="0"/>
              <a:t>Variance comes from model ‘growth’ or adaptation (change) to data. </a:t>
            </a:r>
          </a:p>
          <a:p>
            <a:r>
              <a:rPr lang="en-US" dirty="0"/>
              <a:t>Too much bias and our model won’t be adequately tailored to the data. </a:t>
            </a:r>
          </a:p>
          <a:p>
            <a:pPr lvl="1"/>
            <a:r>
              <a:rPr lang="en-US" dirty="0"/>
              <a:t>Simple models have high bias. (Small tree)</a:t>
            </a:r>
          </a:p>
          <a:p>
            <a:r>
              <a:rPr lang="en-US" dirty="0"/>
              <a:t>Too much variance, the specific training sample data would impact the model’s predictions too much, and it may be wrong with different data. </a:t>
            </a:r>
          </a:p>
          <a:p>
            <a:pPr lvl="1"/>
            <a:r>
              <a:rPr lang="en-US" dirty="0"/>
              <a:t>Complex models have high variance. (Large trees)</a:t>
            </a:r>
          </a:p>
          <a:p>
            <a:r>
              <a:rPr lang="en-US" dirty="0"/>
              <a:t>Polynomial basis allows us to make a linear model capable of overfitting more – normally it’d have bias error from lack of learning.</a:t>
            </a:r>
          </a:p>
        </p:txBody>
      </p:sp>
      <p:pic>
        <p:nvPicPr>
          <p:cNvPr id="3074" name="Picture 2" descr="Red Panda, The NBA&amp;#39;s Legendary Acrobatic Halftime Act, Has No Plans To Hang  Up Her Unicycle | Complex">
            <a:extLst>
              <a:ext uri="{FF2B5EF4-FFF2-40B4-BE49-F238E27FC236}">
                <a16:creationId xmlns:a16="http://schemas.microsoft.com/office/drawing/2014/main" id="{8494740D-4008-2544-AF9B-86667DC94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43914" y="1853754"/>
            <a:ext cx="3126918" cy="4755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4582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973C6-4158-D3F5-67E8-D85E7CE87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Getting the 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A302A-8D57-3BF1-4149-C1A303A755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205" y="1853754"/>
            <a:ext cx="6954795" cy="4199727"/>
          </a:xfrm>
        </p:spPr>
        <p:txBody>
          <a:bodyPr/>
          <a:lstStyle/>
          <a:p>
            <a:r>
              <a:rPr lang="en-US" dirty="0"/>
              <a:t>We need a model that is large enough to learn the patterns in the data. </a:t>
            </a:r>
          </a:p>
          <a:p>
            <a:pPr lvl="1"/>
            <a:r>
              <a:rPr lang="en-US" dirty="0"/>
              <a:t>Not enough parameters, the model can’t capture patterns. </a:t>
            </a:r>
          </a:p>
          <a:p>
            <a:pPr lvl="1"/>
            <a:r>
              <a:rPr lang="en-US" dirty="0"/>
              <a:t>Too many parameters, likely to overfit the data. </a:t>
            </a:r>
          </a:p>
          <a:p>
            <a:r>
              <a:rPr lang="en-US" dirty="0"/>
              <a:t>I use these explanations to keep it straight:</a:t>
            </a:r>
          </a:p>
          <a:p>
            <a:pPr lvl="1"/>
            <a:r>
              <a:rPr lang="en-US" dirty="0"/>
              <a:t>Bias – the model is too biased towards its preconceptions, so it doesn’t learn from data. (Reacts too little to training data). </a:t>
            </a:r>
          </a:p>
          <a:p>
            <a:pPr lvl="1"/>
            <a:r>
              <a:rPr lang="en-US" dirty="0"/>
              <a:t>Variance – the model is too reactive to the data it sees, so its answers vary too much towards the training data. (Reacts too much to training data). </a:t>
            </a:r>
          </a:p>
        </p:txBody>
      </p:sp>
      <p:pic>
        <p:nvPicPr>
          <p:cNvPr id="19458" name="Picture 2" descr="Combinations-of-Bias-Variance-(1">
            <a:extLst>
              <a:ext uri="{FF2B5EF4-FFF2-40B4-BE49-F238E27FC236}">
                <a16:creationId xmlns:a16="http://schemas.microsoft.com/office/drawing/2014/main" id="{52BEE946-74CE-A59A-DC8C-6A19A7EEDD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959" y="1853754"/>
            <a:ext cx="5004246" cy="5004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85990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B3C14-0A48-E34F-AB78-E75B9592D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Variance Tradeoff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0FE15-B605-AC42-93FE-B5C6E3844D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Bias-Variance Tradeoff in Machine Learning">
            <a:extLst>
              <a:ext uri="{FF2B5EF4-FFF2-40B4-BE49-F238E27FC236}">
                <a16:creationId xmlns:a16="http://schemas.microsoft.com/office/drawing/2014/main" id="{F47D1370-D60E-E143-A3F6-B043905858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47"/>
          <a:stretch/>
        </p:blipFill>
        <p:spPr bwMode="auto">
          <a:xfrm>
            <a:off x="2354316" y="1569308"/>
            <a:ext cx="7797800" cy="5551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05013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C92F5-D063-594F-BED8-C9F8E5523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the balance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4105C-1D55-8846-B8C2-3478547EF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8130"/>
            <a:ext cx="9603275" cy="411535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ML algorithms are generally “greedy” – they’ll try to get as accurate as possible. </a:t>
            </a:r>
          </a:p>
          <a:p>
            <a:pPr lvl="1"/>
            <a:r>
              <a:rPr lang="en-US" dirty="0"/>
              <a:t>E.g. a tree, without any limits, will try to make a model that perfectly fits training data. </a:t>
            </a:r>
          </a:p>
          <a:p>
            <a:r>
              <a:rPr lang="en-US" dirty="0"/>
              <a:t>Our goal is a model that is both accurate and generalizable. </a:t>
            </a:r>
          </a:p>
          <a:p>
            <a:r>
              <a:rPr lang="en-US" dirty="0"/>
              <a:t>We want this accuracy, but limit it to try to achieve the sweet spot.</a:t>
            </a:r>
          </a:p>
          <a:p>
            <a:r>
              <a:rPr lang="en-US" dirty="0"/>
              <a:t>How?</a:t>
            </a:r>
          </a:p>
          <a:p>
            <a:pPr lvl="1"/>
            <a:r>
              <a:rPr lang="en-US" dirty="0"/>
              <a:t>Cross validation. </a:t>
            </a:r>
          </a:p>
          <a:p>
            <a:pPr lvl="1"/>
            <a:r>
              <a:rPr lang="en-US" dirty="0"/>
              <a:t>Hyperparameter values with grid searching. </a:t>
            </a:r>
          </a:p>
          <a:p>
            <a:pPr lvl="1"/>
            <a:r>
              <a:rPr lang="en-US" dirty="0"/>
              <a:t>Early stopping (big in neural networks).</a:t>
            </a:r>
          </a:p>
          <a:p>
            <a:pPr lvl="1"/>
            <a:r>
              <a:rPr lang="en-US" sz="3500" b="1" dirty="0"/>
              <a:t>Regularization. (E.g. tree pruning and regularization in linear regression)…</a:t>
            </a:r>
          </a:p>
        </p:txBody>
      </p:sp>
    </p:spTree>
    <p:extLst>
      <p:ext uri="{BB962C8B-B14F-4D97-AF65-F5344CB8AC3E}">
        <p14:creationId xmlns:p14="http://schemas.microsoft.com/office/powerpoint/2010/main" val="30870823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05F88-1549-33BA-CC96-A487DA773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5B101-1F57-1A7E-8CD3-99C62AFC5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Metamucil Sugar Free Psyllium Fiber Powder, Orange, 36.8 oz. | Rite Aid">
            <a:extLst>
              <a:ext uri="{FF2B5EF4-FFF2-40B4-BE49-F238E27FC236}">
                <a16:creationId xmlns:a16="http://schemas.microsoft.com/office/drawing/2014/main" id="{C68713DC-9F05-AA5F-D978-7E615EEEA6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627" y="2015732"/>
            <a:ext cx="4595177" cy="4595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5307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3F207-3EBA-DF10-FB51-9255AD8A0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Tree Regularization - CCP Alpha Pruning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DEA8B-A838-1ED1-32AF-84910C136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6271" y="1853754"/>
            <a:ext cx="6956854" cy="4199727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We saw regularization with trees – CCP Alpha pruning. </a:t>
            </a:r>
          </a:p>
          <a:p>
            <a:r>
              <a:rPr lang="en-US" sz="2400" dirty="0"/>
              <a:t>This worked by adding a penalty to the calculation of if the tree should split a node. </a:t>
            </a:r>
          </a:p>
          <a:p>
            <a:pPr lvl="1"/>
            <a:r>
              <a:rPr lang="en-US" sz="2000" dirty="0"/>
              <a:t>The “error” increases as the model grows. (The penalty part of the error). </a:t>
            </a:r>
          </a:p>
          <a:p>
            <a:pPr lvl="1"/>
            <a:r>
              <a:rPr lang="en-US" sz="2000" dirty="0"/>
              <a:t>A tree is better by being smaller, or more accurate. </a:t>
            </a:r>
          </a:p>
          <a:p>
            <a:r>
              <a:rPr lang="en-US" sz="2200" dirty="0"/>
              <a:t>Any growth must be ‘justified’ by overcoming the penalty for making the model larger. </a:t>
            </a:r>
          </a:p>
          <a:p>
            <a:r>
              <a:rPr lang="en-US" sz="2200" dirty="0"/>
              <a:t>The tree wants to grow, regularization constrains that growth.</a:t>
            </a:r>
          </a:p>
        </p:txBody>
      </p:sp>
      <p:pic>
        <p:nvPicPr>
          <p:cNvPr id="5122" name="Picture 2" descr="Understanding Decision Trees and Cost Complexity Pruning | by Sumiran |  Medium">
            <a:extLst>
              <a:ext uri="{FF2B5EF4-FFF2-40B4-BE49-F238E27FC236}">
                <a16:creationId xmlns:a16="http://schemas.microsoft.com/office/drawing/2014/main" id="{4296D870-A564-DE30-8E59-1CDFAAB101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87" y="2286240"/>
            <a:ext cx="4953683" cy="238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79930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42784-5EB5-CB47-AFD4-16602CE0D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- Regression Coefficients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9445E-A84C-BA43-9326-CF3597F51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/>
          <a:lstStyle/>
          <a:p>
            <a:r>
              <a:rPr lang="en-US" dirty="0"/>
              <a:t>The regression process, closed form or gradient descent, finds coefficients. </a:t>
            </a:r>
          </a:p>
          <a:p>
            <a:pPr lvl="1"/>
            <a:r>
              <a:rPr lang="en-US" dirty="0"/>
              <a:t>E.g. y = m1*x1 + m2*x2 +…. B</a:t>
            </a:r>
          </a:p>
          <a:p>
            <a:pPr lvl="1"/>
            <a:r>
              <a:rPr lang="en-US" dirty="0"/>
              <a:t>The process determines those m values, and the b. </a:t>
            </a:r>
          </a:p>
          <a:p>
            <a:r>
              <a:rPr lang="en-US" dirty="0"/>
              <a:t>The larger a coefficient is, the more impact that term has in the prediction. </a:t>
            </a:r>
          </a:p>
          <a:p>
            <a:r>
              <a:rPr lang="en-US" dirty="0"/>
              <a:t>The algorithm finds these coefficients by determining what set of them minimizes the squared residuals. </a:t>
            </a:r>
          </a:p>
          <a:p>
            <a:pPr lvl="1"/>
            <a:r>
              <a:rPr lang="en-US" dirty="0"/>
              <a:t>Our new friend the cost function!</a:t>
            </a:r>
          </a:p>
          <a:p>
            <a:pPr lvl="1"/>
            <a:r>
              <a:rPr lang="en-US" dirty="0"/>
              <a:t>Gradient descent looks for the best set of coefficients it can find. </a:t>
            </a:r>
          </a:p>
          <a:p>
            <a:r>
              <a:rPr lang="en-US" dirty="0"/>
              <a:t>The coefficients are the parameters – the thing that changes to ‘hold’ the learning. </a:t>
            </a:r>
          </a:p>
        </p:txBody>
      </p:sp>
    </p:spTree>
    <p:extLst>
      <p:ext uri="{BB962C8B-B14F-4D97-AF65-F5344CB8AC3E}">
        <p14:creationId xmlns:p14="http://schemas.microsoft.com/office/powerpoint/2010/main" val="13754186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F2059-D369-7142-9F54-290684D50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BEC40-04B5-9441-A3D1-7B3B7D603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30850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Regularization modifies a model by changing the cost function. </a:t>
            </a:r>
          </a:p>
          <a:p>
            <a:r>
              <a:rPr lang="en-US" dirty="0"/>
              <a:t>A ”penalty term” is added to the cost function.</a:t>
            </a:r>
          </a:p>
          <a:p>
            <a:r>
              <a:rPr lang="en-US" dirty="0"/>
              <a:t>Now the regression algorithm isn’t minimizing the residual squared error, it is minimizing the new cost – error + penalty. </a:t>
            </a:r>
          </a:p>
          <a:p>
            <a:r>
              <a:rPr lang="en-US" dirty="0"/>
              <a:t>Regularization types:</a:t>
            </a:r>
          </a:p>
          <a:p>
            <a:pPr lvl="1"/>
            <a:r>
              <a:rPr lang="en-US" dirty="0"/>
              <a:t>L2 – Ridge. Adds a penalty based on the square of the coefficients.</a:t>
            </a:r>
          </a:p>
          <a:p>
            <a:pPr lvl="1"/>
            <a:r>
              <a:rPr lang="en-US" dirty="0"/>
              <a:t>L1 - Lasso. Adds a penalty based on the absolute value of the coefficients.</a:t>
            </a:r>
          </a:p>
          <a:p>
            <a:pPr lvl="1"/>
            <a:r>
              <a:rPr lang="en-US" dirty="0" err="1"/>
              <a:t>ElasticNet</a:t>
            </a:r>
            <a:r>
              <a:rPr lang="en-US" dirty="0"/>
              <a:t> – a HP controlled ration combination of the two. </a:t>
            </a:r>
          </a:p>
          <a:p>
            <a:r>
              <a:rPr lang="en-US" dirty="0"/>
              <a:t>This incentivizes smaller coefficients, lowering overfitting. </a:t>
            </a:r>
          </a:p>
          <a:p>
            <a:r>
              <a:rPr lang="en-US" dirty="0"/>
              <a:t>Large coefficients are unlikely to generalize well. </a:t>
            </a:r>
          </a:p>
        </p:txBody>
      </p:sp>
    </p:spTree>
    <p:extLst>
      <p:ext uri="{BB962C8B-B14F-4D97-AF65-F5344CB8AC3E}">
        <p14:creationId xmlns:p14="http://schemas.microsoft.com/office/powerpoint/2010/main" val="17640654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3E63F7B-A839-8A41-AEE5-1D4E9339C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en-US" dirty="0"/>
              <a:t>Cost Functions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13D21-CF56-BB41-8DF0-252C3093B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757" y="2015732"/>
            <a:ext cx="4697036" cy="4037747"/>
          </a:xfrm>
        </p:spPr>
        <p:txBody>
          <a:bodyPr>
            <a:normAutofit/>
          </a:bodyPr>
          <a:lstStyle/>
          <a:p>
            <a:r>
              <a:rPr lang="en-US" dirty="0"/>
              <a:t>The regularization term is the last bit. </a:t>
            </a:r>
          </a:p>
          <a:p>
            <a:r>
              <a:rPr lang="en-US" dirty="0"/>
              <a:t>The alpha value controls the amount of regularization, as a hyperparameter. </a:t>
            </a:r>
          </a:p>
          <a:p>
            <a:r>
              <a:rPr lang="en-US" dirty="0"/>
              <a:t>Elastic net is just some proportional (the ratio is an HP) blend of the two. </a:t>
            </a:r>
          </a:p>
          <a:p>
            <a:r>
              <a:rPr lang="en-US" dirty="0"/>
              <a:t>Algorithm minimizes the entire formula.</a:t>
            </a:r>
          </a:p>
          <a:p>
            <a:pPr lvl="1"/>
            <a:r>
              <a:rPr lang="en-US" dirty="0"/>
              <a:t>I.e. the w (param value) that gives the lowest total error. </a:t>
            </a:r>
          </a:p>
        </p:txBody>
      </p:sp>
      <p:pic>
        <p:nvPicPr>
          <p:cNvPr id="4098" name="Picture 2" descr="L1 vs L2 Regularization: The intuitive difference | by Dhaval Taunk |  Analytics Vidhya | Medium">
            <a:extLst>
              <a:ext uri="{FF2B5EF4-FFF2-40B4-BE49-F238E27FC236}">
                <a16:creationId xmlns:a16="http://schemas.microsoft.com/office/drawing/2014/main" id="{DE589B2D-28BA-E64C-BF5B-34E1356529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14642" y="505370"/>
            <a:ext cx="6577055" cy="4783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8987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B095A-1ED3-9549-923B-8DF3BC491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and Loss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B28E1-8077-78D9-F634-1265417DD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The cost function is what the model is optimizing to. </a:t>
            </a:r>
          </a:p>
          <a:p>
            <a:pPr lvl="1"/>
            <a:r>
              <a:rPr lang="en-US" dirty="0"/>
              <a:t>We generally use MSE and log-loss, but could be almost anything. </a:t>
            </a:r>
          </a:p>
          <a:p>
            <a:r>
              <a:rPr lang="en-US" dirty="0"/>
              <a:t>Cost is often referred to as loss (and a loss function). </a:t>
            </a:r>
          </a:p>
          <a:p>
            <a:r>
              <a:rPr lang="en-US" dirty="0"/>
              <a:t>The two are pretty much interchange in common usage, but technically different:</a:t>
            </a:r>
          </a:p>
          <a:p>
            <a:pPr lvl="1"/>
            <a:r>
              <a:rPr lang="en-US" dirty="0"/>
              <a:t>Loss is one example – i.e. there’s this much loss in one prediction. </a:t>
            </a:r>
          </a:p>
          <a:p>
            <a:pPr lvl="1"/>
            <a:r>
              <a:rPr lang="en-US" dirty="0"/>
              <a:t>Cost is the entire dataset – there’s this much loss in all predictions.  </a:t>
            </a:r>
          </a:p>
          <a:p>
            <a:r>
              <a:rPr lang="en-US" dirty="0"/>
              <a:t>Some books, and especially the internet, will use them interchangeably – that’s fine. </a:t>
            </a:r>
          </a:p>
        </p:txBody>
      </p:sp>
    </p:spTree>
    <p:extLst>
      <p:ext uri="{BB962C8B-B14F-4D97-AF65-F5344CB8AC3E}">
        <p14:creationId xmlns:p14="http://schemas.microsoft.com/office/powerpoint/2010/main" val="13019141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F449E-4BB2-68D2-1F65-393A369D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828" y="2524562"/>
            <a:ext cx="3719385" cy="2432951"/>
          </a:xfrm>
        </p:spPr>
        <p:txBody>
          <a:bodyPr>
            <a:normAutofit/>
          </a:bodyPr>
          <a:lstStyle/>
          <a:p>
            <a:r>
              <a:rPr lang="en-US" dirty="0"/>
              <a:t>More Regularization = Less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AC0FB-23ED-491D-8031-D5767FE60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6" name="Picture 6">
            <a:extLst>
              <a:ext uri="{FF2B5EF4-FFF2-40B4-BE49-F238E27FC236}">
                <a16:creationId xmlns:a16="http://schemas.microsoft.com/office/drawing/2014/main" id="{0AEB519F-6C8A-211D-AA7D-96992928B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6213" y="0"/>
            <a:ext cx="82057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40721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0F527-FEAC-6046-A64E-489FD1E6A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Loss and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2B686-2CF2-7B51-7F5B-6F4D9F74F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065" y="1853754"/>
            <a:ext cx="10844789" cy="4199727"/>
          </a:xfrm>
        </p:spPr>
        <p:txBody>
          <a:bodyPr/>
          <a:lstStyle/>
          <a:p>
            <a:r>
              <a:rPr lang="en-US" dirty="0"/>
              <a:t>This cost function is key to machine learning. </a:t>
            </a:r>
          </a:p>
          <a:p>
            <a:pPr lvl="1"/>
            <a:r>
              <a:rPr lang="en-US" dirty="0"/>
              <a:t>The cost function defines the ‘goodness’ of a model. </a:t>
            </a:r>
          </a:p>
          <a:p>
            <a:pPr lvl="1"/>
            <a:r>
              <a:rPr lang="en-US" dirty="0"/>
              <a:t>The algorithm tries to maximize that metric of goodness. </a:t>
            </a:r>
          </a:p>
          <a:p>
            <a:r>
              <a:rPr lang="en-US" dirty="0"/>
              <a:t>In a tree the cost was the entropy or </a:t>
            </a:r>
            <a:r>
              <a:rPr lang="en-US" dirty="0" err="1"/>
              <a:t>gini</a:t>
            </a:r>
            <a:r>
              <a:rPr lang="en-US" dirty="0"/>
              <a:t> – the algorithm tries to minimize. </a:t>
            </a:r>
          </a:p>
          <a:p>
            <a:r>
              <a:rPr lang="en-US" dirty="0"/>
              <a:t>In a linear regression the cost is (usually) MSE – the algorithm tries to minimize. </a:t>
            </a:r>
          </a:p>
          <a:p>
            <a:r>
              <a:rPr lang="en-US" dirty="0"/>
              <a:t>In a regularized model, the processes stay the same, but the cost function changes. </a:t>
            </a:r>
          </a:p>
          <a:p>
            <a:pPr lvl="1"/>
            <a:r>
              <a:rPr lang="en-US" dirty="0"/>
              <a:t>The optimization is for the lowest ‘total cost’ – i.e. cost + penalty. </a:t>
            </a:r>
          </a:p>
          <a:p>
            <a:r>
              <a:rPr lang="en-US" dirty="0"/>
              <a:t>This buffers the model adapting to the data – it directly slows learning (and overfitting). </a:t>
            </a:r>
          </a:p>
          <a:p>
            <a:pPr lvl="1"/>
            <a:r>
              <a:rPr lang="en-US" dirty="0"/>
              <a:t>Like in a tree – growth must decrease MSE more than it increases penalty. </a:t>
            </a:r>
          </a:p>
          <a:p>
            <a:pPr lvl="1"/>
            <a:endParaRPr lang="en-US" dirty="0"/>
          </a:p>
        </p:txBody>
      </p:sp>
      <p:pic>
        <p:nvPicPr>
          <p:cNvPr id="7172" name="Picture 4" descr="ML Series 7: Regularization in Regression: Tackling Overfitting for  Enhanced Model Performance | by Sahin Ahmed, Data Scientist | Medium">
            <a:extLst>
              <a:ext uri="{FF2B5EF4-FFF2-40B4-BE49-F238E27FC236}">
                <a16:creationId xmlns:a16="http://schemas.microsoft.com/office/drawing/2014/main" id="{2823B13D-8CAD-A108-90F3-08896B6627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2" t="8829" r="9760" b="6307"/>
          <a:stretch/>
        </p:blipFill>
        <p:spPr bwMode="auto">
          <a:xfrm>
            <a:off x="6734408" y="0"/>
            <a:ext cx="5457592" cy="3138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28180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6" name="Rectangle 72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27" name="Straight Connector 74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96CC8F21-D58A-FE48-B1F1-005E1809A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212" y="804520"/>
            <a:ext cx="2803130" cy="1049235"/>
          </a:xfrm>
        </p:spPr>
        <p:txBody>
          <a:bodyPr>
            <a:normAutofit fontScale="90000"/>
          </a:bodyPr>
          <a:lstStyle/>
          <a:p>
            <a:r>
              <a:rPr lang="en-US" sz="2200" dirty="0"/>
              <a:t>Result – not optimal solution, compromised Solution</a:t>
            </a:r>
          </a:p>
        </p:txBody>
      </p:sp>
      <p:sp>
        <p:nvSpPr>
          <p:cNvPr id="5128" name="Rectangle 76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854AD-7BD4-BB45-A58B-ECA626D8D9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21924"/>
            <a:ext cx="4430059" cy="363155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There are two parameters in model.</a:t>
            </a:r>
          </a:p>
          <a:p>
            <a:pPr lvl="1"/>
            <a:r>
              <a:rPr lang="en-US" dirty="0"/>
              <a:t>The optimal MSE values are the dot. </a:t>
            </a:r>
          </a:p>
          <a:p>
            <a:pPr lvl="1"/>
            <a:r>
              <a:rPr lang="en-US" dirty="0"/>
              <a:t>The optimal penalty values are (0,0). </a:t>
            </a:r>
          </a:p>
          <a:p>
            <a:r>
              <a:rPr lang="en-US" dirty="0"/>
              <a:t>Solution is their intersection. </a:t>
            </a:r>
          </a:p>
          <a:p>
            <a:pPr lvl="1"/>
            <a:r>
              <a:rPr lang="en-US" dirty="0"/>
              <a:t>The algorithm increments both to be ‘worse’ (farther from optimal). </a:t>
            </a:r>
          </a:p>
          <a:p>
            <a:pPr lvl="1"/>
            <a:r>
              <a:rPr lang="en-US" dirty="0"/>
              <a:t>‘Distance’ from either point is scaled based on the regularization param. </a:t>
            </a:r>
          </a:p>
          <a:p>
            <a:r>
              <a:rPr lang="en-US" dirty="0"/>
              <a:t>Balance that each term matters. </a:t>
            </a:r>
          </a:p>
        </p:txBody>
      </p:sp>
      <p:pic>
        <p:nvPicPr>
          <p:cNvPr id="5129" name="Picture 78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5130" name="Straight Connector 80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4" name="Picture 4" descr="A Deep Dive into Regularization. I was recently brushing up on basics of… |  by Divakar Kapil | uWaterloo Voice | Medium">
            <a:extLst>
              <a:ext uri="{FF2B5EF4-FFF2-40B4-BE49-F238E27FC236}">
                <a16:creationId xmlns:a16="http://schemas.microsoft.com/office/drawing/2014/main" id="{FCDEF449-A0C2-5C4C-B805-9EBCCF9D55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 bwMode="auto">
          <a:xfrm>
            <a:off x="4430363" y="1780531"/>
            <a:ext cx="7799083" cy="50888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ML Series 7: Regularization in Regression: Tackling Overfitting for  Enhanced Model Performance | by Sahin Ahmed, Data Scientist | Medium">
            <a:extLst>
              <a:ext uri="{FF2B5EF4-FFF2-40B4-BE49-F238E27FC236}">
                <a16:creationId xmlns:a16="http://schemas.microsoft.com/office/drawing/2014/main" id="{8669F4F8-0F78-24F3-38B5-163C6D763E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2" t="20432" r="9760" b="6307"/>
          <a:stretch/>
        </p:blipFill>
        <p:spPr bwMode="auto">
          <a:xfrm>
            <a:off x="3069513" y="-92134"/>
            <a:ext cx="5123511" cy="254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62746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F7F3C-F6B4-0A01-C2B9-F5112CC39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en-US" dirty="0"/>
              <a:t>Why Variable Selection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53449CCF-9A84-89D2-9D75-D4A89800E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634" y="1925455"/>
            <a:ext cx="7447344" cy="4189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520DC-5125-596C-E18F-0321C34D4E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49978" y="2015734"/>
            <a:ext cx="4625885" cy="4162644"/>
          </a:xfrm>
        </p:spPr>
        <p:txBody>
          <a:bodyPr>
            <a:normAutofit/>
          </a:bodyPr>
          <a:lstStyle/>
          <a:p>
            <a:r>
              <a:rPr lang="en-US" dirty="0"/>
              <a:t>L1 tends to reduce coefficients to 0.</a:t>
            </a:r>
          </a:p>
          <a:p>
            <a:r>
              <a:rPr lang="en-US" dirty="0"/>
              <a:t>This effectively selects that variable out. </a:t>
            </a:r>
          </a:p>
          <a:p>
            <a:r>
              <a:rPr lang="en-US" dirty="0"/>
              <a:t>If we optimize, the solution for L1 is more likely to be on the axis. </a:t>
            </a:r>
          </a:p>
          <a:p>
            <a:r>
              <a:rPr lang="en-US" dirty="0"/>
              <a:t>Smallest penalty = tangent of curves.</a:t>
            </a:r>
          </a:p>
          <a:p>
            <a:r>
              <a:rPr lang="en-US" dirty="0"/>
              <a:t>Mathematical property of the curves. </a:t>
            </a:r>
          </a:p>
          <a:p>
            <a:r>
              <a:rPr lang="en-US" dirty="0"/>
              <a:t>Can be used directly, or as info to select variables otherwise. </a:t>
            </a:r>
          </a:p>
        </p:txBody>
      </p:sp>
    </p:spTree>
    <p:extLst>
      <p:ext uri="{BB962C8B-B14F-4D97-AF65-F5344CB8AC3E}">
        <p14:creationId xmlns:p14="http://schemas.microsoft.com/office/powerpoint/2010/main" val="34723239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041E5-8982-BA58-85C9-63F65F469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52591-B3E6-820B-5EF6-41503D1CF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65158"/>
            <a:ext cx="9603275" cy="4088323"/>
          </a:xfrm>
        </p:spPr>
        <p:txBody>
          <a:bodyPr/>
          <a:lstStyle/>
          <a:p>
            <a:r>
              <a:rPr lang="en-US" dirty="0"/>
              <a:t>The L1 regularization can serve to “select out” features that are less important. </a:t>
            </a:r>
          </a:p>
          <a:p>
            <a:r>
              <a:rPr lang="en-US" dirty="0"/>
              <a:t>As the regularization strength is increased, the ‘bar’ for feature’s mattering increases. </a:t>
            </a:r>
          </a:p>
          <a:p>
            <a:pPr lvl="1"/>
            <a:r>
              <a:rPr lang="en-US" dirty="0"/>
              <a:t>i.e. to keep this variable, it needs to decrease error by an increasing amount. </a:t>
            </a:r>
          </a:p>
          <a:p>
            <a:r>
              <a:rPr lang="en-US" dirty="0"/>
              <a:t>This selection isn’t totally determinative, but it is very useful information…</a:t>
            </a:r>
          </a:p>
          <a:p>
            <a:pPr lvl="1"/>
            <a:r>
              <a:rPr lang="en-US" dirty="0"/>
              <a:t>The next thing we’ll look at is feature selection – which features to keep. </a:t>
            </a:r>
          </a:p>
          <a:p>
            <a:pPr lvl="1"/>
            <a:r>
              <a:rPr lang="en-US" dirty="0"/>
              <a:t>Recall, trees also had the ability to tell us feature importance. </a:t>
            </a:r>
          </a:p>
          <a:p>
            <a:r>
              <a:rPr lang="en-US" dirty="0"/>
              <a:t>To select features well, we need to look at:</a:t>
            </a:r>
          </a:p>
          <a:p>
            <a:pPr lvl="1"/>
            <a:r>
              <a:rPr lang="en-US" dirty="0"/>
              <a:t>Human judgement of what matters. </a:t>
            </a:r>
          </a:p>
          <a:p>
            <a:pPr lvl="1"/>
            <a:r>
              <a:rPr lang="en-US" dirty="0"/>
              <a:t>Mathematical evaluation of what matters. </a:t>
            </a:r>
          </a:p>
        </p:txBody>
      </p:sp>
    </p:spTree>
    <p:extLst>
      <p:ext uri="{BB962C8B-B14F-4D97-AF65-F5344CB8AC3E}">
        <p14:creationId xmlns:p14="http://schemas.microsoft.com/office/powerpoint/2010/main" val="29853232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79FC9-21E3-E91D-77F5-D1210351B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Lost in the Cost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A5D26-D7AC-0DF2-C34E-389D31E0B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37749"/>
          </a:xfrm>
        </p:spPr>
        <p:txBody>
          <a:bodyPr/>
          <a:lstStyle/>
          <a:p>
            <a:r>
              <a:rPr lang="en-US" dirty="0"/>
              <a:t>Cost functions are (mostly) interchangeable with each other:</a:t>
            </a:r>
          </a:p>
          <a:p>
            <a:pPr lvl="1"/>
            <a:r>
              <a:rPr lang="en-US" dirty="0"/>
              <a:t>Regression is usually MSE, classification is usually cross-entropy, but it can vary. </a:t>
            </a:r>
          </a:p>
          <a:p>
            <a:pPr lvl="1"/>
            <a:r>
              <a:rPr lang="en-US" dirty="0"/>
              <a:t>As long as it measures error and is differentiable (for math), it can work. </a:t>
            </a:r>
          </a:p>
          <a:p>
            <a:pPr lvl="1"/>
            <a:r>
              <a:rPr lang="en-US" dirty="0"/>
              <a:t>The gradient descent process to find optimal solutions can take (almost) anything. </a:t>
            </a:r>
          </a:p>
          <a:p>
            <a:r>
              <a:rPr lang="en-US" dirty="0"/>
              <a:t>Similarly, the penalty can also be anything, as long as the math works. </a:t>
            </a:r>
          </a:p>
        </p:txBody>
      </p:sp>
    </p:spTree>
    <p:extLst>
      <p:ext uri="{BB962C8B-B14F-4D97-AF65-F5344CB8AC3E}">
        <p14:creationId xmlns:p14="http://schemas.microsoft.com/office/powerpoint/2010/main" val="33272524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805B-3B63-BD4B-BAA0-3605E7AF9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E8C34-34FE-C64F-9FAB-6BE59DCCC0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10027848" cy="419972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Models are limited from becoming over fitted, as it is “hard” for coefficients to grow. </a:t>
            </a:r>
          </a:p>
          <a:p>
            <a:pPr lvl="1"/>
            <a:r>
              <a:rPr lang="en-US" dirty="0"/>
              <a:t>Very large coefficients are likely to be overfitted and exert excess influence on predictions.</a:t>
            </a:r>
          </a:p>
          <a:p>
            <a:r>
              <a:rPr lang="en-US" dirty="0"/>
              <a:t>We can make regression models larger and more capable, then limit overfit. </a:t>
            </a:r>
          </a:p>
          <a:p>
            <a:r>
              <a:rPr lang="en-US" dirty="0"/>
              <a:t>L1 Lasso:</a:t>
            </a:r>
          </a:p>
          <a:p>
            <a:pPr lvl="1"/>
            <a:r>
              <a:rPr lang="en-US" dirty="0"/>
              <a:t>Reduces coefficients to 0 – good for feature selecting. Could compare with tree importance…</a:t>
            </a:r>
          </a:p>
          <a:p>
            <a:pPr lvl="1"/>
            <a:r>
              <a:rPr lang="en-US" dirty="0"/>
              <a:t>Math is worse – the derivative isn’t differentiable everywhere, so calcs are slower. </a:t>
            </a:r>
          </a:p>
          <a:p>
            <a:pPr lvl="1"/>
            <a:r>
              <a:rPr lang="en-US" dirty="0"/>
              <a:t>More robust to outliers if they are not filtered out. </a:t>
            </a:r>
          </a:p>
          <a:p>
            <a:r>
              <a:rPr lang="en-US" dirty="0"/>
              <a:t>L2 Ridge:</a:t>
            </a:r>
          </a:p>
          <a:p>
            <a:pPr lvl="1"/>
            <a:r>
              <a:rPr lang="en-US" dirty="0"/>
              <a:t>More common, is sometimes a default in other models. </a:t>
            </a:r>
          </a:p>
          <a:p>
            <a:pPr lvl="1"/>
            <a:r>
              <a:rPr lang="en-US" dirty="0"/>
              <a:t>More computationally efficient (large reason for the commonness) due to math speed.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447949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565A6-4E14-0F4F-81DC-BB82F595A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17004-0D9A-094F-BEE0-6D57CBF17E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853754"/>
            <a:ext cx="9603275" cy="4199727"/>
          </a:xfrm>
        </p:spPr>
        <p:txBody>
          <a:bodyPr>
            <a:normAutofit/>
          </a:bodyPr>
          <a:lstStyle/>
          <a:p>
            <a:r>
              <a:rPr lang="en-US" dirty="0"/>
              <a:t>Ridge, Lasso, and </a:t>
            </a:r>
            <a:r>
              <a:rPr lang="en-US" dirty="0" err="1"/>
              <a:t>ElasticNet</a:t>
            </a:r>
            <a:r>
              <a:rPr lang="en-US" dirty="0"/>
              <a:t> are all </a:t>
            </a:r>
            <a:r>
              <a:rPr lang="en-US" dirty="0" err="1"/>
              <a:t>sklearn</a:t>
            </a:r>
            <a:r>
              <a:rPr lang="en-US" dirty="0"/>
              <a:t> packages that do their names. </a:t>
            </a:r>
          </a:p>
          <a:p>
            <a:r>
              <a:rPr lang="en-US" dirty="0"/>
              <a:t>Other cost-function based things may use regularization in the background:</a:t>
            </a:r>
          </a:p>
          <a:p>
            <a:pPr lvl="1"/>
            <a:r>
              <a:rPr lang="en-US" dirty="0"/>
              <a:t>SGD has a penalty hyperparameter that imposes regularization.</a:t>
            </a:r>
          </a:p>
          <a:p>
            <a:pPr lvl="1"/>
            <a:r>
              <a:rPr lang="en-US" dirty="0"/>
              <a:t>Other linear models (e.g. SVM) do the same. </a:t>
            </a:r>
          </a:p>
          <a:p>
            <a:pPr lvl="1"/>
            <a:r>
              <a:rPr lang="en-US" dirty="0"/>
              <a:t>Neural networks often use a regularization penalty. </a:t>
            </a:r>
          </a:p>
          <a:p>
            <a:r>
              <a:rPr lang="en-US" dirty="0"/>
              <a:t>Regularization is one of the most common tools used to fit models. </a:t>
            </a:r>
          </a:p>
          <a:p>
            <a:pPr lvl="1"/>
            <a:r>
              <a:rPr lang="en-US" dirty="0"/>
              <a:t>Limiting the overfitting of a potentially very adaptive model is most common need. </a:t>
            </a:r>
          </a:p>
          <a:p>
            <a:pPr lvl="1"/>
            <a:r>
              <a:rPr lang="en-US" dirty="0"/>
              <a:t>L2 is mathematically quick, is seamless, little/no work from developer. </a:t>
            </a:r>
          </a:p>
          <a:p>
            <a:pPr lvl="1"/>
            <a:r>
              <a:rPr lang="en-US" dirty="0"/>
              <a:t>Larger models are needed for more complex things, larger models also overfit – regularization is often built into those larger complex models to constrain the overfit. </a:t>
            </a:r>
          </a:p>
        </p:txBody>
      </p:sp>
    </p:spTree>
    <p:extLst>
      <p:ext uri="{BB962C8B-B14F-4D97-AF65-F5344CB8AC3E}">
        <p14:creationId xmlns:p14="http://schemas.microsoft.com/office/powerpoint/2010/main" val="312361395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{2C098A6B-0D6A-6740-AB07-6AAE29A34FE3}tf10001119</Template>
  <TotalTime>11505</TotalTime>
  <Words>4160</Words>
  <Application>Microsoft Macintosh PowerPoint</Application>
  <PresentationFormat>Widescreen</PresentationFormat>
  <Paragraphs>346</Paragraphs>
  <Slides>49</Slides>
  <Notes>0</Notes>
  <HiddenSlides>10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Gill Sans MT</vt:lpstr>
      <vt:lpstr>Gallery</vt:lpstr>
      <vt:lpstr>Detour - Imputation</vt:lpstr>
      <vt:lpstr>Impute or Delete</vt:lpstr>
      <vt:lpstr>Why is Data missing?</vt:lpstr>
      <vt:lpstr>Missing Completely at Random</vt:lpstr>
      <vt:lpstr>Missing at Random</vt:lpstr>
      <vt:lpstr>Missing Not at Random</vt:lpstr>
      <vt:lpstr>Rules of Thumb</vt:lpstr>
      <vt:lpstr>Impute This</vt:lpstr>
      <vt:lpstr>Example – Linear Regression</vt:lpstr>
      <vt:lpstr>Housekeeping – BiG Time ML Stuff!</vt:lpstr>
      <vt:lpstr>A thing Happened!</vt:lpstr>
      <vt:lpstr>This Could be Really Big!</vt:lpstr>
      <vt:lpstr>Changes May be Underfoot</vt:lpstr>
      <vt:lpstr>Farther Out</vt:lpstr>
      <vt:lpstr>Geopolitical Fun!</vt:lpstr>
      <vt:lpstr>Linear Regression with non-Linear Data and Regularization</vt:lpstr>
      <vt:lpstr>Linear and non-Linear</vt:lpstr>
      <vt:lpstr>We need a Hero - Basis Function</vt:lpstr>
      <vt:lpstr>Recall – Stats Transformations</vt:lpstr>
      <vt:lpstr>Polynomial Functions</vt:lpstr>
      <vt:lpstr>Model Growth</vt:lpstr>
      <vt:lpstr>Result of Polynomial Feature Transformation</vt:lpstr>
      <vt:lpstr>Basis Success </vt:lpstr>
      <vt:lpstr>Basis and Regression</vt:lpstr>
      <vt:lpstr>Improving Models with Residuals</vt:lpstr>
      <vt:lpstr>Residual Plots</vt:lpstr>
      <vt:lpstr>Q-Q Plots</vt:lpstr>
      <vt:lpstr>Error Types in ML</vt:lpstr>
      <vt:lpstr>Errors in Modelling</vt:lpstr>
      <vt:lpstr>PowerPoint Presentation</vt:lpstr>
      <vt:lpstr>Variance Error – Tree that is Overfitted </vt:lpstr>
      <vt:lpstr>Balancing Act</vt:lpstr>
      <vt:lpstr>Getting the balance</vt:lpstr>
      <vt:lpstr>Bias Variance Tradeoff</vt:lpstr>
      <vt:lpstr>Finding the balance</vt:lpstr>
      <vt:lpstr>Regularization</vt:lpstr>
      <vt:lpstr>Tree Regularization - CCP Alpha Pruning</vt:lpstr>
      <vt:lpstr>Recall - Regression Coefficients</vt:lpstr>
      <vt:lpstr>Regularization</vt:lpstr>
      <vt:lpstr>Cost Functions</vt:lpstr>
      <vt:lpstr>Cost and Loss</vt:lpstr>
      <vt:lpstr>More Regularization = Less Learning</vt:lpstr>
      <vt:lpstr>Loss and you!</vt:lpstr>
      <vt:lpstr>Result – not optimal solution, compromised Solution</vt:lpstr>
      <vt:lpstr>Why Variable Selection</vt:lpstr>
      <vt:lpstr>Variable Importance</vt:lpstr>
      <vt:lpstr>Get Lost in the Cost</vt:lpstr>
      <vt:lpstr>Impact</vt:lpstr>
      <vt:lpstr>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 with non-Linear Data and Regularization</dc:title>
  <dc:creator>Akeem Semper</dc:creator>
  <cp:lastModifiedBy>Akeem Semper</cp:lastModifiedBy>
  <cp:revision>68</cp:revision>
  <dcterms:created xsi:type="dcterms:W3CDTF">2022-01-20T16:00:33Z</dcterms:created>
  <dcterms:modified xsi:type="dcterms:W3CDTF">2026-01-22T17:47:44Z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877899-02b0-462c-b2a9-b7d15c4f96fe_Enabled">
    <vt:lpwstr>true</vt:lpwstr>
  </property>
  <property fmtid="{D5CDD505-2E9C-101B-9397-08002B2CF9AE}" pid="3" name="MSIP_Label_10877899-02b0-462c-b2a9-b7d15c4f96fe_SetDate">
    <vt:lpwstr>2026-01-22T17:47:44Z</vt:lpwstr>
  </property>
  <property fmtid="{D5CDD505-2E9C-101B-9397-08002B2CF9AE}" pid="4" name="MSIP_Label_10877899-02b0-462c-b2a9-b7d15c4f96fe_Method">
    <vt:lpwstr>Standard</vt:lpwstr>
  </property>
  <property fmtid="{D5CDD505-2E9C-101B-9397-08002B2CF9AE}" pid="5" name="MSIP_Label_10877899-02b0-462c-b2a9-b7d15c4f96fe_Name">
    <vt:lpwstr>Protected [Protected A]</vt:lpwstr>
  </property>
  <property fmtid="{D5CDD505-2E9C-101B-9397-08002B2CF9AE}" pid="6" name="MSIP_Label_10877899-02b0-462c-b2a9-b7d15c4f96fe_SiteId">
    <vt:lpwstr>5c98fb47-d3b9-4649-9d94-f88cbdd9729c</vt:lpwstr>
  </property>
  <property fmtid="{D5CDD505-2E9C-101B-9397-08002B2CF9AE}" pid="7" name="MSIP_Label_10877899-02b0-462c-b2a9-b7d15c4f96fe_ActionId">
    <vt:lpwstr>b9f344ae-e0bb-45c6-aff8-21052498601b</vt:lpwstr>
  </property>
  <property fmtid="{D5CDD505-2E9C-101B-9397-08002B2CF9AE}" pid="8" name="MSIP_Label_10877899-02b0-462c-b2a9-b7d15c4f96fe_ContentBits">
    <vt:lpwstr>0</vt:lpwstr>
  </property>
  <property fmtid="{D5CDD505-2E9C-101B-9397-08002B2CF9AE}" pid="9" name="MSIP_Label_10877899-02b0-462c-b2a9-b7d15c4f96fe_Tag">
    <vt:lpwstr>50, 3, 0, 1</vt:lpwstr>
  </property>
</Properties>
</file>