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63" r:id="rId2"/>
    <p:sldId id="285" r:id="rId3"/>
    <p:sldId id="286" r:id="rId4"/>
    <p:sldId id="287" r:id="rId5"/>
    <p:sldId id="256" r:id="rId6"/>
    <p:sldId id="261" r:id="rId7"/>
    <p:sldId id="257" r:id="rId8"/>
    <p:sldId id="273" r:id="rId9"/>
    <p:sldId id="264" r:id="rId10"/>
    <p:sldId id="281" r:id="rId11"/>
    <p:sldId id="266" r:id="rId12"/>
    <p:sldId id="276" r:id="rId13"/>
    <p:sldId id="277" r:id="rId14"/>
    <p:sldId id="282" r:id="rId15"/>
    <p:sldId id="267" r:id="rId16"/>
    <p:sldId id="274" r:id="rId17"/>
    <p:sldId id="275" r:id="rId18"/>
    <p:sldId id="268" r:id="rId19"/>
    <p:sldId id="258" r:id="rId20"/>
    <p:sldId id="259" r:id="rId21"/>
    <p:sldId id="260" r:id="rId22"/>
    <p:sldId id="262" r:id="rId23"/>
    <p:sldId id="278" r:id="rId24"/>
    <p:sldId id="271" r:id="rId25"/>
    <p:sldId id="269" r:id="rId26"/>
    <p:sldId id="270" r:id="rId27"/>
    <p:sldId id="279" r:id="rId28"/>
    <p:sldId id="265" r:id="rId29"/>
    <p:sldId id="280" r:id="rId30"/>
    <p:sldId id="283" r:id="rId31"/>
    <p:sldId id="284" r:id="rId32"/>
    <p:sldId id="272" r:id="rId3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798"/>
    <p:restoredTop sz="96327"/>
  </p:normalViewPr>
  <p:slideViewPr>
    <p:cSldViewPr snapToGrid="0" snapToObjects="1">
      <p:cViewPr varScale="1">
        <p:scale>
          <a:sx n="127" d="100"/>
          <a:sy n="127" d="100"/>
        </p:scale>
        <p:origin x="712"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18:59:45.601"/>
    </inkml:context>
    <inkml:brush xml:id="br0">
      <inkml:brushProperty name="width" value="0.05" units="cm"/>
      <inkml:brushProperty name="height" value="0.05" units="cm"/>
      <inkml:brushProperty name="color" value="#E71224"/>
    </inkml:brush>
  </inkml:definitions>
  <inkml:trace contextRef="#ctx0" brushRef="#br0">1 0 24575,'39'0'0,"56"0"0,-17 0 0,6 0 0,-18 0 0,2 0 0,1 0 0,2 0 0,0 0 0,-2 0 0,27 0 0,-5 0 0,-12 0 0,-3 0 0,-9 0 0,-3 0 0,-11 0 0,-2 0 0,39 0 0,-3 0 0,0 0 0,4 0 0,-3 0 0,-4 0 0,-11 0 0,-14 0 0,-14 0 0,-14 0 0,-10 2 0,-8 3 0,-7 2 0,-4 2 0,-6-2 0,-5 1 0,-2 2 0,-5 3 0,0 2 0,-3 5 0,-6 14 0,-13 32 0,8-8 0,-5 8 0,4-5 0,-3 6 0,-2 2-410,-7 12 1,-1 4-1,-2 0 410,-1 0 0,-1 1 0,0-2 0,4-7 0,1-3 0,1-4 0,-10 14 0,4-9 0,14-22 0,3-6 0,-11 14 0,21-29 0,9-18 0,3-5 1229,-3 1-1229,-4 1 0,-1 4 0,2-1 0,5-3 0,2-3 0,0 0 0,-4 1 0,-1 2 0,0-4 0,4-6 0,5-10 0,9-8 0,-3 7 0,4-1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18:59:48.750"/>
    </inkml:context>
    <inkml:brush xml:id="br0">
      <inkml:brushProperty name="width" value="0.05" units="cm"/>
      <inkml:brushProperty name="height" value="0.05" units="cm"/>
      <inkml:brushProperty name="color" value="#E71224"/>
    </inkml:brush>
  </inkml:definitions>
  <inkml:trace contextRef="#ctx0" brushRef="#br0">0 201 24575,'80'0'0,"4"0"0,16 0 0,-7 0 0,-7 0 0,-18 0 0,-22 0 0,-19 0 0,-17-3 0,-5 0 0,-4-3 0,-6-1 0,-8 1 0,-3-3 0,-9-2 0,-9-5 0,-15-5 0,-17-6 0,-7 0 0,-2 1 0,12 7 0,22 9 0,19 4 0,16 4 0,12 1 0,7 1 0,8 0 0,6 0 0,8 0 0,8 2 0,9 3 0,8 5 0,4 5 0,-6 1 0,-13-2 0,-16-4 0,-13-3 0,-7 0 0,-5-2 0,-3 2 0,-1-1 0,0 1 0,0 2 0,-1 0 0,-2 4 0,-4 3 0,-5 6 0,-6 5 0,-4 2 0,-2-1 0,0-4 0,5-4 0,3-3 0,4-3 0,0 0 0,-1-1 0,-1-1 0,-2 2 0,1-1 0,0-1 0,3-2 0,4-2 0,1-2 0,-1 0 0,-2 3 0,-3 0 0,1 2 0,-1 0 0,1 0 0,-5 3 0,-7 8 0,-5 4 0,-2 1 0,7-4 0,9-10 0,8-9 0,4-6 0,5-8 0,-1 6 0,3-3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18:59:55.703"/>
    </inkml:context>
    <inkml:brush xml:id="br0">
      <inkml:brushProperty name="width" value="0.05" units="cm"/>
      <inkml:brushProperty name="height" value="0.05" units="cm"/>
      <inkml:brushProperty name="color" value="#E71224"/>
    </inkml:brush>
  </inkml:definitions>
  <inkml:trace contextRef="#ctx0" brushRef="#br0">0 0 24575,'32'0'0,"44"0"0,20 0 0,-21 0 0,4 0 0,0 0 0,4 0 0,1 0 0,-3 0 0,-6 0 0,-1 0 0,-12 0 0,19 0 0,-16 0 0,-7 1 0,-5 2 0,-11 4 0,-12 1 0,-8 1 0,-10-2 0,-4-1 0,-2-1 0,1 0 0,4 1 0,3-1 0,1 1 0,-1-3 0,-2-1 0,-4 1 0,0 2 0,3 4 0,6 5 0,8 4 0,8 4 0,4 5 0,2 3 0,-1 3 0,-4 0 0,-2 4 0,0 7 0,7 19 0,-15-20 0,1 2 0,2 8 0,1 4 0,3 13 0,0 5 0,1 12 0,-1 4-383,-10-19 0,-1 3 0,-2 3 383,2 13 0,-2 2 0,-1 3 0,-5-20 0,-1 3 0,0-1 0,-2 0 0,-1-2 0,-1 1 0,-1-2 0,0 0 0,0 17 0,-1-2 0,-1-2-46,-1-12 1,-1-2 0,-1-3 45,0 18 0,1-3 0,0-2 0,2-1 0,1 2 0,0 2 0,3 10 0,-1 3 0,-1-29 0,-1 0 0,0 1 0,0 0 0,1 1 0,-2-1 0,0-1 0,0-2 0,-1 1 0,-1 0 0,0-1 0,0 1 0,-2 2 0,0 0 0,-1 1 0,-3 1 0,-2 0 0,-1 0 0,-1-2 0,-2 0 0,-1-1 0,-2-4 0,-2 0 0,0-2 0,-9 25 0,1-3 0,4-12 0,1-3 0,2-8 0,2-3 0,3-9 0,1-2 0,-6 46 1140,6 2-1140,5 2 145,4-1-145,1-6 0,0-12 0,2-9 0,2-11 0,0-10 0,1-10 0,-3-8 0,-1-11 0,-3-8 0,-5-7 0,-12-6 0,-31-9 0,-7 1 0,-9 0 0,-19-3 0,-6 1 0,25 1 0,-1 1 0,0-1 0,-28-2 0,5 0 0,22 0 0,5 0 0,11-1 0,4-1 0,-29-10 0,14 1 0,13 2 0,10 4 0,12 5 0,10 3 0,9 1 0,5 1 0,4-3 0,-1-15 0,1 13 0,0-10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18:59:58.417"/>
    </inkml:context>
    <inkml:brush xml:id="br0">
      <inkml:brushProperty name="width" value="0.05" units="cm"/>
      <inkml:brushProperty name="height" value="0.05" units="cm"/>
      <inkml:brushProperty name="color" value="#E71224"/>
    </inkml:brush>
  </inkml:definitions>
  <inkml:trace contextRef="#ctx0" brushRef="#br0">747 3405 24575,'0'-28'0,"0"-22"0,0-37 0,0 27 0,0-5 0,0-15 0,0-9 0,-1 19 0,1-6 0,-1-4 0,0 0-564,-1-7 0,-1-2 0,1 0 1,-2 0 563,1 0 0,-1 1 0,0 1 0,0 1 0,-3-17 0,0 3 0,-1 10 269,-3 7 1,1 8-270,0 12 0,0 2 0,0 8 0,-1 2 0,0-1 0,-1 1 0,-2-2 0,0-1 0,-1-3 0,0 0 858,0 0 0,0 2-858,-8-35 0,4 26 0,9 29 0,4 17 0,2 4 0,-1-2 0,-2-4 0,-1 0 0,-3 6 0,-3 7 0,-6 5 0,-10 16 0,-7 15 0,-4 16 0,1 10 0,2 2 0,1 0 0,1 2 0,-1-2 0,6-3 0,8-8 0,6-7 0,8-7 0,4-6 0,1-3 0,0-4 0,2-2 0,-1-6 0,2-18 0,1-31 0,5-33 0,8-26 0,-2 46 0,4-2 0,7-3 0,5-1 0,8-8 0,4-1 0,7-4 0,3-1 0,6-3 0,2 2 0,-2 7 0,0 5 0,-9 12 0,-1 5 0,25-16 0,-26 32 0,-15 17 0,-6 9 0,-3 10 0,-4 11 0,-5 12 0,-5 8 0,-4 2 0,0-5 0,-2-5 0,1-3 0,5 2 0,4 10 0,6 30 0,-4-24 0,0 4 0,0 9 0,2 3 0,1 8 0,2 0 0,0-1 0,0 0 0,0-1 0,1-2 0,0-3 0,1-3 0,-1-4 0,-1-3 0,15 37 0,-6-21 0,-7-24 0,-7-20 0,-6-14 0,-3-7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9T19:00:00.851"/>
    </inkml:context>
    <inkml:brush xml:id="br0">
      <inkml:brushProperty name="width" value="0.05" units="cm"/>
      <inkml:brushProperty name="height" value="0.05" units="cm"/>
      <inkml:brushProperty name="color" value="#E71224"/>
    </inkml:brush>
  </inkml:definitions>
  <inkml:trace contextRef="#ctx0" brushRef="#br0">1 8 24575,'25'-4'0,"73"1"0,-15 3 0,11 0-832,-11 0 1,5 0 0,2 0 831,-15 0 0,1 0 0,1 0 0,-3 0 0,17 1 0,-3 0 0,-2 2 265,-11 1 0,-1 1 1,-6 2-266,10 2 0,-8 3 411,19 13-411,-35-5 0,-30-7 0,-14-2 1287,-6-2-1287,-3-2 0,-1-1 0,0 0 0,0 1 0,0 0 0,0 1 0,0 0 0,0 2 0,-1 3 0,-3 3 0,-2 5 0,-9 18 0,-14 49 0,9-29 0,-3 9 0,-2 6-389,-2 8 1,-1 7-1,-1 5 1,-1 2 388,1-5 0,0 2 0,0 4 0,-1 0 0,1 1-505,3-10 1,-1 1-1,0 1 1,1-1-1,0 1 1,1-3 504,-3 12 0,1 0 0,1-2 0,0-2 0,2-4 0,-1 4 0,1-4 0,2-3 0,1-5 0,0 4 0,2-6 0,2-8 0,2-2 0,3-12 0,3-2 0,6-37 1306,3-18-1306,0-10 818,0-6 1,1 7 0,-1-3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8A3C616-8F30-EA4A-B186-C027DE3D5CBE}" type="datetimeFigureOut">
              <a:rPr lang="en-US" smtClean="0"/>
              <a:t>1/22/26</a:t>
            </a:fld>
            <a:endParaRPr lang="en-US"/>
          </a:p>
        </p:txBody>
      </p:sp>
      <p:sp>
        <p:nvSpPr>
          <p:cNvPr id="5" name="Footer Placeholder 4"/>
          <p:cNvSpPr>
            <a:spLocks noGrp="1"/>
          </p:cNvSpPr>
          <p:nvPr>
            <p:ph type="ftr" sz="quarter" idx="11"/>
          </p:nvPr>
        </p:nvSpPr>
        <p:spPr>
          <a:xfrm>
            <a:off x="2416500" y="329307"/>
            <a:ext cx="4973915" cy="309201"/>
          </a:xfrm>
        </p:spPr>
        <p:txBody>
          <a:bodyPr/>
          <a:lstStyle/>
          <a:p>
            <a:endParaRPr lang="en-US"/>
          </a:p>
        </p:txBody>
      </p:sp>
      <p:sp>
        <p:nvSpPr>
          <p:cNvPr id="6" name="Slide Number Placeholder 5"/>
          <p:cNvSpPr>
            <a:spLocks noGrp="1"/>
          </p:cNvSpPr>
          <p:nvPr>
            <p:ph type="sldNum" sz="quarter" idx="12"/>
          </p:nvPr>
        </p:nvSpPr>
        <p:spPr>
          <a:xfrm>
            <a:off x="1437664" y="798973"/>
            <a:ext cx="811019" cy="503578"/>
          </a:xfrm>
        </p:spPr>
        <p:txBody>
          <a:bodyPr/>
          <a:lstStyle/>
          <a:p>
            <a:fld id="{6339CEED-ED2F-3645-9B84-45D34C18A6F7}" type="slidenum">
              <a:rPr lang="en-US" smtClean="0"/>
              <a:t>‹#›</a:t>
            </a:fld>
            <a:endParaRPr lang="en-US"/>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217080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8A3C616-8F30-EA4A-B186-C027DE3D5CBE}" type="datetimeFigureOut">
              <a:rPr lang="en-US" smtClean="0"/>
              <a:t>1/22/26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339CEED-ED2F-3645-9B84-45D34C18A6F7}" type="slidenum">
              <a:rPr lang="en-US" smtClean="0"/>
              <a:t>‹#›</a:t>
            </a:fld>
            <a:endParaRPr lang="en-US"/>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42182412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8A3C616-8F30-EA4A-B186-C027DE3D5CBE}" type="datetimeFigureOut">
              <a:rPr lang="en-US" smtClean="0"/>
              <a:t>1/22/26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339CEED-ED2F-3645-9B84-45D34C18A6F7}" type="slidenum">
              <a:rPr lang="en-US" smtClean="0"/>
              <a:t>‹#›</a:t>
            </a:fld>
            <a:endParaRPr lang="en-US"/>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0793924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8A3C616-8F30-EA4A-B186-C027DE3D5CBE}" type="datetimeFigureOut">
              <a:rPr lang="en-US" smtClean="0"/>
              <a:t>1/22/26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339CEED-ED2F-3645-9B84-45D34C18A6F7}" type="slidenum">
              <a:rPr lang="en-US" smtClean="0"/>
              <a:t>‹#›</a:t>
            </a:fld>
            <a:endParaRPr lang="en-US"/>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6559650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8A3C616-8F30-EA4A-B186-C027DE3D5CBE}" type="datetimeFigureOut">
              <a:rPr lang="en-US" smtClean="0"/>
              <a:t>1/22/26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339CEED-ED2F-3645-9B84-45D34C18A6F7}" type="slidenum">
              <a:rPr lang="en-US" smtClean="0"/>
              <a:t>‹#›</a:t>
            </a:fld>
            <a:endParaRPr lang="en-US"/>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2114304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8A3C616-8F30-EA4A-B186-C027DE3D5CBE}" type="datetimeFigureOut">
              <a:rPr lang="en-US" smtClean="0"/>
              <a:t>1/22/26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339CEED-ED2F-3645-9B84-45D34C18A6F7}" type="slidenum">
              <a:rPr lang="en-US" smtClean="0"/>
              <a:t>‹#›</a:t>
            </a:fld>
            <a:endParaRPr lang="en-US"/>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2597424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8A3C616-8F30-EA4A-B186-C027DE3D5CBE}" type="datetimeFigureOut">
              <a:rPr lang="en-US" smtClean="0"/>
              <a:t>1/22/26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339CEED-ED2F-3645-9B84-45D34C18A6F7}" type="slidenum">
              <a:rPr lang="en-US" smtClean="0"/>
              <a:t>‹#›</a:t>
            </a:fld>
            <a:endParaRPr lang="en-US"/>
          </a:p>
        </p:txBody>
      </p:sp>
    </p:spTree>
    <p:extLst>
      <p:ext uri="{BB962C8B-B14F-4D97-AF65-F5344CB8AC3E}">
        <p14:creationId xmlns:p14="http://schemas.microsoft.com/office/powerpoint/2010/main" val="16773600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8A3C616-8F30-EA4A-B186-C027DE3D5CBE}" type="datetimeFigureOut">
              <a:rPr lang="en-US" smtClean="0"/>
              <a:t>1/22/26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339CEED-ED2F-3645-9B84-45D34C18A6F7}" type="slidenum">
              <a:rPr lang="en-US" smtClean="0"/>
              <a:t>‹#›</a:t>
            </a:fld>
            <a:endParaRPr lang="en-US"/>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4464885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58A3C616-8F30-EA4A-B186-C027DE3D5CBE}" type="datetimeFigureOut">
              <a:rPr lang="en-US" smtClean="0"/>
              <a:t>1/22/26</a:t>
            </a:fld>
            <a:endParaRPr lang="en-US"/>
          </a:p>
        </p:txBody>
      </p:sp>
      <p:sp>
        <p:nvSpPr>
          <p:cNvPr id="6" name="Footer Placeholder 5"/>
          <p:cNvSpPr>
            <a:spLocks noGrp="1"/>
          </p:cNvSpPr>
          <p:nvPr>
            <p:ph type="ftr" sz="quarter" idx="11"/>
          </p:nvPr>
        </p:nvSpPr>
        <p:spPr>
          <a:xfrm>
            <a:off x="1447382" y="318640"/>
            <a:ext cx="5541004" cy="320931"/>
          </a:xfrm>
        </p:spPr>
        <p:txBody>
          <a:bodyPr/>
          <a:lstStyle/>
          <a:p>
            <a:endParaRPr lang="en-US"/>
          </a:p>
        </p:txBody>
      </p:sp>
      <p:sp>
        <p:nvSpPr>
          <p:cNvPr id="7" name="Slide Number Placeholder 6"/>
          <p:cNvSpPr>
            <a:spLocks noGrp="1"/>
          </p:cNvSpPr>
          <p:nvPr>
            <p:ph type="sldNum" sz="quarter" idx="12"/>
          </p:nvPr>
        </p:nvSpPr>
        <p:spPr/>
        <p:txBody>
          <a:bodyPr/>
          <a:lstStyle/>
          <a:p>
            <a:fld id="{6339CEED-ED2F-3645-9B84-45D34C18A6F7}" type="slidenum">
              <a:rPr lang="en-US" smtClean="0"/>
              <a:t>‹#›</a:t>
            </a:fld>
            <a:endParaRPr lang="en-US"/>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5727141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8A3C616-8F30-EA4A-B186-C027DE3D5CBE}" type="datetimeFigureOut">
              <a:rPr lang="en-US" smtClean="0"/>
              <a:t>1/22/26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339CEED-ED2F-3645-9B84-45D34C18A6F7}" type="slidenum">
              <a:rPr lang="en-US" smtClean="0"/>
              <a:t>‹#›</a:t>
            </a:fld>
            <a:endParaRPr lang="en-US"/>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6296460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8A3C616-8F30-EA4A-B186-C027DE3D5CBE}" type="datetimeFigureOut">
              <a:rPr lang="en-US" smtClean="0"/>
              <a:t>1/22/26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339CEED-ED2F-3645-9B84-45D34C18A6F7}" type="slidenum">
              <a:rPr lang="en-US" smtClean="0"/>
              <a:t>‹#›</a:t>
            </a:fld>
            <a:endParaRPr lang="en-US"/>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5178196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7" name="Picture 6"/>
          <p:cNvPicPr>
            <a:picLocks noChangeAspect="1"/>
          </p:cNvPicPr>
          <p:nvPr/>
        </p:nvPicPr>
        <p:blipFill rotWithShape="1">
          <a:blip r:embed="rId13">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58A3C616-8F30-EA4A-B186-C027DE3D5CBE}" type="datetimeFigureOut">
              <a:rPr lang="en-US" smtClean="0"/>
              <a:t>1/22/26</a:t>
            </a:fld>
            <a:endParaRPr lang="en-US"/>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6339CEED-ED2F-3645-9B84-45D34C18A6F7}" type="slidenum">
              <a:rPr lang="en-US" smtClean="0"/>
              <a:t>‹#›</a:t>
            </a:fld>
            <a:endParaRPr lang="en-US"/>
          </a:p>
        </p:txBody>
      </p:sp>
      <p:cxnSp>
        <p:nvCxnSpPr>
          <p:cNvPr id="10" name="Straight Connector 9"/>
          <p:cNvCxnSpPr/>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511610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customXml" Target="../ink/ink1.xml"/><Relationship Id="rId7" Type="http://schemas.openxmlformats.org/officeDocument/2006/relationships/customXml" Target="../ink/ink3.xml"/><Relationship Id="rId12"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4.png"/><Relationship Id="rId11" Type="http://schemas.openxmlformats.org/officeDocument/2006/relationships/customXml" Target="../ink/ink5.xml"/><Relationship Id="rId5" Type="http://schemas.openxmlformats.org/officeDocument/2006/relationships/customXml" Target="../ink/ink2.xml"/><Relationship Id="rId10" Type="http://schemas.openxmlformats.org/officeDocument/2006/relationships/image" Target="../media/image6.png"/><Relationship Id="rId4" Type="http://schemas.openxmlformats.org/officeDocument/2006/relationships/image" Target="../media/image3.png"/><Relationship Id="rId9" Type="http://schemas.openxmlformats.org/officeDocument/2006/relationships/customXml" Target="../ink/ink4.xml"/></Relationships>
</file>

<file path=ppt/slides/_rels/slide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B729C-5F22-829B-D662-2A331344D7C1}"/>
              </a:ext>
            </a:extLst>
          </p:cNvPr>
          <p:cNvSpPr>
            <a:spLocks noGrp="1"/>
          </p:cNvSpPr>
          <p:nvPr>
            <p:ph type="title"/>
          </p:nvPr>
        </p:nvSpPr>
        <p:spPr/>
        <p:txBody>
          <a:bodyPr/>
          <a:lstStyle/>
          <a:p>
            <a:r>
              <a:rPr lang="en-US" dirty="0"/>
              <a:t>Stuff</a:t>
            </a:r>
          </a:p>
        </p:txBody>
      </p:sp>
      <p:sp>
        <p:nvSpPr>
          <p:cNvPr id="3" name="Content Placeholder 2">
            <a:extLst>
              <a:ext uri="{FF2B5EF4-FFF2-40B4-BE49-F238E27FC236}">
                <a16:creationId xmlns:a16="http://schemas.microsoft.com/office/drawing/2014/main" id="{03DA75FD-6617-B722-A9EB-3D279C62B6AD}"/>
              </a:ext>
            </a:extLst>
          </p:cNvPr>
          <p:cNvSpPr>
            <a:spLocks noGrp="1"/>
          </p:cNvSpPr>
          <p:nvPr>
            <p:ph idx="1"/>
          </p:nvPr>
        </p:nvSpPr>
        <p:spPr>
          <a:xfrm>
            <a:off x="1451579" y="1853754"/>
            <a:ext cx="9603275" cy="4199727"/>
          </a:xfrm>
        </p:spPr>
        <p:txBody>
          <a:bodyPr>
            <a:normAutofit/>
          </a:bodyPr>
          <a:lstStyle/>
          <a:p>
            <a:r>
              <a:rPr lang="en-US" dirty="0"/>
              <a:t>Please do the </a:t>
            </a:r>
            <a:r>
              <a:rPr lang="en-US" dirty="0" err="1"/>
              <a:t>github</a:t>
            </a:r>
            <a:r>
              <a:rPr lang="en-US" dirty="0"/>
              <a:t> username survey if you haven’t yet. </a:t>
            </a:r>
          </a:p>
          <a:p>
            <a:r>
              <a:rPr lang="en-US" dirty="0"/>
              <a:t>Feature selection basics (chapter 4)</a:t>
            </a:r>
          </a:p>
          <a:p>
            <a:pPr lvl="1"/>
            <a:r>
              <a:rPr lang="en-US" dirty="0"/>
              <a:t>I added a review of multicollinearity to it, if you have old version, pull. </a:t>
            </a:r>
          </a:p>
          <a:p>
            <a:pPr lvl="1"/>
            <a:r>
              <a:rPr lang="en-US" dirty="0"/>
              <a:t>Mostly mechanics of different ways to select features. </a:t>
            </a:r>
          </a:p>
          <a:p>
            <a:pPr lvl="1"/>
            <a:r>
              <a:rPr lang="en-US" dirty="0"/>
              <a:t>This part is pretty straightforward, again make sure the general ‘make a pipe’ stuff is OK. </a:t>
            </a:r>
          </a:p>
          <a:p>
            <a:r>
              <a:rPr lang="en-US" dirty="0"/>
              <a:t>And then… Next time, support vector machines (maybe some this time, if you’re fast). </a:t>
            </a:r>
          </a:p>
          <a:p>
            <a:pPr lvl="1"/>
            <a:r>
              <a:rPr lang="en-US" dirty="0"/>
              <a:t>Dimensionality and visualizing data. </a:t>
            </a:r>
          </a:p>
          <a:p>
            <a:pPr lvl="1"/>
            <a:r>
              <a:rPr lang="en-US" dirty="0"/>
              <a:t>Margins and hinge loss. </a:t>
            </a:r>
          </a:p>
          <a:p>
            <a:pPr lvl="1"/>
            <a:r>
              <a:rPr lang="en-US" dirty="0"/>
              <a:t>Then Natural Language Processing (NLP) – our first really cool topic. </a:t>
            </a:r>
          </a:p>
          <a:p>
            <a:pPr lvl="2"/>
            <a:r>
              <a:rPr lang="en-US" dirty="0"/>
              <a:t>The dimensionality bit is important for understanding here. </a:t>
            </a:r>
          </a:p>
        </p:txBody>
      </p:sp>
    </p:spTree>
    <p:extLst>
      <p:ext uri="{BB962C8B-B14F-4D97-AF65-F5344CB8AC3E}">
        <p14:creationId xmlns:p14="http://schemas.microsoft.com/office/powerpoint/2010/main" val="33423448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8D14CF-BA4C-391A-F9E0-19CC24BE639E}"/>
              </a:ext>
            </a:extLst>
          </p:cNvPr>
          <p:cNvSpPr>
            <a:spLocks noGrp="1"/>
          </p:cNvSpPr>
          <p:nvPr>
            <p:ph type="title"/>
          </p:nvPr>
        </p:nvSpPr>
        <p:spPr>
          <a:xfrm>
            <a:off x="1451579" y="804519"/>
            <a:ext cx="9603276" cy="1049235"/>
          </a:xfrm>
        </p:spPr>
        <p:txBody>
          <a:bodyPr/>
          <a:lstStyle/>
          <a:p>
            <a:r>
              <a:rPr lang="en-US" dirty="0"/>
              <a:t>Review – Multiclass classification and Image data in Logistic Regression</a:t>
            </a:r>
          </a:p>
        </p:txBody>
      </p:sp>
      <p:sp>
        <p:nvSpPr>
          <p:cNvPr id="3" name="Content Placeholder 2">
            <a:extLst>
              <a:ext uri="{FF2B5EF4-FFF2-40B4-BE49-F238E27FC236}">
                <a16:creationId xmlns:a16="http://schemas.microsoft.com/office/drawing/2014/main" id="{FB5E8A82-E536-86F8-687A-851F0F266F35}"/>
              </a:ext>
            </a:extLst>
          </p:cNvPr>
          <p:cNvSpPr>
            <a:spLocks noGrp="1"/>
          </p:cNvSpPr>
          <p:nvPr>
            <p:ph idx="1"/>
          </p:nvPr>
        </p:nvSpPr>
        <p:spPr>
          <a:xfrm>
            <a:off x="1451579" y="1853754"/>
            <a:ext cx="9603275" cy="4199727"/>
          </a:xfrm>
        </p:spPr>
        <p:txBody>
          <a:bodyPr/>
          <a:lstStyle/>
          <a:p>
            <a:r>
              <a:rPr lang="en-US" dirty="0"/>
              <a:t>We saw logistic regression with a couple of twists:</a:t>
            </a:r>
          </a:p>
          <a:p>
            <a:pPr lvl="1"/>
            <a:r>
              <a:rPr lang="en-US" dirty="0"/>
              <a:t>Regularization can be applied to the model internally, and is by default. </a:t>
            </a:r>
          </a:p>
          <a:p>
            <a:pPr lvl="1"/>
            <a:r>
              <a:rPr lang="en-US" dirty="0"/>
              <a:t>The ‘solver’ controls the math behind the scenes, some work better in some scenarios. </a:t>
            </a:r>
          </a:p>
          <a:p>
            <a:pPr lvl="1"/>
            <a:r>
              <a:rPr lang="en-US" dirty="0"/>
              <a:t>Image (or other) data can be used – but must* be made tabular (flat, one record per row). </a:t>
            </a:r>
          </a:p>
          <a:p>
            <a:pPr lvl="1"/>
            <a:r>
              <a:rPr lang="en-US" dirty="0"/>
              <a:t>We can classify into several classes, not just two. </a:t>
            </a:r>
          </a:p>
          <a:p>
            <a:r>
              <a:rPr lang="en-US" dirty="0"/>
              <a:t>Image data in models (and any unstructured data). </a:t>
            </a:r>
          </a:p>
          <a:p>
            <a:pPr lvl="1"/>
            <a:r>
              <a:rPr lang="en-US" dirty="0"/>
              <a:t>Original data is not usable – 2/3D matrix of pixels. </a:t>
            </a:r>
          </a:p>
          <a:p>
            <a:pPr lvl="1"/>
            <a:r>
              <a:rPr lang="en-US" dirty="0"/>
              <a:t>Need a process to transform image-&gt;flat data – this process can vary depending on intent. </a:t>
            </a:r>
          </a:p>
          <a:p>
            <a:pPr lvl="1"/>
            <a:r>
              <a:rPr lang="en-US" dirty="0"/>
              <a:t>Accuracy depends both on model, and quality of this representation. </a:t>
            </a:r>
          </a:p>
          <a:p>
            <a:pPr lvl="1"/>
            <a:r>
              <a:rPr lang="en-US" dirty="0"/>
              <a:t>Once ‘flat’, the process is the same as we’re used to.</a:t>
            </a:r>
          </a:p>
        </p:txBody>
      </p:sp>
    </p:spTree>
    <p:extLst>
      <p:ext uri="{BB962C8B-B14F-4D97-AF65-F5344CB8AC3E}">
        <p14:creationId xmlns:p14="http://schemas.microsoft.com/office/powerpoint/2010/main" val="2391997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F93C15-822A-58D8-E8A2-AF36215BBC1F}"/>
              </a:ext>
            </a:extLst>
          </p:cNvPr>
          <p:cNvSpPr>
            <a:spLocks noGrp="1"/>
          </p:cNvSpPr>
          <p:nvPr>
            <p:ph type="title"/>
          </p:nvPr>
        </p:nvSpPr>
        <p:spPr/>
        <p:txBody>
          <a:bodyPr/>
          <a:lstStyle/>
          <a:p>
            <a:r>
              <a:rPr lang="en-US" dirty="0" err="1"/>
              <a:t>Softmax</a:t>
            </a:r>
            <a:r>
              <a:rPr lang="en-US" dirty="0"/>
              <a:t> and Multiple classes</a:t>
            </a:r>
          </a:p>
        </p:txBody>
      </p:sp>
      <p:sp>
        <p:nvSpPr>
          <p:cNvPr id="3" name="Content Placeholder 2">
            <a:extLst>
              <a:ext uri="{FF2B5EF4-FFF2-40B4-BE49-F238E27FC236}">
                <a16:creationId xmlns:a16="http://schemas.microsoft.com/office/drawing/2014/main" id="{58B91403-666E-309F-7D3C-7695A76B314B}"/>
              </a:ext>
            </a:extLst>
          </p:cNvPr>
          <p:cNvSpPr>
            <a:spLocks noGrp="1"/>
          </p:cNvSpPr>
          <p:nvPr>
            <p:ph idx="1"/>
          </p:nvPr>
        </p:nvSpPr>
        <p:spPr>
          <a:xfrm>
            <a:off x="311499" y="1853754"/>
            <a:ext cx="10743355" cy="4295837"/>
          </a:xfrm>
        </p:spPr>
        <p:txBody>
          <a:bodyPr/>
          <a:lstStyle/>
          <a:p>
            <a:r>
              <a:rPr lang="en-US" dirty="0"/>
              <a:t>Classifying things into several classes is easy! Depending on model:</a:t>
            </a:r>
          </a:p>
          <a:p>
            <a:pPr lvl="1"/>
            <a:r>
              <a:rPr lang="en-US" dirty="0"/>
              <a:t>Some like trees and bayes can handle 3+ classes by default. (Depends on implementation.)</a:t>
            </a:r>
          </a:p>
          <a:p>
            <a:pPr lvl="1"/>
            <a:r>
              <a:rPr lang="en-US" dirty="0"/>
              <a:t>Can use workaround of multiple models – 1v1 or 1vR. </a:t>
            </a:r>
          </a:p>
          <a:p>
            <a:pPr lvl="1"/>
            <a:r>
              <a:rPr lang="en-US" dirty="0"/>
              <a:t>Main approach – </a:t>
            </a:r>
            <a:r>
              <a:rPr lang="en-US" dirty="0" err="1"/>
              <a:t>softmax</a:t>
            </a:r>
            <a:r>
              <a:rPr lang="en-US" dirty="0"/>
              <a:t> – replace sigmoid with new (activation) function. </a:t>
            </a:r>
          </a:p>
          <a:p>
            <a:r>
              <a:rPr lang="en-US" dirty="0" err="1"/>
              <a:t>Softmax</a:t>
            </a:r>
            <a:r>
              <a:rPr lang="en-US" dirty="0"/>
              <a:t> is roughly equivalent to a sigmoid, except. </a:t>
            </a:r>
          </a:p>
          <a:p>
            <a:pPr lvl="1"/>
            <a:r>
              <a:rPr lang="en-US" dirty="0"/>
              <a:t>Takes in logits (from regression) for each output. </a:t>
            </a:r>
          </a:p>
          <a:p>
            <a:pPr lvl="1"/>
            <a:r>
              <a:rPr lang="en-US" dirty="0"/>
              <a:t>Produces probabilities* for each output.</a:t>
            </a:r>
          </a:p>
        </p:txBody>
      </p:sp>
      <p:pic>
        <p:nvPicPr>
          <p:cNvPr id="4" name="Picture 2" descr="Easy TensorFlow - Linear Classifier">
            <a:extLst>
              <a:ext uri="{FF2B5EF4-FFF2-40B4-BE49-F238E27FC236}">
                <a16:creationId xmlns:a16="http://schemas.microsoft.com/office/drawing/2014/main" id="{FE7CB224-DB08-73B5-3817-DE773760A1A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31088" y="4290646"/>
            <a:ext cx="6578843" cy="247391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mc:Choice xmlns:p14="http://schemas.microsoft.com/office/powerpoint/2010/main" Requires="p14">
          <p:contentPart p14:bwMode="auto" r:id="rId3">
            <p14:nvContentPartPr>
              <p14:cNvPr id="5" name="Ink 4">
                <a:extLst>
                  <a:ext uri="{FF2B5EF4-FFF2-40B4-BE49-F238E27FC236}">
                    <a16:creationId xmlns:a16="http://schemas.microsoft.com/office/drawing/2014/main" id="{62CA9AB5-A28C-0BE8-077D-7555992FA5E9}"/>
                  </a:ext>
                </a:extLst>
              </p14:cNvPr>
              <p14:cNvContentPartPr/>
              <p14:nvPr/>
            </p14:nvContentPartPr>
            <p14:xfrm>
              <a:off x="7199217" y="4345176"/>
              <a:ext cx="743400" cy="621000"/>
            </p14:xfrm>
          </p:contentPart>
        </mc:Choice>
        <mc:Fallback>
          <p:pic>
            <p:nvPicPr>
              <p:cNvPr id="5" name="Ink 4">
                <a:extLst>
                  <a:ext uri="{FF2B5EF4-FFF2-40B4-BE49-F238E27FC236}">
                    <a16:creationId xmlns:a16="http://schemas.microsoft.com/office/drawing/2014/main" id="{62CA9AB5-A28C-0BE8-077D-7555992FA5E9}"/>
                  </a:ext>
                </a:extLst>
              </p:cNvPr>
              <p:cNvPicPr/>
              <p:nvPr/>
            </p:nvPicPr>
            <p:blipFill>
              <a:blip r:embed="rId4"/>
              <a:stretch>
                <a:fillRect/>
              </a:stretch>
            </p:blipFill>
            <p:spPr>
              <a:xfrm>
                <a:off x="7190577" y="4336176"/>
                <a:ext cx="761040" cy="638640"/>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6" name="Ink 5">
                <a:extLst>
                  <a:ext uri="{FF2B5EF4-FFF2-40B4-BE49-F238E27FC236}">
                    <a16:creationId xmlns:a16="http://schemas.microsoft.com/office/drawing/2014/main" id="{CDF393FF-056F-F381-3E19-5A83E4432FB3}"/>
                  </a:ext>
                </a:extLst>
              </p14:cNvPr>
              <p14:cNvContentPartPr/>
              <p14:nvPr/>
            </p14:nvContentPartPr>
            <p14:xfrm>
              <a:off x="7860537" y="4613016"/>
              <a:ext cx="216360" cy="226080"/>
            </p14:xfrm>
          </p:contentPart>
        </mc:Choice>
        <mc:Fallback>
          <p:pic>
            <p:nvPicPr>
              <p:cNvPr id="6" name="Ink 5">
                <a:extLst>
                  <a:ext uri="{FF2B5EF4-FFF2-40B4-BE49-F238E27FC236}">
                    <a16:creationId xmlns:a16="http://schemas.microsoft.com/office/drawing/2014/main" id="{CDF393FF-056F-F381-3E19-5A83E4432FB3}"/>
                  </a:ext>
                </a:extLst>
              </p:cNvPr>
              <p:cNvPicPr/>
              <p:nvPr/>
            </p:nvPicPr>
            <p:blipFill>
              <a:blip r:embed="rId6"/>
              <a:stretch>
                <a:fillRect/>
              </a:stretch>
            </p:blipFill>
            <p:spPr>
              <a:xfrm>
                <a:off x="7851537" y="4604376"/>
                <a:ext cx="234000" cy="243720"/>
              </a:xfrm>
              <a:prstGeom prst="rect">
                <a:avLst/>
              </a:prstGeom>
            </p:spPr>
          </p:pic>
        </mc:Fallback>
      </mc:AlternateContent>
      <p:grpSp>
        <p:nvGrpSpPr>
          <p:cNvPr id="13" name="Group 12">
            <a:extLst>
              <a:ext uri="{FF2B5EF4-FFF2-40B4-BE49-F238E27FC236}">
                <a16:creationId xmlns:a16="http://schemas.microsoft.com/office/drawing/2014/main" id="{CD31C481-80A9-E571-2880-48B2ECEB35C1}"/>
              </a:ext>
            </a:extLst>
          </p:cNvPr>
          <p:cNvGrpSpPr/>
          <p:nvPr/>
        </p:nvGrpSpPr>
        <p:grpSpPr>
          <a:xfrm>
            <a:off x="11134737" y="2140536"/>
            <a:ext cx="888120" cy="4575600"/>
            <a:chOff x="11134737" y="2140536"/>
            <a:chExt cx="888120" cy="4575600"/>
          </a:xfrm>
        </p:grpSpPr>
        <mc:AlternateContent xmlns:mc="http://schemas.openxmlformats.org/markup-compatibility/2006">
          <mc:Choice xmlns:p14="http://schemas.microsoft.com/office/powerpoint/2010/main" Requires="p14">
            <p:contentPart p14:bwMode="auto" r:id="rId7">
              <p14:nvContentPartPr>
                <p14:cNvPr id="7" name="Ink 6">
                  <a:extLst>
                    <a:ext uri="{FF2B5EF4-FFF2-40B4-BE49-F238E27FC236}">
                      <a16:creationId xmlns:a16="http://schemas.microsoft.com/office/drawing/2014/main" id="{D250656B-BE30-1E07-94B8-8E74424B94E1}"/>
                    </a:ext>
                  </a:extLst>
                </p14:cNvPr>
                <p14:cNvContentPartPr/>
                <p14:nvPr/>
              </p14:nvContentPartPr>
              <p14:xfrm>
                <a:off x="11134737" y="4420776"/>
                <a:ext cx="797760" cy="2295360"/>
              </p14:xfrm>
            </p:contentPart>
          </mc:Choice>
          <mc:Fallback>
            <p:pic>
              <p:nvPicPr>
                <p:cNvPr id="7" name="Ink 6">
                  <a:extLst>
                    <a:ext uri="{FF2B5EF4-FFF2-40B4-BE49-F238E27FC236}">
                      <a16:creationId xmlns:a16="http://schemas.microsoft.com/office/drawing/2014/main" id="{D250656B-BE30-1E07-94B8-8E74424B94E1}"/>
                    </a:ext>
                  </a:extLst>
                </p:cNvPr>
                <p:cNvPicPr/>
                <p:nvPr/>
              </p:nvPicPr>
              <p:blipFill>
                <a:blip r:embed="rId8"/>
                <a:stretch>
                  <a:fillRect/>
                </a:stretch>
              </p:blipFill>
              <p:spPr>
                <a:xfrm>
                  <a:off x="11125737" y="4411776"/>
                  <a:ext cx="815400" cy="2313000"/>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8" name="Ink 7">
                  <a:extLst>
                    <a:ext uri="{FF2B5EF4-FFF2-40B4-BE49-F238E27FC236}">
                      <a16:creationId xmlns:a16="http://schemas.microsoft.com/office/drawing/2014/main" id="{0BF02873-72BD-D6E1-7930-B300A591ADE7}"/>
                    </a:ext>
                  </a:extLst>
                </p14:cNvPr>
                <p14:cNvContentPartPr/>
                <p14:nvPr/>
              </p14:nvContentPartPr>
              <p14:xfrm>
                <a:off x="11607417" y="3154296"/>
                <a:ext cx="415440" cy="1226160"/>
              </p14:xfrm>
            </p:contentPart>
          </mc:Choice>
          <mc:Fallback>
            <p:pic>
              <p:nvPicPr>
                <p:cNvPr id="8" name="Ink 7">
                  <a:extLst>
                    <a:ext uri="{FF2B5EF4-FFF2-40B4-BE49-F238E27FC236}">
                      <a16:creationId xmlns:a16="http://schemas.microsoft.com/office/drawing/2014/main" id="{0BF02873-72BD-D6E1-7930-B300A591ADE7}"/>
                    </a:ext>
                  </a:extLst>
                </p:cNvPr>
                <p:cNvPicPr/>
                <p:nvPr/>
              </p:nvPicPr>
              <p:blipFill>
                <a:blip r:embed="rId10"/>
                <a:stretch>
                  <a:fillRect/>
                </a:stretch>
              </p:blipFill>
              <p:spPr>
                <a:xfrm>
                  <a:off x="11598777" y="3145296"/>
                  <a:ext cx="433080" cy="1243800"/>
                </a:xfrm>
                <a:prstGeom prst="rect">
                  <a:avLst/>
                </a:prstGeom>
              </p:spPr>
            </p:pic>
          </mc:Fallback>
        </mc:AlternateContent>
        <mc:AlternateContent xmlns:mc="http://schemas.openxmlformats.org/markup-compatibility/2006">
          <mc:Choice xmlns:p14="http://schemas.microsoft.com/office/powerpoint/2010/main" Requires="p14">
            <p:contentPart p14:bwMode="auto" r:id="rId11">
              <p14:nvContentPartPr>
                <p14:cNvPr id="11" name="Ink 10">
                  <a:extLst>
                    <a:ext uri="{FF2B5EF4-FFF2-40B4-BE49-F238E27FC236}">
                      <a16:creationId xmlns:a16="http://schemas.microsoft.com/office/drawing/2014/main" id="{93108B76-614B-B6B9-830D-D1D6CDED96E6}"/>
                    </a:ext>
                  </a:extLst>
                </p14:cNvPr>
                <p14:cNvContentPartPr/>
                <p14:nvPr/>
              </p14:nvContentPartPr>
              <p14:xfrm>
                <a:off x="11169657" y="2140536"/>
                <a:ext cx="603360" cy="1157760"/>
              </p14:xfrm>
            </p:contentPart>
          </mc:Choice>
          <mc:Fallback>
            <p:pic>
              <p:nvPicPr>
                <p:cNvPr id="11" name="Ink 10">
                  <a:extLst>
                    <a:ext uri="{FF2B5EF4-FFF2-40B4-BE49-F238E27FC236}">
                      <a16:creationId xmlns:a16="http://schemas.microsoft.com/office/drawing/2014/main" id="{93108B76-614B-B6B9-830D-D1D6CDED96E6}"/>
                    </a:ext>
                  </a:extLst>
                </p:cNvPr>
                <p:cNvPicPr/>
                <p:nvPr/>
              </p:nvPicPr>
              <p:blipFill>
                <a:blip r:embed="rId12"/>
                <a:stretch>
                  <a:fillRect/>
                </a:stretch>
              </p:blipFill>
              <p:spPr>
                <a:xfrm>
                  <a:off x="11161017" y="2131896"/>
                  <a:ext cx="621000" cy="1175400"/>
                </a:xfrm>
                <a:prstGeom prst="rect">
                  <a:avLst/>
                </a:prstGeom>
              </p:spPr>
            </p:pic>
          </mc:Fallback>
        </mc:AlternateContent>
      </p:grpSp>
    </p:spTree>
    <p:extLst>
      <p:ext uri="{BB962C8B-B14F-4D97-AF65-F5344CB8AC3E}">
        <p14:creationId xmlns:p14="http://schemas.microsoft.com/office/powerpoint/2010/main" val="31295450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242BF-09A0-F769-F489-35FC76078109}"/>
              </a:ext>
            </a:extLst>
          </p:cNvPr>
          <p:cNvSpPr>
            <a:spLocks noGrp="1"/>
          </p:cNvSpPr>
          <p:nvPr>
            <p:ph type="title"/>
          </p:nvPr>
        </p:nvSpPr>
        <p:spPr/>
        <p:txBody>
          <a:bodyPr/>
          <a:lstStyle/>
          <a:p>
            <a:r>
              <a:rPr lang="en-US" dirty="0"/>
              <a:t>Labels and </a:t>
            </a:r>
            <a:r>
              <a:rPr lang="en-US" dirty="0" err="1"/>
              <a:t>Softmax</a:t>
            </a:r>
            <a:r>
              <a:rPr lang="en-US" dirty="0"/>
              <a:t> and Sklearn and You</a:t>
            </a:r>
          </a:p>
        </p:txBody>
      </p:sp>
      <p:sp>
        <p:nvSpPr>
          <p:cNvPr id="3" name="Content Placeholder 2">
            <a:extLst>
              <a:ext uri="{FF2B5EF4-FFF2-40B4-BE49-F238E27FC236}">
                <a16:creationId xmlns:a16="http://schemas.microsoft.com/office/drawing/2014/main" id="{720F5974-5167-DAFA-A6B4-F711A02F4359}"/>
              </a:ext>
            </a:extLst>
          </p:cNvPr>
          <p:cNvSpPr>
            <a:spLocks noGrp="1"/>
          </p:cNvSpPr>
          <p:nvPr>
            <p:ph idx="1"/>
          </p:nvPr>
        </p:nvSpPr>
        <p:spPr>
          <a:xfrm>
            <a:off x="246185" y="2015732"/>
            <a:ext cx="6286627" cy="4037749"/>
          </a:xfrm>
        </p:spPr>
        <p:txBody>
          <a:bodyPr/>
          <a:lstStyle/>
          <a:p>
            <a:r>
              <a:rPr lang="en-US" dirty="0"/>
              <a:t>In </a:t>
            </a:r>
            <a:r>
              <a:rPr lang="en-US" dirty="0" err="1"/>
              <a:t>softmax</a:t>
            </a:r>
            <a:r>
              <a:rPr lang="en-US" dirty="0"/>
              <a:t>, the way it works is that it:</a:t>
            </a:r>
          </a:p>
          <a:p>
            <a:pPr lvl="1"/>
            <a:r>
              <a:rPr lang="en-US" dirty="0"/>
              <a:t>Receives a tensor of logits, one for each output class. </a:t>
            </a:r>
          </a:p>
          <a:p>
            <a:pPr lvl="1"/>
            <a:r>
              <a:rPr lang="en-US" dirty="0"/>
              <a:t>Creates a tensor of probabilities, one per output class. </a:t>
            </a:r>
          </a:p>
          <a:p>
            <a:r>
              <a:rPr lang="en-US" dirty="0"/>
              <a:t>In sklearn, they’ve done some simplifying. </a:t>
            </a:r>
          </a:p>
          <a:p>
            <a:pPr lvl="1"/>
            <a:r>
              <a:rPr lang="en-US" dirty="0"/>
              <a:t>Sklearn can provide those individual probabilities if asked. </a:t>
            </a:r>
          </a:p>
          <a:p>
            <a:pPr lvl="1"/>
            <a:r>
              <a:rPr lang="en-US" dirty="0"/>
              <a:t>The main interface allows us to use label encoded data. </a:t>
            </a:r>
          </a:p>
          <a:p>
            <a:r>
              <a:rPr lang="en-US" dirty="0"/>
              <a:t>In sklearn we don’t need to worry about array of probs.</a:t>
            </a:r>
          </a:p>
          <a:p>
            <a:r>
              <a:rPr lang="en-US" dirty="0"/>
              <a:t>In sklearn, they handle this translation invisibly. </a:t>
            </a:r>
          </a:p>
          <a:p>
            <a:pPr lvl="1"/>
            <a:r>
              <a:rPr lang="en-US" dirty="0"/>
              <a:t>We can interact with 7 instead of [0,0,0,0,0,0,0,1,0,0]. </a:t>
            </a:r>
          </a:p>
        </p:txBody>
      </p:sp>
      <p:pic>
        <p:nvPicPr>
          <p:cNvPr id="4" name="Picture 3">
            <a:extLst>
              <a:ext uri="{FF2B5EF4-FFF2-40B4-BE49-F238E27FC236}">
                <a16:creationId xmlns:a16="http://schemas.microsoft.com/office/drawing/2014/main" id="{BE2E592C-E9D2-176A-49EE-CB97FCD1CF39}"/>
              </a:ext>
            </a:extLst>
          </p:cNvPr>
          <p:cNvPicPr>
            <a:picLocks noChangeAspect="1"/>
          </p:cNvPicPr>
          <p:nvPr/>
        </p:nvPicPr>
        <p:blipFill>
          <a:blip r:embed="rId2"/>
          <a:srcRect r="2036"/>
          <a:stretch>
            <a:fillRect/>
          </a:stretch>
        </p:blipFill>
        <p:spPr>
          <a:xfrm>
            <a:off x="6532812" y="1544045"/>
            <a:ext cx="5659188" cy="3922300"/>
          </a:xfrm>
          <a:prstGeom prst="rect">
            <a:avLst/>
          </a:prstGeom>
        </p:spPr>
      </p:pic>
    </p:spTree>
    <p:extLst>
      <p:ext uri="{BB962C8B-B14F-4D97-AF65-F5344CB8AC3E}">
        <p14:creationId xmlns:p14="http://schemas.microsoft.com/office/powerpoint/2010/main" val="41744329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79753A-2A8C-F149-8035-FB4E6ADA2349}"/>
              </a:ext>
            </a:extLst>
          </p:cNvPr>
          <p:cNvSpPr>
            <a:spLocks noGrp="1"/>
          </p:cNvSpPr>
          <p:nvPr>
            <p:ph type="ctrTitle"/>
          </p:nvPr>
        </p:nvSpPr>
        <p:spPr/>
        <p:txBody>
          <a:bodyPr/>
          <a:lstStyle/>
          <a:p>
            <a:r>
              <a:rPr lang="en-US" dirty="0"/>
              <a:t>Feature Selection</a:t>
            </a:r>
          </a:p>
        </p:txBody>
      </p:sp>
      <p:sp>
        <p:nvSpPr>
          <p:cNvPr id="3" name="Subtitle 2">
            <a:extLst>
              <a:ext uri="{FF2B5EF4-FFF2-40B4-BE49-F238E27FC236}">
                <a16:creationId xmlns:a16="http://schemas.microsoft.com/office/drawing/2014/main" id="{6EDDED44-6CBD-694F-83C3-CECD1E53689E}"/>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8442440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47DD47-F066-1249-9FC1-291033AFF13F}"/>
              </a:ext>
            </a:extLst>
          </p:cNvPr>
          <p:cNvSpPr>
            <a:spLocks noGrp="1"/>
          </p:cNvSpPr>
          <p:nvPr>
            <p:ph type="title"/>
          </p:nvPr>
        </p:nvSpPr>
        <p:spPr/>
        <p:txBody>
          <a:bodyPr/>
          <a:lstStyle/>
          <a:p>
            <a:r>
              <a:rPr lang="en-US" dirty="0"/>
              <a:t>Detour – Sparse vs Dense</a:t>
            </a:r>
          </a:p>
        </p:txBody>
      </p:sp>
      <p:sp>
        <p:nvSpPr>
          <p:cNvPr id="3" name="Content Placeholder 2">
            <a:extLst>
              <a:ext uri="{FF2B5EF4-FFF2-40B4-BE49-F238E27FC236}">
                <a16:creationId xmlns:a16="http://schemas.microsoft.com/office/drawing/2014/main" id="{226B2D96-A879-D94E-BDF3-787B0AC923DF}"/>
              </a:ext>
            </a:extLst>
          </p:cNvPr>
          <p:cNvSpPr>
            <a:spLocks noGrp="1"/>
          </p:cNvSpPr>
          <p:nvPr>
            <p:ph idx="1"/>
          </p:nvPr>
        </p:nvSpPr>
        <p:spPr>
          <a:xfrm>
            <a:off x="1451579" y="2015732"/>
            <a:ext cx="9603275" cy="4037749"/>
          </a:xfrm>
        </p:spPr>
        <p:txBody>
          <a:bodyPr/>
          <a:lstStyle/>
          <a:p>
            <a:r>
              <a:rPr lang="en-US" dirty="0"/>
              <a:t>One thing that is mentioned regularly is a sparse or dense matrix. </a:t>
            </a:r>
          </a:p>
          <a:p>
            <a:r>
              <a:rPr lang="en-US" dirty="0"/>
              <a:t>Sparse matrices are mostly 0, dense matrices are not. </a:t>
            </a:r>
          </a:p>
          <a:p>
            <a:pPr lvl="1"/>
            <a:r>
              <a:rPr lang="en-US" dirty="0"/>
              <a:t>E.g. one hot encoded data with many classes makes a very sparse matrix. </a:t>
            </a:r>
          </a:p>
          <a:p>
            <a:r>
              <a:rPr lang="en-US" dirty="0"/>
              <a:t>The difference is in how they are treated (sometimes) in code. </a:t>
            </a:r>
          </a:p>
          <a:p>
            <a:r>
              <a:rPr lang="en-US" dirty="0"/>
              <a:t>Sparse matrices can be represented differently in storage:</a:t>
            </a:r>
          </a:p>
          <a:p>
            <a:pPr lvl="1"/>
            <a:r>
              <a:rPr lang="en-US" dirty="0"/>
              <a:t>Storage space can be more efficient.</a:t>
            </a:r>
          </a:p>
          <a:p>
            <a:pPr lvl="1"/>
            <a:r>
              <a:rPr lang="en-US" dirty="0"/>
              <a:t>Processing speed can be quicker.</a:t>
            </a:r>
          </a:p>
          <a:p>
            <a:r>
              <a:rPr lang="en-US" dirty="0"/>
              <a:t>We don’t really need to think about it much, it is a concern with large amounts of data.</a:t>
            </a:r>
          </a:p>
          <a:p>
            <a:pPr lvl="1"/>
            <a:r>
              <a:rPr lang="en-US" dirty="0"/>
              <a:t>E.g. </a:t>
            </a:r>
            <a:r>
              <a:rPr lang="en-US" dirty="0" err="1"/>
              <a:t>Sklearn</a:t>
            </a:r>
            <a:r>
              <a:rPr lang="en-US" dirty="0"/>
              <a:t> data needs to fit in RAM. </a:t>
            </a:r>
          </a:p>
        </p:txBody>
      </p:sp>
    </p:spTree>
    <p:extLst>
      <p:ext uri="{BB962C8B-B14F-4D97-AF65-F5344CB8AC3E}">
        <p14:creationId xmlns:p14="http://schemas.microsoft.com/office/powerpoint/2010/main" val="28699765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1E9C2-ED82-7641-89DF-BD0FD9009908}"/>
              </a:ext>
            </a:extLst>
          </p:cNvPr>
          <p:cNvSpPr>
            <a:spLocks noGrp="1"/>
          </p:cNvSpPr>
          <p:nvPr>
            <p:ph type="title"/>
          </p:nvPr>
        </p:nvSpPr>
        <p:spPr/>
        <p:txBody>
          <a:bodyPr/>
          <a:lstStyle/>
          <a:p>
            <a:r>
              <a:rPr lang="en-US" dirty="0"/>
              <a:t>Feature Selection</a:t>
            </a:r>
          </a:p>
        </p:txBody>
      </p:sp>
      <p:sp>
        <p:nvSpPr>
          <p:cNvPr id="3" name="Content Placeholder 2">
            <a:extLst>
              <a:ext uri="{FF2B5EF4-FFF2-40B4-BE49-F238E27FC236}">
                <a16:creationId xmlns:a16="http://schemas.microsoft.com/office/drawing/2014/main" id="{3E61FF5A-7AE6-5944-8AB3-FC846FC5F66C}"/>
              </a:ext>
            </a:extLst>
          </p:cNvPr>
          <p:cNvSpPr>
            <a:spLocks noGrp="1"/>
          </p:cNvSpPr>
          <p:nvPr>
            <p:ph idx="1"/>
          </p:nvPr>
        </p:nvSpPr>
        <p:spPr/>
        <p:txBody>
          <a:bodyPr/>
          <a:lstStyle/>
          <a:p>
            <a:r>
              <a:rPr lang="en-US" dirty="0"/>
              <a:t>Until now, we haven’t worried too much about feature selection.</a:t>
            </a:r>
          </a:p>
          <a:p>
            <a:pPr lvl="1"/>
            <a:r>
              <a:rPr lang="en-US" dirty="0"/>
              <a:t>Outside of things like L1 regularization built into algorithms. </a:t>
            </a:r>
          </a:p>
          <a:p>
            <a:r>
              <a:rPr lang="en-US" dirty="0"/>
              <a:t>We’ve seen some pretty wide (high dimension) data, with lots of features. </a:t>
            </a:r>
          </a:p>
          <a:p>
            <a:pPr lvl="1"/>
            <a:r>
              <a:rPr lang="en-US" dirty="0"/>
              <a:t>E.g. images once flattened. </a:t>
            </a:r>
          </a:p>
          <a:p>
            <a:r>
              <a:rPr lang="en-US" dirty="0"/>
              <a:t>We can select some features to help our models. </a:t>
            </a:r>
          </a:p>
          <a:p>
            <a:r>
              <a:rPr lang="en-US" dirty="0"/>
              <a:t>We can build this selection into pipelines to make things slick. </a:t>
            </a:r>
          </a:p>
        </p:txBody>
      </p:sp>
    </p:spTree>
    <p:extLst>
      <p:ext uri="{BB962C8B-B14F-4D97-AF65-F5344CB8AC3E}">
        <p14:creationId xmlns:p14="http://schemas.microsoft.com/office/powerpoint/2010/main" val="9473261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B83B7-8A50-84B8-F2C5-7A89060360EE}"/>
              </a:ext>
            </a:extLst>
          </p:cNvPr>
          <p:cNvSpPr>
            <a:spLocks noGrp="1"/>
          </p:cNvSpPr>
          <p:nvPr>
            <p:ph type="title"/>
          </p:nvPr>
        </p:nvSpPr>
        <p:spPr/>
        <p:txBody>
          <a:bodyPr/>
          <a:lstStyle/>
          <a:p>
            <a:r>
              <a:rPr lang="en-US" dirty="0"/>
              <a:t>But First, Baselining </a:t>
            </a:r>
          </a:p>
        </p:txBody>
      </p:sp>
      <p:sp>
        <p:nvSpPr>
          <p:cNvPr id="3" name="Content Placeholder 2">
            <a:extLst>
              <a:ext uri="{FF2B5EF4-FFF2-40B4-BE49-F238E27FC236}">
                <a16:creationId xmlns:a16="http://schemas.microsoft.com/office/drawing/2014/main" id="{32FCC3FF-E7AD-7D9B-AD45-1F57A1D6D3B9}"/>
              </a:ext>
            </a:extLst>
          </p:cNvPr>
          <p:cNvSpPr>
            <a:spLocks noGrp="1"/>
          </p:cNvSpPr>
          <p:nvPr>
            <p:ph idx="1"/>
          </p:nvPr>
        </p:nvSpPr>
        <p:spPr>
          <a:xfrm>
            <a:off x="149088" y="2015732"/>
            <a:ext cx="6440556" cy="4037749"/>
          </a:xfrm>
        </p:spPr>
        <p:txBody>
          <a:bodyPr/>
          <a:lstStyle/>
          <a:p>
            <a:r>
              <a:rPr lang="en-US" dirty="0"/>
              <a:t>One idea that is helpful while tuning models is baselining. </a:t>
            </a:r>
          </a:p>
          <a:p>
            <a:r>
              <a:rPr lang="en-US" dirty="0"/>
              <a:t>Get a ‘baseline’ level of performance in ‘stock’ model. </a:t>
            </a:r>
          </a:p>
          <a:p>
            <a:pPr lvl="1"/>
            <a:r>
              <a:rPr lang="en-US" dirty="0"/>
              <a:t>Before trying most tuning stuff, but with cleaning. </a:t>
            </a:r>
          </a:p>
          <a:p>
            <a:pPr lvl="1"/>
            <a:r>
              <a:rPr lang="en-US" dirty="0"/>
              <a:t>E.g. Model with all features and default hyperparameters. </a:t>
            </a:r>
          </a:p>
          <a:p>
            <a:r>
              <a:rPr lang="en-US" dirty="0"/>
              <a:t>If doing tuning outside of a </a:t>
            </a:r>
            <a:r>
              <a:rPr lang="en-US" dirty="0" err="1"/>
              <a:t>gridsearch</a:t>
            </a:r>
            <a:r>
              <a:rPr lang="en-US" dirty="0"/>
              <a:t>, it is more useful. </a:t>
            </a:r>
          </a:p>
          <a:p>
            <a:pPr lvl="1"/>
            <a:r>
              <a:rPr lang="en-US" dirty="0"/>
              <a:t>Grid will just get the best, so if all searching is within there, it is still ‘good’, but doesn’t matter all that much. </a:t>
            </a:r>
          </a:p>
          <a:p>
            <a:pPr lvl="1"/>
            <a:r>
              <a:rPr lang="en-US" dirty="0"/>
              <a:t>E.g. different model types. (This can be in a grid search, but you need to manually make the transformer – not super hard, but somewhat annoying due to different HPs.)</a:t>
            </a:r>
          </a:p>
        </p:txBody>
      </p:sp>
      <p:pic>
        <p:nvPicPr>
          <p:cNvPr id="2050" name="Picture 2" descr="A great baseline play for a last second shot">
            <a:extLst>
              <a:ext uri="{FF2B5EF4-FFF2-40B4-BE49-F238E27FC236}">
                <a16:creationId xmlns:a16="http://schemas.microsoft.com/office/drawing/2014/main" id="{537C63C1-9A42-C6D0-1441-9585ED0FEDB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11690"/>
          <a:stretch/>
        </p:blipFill>
        <p:spPr bwMode="auto">
          <a:xfrm>
            <a:off x="6762657" y="2015731"/>
            <a:ext cx="5000975" cy="31864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546033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20616-9A4B-8E8A-C18F-57E8CFE9D4D9}"/>
              </a:ext>
            </a:extLst>
          </p:cNvPr>
          <p:cNvSpPr>
            <a:spLocks noGrp="1"/>
          </p:cNvSpPr>
          <p:nvPr>
            <p:ph type="title"/>
          </p:nvPr>
        </p:nvSpPr>
        <p:spPr/>
        <p:txBody>
          <a:bodyPr/>
          <a:lstStyle/>
          <a:p>
            <a:r>
              <a:rPr lang="en-US" dirty="0"/>
              <a:t>Feature Selection Basics</a:t>
            </a:r>
          </a:p>
        </p:txBody>
      </p:sp>
      <p:sp>
        <p:nvSpPr>
          <p:cNvPr id="3" name="Content Placeholder 2">
            <a:extLst>
              <a:ext uri="{FF2B5EF4-FFF2-40B4-BE49-F238E27FC236}">
                <a16:creationId xmlns:a16="http://schemas.microsoft.com/office/drawing/2014/main" id="{9B46B182-4F74-041F-E8F0-44F9A5145A9E}"/>
              </a:ext>
            </a:extLst>
          </p:cNvPr>
          <p:cNvSpPr>
            <a:spLocks noGrp="1"/>
          </p:cNvSpPr>
          <p:nvPr>
            <p:ph idx="1"/>
          </p:nvPr>
        </p:nvSpPr>
        <p:spPr>
          <a:xfrm>
            <a:off x="1451579" y="1853754"/>
            <a:ext cx="9603275" cy="4199727"/>
          </a:xfrm>
        </p:spPr>
        <p:txBody>
          <a:bodyPr>
            <a:normAutofit lnSpcReduction="10000"/>
          </a:bodyPr>
          <a:lstStyle/>
          <a:p>
            <a:r>
              <a:rPr lang="en-US" dirty="0"/>
              <a:t>In general, selecting features won’t improve a model’s </a:t>
            </a:r>
            <a:r>
              <a:rPr lang="en-US" i="1" dirty="0"/>
              <a:t>overall</a:t>
            </a:r>
            <a:r>
              <a:rPr lang="en-US" dirty="0"/>
              <a:t> performance very often. </a:t>
            </a:r>
          </a:p>
          <a:p>
            <a:r>
              <a:rPr lang="en-US" dirty="0"/>
              <a:t>Feature selection allows us to have simpler models:</a:t>
            </a:r>
          </a:p>
          <a:p>
            <a:pPr lvl="1"/>
            <a:r>
              <a:rPr lang="en-US" dirty="0"/>
              <a:t>Fewer features can make for less data, quicker execution, lower cost, or more transparency.  </a:t>
            </a:r>
          </a:p>
          <a:p>
            <a:r>
              <a:rPr lang="en-US" dirty="0"/>
              <a:t>We want to include the things helpful to an accurate prediction, exclude those not. </a:t>
            </a:r>
          </a:p>
          <a:p>
            <a:r>
              <a:rPr lang="en-US" dirty="0"/>
              <a:t>The metric for helpful can change:</a:t>
            </a:r>
          </a:p>
          <a:p>
            <a:pPr lvl="1"/>
            <a:r>
              <a:rPr lang="en-US" dirty="0"/>
              <a:t>Basic statistics or inspection – does this value vary enough or is it clearly useless? </a:t>
            </a:r>
          </a:p>
          <a:p>
            <a:pPr lvl="1"/>
            <a:r>
              <a:rPr lang="en-US" dirty="0"/>
              <a:t>Correlation-</a:t>
            </a:r>
            <a:r>
              <a:rPr lang="en-US" dirty="0" err="1"/>
              <a:t>ish</a:t>
            </a:r>
            <a:r>
              <a:rPr lang="en-US" dirty="0"/>
              <a:t> measures. </a:t>
            </a:r>
          </a:p>
          <a:p>
            <a:pPr lvl="1"/>
            <a:r>
              <a:rPr lang="en-US" dirty="0"/>
              <a:t>Model determinations from internal measures, such as tree feature importance. </a:t>
            </a:r>
          </a:p>
          <a:p>
            <a:pPr lvl="1"/>
            <a:r>
              <a:rPr lang="en-US" dirty="0"/>
              <a:t>Performance of the actual model with/without. </a:t>
            </a:r>
          </a:p>
          <a:p>
            <a:r>
              <a:rPr lang="en-US" dirty="0"/>
              <a:t>All feature selection is basically different methods of calculating and testing this. </a:t>
            </a:r>
          </a:p>
        </p:txBody>
      </p:sp>
    </p:spTree>
    <p:extLst>
      <p:ext uri="{BB962C8B-B14F-4D97-AF65-F5344CB8AC3E}">
        <p14:creationId xmlns:p14="http://schemas.microsoft.com/office/powerpoint/2010/main" val="26122776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6D50C4-42CC-DBCA-0060-336BA6544C65}"/>
              </a:ext>
            </a:extLst>
          </p:cNvPr>
          <p:cNvSpPr>
            <a:spLocks noGrp="1"/>
          </p:cNvSpPr>
          <p:nvPr>
            <p:ph type="title"/>
          </p:nvPr>
        </p:nvSpPr>
        <p:spPr/>
        <p:txBody>
          <a:bodyPr/>
          <a:lstStyle/>
          <a:p>
            <a:r>
              <a:rPr lang="en-US" dirty="0"/>
              <a:t>It’s Hip to be (R) Square(d). </a:t>
            </a:r>
          </a:p>
        </p:txBody>
      </p:sp>
      <p:sp>
        <p:nvSpPr>
          <p:cNvPr id="3" name="Content Placeholder 2">
            <a:extLst>
              <a:ext uri="{FF2B5EF4-FFF2-40B4-BE49-F238E27FC236}">
                <a16:creationId xmlns:a16="http://schemas.microsoft.com/office/drawing/2014/main" id="{E1B095E7-9DAA-832B-6BDA-119E20210453}"/>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8143789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03E50-4F61-934C-A969-5E4018A16B26}"/>
              </a:ext>
            </a:extLst>
          </p:cNvPr>
          <p:cNvSpPr>
            <a:spLocks noGrp="1"/>
          </p:cNvSpPr>
          <p:nvPr>
            <p:ph type="title"/>
          </p:nvPr>
        </p:nvSpPr>
        <p:spPr>
          <a:xfrm>
            <a:off x="98855" y="1"/>
            <a:ext cx="6051979" cy="556053"/>
          </a:xfrm>
        </p:spPr>
        <p:txBody>
          <a:bodyPr/>
          <a:lstStyle/>
          <a:p>
            <a:r>
              <a:rPr lang="en-US" dirty="0"/>
              <a:t>Feature Selection Impacts</a:t>
            </a:r>
          </a:p>
        </p:txBody>
      </p:sp>
      <p:sp>
        <p:nvSpPr>
          <p:cNvPr id="3" name="Content Placeholder 2">
            <a:extLst>
              <a:ext uri="{FF2B5EF4-FFF2-40B4-BE49-F238E27FC236}">
                <a16:creationId xmlns:a16="http://schemas.microsoft.com/office/drawing/2014/main" id="{DC881FF8-EA80-EB63-20E7-0664DD00E312}"/>
              </a:ext>
            </a:extLst>
          </p:cNvPr>
          <p:cNvSpPr>
            <a:spLocks noGrp="1"/>
          </p:cNvSpPr>
          <p:nvPr>
            <p:ph idx="1"/>
          </p:nvPr>
        </p:nvSpPr>
        <p:spPr>
          <a:xfrm>
            <a:off x="1013791" y="1853754"/>
            <a:ext cx="10515599" cy="4199727"/>
          </a:xfrm>
        </p:spPr>
        <p:txBody>
          <a:bodyPr/>
          <a:lstStyle/>
          <a:p>
            <a:r>
              <a:rPr lang="en-US" dirty="0"/>
              <a:t>Models will internally already have some aspect of weighting feature impacts. </a:t>
            </a:r>
          </a:p>
          <a:p>
            <a:pPr lvl="1"/>
            <a:r>
              <a:rPr lang="en-US" dirty="0"/>
              <a:t>Trees choose to use different features, regression coefficients can shrink (maybe to 0). </a:t>
            </a:r>
          </a:p>
          <a:p>
            <a:pPr lvl="1"/>
            <a:r>
              <a:rPr lang="en-US" dirty="0"/>
              <a:t>Removing a useless feature won’t really make performance jump, since it’s already deemphasized. </a:t>
            </a:r>
          </a:p>
          <a:p>
            <a:r>
              <a:rPr lang="en-US" dirty="0"/>
              <a:t>Remember R2 – the proportion of variance explained by the model:</a:t>
            </a:r>
          </a:p>
          <a:p>
            <a:pPr lvl="1"/>
            <a:r>
              <a:rPr lang="en-US" dirty="0"/>
              <a:t>R2 of 1 is perfect correlation and perfect predictions, x tells us y. 0 is no correlation. </a:t>
            </a:r>
          </a:p>
          <a:p>
            <a:pPr lvl="1"/>
            <a:r>
              <a:rPr lang="en-US" dirty="0"/>
              <a:t>Added features rarely have </a:t>
            </a:r>
            <a:r>
              <a:rPr lang="en-US" i="1" dirty="0"/>
              <a:t>absolutely no</a:t>
            </a:r>
            <a:r>
              <a:rPr lang="en-US" dirty="0"/>
              <a:t> correlation with the target, so they contribute </a:t>
            </a:r>
            <a:r>
              <a:rPr lang="en-US" i="1" dirty="0"/>
              <a:t>something.</a:t>
            </a:r>
            <a:r>
              <a:rPr lang="en-US" dirty="0"/>
              <a:t> </a:t>
            </a:r>
          </a:p>
          <a:p>
            <a:pPr lvl="1"/>
            <a:r>
              <a:rPr lang="en-US" dirty="0"/>
              <a:t>Could add many bad features to a few good ones to get a higher R2. </a:t>
            </a:r>
          </a:p>
          <a:p>
            <a:pPr lvl="1"/>
            <a:r>
              <a:rPr lang="en-US" dirty="0"/>
              <a:t>Think of </a:t>
            </a:r>
            <a:r>
              <a:rPr lang="en-US" dirty="0" err="1"/>
              <a:t>multicorrelation</a:t>
            </a:r>
            <a:r>
              <a:rPr lang="en-US" dirty="0"/>
              <a:t> examples – we can remove redundant features and r2 is basically unchanged. </a:t>
            </a:r>
          </a:p>
          <a:p>
            <a:r>
              <a:rPr lang="en-US" dirty="0"/>
              <a:t>Adjusted R2 measures the correlation, adjusted for size of data and # of features. </a:t>
            </a:r>
          </a:p>
          <a:p>
            <a:pPr lvl="1"/>
            <a:r>
              <a:rPr lang="en-US" dirty="0"/>
              <a:t>Similar concept to regularization – there’s a penalty (to overcome) for making the model larger. </a:t>
            </a:r>
          </a:p>
        </p:txBody>
      </p:sp>
      <p:pic>
        <p:nvPicPr>
          <p:cNvPr id="1028" name="Picture 4" descr="Adjusted R2">
            <a:extLst>
              <a:ext uri="{FF2B5EF4-FFF2-40B4-BE49-F238E27FC236}">
                <a16:creationId xmlns:a16="http://schemas.microsoft.com/office/drawing/2014/main" id="{552A0F20-50BC-40C5-D9BA-6805A803F6E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835" t="6734" r="5897" b="11702"/>
          <a:stretch/>
        </p:blipFill>
        <p:spPr bwMode="auto">
          <a:xfrm>
            <a:off x="6150834" y="0"/>
            <a:ext cx="6041166" cy="1853754"/>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R-Squared: Formula Explanation. We all must have seen these terms… | by  Saurabh Gupta | Analytics Vidhya | Medium">
            <a:extLst>
              <a:ext uri="{FF2B5EF4-FFF2-40B4-BE49-F238E27FC236}">
                <a16:creationId xmlns:a16="http://schemas.microsoft.com/office/drawing/2014/main" id="{BC2CF55A-2DA9-BFC3-77C7-7E5EF77A9E9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5113" y="690473"/>
            <a:ext cx="5866054" cy="116328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1153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762C61-7EFB-BB84-845B-D271322F589B}"/>
              </a:ext>
            </a:extLst>
          </p:cNvPr>
          <p:cNvSpPr>
            <a:spLocks noGrp="1"/>
          </p:cNvSpPr>
          <p:nvPr>
            <p:ph type="title"/>
          </p:nvPr>
        </p:nvSpPr>
        <p:spPr/>
        <p:txBody>
          <a:bodyPr/>
          <a:lstStyle/>
          <a:p>
            <a:r>
              <a:rPr lang="en-US" dirty="0"/>
              <a:t>The Human Touch (Maybe it’ll Touch You In That Project class…)</a:t>
            </a:r>
          </a:p>
        </p:txBody>
      </p:sp>
      <p:sp>
        <p:nvSpPr>
          <p:cNvPr id="3" name="Content Placeholder 2">
            <a:extLst>
              <a:ext uri="{FF2B5EF4-FFF2-40B4-BE49-F238E27FC236}">
                <a16:creationId xmlns:a16="http://schemas.microsoft.com/office/drawing/2014/main" id="{4F644EF6-D3E2-8211-A1C1-9EE5511963D8}"/>
              </a:ext>
            </a:extLst>
          </p:cNvPr>
          <p:cNvSpPr>
            <a:spLocks noGrp="1"/>
          </p:cNvSpPr>
          <p:nvPr>
            <p:ph idx="1"/>
          </p:nvPr>
        </p:nvSpPr>
        <p:spPr>
          <a:xfrm>
            <a:off x="1451579" y="1914258"/>
            <a:ext cx="9603275" cy="4139223"/>
          </a:xfrm>
        </p:spPr>
        <p:txBody>
          <a:bodyPr/>
          <a:lstStyle/>
          <a:p>
            <a:r>
              <a:rPr lang="en-US" dirty="0"/>
              <a:t>The first point of feature selection is human judgement of what matters. </a:t>
            </a:r>
          </a:p>
          <a:p>
            <a:pPr lvl="1"/>
            <a:r>
              <a:rPr lang="en-US" dirty="0"/>
              <a:t>Requires some domain knowledge – what is actually relevant?</a:t>
            </a:r>
          </a:p>
          <a:p>
            <a:r>
              <a:rPr lang="en-US" dirty="0"/>
              <a:t>This is something much more critical in real life than in learning machine learning. </a:t>
            </a:r>
          </a:p>
          <a:p>
            <a:r>
              <a:rPr lang="en-US" dirty="0"/>
              <a:t>In examples/exercises, we typically use preformed datasets. </a:t>
            </a:r>
          </a:p>
          <a:p>
            <a:pPr lvl="1"/>
            <a:r>
              <a:rPr lang="en-US" dirty="0"/>
              <a:t>These datasets were made/curated for machine learning, so set up for that. </a:t>
            </a:r>
          </a:p>
          <a:p>
            <a:pPr lvl="1"/>
            <a:r>
              <a:rPr lang="en-US" dirty="0"/>
              <a:t>Even if data is very dirty, it is usually more or less what you need. </a:t>
            </a:r>
          </a:p>
          <a:p>
            <a:pPr lvl="1"/>
            <a:r>
              <a:rPr lang="en-US" dirty="0"/>
              <a:t>The data is already assembled – many/most real life things will need joins. </a:t>
            </a:r>
          </a:p>
          <a:p>
            <a:pPr lvl="1"/>
            <a:r>
              <a:rPr lang="en-US" dirty="0"/>
              <a:t>E.g. there’s probably only relevant-</a:t>
            </a:r>
            <a:r>
              <a:rPr lang="en-US" dirty="0" err="1"/>
              <a:t>ish</a:t>
            </a:r>
            <a:r>
              <a:rPr lang="en-US" dirty="0"/>
              <a:t> stuff in the dataset to begin with, it is curated. </a:t>
            </a:r>
          </a:p>
          <a:p>
            <a:r>
              <a:rPr lang="en-US" dirty="0"/>
              <a:t>Real life data is more annoying, we need to judge what matters as humans. </a:t>
            </a:r>
          </a:p>
        </p:txBody>
      </p:sp>
    </p:spTree>
    <p:extLst>
      <p:ext uri="{BB962C8B-B14F-4D97-AF65-F5344CB8AC3E}">
        <p14:creationId xmlns:p14="http://schemas.microsoft.com/office/powerpoint/2010/main" val="10737330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9D4E6-3F90-E210-1D00-2BA974F47629}"/>
              </a:ext>
            </a:extLst>
          </p:cNvPr>
          <p:cNvSpPr>
            <a:spLocks noGrp="1"/>
          </p:cNvSpPr>
          <p:nvPr>
            <p:ph type="title"/>
          </p:nvPr>
        </p:nvSpPr>
        <p:spPr/>
        <p:txBody>
          <a:bodyPr/>
          <a:lstStyle/>
          <a:p>
            <a:r>
              <a:rPr lang="en-US" dirty="0"/>
              <a:t>With Real Life Data</a:t>
            </a:r>
          </a:p>
        </p:txBody>
      </p:sp>
      <p:sp>
        <p:nvSpPr>
          <p:cNvPr id="3" name="Content Placeholder 2">
            <a:extLst>
              <a:ext uri="{FF2B5EF4-FFF2-40B4-BE49-F238E27FC236}">
                <a16:creationId xmlns:a16="http://schemas.microsoft.com/office/drawing/2014/main" id="{B816240C-4B5F-F54A-5704-BF9AAE4B77E1}"/>
              </a:ext>
            </a:extLst>
          </p:cNvPr>
          <p:cNvSpPr>
            <a:spLocks noGrp="1"/>
          </p:cNvSpPr>
          <p:nvPr>
            <p:ph idx="1"/>
          </p:nvPr>
        </p:nvSpPr>
        <p:spPr>
          <a:xfrm>
            <a:off x="1451579" y="1914041"/>
            <a:ext cx="9603275" cy="4139439"/>
          </a:xfrm>
        </p:spPr>
        <p:txBody>
          <a:bodyPr/>
          <a:lstStyle/>
          <a:p>
            <a:r>
              <a:rPr lang="en-US" dirty="0"/>
              <a:t>In a more realistic scenario, you often have lots of data, often spread about. </a:t>
            </a:r>
          </a:p>
          <a:p>
            <a:pPr lvl="1"/>
            <a:r>
              <a:rPr lang="en-US" dirty="0"/>
              <a:t>If your company has a data warehouse, you may have everything.</a:t>
            </a:r>
          </a:p>
          <a:p>
            <a:pPr lvl="1"/>
            <a:r>
              <a:rPr lang="en-US" dirty="0"/>
              <a:t>E.g. if predicting what Amazon customers will buy, you probably have lots of features…</a:t>
            </a:r>
          </a:p>
          <a:p>
            <a:r>
              <a:rPr lang="en-US" dirty="0"/>
              <a:t>Flitering “what is actually relevant to this prediction” is a human activity you need. </a:t>
            </a:r>
          </a:p>
          <a:p>
            <a:pPr lvl="1"/>
            <a:r>
              <a:rPr lang="en-US" dirty="0"/>
              <a:t>Can’t really score feature importance by adding 100,000 random features effectively. </a:t>
            </a:r>
          </a:p>
          <a:p>
            <a:r>
              <a:rPr lang="en-US" dirty="0"/>
              <a:t>Your real estate thing is similar, in many ways. </a:t>
            </a:r>
          </a:p>
          <a:p>
            <a:pPr lvl="1"/>
            <a:r>
              <a:rPr lang="en-US" dirty="0"/>
              <a:t>There are lots of features, but depending on what you’re doing, only some matter. </a:t>
            </a:r>
          </a:p>
          <a:p>
            <a:pPr lvl="1"/>
            <a:r>
              <a:rPr lang="en-US" dirty="0"/>
              <a:t>The features you have may be better transformed into new features. (Hint: be aggressive). </a:t>
            </a:r>
          </a:p>
          <a:p>
            <a:pPr lvl="1"/>
            <a:r>
              <a:rPr lang="en-US" dirty="0"/>
              <a:t>You can do feature selection, but you need a starting point smaller than ‘everything’. </a:t>
            </a:r>
          </a:p>
        </p:txBody>
      </p:sp>
    </p:spTree>
    <p:extLst>
      <p:ext uri="{BB962C8B-B14F-4D97-AF65-F5344CB8AC3E}">
        <p14:creationId xmlns:p14="http://schemas.microsoft.com/office/powerpoint/2010/main" val="26847749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150245-D286-3423-EB7E-3692F6A41DEE}"/>
              </a:ext>
            </a:extLst>
          </p:cNvPr>
          <p:cNvSpPr>
            <a:spLocks noGrp="1"/>
          </p:cNvSpPr>
          <p:nvPr>
            <p:ph type="title"/>
          </p:nvPr>
        </p:nvSpPr>
        <p:spPr/>
        <p:txBody>
          <a:bodyPr/>
          <a:lstStyle/>
          <a:p>
            <a:r>
              <a:rPr lang="en-US" dirty="0"/>
              <a:t>Get a Clue!</a:t>
            </a:r>
          </a:p>
        </p:txBody>
      </p:sp>
      <p:sp>
        <p:nvSpPr>
          <p:cNvPr id="3" name="Content Placeholder 2">
            <a:extLst>
              <a:ext uri="{FF2B5EF4-FFF2-40B4-BE49-F238E27FC236}">
                <a16:creationId xmlns:a16="http://schemas.microsoft.com/office/drawing/2014/main" id="{CCB78EF5-8D3B-B790-27E0-E22C59A84178}"/>
              </a:ext>
            </a:extLst>
          </p:cNvPr>
          <p:cNvSpPr>
            <a:spLocks noGrp="1"/>
          </p:cNvSpPr>
          <p:nvPr>
            <p:ph idx="1"/>
          </p:nvPr>
        </p:nvSpPr>
        <p:spPr>
          <a:xfrm>
            <a:off x="1451579" y="1853755"/>
            <a:ext cx="9603275" cy="4199726"/>
          </a:xfrm>
        </p:spPr>
        <p:txBody>
          <a:bodyPr>
            <a:normAutofit fontScale="92500" lnSpcReduction="10000"/>
          </a:bodyPr>
          <a:lstStyle/>
          <a:p>
            <a:r>
              <a:rPr lang="en-US" dirty="0"/>
              <a:t>Suppose you’re in charge of determining who did a crime. Classification model. </a:t>
            </a:r>
          </a:p>
          <a:p>
            <a:r>
              <a:rPr lang="en-US" dirty="0"/>
              <a:t>Each feature will give some information as to who did it. </a:t>
            </a:r>
          </a:p>
          <a:p>
            <a:pPr lvl="1"/>
            <a:r>
              <a:rPr lang="en-US" dirty="0"/>
              <a:t>Important – security camera footage, fingerprints, </a:t>
            </a:r>
            <a:r>
              <a:rPr lang="en-US" dirty="0" err="1"/>
              <a:t>dna</a:t>
            </a:r>
            <a:r>
              <a:rPr lang="en-US" dirty="0"/>
              <a:t>, </a:t>
            </a:r>
            <a:r>
              <a:rPr lang="en-US" dirty="0" err="1"/>
              <a:t>ect</a:t>
            </a:r>
            <a:r>
              <a:rPr lang="en-US" dirty="0"/>
              <a:t>…</a:t>
            </a:r>
          </a:p>
          <a:p>
            <a:pPr lvl="1"/>
            <a:r>
              <a:rPr lang="en-US" dirty="0"/>
              <a:t>Less Important – people’s journals, alibi witnesses, </a:t>
            </a:r>
            <a:r>
              <a:rPr lang="en-US" dirty="0" err="1"/>
              <a:t>etc</a:t>
            </a:r>
            <a:r>
              <a:rPr lang="en-US" dirty="0"/>
              <a:t>… </a:t>
            </a:r>
          </a:p>
          <a:p>
            <a:r>
              <a:rPr lang="en-US" dirty="0"/>
              <a:t>Each feature, as long as it is actually relevant gives us some info to help pick the criminal.</a:t>
            </a:r>
          </a:p>
          <a:p>
            <a:pPr lvl="1"/>
            <a:r>
              <a:rPr lang="en-US" dirty="0"/>
              <a:t>E.g. knowing that a waitress saw a suspect an hour after the estimated time of death may give some info, but not all that much. A security camera on the victim’s front door may have lots. </a:t>
            </a:r>
          </a:p>
          <a:p>
            <a:pPr lvl="1"/>
            <a:r>
              <a:rPr lang="en-US" dirty="0"/>
              <a:t>The more we consider, the more complex the decision becomes. </a:t>
            </a:r>
          </a:p>
          <a:p>
            <a:r>
              <a:rPr lang="en-US" dirty="0"/>
              <a:t>We want to focus on the important features, add others as needed. </a:t>
            </a:r>
          </a:p>
          <a:p>
            <a:pPr lvl="1"/>
            <a:r>
              <a:rPr lang="en-US" dirty="0"/>
              <a:t>The more evidence we have, the higher the ‘ceiling’ is for predictions, but it becomes harder.</a:t>
            </a:r>
          </a:p>
          <a:p>
            <a:pPr lvl="1"/>
            <a:r>
              <a:rPr lang="en-US" dirty="0"/>
              <a:t>Lots of less useful features don’t ‘ruin’ the good info, but make it harder </a:t>
            </a:r>
            <a:r>
              <a:rPr lang="en-US"/>
              <a:t>to process. </a:t>
            </a:r>
            <a:endParaRPr lang="en-US" dirty="0"/>
          </a:p>
        </p:txBody>
      </p:sp>
    </p:spTree>
    <p:extLst>
      <p:ext uri="{BB962C8B-B14F-4D97-AF65-F5344CB8AC3E}">
        <p14:creationId xmlns:p14="http://schemas.microsoft.com/office/powerpoint/2010/main" val="14599199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C63C853E-3842-4594-86A9-051FFAF4D3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1" name="Picture 10">
            <a:extLst>
              <a:ext uri="{FF2B5EF4-FFF2-40B4-BE49-F238E27FC236}">
                <a16:creationId xmlns:a16="http://schemas.microsoft.com/office/drawing/2014/main" id="{B591CDC5-6B61-4116-B3B5-0FF42B6E606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2">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cxnSp>
        <p:nvCxnSpPr>
          <p:cNvPr id="13" name="Straight Connector 12">
            <a:extLst>
              <a:ext uri="{FF2B5EF4-FFF2-40B4-BE49-F238E27FC236}">
                <a16:creationId xmlns:a16="http://schemas.microsoft.com/office/drawing/2014/main" id="{25B08984-5BEB-422F-A364-2B41E6A516E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8F413B1-54E0-4B16-92AB-1CC5C7D645B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pic>
        <p:nvPicPr>
          <p:cNvPr id="5" name="Picture 4" descr="White arrows painted on the asphalt">
            <a:extLst>
              <a:ext uri="{FF2B5EF4-FFF2-40B4-BE49-F238E27FC236}">
                <a16:creationId xmlns:a16="http://schemas.microsoft.com/office/drawing/2014/main" id="{3BD255F2-1DCC-F25F-1F49-64B4A5630ED2}"/>
              </a:ext>
            </a:extLst>
          </p:cNvPr>
          <p:cNvPicPr>
            <a:picLocks noChangeAspect="1"/>
          </p:cNvPicPr>
          <p:nvPr/>
        </p:nvPicPr>
        <p:blipFill>
          <a:blip r:embed="rId3"/>
          <a:srcRect t="1112" r="-1" b="13980"/>
          <a:stretch/>
        </p:blipFill>
        <p:spPr>
          <a:xfrm>
            <a:off x="20" y="10"/>
            <a:ext cx="12191675" cy="6857990"/>
          </a:xfrm>
          <a:prstGeom prst="rect">
            <a:avLst/>
          </a:prstGeom>
        </p:spPr>
      </p:pic>
      <p:sp>
        <p:nvSpPr>
          <p:cNvPr id="17" name="Rectangle 16">
            <a:extLst>
              <a:ext uri="{FF2B5EF4-FFF2-40B4-BE49-F238E27FC236}">
                <a16:creationId xmlns:a16="http://schemas.microsoft.com/office/drawing/2014/main" id="{2E67E8BF-E4B2-4098-9FB3-9E400BD869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30686" y="4905349"/>
            <a:ext cx="5610646" cy="1450464"/>
          </a:xfrm>
          <a:prstGeom prst="rect">
            <a:avLst/>
          </a:prstGeom>
          <a:solidFill>
            <a:srgbClr val="00000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26D484C-FF8D-83BB-DFB0-120EB27EFCB3}"/>
              </a:ext>
            </a:extLst>
          </p:cNvPr>
          <p:cNvSpPr>
            <a:spLocks noGrp="1"/>
          </p:cNvSpPr>
          <p:nvPr>
            <p:ph type="title"/>
          </p:nvPr>
        </p:nvSpPr>
        <p:spPr>
          <a:xfrm>
            <a:off x="6094412" y="5239131"/>
            <a:ext cx="5279490" cy="960087"/>
          </a:xfrm>
        </p:spPr>
        <p:txBody>
          <a:bodyPr vert="horz" lIns="91440" tIns="45720" rIns="91440" bIns="45720" rtlCol="0" anchor="t">
            <a:normAutofit/>
          </a:bodyPr>
          <a:lstStyle/>
          <a:p>
            <a:r>
              <a:rPr lang="en-US">
                <a:solidFill>
                  <a:srgbClr val="FFFFFE"/>
                </a:solidFill>
              </a:rPr>
              <a:t>Ways to select Features</a:t>
            </a:r>
          </a:p>
        </p:txBody>
      </p:sp>
      <p:cxnSp>
        <p:nvCxnSpPr>
          <p:cNvPr id="19" name="Straight Connector 18">
            <a:extLst>
              <a:ext uri="{FF2B5EF4-FFF2-40B4-BE49-F238E27FC236}">
                <a16:creationId xmlns:a16="http://schemas.microsoft.com/office/drawing/2014/main" id="{3781A10F-5DF6-4C9B-AE0B-5249E4399D2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094411" y="5073596"/>
            <a:ext cx="528319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74119689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E863E3-F478-F0BC-9B1F-E82FD8E57BAD}"/>
              </a:ext>
            </a:extLst>
          </p:cNvPr>
          <p:cNvSpPr>
            <a:spLocks noGrp="1"/>
          </p:cNvSpPr>
          <p:nvPr>
            <p:ph type="title"/>
          </p:nvPr>
        </p:nvSpPr>
        <p:spPr/>
        <p:txBody>
          <a:bodyPr/>
          <a:lstStyle/>
          <a:p>
            <a:r>
              <a:rPr lang="en-US" dirty="0"/>
              <a:t>How to do Selection</a:t>
            </a:r>
          </a:p>
        </p:txBody>
      </p:sp>
      <p:sp>
        <p:nvSpPr>
          <p:cNvPr id="3" name="Content Placeholder 2">
            <a:extLst>
              <a:ext uri="{FF2B5EF4-FFF2-40B4-BE49-F238E27FC236}">
                <a16:creationId xmlns:a16="http://schemas.microsoft.com/office/drawing/2014/main" id="{7A23DD63-E1F7-4DCD-6739-EEEE3E0B8686}"/>
              </a:ext>
            </a:extLst>
          </p:cNvPr>
          <p:cNvSpPr>
            <a:spLocks noGrp="1"/>
          </p:cNvSpPr>
          <p:nvPr>
            <p:ph idx="1"/>
          </p:nvPr>
        </p:nvSpPr>
        <p:spPr>
          <a:xfrm>
            <a:off x="1341783" y="1853754"/>
            <a:ext cx="9713071" cy="4119663"/>
          </a:xfrm>
        </p:spPr>
        <p:txBody>
          <a:bodyPr/>
          <a:lstStyle/>
          <a:p>
            <a:r>
              <a:rPr lang="en-US" dirty="0"/>
              <a:t>There are several methods to evaluate how good a feature is, each different. </a:t>
            </a:r>
          </a:p>
          <a:p>
            <a:r>
              <a:rPr lang="en-US" dirty="0"/>
              <a:t>They may agree, but they may not – it can vary, somewhat unpredictably. </a:t>
            </a:r>
          </a:p>
          <a:p>
            <a:pPr lvl="1"/>
            <a:r>
              <a:rPr lang="en-US" dirty="0"/>
              <a:t>If several methods say a feature is less important, it probably is. </a:t>
            </a:r>
          </a:p>
          <a:p>
            <a:pPr lvl="1"/>
            <a:r>
              <a:rPr lang="en-US" dirty="0"/>
              <a:t>If several methods say a feature is more important, it probably is. </a:t>
            </a:r>
          </a:p>
          <a:p>
            <a:r>
              <a:rPr lang="en-US" dirty="0"/>
              <a:t>There are a few complications to this:</a:t>
            </a:r>
          </a:p>
          <a:p>
            <a:pPr lvl="1"/>
            <a:r>
              <a:rPr lang="en-US" dirty="0"/>
              <a:t>Relationships, in complex data, might not be so simple – e.g. combo of features to target. </a:t>
            </a:r>
          </a:p>
          <a:p>
            <a:pPr lvl="1"/>
            <a:r>
              <a:rPr lang="en-US" dirty="0"/>
              <a:t>Multicollinearity – multiple features containing the same information. Algorithm can’t weight importance of each feature since the important info could be sourced from multiple features.</a:t>
            </a:r>
          </a:p>
        </p:txBody>
      </p:sp>
    </p:spTree>
    <p:extLst>
      <p:ext uri="{BB962C8B-B14F-4D97-AF65-F5344CB8AC3E}">
        <p14:creationId xmlns:p14="http://schemas.microsoft.com/office/powerpoint/2010/main" val="32900563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FD2592-0F3C-5E8F-E1AF-B00889721F51}"/>
              </a:ext>
            </a:extLst>
          </p:cNvPr>
          <p:cNvSpPr>
            <a:spLocks noGrp="1"/>
          </p:cNvSpPr>
          <p:nvPr>
            <p:ph type="title"/>
          </p:nvPr>
        </p:nvSpPr>
        <p:spPr>
          <a:xfrm>
            <a:off x="1451579" y="804519"/>
            <a:ext cx="9603275" cy="1049235"/>
          </a:xfrm>
        </p:spPr>
        <p:txBody>
          <a:bodyPr>
            <a:normAutofit/>
          </a:bodyPr>
          <a:lstStyle/>
          <a:p>
            <a:r>
              <a:rPr lang="en-US" dirty="0"/>
              <a:t>Relative Importance in Multicollinearity</a:t>
            </a:r>
          </a:p>
        </p:txBody>
      </p:sp>
      <p:sp>
        <p:nvSpPr>
          <p:cNvPr id="3" name="Content Placeholder 2">
            <a:extLst>
              <a:ext uri="{FF2B5EF4-FFF2-40B4-BE49-F238E27FC236}">
                <a16:creationId xmlns:a16="http://schemas.microsoft.com/office/drawing/2014/main" id="{03599388-6DDB-8143-4957-59E25D8AF78B}"/>
              </a:ext>
            </a:extLst>
          </p:cNvPr>
          <p:cNvSpPr>
            <a:spLocks noGrp="1"/>
          </p:cNvSpPr>
          <p:nvPr>
            <p:ph idx="1"/>
          </p:nvPr>
        </p:nvSpPr>
        <p:spPr>
          <a:xfrm>
            <a:off x="67106" y="1853754"/>
            <a:ext cx="7512084" cy="4199727"/>
          </a:xfrm>
        </p:spPr>
        <p:txBody>
          <a:bodyPr>
            <a:normAutofit lnSpcReduction="10000"/>
          </a:bodyPr>
          <a:lstStyle/>
          <a:p>
            <a:r>
              <a:rPr lang="en-US" sz="2400" dirty="0"/>
              <a:t>Multicollinearity, or having several features that convey the same information, can mess with feature importance. </a:t>
            </a:r>
          </a:p>
          <a:p>
            <a:r>
              <a:rPr lang="en-US" sz="2400" dirty="0"/>
              <a:t>Think about predicting MPG for semi-trucks:</a:t>
            </a:r>
          </a:p>
          <a:p>
            <a:pPr lvl="1"/>
            <a:r>
              <a:rPr lang="en-US" sz="2200" dirty="0"/>
              <a:t>Weight may be a factor – tare, gross, other (?)</a:t>
            </a:r>
          </a:p>
          <a:p>
            <a:pPr lvl="1"/>
            <a:r>
              <a:rPr lang="en-US" sz="2200" dirty="0"/>
              <a:t>These are different, but convey similar info – weight. </a:t>
            </a:r>
          </a:p>
          <a:p>
            <a:pPr lvl="2"/>
            <a:r>
              <a:rPr lang="en-US" sz="2000" dirty="0"/>
              <a:t>Bigger trucks likely have both increase, so they mirror e/o. </a:t>
            </a:r>
          </a:p>
          <a:p>
            <a:pPr lvl="1"/>
            <a:r>
              <a:rPr lang="en-US" sz="2200" dirty="0"/>
              <a:t>If a model can ‘get’ weight from 2+ values, which matters?</a:t>
            </a:r>
          </a:p>
          <a:p>
            <a:r>
              <a:rPr lang="en-US" sz="2400" dirty="0"/>
              <a:t>This doesn’t make the model worse, but tuning features becomes much less clear – which feature matters?</a:t>
            </a:r>
          </a:p>
        </p:txBody>
      </p:sp>
      <p:pic>
        <p:nvPicPr>
          <p:cNvPr id="3074" name="Picture 2" descr="Weight Class Vehicle Sticker | Printex">
            <a:extLst>
              <a:ext uri="{FF2B5EF4-FFF2-40B4-BE49-F238E27FC236}">
                <a16:creationId xmlns:a16="http://schemas.microsoft.com/office/drawing/2014/main" id="{B20173BA-A421-1F47-51AC-7A5F9ABC217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tretch/>
        </p:blipFill>
        <p:spPr bwMode="auto">
          <a:xfrm>
            <a:off x="7579190" y="2015734"/>
            <a:ext cx="4545704" cy="45457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210858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989D2-BB49-ECC3-D823-1BF90D0B2563}"/>
              </a:ext>
            </a:extLst>
          </p:cNvPr>
          <p:cNvSpPr>
            <a:spLocks noGrp="1"/>
          </p:cNvSpPr>
          <p:nvPr>
            <p:ph type="title"/>
          </p:nvPr>
        </p:nvSpPr>
        <p:spPr>
          <a:xfrm>
            <a:off x="2897205" y="804519"/>
            <a:ext cx="8157649" cy="1049235"/>
          </a:xfrm>
        </p:spPr>
        <p:txBody>
          <a:bodyPr/>
          <a:lstStyle/>
          <a:p>
            <a:r>
              <a:rPr lang="en-US" dirty="0"/>
              <a:t>Variance Based Selection</a:t>
            </a:r>
          </a:p>
        </p:txBody>
      </p:sp>
      <p:sp>
        <p:nvSpPr>
          <p:cNvPr id="3" name="Content Placeholder 2">
            <a:extLst>
              <a:ext uri="{FF2B5EF4-FFF2-40B4-BE49-F238E27FC236}">
                <a16:creationId xmlns:a16="http://schemas.microsoft.com/office/drawing/2014/main" id="{9FD7D400-4107-CD9A-68B2-F16999A32474}"/>
              </a:ext>
            </a:extLst>
          </p:cNvPr>
          <p:cNvSpPr>
            <a:spLocks noGrp="1"/>
          </p:cNvSpPr>
          <p:nvPr>
            <p:ph idx="1"/>
          </p:nvPr>
        </p:nvSpPr>
        <p:spPr>
          <a:xfrm>
            <a:off x="2897205" y="1928191"/>
            <a:ext cx="9294795" cy="4125290"/>
          </a:xfrm>
        </p:spPr>
        <p:txBody>
          <a:bodyPr>
            <a:normAutofit/>
          </a:bodyPr>
          <a:lstStyle/>
          <a:p>
            <a:r>
              <a:rPr lang="en-US" dirty="0"/>
              <a:t>If all of the rows of a feature have the same value, it won’t be helpful in distinguishing. </a:t>
            </a:r>
          </a:p>
          <a:p>
            <a:pPr lvl="1"/>
            <a:r>
              <a:rPr lang="en-US" dirty="0"/>
              <a:t>If the target changes, but this feature doesn’t, it can’t really be helping much. </a:t>
            </a:r>
          </a:p>
          <a:p>
            <a:r>
              <a:rPr lang="en-US" dirty="0"/>
              <a:t>For example:</a:t>
            </a:r>
          </a:p>
          <a:p>
            <a:pPr lvl="1"/>
            <a:r>
              <a:rPr lang="en-US" dirty="0"/>
              <a:t>Suppose you try to predict US Supreme Court predictions and the ”college type attended” for each judge is a feature. 8/9 attended an Ivy League (Harvard or Yale). Knowing that a justice attended Ivy League won’t help distinguish predictions, since they all did. </a:t>
            </a:r>
          </a:p>
          <a:p>
            <a:r>
              <a:rPr lang="en-US" dirty="0"/>
              <a:t>This matters much more with small datasets, to reduce dimensionality. </a:t>
            </a:r>
          </a:p>
          <a:p>
            <a:pPr lvl="1"/>
            <a:r>
              <a:rPr lang="en-US" dirty="0"/>
              <a:t>Assuming you have enough data, the low variance feature might matter a bunch, but only in a few scenarios, so keeping it would be better. </a:t>
            </a:r>
          </a:p>
        </p:txBody>
      </p:sp>
      <p:pic>
        <p:nvPicPr>
          <p:cNvPr id="1026" name="Picture 2" descr="standard deviation - Calculating the variance of the histogram of a  grayscale image - Cross Validated">
            <a:extLst>
              <a:ext uri="{FF2B5EF4-FFF2-40B4-BE49-F238E27FC236}">
                <a16:creationId xmlns:a16="http://schemas.microsoft.com/office/drawing/2014/main" id="{682CCABA-9C73-3992-A0B7-4E002BDE037D}"/>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0503" t="15720" r="45078"/>
          <a:stretch>
            <a:fillRect/>
          </a:stretch>
        </p:blipFill>
        <p:spPr bwMode="auto">
          <a:xfrm>
            <a:off x="0" y="404260"/>
            <a:ext cx="2897205" cy="57799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1736735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45099C-D220-6640-A954-5231A62190D3}"/>
              </a:ext>
            </a:extLst>
          </p:cNvPr>
          <p:cNvSpPr>
            <a:spLocks noGrp="1"/>
          </p:cNvSpPr>
          <p:nvPr>
            <p:ph type="title"/>
          </p:nvPr>
        </p:nvSpPr>
        <p:spPr/>
        <p:txBody>
          <a:bodyPr/>
          <a:lstStyle/>
          <a:p>
            <a:r>
              <a:rPr lang="en-US" dirty="0"/>
              <a:t>Univariate Selection</a:t>
            </a:r>
          </a:p>
        </p:txBody>
      </p:sp>
      <p:sp>
        <p:nvSpPr>
          <p:cNvPr id="3" name="Content Placeholder 2">
            <a:extLst>
              <a:ext uri="{FF2B5EF4-FFF2-40B4-BE49-F238E27FC236}">
                <a16:creationId xmlns:a16="http://schemas.microsoft.com/office/drawing/2014/main" id="{D81A3263-ADD9-434D-AE47-675714C45D6F}"/>
              </a:ext>
            </a:extLst>
          </p:cNvPr>
          <p:cNvSpPr>
            <a:spLocks noGrp="1"/>
          </p:cNvSpPr>
          <p:nvPr>
            <p:ph idx="1"/>
          </p:nvPr>
        </p:nvSpPr>
        <p:spPr>
          <a:xfrm>
            <a:off x="1451579" y="1853754"/>
            <a:ext cx="9603275" cy="4199727"/>
          </a:xfrm>
        </p:spPr>
        <p:txBody>
          <a:bodyPr>
            <a:normAutofit fontScale="92500" lnSpcReduction="10000"/>
          </a:bodyPr>
          <a:lstStyle/>
          <a:p>
            <a:r>
              <a:rPr lang="en-US" dirty="0"/>
              <a:t>Univariate selection looks at the characteristics of one variable (and target) at a time. </a:t>
            </a:r>
          </a:p>
          <a:p>
            <a:r>
              <a:rPr lang="en-US" dirty="0"/>
              <a:t>Based on correlation or a correlation-y metric – the more a feature is correlated with the target, the more likely it is to be predictive. </a:t>
            </a:r>
          </a:p>
          <a:p>
            <a:pPr lvl="1"/>
            <a:r>
              <a:rPr lang="en-US" dirty="0"/>
              <a:t>The more X tells us about Y, the better the feature is. </a:t>
            </a:r>
          </a:p>
          <a:p>
            <a:r>
              <a:rPr lang="en-US" dirty="0"/>
              <a:t>Regression:</a:t>
            </a:r>
          </a:p>
          <a:p>
            <a:pPr lvl="1"/>
            <a:r>
              <a:rPr lang="en-US" dirty="0" err="1"/>
              <a:t>F_regression</a:t>
            </a:r>
            <a:r>
              <a:rPr lang="en-US" dirty="0"/>
              <a:t> (correlation)</a:t>
            </a:r>
          </a:p>
          <a:p>
            <a:pPr lvl="1"/>
            <a:r>
              <a:rPr lang="en-US" dirty="0" err="1"/>
              <a:t>Mutual_info_regression</a:t>
            </a:r>
            <a:r>
              <a:rPr lang="en-US" dirty="0"/>
              <a:t> (information gain)</a:t>
            </a:r>
          </a:p>
          <a:p>
            <a:r>
              <a:rPr lang="en-US" dirty="0"/>
              <a:t>Classification:</a:t>
            </a:r>
          </a:p>
          <a:p>
            <a:pPr lvl="1"/>
            <a:r>
              <a:rPr lang="en-US" dirty="0" err="1"/>
              <a:t>F_classif</a:t>
            </a:r>
            <a:r>
              <a:rPr lang="en-US" dirty="0"/>
              <a:t> (ANOVA)</a:t>
            </a:r>
          </a:p>
          <a:p>
            <a:pPr lvl="1"/>
            <a:r>
              <a:rPr lang="en-US" dirty="0"/>
              <a:t>Chi2 (~correlation)</a:t>
            </a:r>
          </a:p>
          <a:p>
            <a:pPr lvl="1"/>
            <a:r>
              <a:rPr lang="en-US" dirty="0" err="1"/>
              <a:t>Mutual_info_classif</a:t>
            </a:r>
            <a:r>
              <a:rPr lang="en-US" dirty="0"/>
              <a:t> (information gain)</a:t>
            </a:r>
          </a:p>
        </p:txBody>
      </p:sp>
      <p:pic>
        <p:nvPicPr>
          <p:cNvPr id="2050" name="Picture 2" descr="Feature Correlation — Yellowbrick v1.5 documentation">
            <a:extLst>
              <a:ext uri="{FF2B5EF4-FFF2-40B4-BE49-F238E27FC236}">
                <a16:creationId xmlns:a16="http://schemas.microsoft.com/office/drawing/2014/main" id="{50F1D4E3-3007-A256-B364-80AD6EE788D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401350" y="2820201"/>
            <a:ext cx="4702953" cy="32332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743613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1B38B9-B551-924B-B4DA-B77F34204A13}"/>
              </a:ext>
            </a:extLst>
          </p:cNvPr>
          <p:cNvSpPr>
            <a:spLocks noGrp="1"/>
          </p:cNvSpPr>
          <p:nvPr>
            <p:ph type="title"/>
          </p:nvPr>
        </p:nvSpPr>
        <p:spPr/>
        <p:txBody>
          <a:bodyPr/>
          <a:lstStyle/>
          <a:p>
            <a:r>
              <a:rPr lang="en-US" dirty="0"/>
              <a:t>Univariate Implementation</a:t>
            </a:r>
          </a:p>
        </p:txBody>
      </p:sp>
      <p:sp>
        <p:nvSpPr>
          <p:cNvPr id="3" name="Content Placeholder 2">
            <a:extLst>
              <a:ext uri="{FF2B5EF4-FFF2-40B4-BE49-F238E27FC236}">
                <a16:creationId xmlns:a16="http://schemas.microsoft.com/office/drawing/2014/main" id="{37229D49-2C8D-D84F-AC9F-73C0BD80344F}"/>
              </a:ext>
            </a:extLst>
          </p:cNvPr>
          <p:cNvSpPr>
            <a:spLocks noGrp="1"/>
          </p:cNvSpPr>
          <p:nvPr>
            <p:ph idx="1"/>
          </p:nvPr>
        </p:nvSpPr>
        <p:spPr>
          <a:xfrm>
            <a:off x="1451579" y="2015732"/>
            <a:ext cx="9888969" cy="4037749"/>
          </a:xfrm>
        </p:spPr>
        <p:txBody>
          <a:bodyPr/>
          <a:lstStyle/>
          <a:p>
            <a:r>
              <a:rPr lang="en-US" dirty="0"/>
              <a:t>Select k best: select the best k features based on the metric. </a:t>
            </a:r>
          </a:p>
          <a:p>
            <a:r>
              <a:rPr lang="en-US" dirty="0"/>
              <a:t>Select percentile: select the best percentage of features based on the metric. </a:t>
            </a:r>
          </a:p>
          <a:p>
            <a:endParaRPr lang="en-US" dirty="0"/>
          </a:p>
          <a:p>
            <a:r>
              <a:rPr lang="en-US" dirty="0"/>
              <a:t>Note – relationships in data don’t have to be one-to-one with target:</a:t>
            </a:r>
          </a:p>
          <a:p>
            <a:pPr lvl="1"/>
            <a:r>
              <a:rPr lang="en-US" dirty="0"/>
              <a:t>I.e. a combination of factors can have a relationship, as a unit, with the target. </a:t>
            </a:r>
          </a:p>
          <a:p>
            <a:pPr lvl="1"/>
            <a:r>
              <a:rPr lang="en-US" dirty="0"/>
              <a:t>The best model is not necessarily the X most correlated features. </a:t>
            </a:r>
          </a:p>
          <a:p>
            <a:pPr lvl="1"/>
            <a:r>
              <a:rPr lang="en-US" dirty="0"/>
              <a:t>For high-dimensional data, the relative importance of any single feature becomes harder to know.</a:t>
            </a:r>
          </a:p>
          <a:p>
            <a:pPr lvl="1"/>
            <a:r>
              <a:rPr lang="en-US" dirty="0"/>
              <a:t>The more complex the relationships, the more complex a model is needed (and more data). </a:t>
            </a:r>
          </a:p>
        </p:txBody>
      </p:sp>
    </p:spTree>
    <p:extLst>
      <p:ext uri="{BB962C8B-B14F-4D97-AF65-F5344CB8AC3E}">
        <p14:creationId xmlns:p14="http://schemas.microsoft.com/office/powerpoint/2010/main" val="8800925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0D4231-E9D2-2B4F-A563-28EA1CB1CF2B}"/>
              </a:ext>
            </a:extLst>
          </p:cNvPr>
          <p:cNvSpPr>
            <a:spLocks noGrp="1"/>
          </p:cNvSpPr>
          <p:nvPr>
            <p:ph type="title"/>
          </p:nvPr>
        </p:nvSpPr>
        <p:spPr/>
        <p:txBody>
          <a:bodyPr/>
          <a:lstStyle/>
          <a:p>
            <a:r>
              <a:rPr lang="en-US" dirty="0"/>
              <a:t>Internal Selection</a:t>
            </a:r>
          </a:p>
        </p:txBody>
      </p:sp>
      <p:sp>
        <p:nvSpPr>
          <p:cNvPr id="3" name="Content Placeholder 2">
            <a:extLst>
              <a:ext uri="{FF2B5EF4-FFF2-40B4-BE49-F238E27FC236}">
                <a16:creationId xmlns:a16="http://schemas.microsoft.com/office/drawing/2014/main" id="{AF9EB455-5B3A-F648-BC35-3F128B633540}"/>
              </a:ext>
            </a:extLst>
          </p:cNvPr>
          <p:cNvSpPr>
            <a:spLocks noGrp="1"/>
          </p:cNvSpPr>
          <p:nvPr>
            <p:ph idx="1"/>
          </p:nvPr>
        </p:nvSpPr>
        <p:spPr/>
        <p:txBody>
          <a:bodyPr/>
          <a:lstStyle/>
          <a:p>
            <a:r>
              <a:rPr lang="en-US" dirty="0"/>
              <a:t>One type of feature selection we have used is the “built in” selection in models. </a:t>
            </a:r>
          </a:p>
          <a:p>
            <a:r>
              <a:rPr lang="en-US" dirty="0"/>
              <a:t>Trees and Lasso regression both select out less important features. </a:t>
            </a:r>
          </a:p>
          <a:p>
            <a:r>
              <a:rPr lang="en-US" dirty="0"/>
              <a:t>Select from Model:</a:t>
            </a:r>
          </a:p>
          <a:p>
            <a:pPr lvl="1"/>
            <a:r>
              <a:rPr lang="en-US" dirty="0"/>
              <a:t>Select from model lets us “borrow” the feature selection of algorithms and apply it as a filter. </a:t>
            </a:r>
          </a:p>
          <a:p>
            <a:pPr lvl="1"/>
            <a:r>
              <a:rPr lang="en-US" dirty="0"/>
              <a:t>E.g. we can use a tree’s feature importance as a step to select features, then pass that dataset to a different model to predict. </a:t>
            </a:r>
          </a:p>
          <a:p>
            <a:endParaRPr lang="en-US" dirty="0"/>
          </a:p>
        </p:txBody>
      </p:sp>
      <p:grpSp>
        <p:nvGrpSpPr>
          <p:cNvPr id="10" name="Group 9">
            <a:extLst>
              <a:ext uri="{FF2B5EF4-FFF2-40B4-BE49-F238E27FC236}">
                <a16:creationId xmlns:a16="http://schemas.microsoft.com/office/drawing/2014/main" id="{7FC67793-7F60-E5D3-9949-8485A36ADA98}"/>
              </a:ext>
            </a:extLst>
          </p:cNvPr>
          <p:cNvGrpSpPr/>
          <p:nvPr/>
        </p:nvGrpSpPr>
        <p:grpSpPr>
          <a:xfrm>
            <a:off x="347870" y="4480895"/>
            <a:ext cx="11290465" cy="1353375"/>
            <a:chOff x="347870" y="4480895"/>
            <a:chExt cx="11290465" cy="1353375"/>
          </a:xfrm>
        </p:grpSpPr>
        <p:sp>
          <p:nvSpPr>
            <p:cNvPr id="4" name="Rectangle 3">
              <a:extLst>
                <a:ext uri="{FF2B5EF4-FFF2-40B4-BE49-F238E27FC236}">
                  <a16:creationId xmlns:a16="http://schemas.microsoft.com/office/drawing/2014/main" id="{A5223EA8-EA1E-CA5C-8ACC-35692F2CB449}"/>
                </a:ext>
              </a:extLst>
            </p:cNvPr>
            <p:cNvSpPr/>
            <p:nvPr/>
          </p:nvSpPr>
          <p:spPr>
            <a:xfrm>
              <a:off x="347870" y="4890052"/>
              <a:ext cx="2126973" cy="94421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a:t>
              </a:r>
            </a:p>
          </p:txBody>
        </p:sp>
        <p:sp>
          <p:nvSpPr>
            <p:cNvPr id="5" name="Right Arrow 4">
              <a:extLst>
                <a:ext uri="{FF2B5EF4-FFF2-40B4-BE49-F238E27FC236}">
                  <a16:creationId xmlns:a16="http://schemas.microsoft.com/office/drawing/2014/main" id="{B605D528-BC1C-D5D5-3023-877E43CF2280}"/>
                </a:ext>
              </a:extLst>
            </p:cNvPr>
            <p:cNvSpPr/>
            <p:nvPr/>
          </p:nvSpPr>
          <p:spPr>
            <a:xfrm>
              <a:off x="2852530" y="5188226"/>
              <a:ext cx="1649896" cy="34787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7F9BC10-5099-E103-CC22-E398A0450641}"/>
                </a:ext>
              </a:extLst>
            </p:cNvPr>
            <p:cNvSpPr/>
            <p:nvPr/>
          </p:nvSpPr>
          <p:spPr>
            <a:xfrm>
              <a:off x="4687570" y="4880113"/>
              <a:ext cx="2126973" cy="94421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Feature Importance Model (Lasso/Tree)</a:t>
              </a:r>
            </a:p>
          </p:txBody>
        </p:sp>
        <p:sp>
          <p:nvSpPr>
            <p:cNvPr id="7" name="Right Arrow 6">
              <a:extLst>
                <a:ext uri="{FF2B5EF4-FFF2-40B4-BE49-F238E27FC236}">
                  <a16:creationId xmlns:a16="http://schemas.microsoft.com/office/drawing/2014/main" id="{8DAD5101-E0E3-1B44-CDD5-701AC4CEFA49}"/>
                </a:ext>
              </a:extLst>
            </p:cNvPr>
            <p:cNvSpPr/>
            <p:nvPr/>
          </p:nvSpPr>
          <p:spPr>
            <a:xfrm>
              <a:off x="7192230" y="5178287"/>
              <a:ext cx="1649896" cy="34787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D6947E1D-9388-CD13-2C4B-775024D50756}"/>
                </a:ext>
              </a:extLst>
            </p:cNvPr>
            <p:cNvSpPr/>
            <p:nvPr/>
          </p:nvSpPr>
          <p:spPr>
            <a:xfrm>
              <a:off x="9511362" y="4890052"/>
              <a:ext cx="2126973" cy="94421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Prediction Model</a:t>
              </a:r>
            </a:p>
          </p:txBody>
        </p:sp>
        <p:sp>
          <p:nvSpPr>
            <p:cNvPr id="9" name="Oval 8">
              <a:extLst>
                <a:ext uri="{FF2B5EF4-FFF2-40B4-BE49-F238E27FC236}">
                  <a16:creationId xmlns:a16="http://schemas.microsoft.com/office/drawing/2014/main" id="{BE4AA6CD-101C-DBBE-5F10-82835E6334EF}"/>
                </a:ext>
              </a:extLst>
            </p:cNvPr>
            <p:cNvSpPr/>
            <p:nvPr/>
          </p:nvSpPr>
          <p:spPr>
            <a:xfrm>
              <a:off x="7079203" y="4480895"/>
              <a:ext cx="1848678" cy="616403"/>
            </a:xfrm>
            <a:prstGeom prst="ellipse">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Filtered Dataset</a:t>
              </a:r>
            </a:p>
          </p:txBody>
        </p:sp>
      </p:grpSp>
    </p:spTree>
    <p:extLst>
      <p:ext uri="{BB962C8B-B14F-4D97-AF65-F5344CB8AC3E}">
        <p14:creationId xmlns:p14="http://schemas.microsoft.com/office/powerpoint/2010/main" val="143738324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16291B-3F11-C548-9C0D-96F240FD5AA1}"/>
              </a:ext>
            </a:extLst>
          </p:cNvPr>
          <p:cNvSpPr>
            <a:spLocks noGrp="1"/>
          </p:cNvSpPr>
          <p:nvPr>
            <p:ph type="title"/>
          </p:nvPr>
        </p:nvSpPr>
        <p:spPr/>
        <p:txBody>
          <a:bodyPr/>
          <a:lstStyle/>
          <a:p>
            <a:r>
              <a:rPr lang="en-US" dirty="0"/>
              <a:t>Recursive Elimination</a:t>
            </a:r>
          </a:p>
        </p:txBody>
      </p:sp>
      <p:sp>
        <p:nvSpPr>
          <p:cNvPr id="3" name="Content Placeholder 2">
            <a:extLst>
              <a:ext uri="{FF2B5EF4-FFF2-40B4-BE49-F238E27FC236}">
                <a16:creationId xmlns:a16="http://schemas.microsoft.com/office/drawing/2014/main" id="{7932B713-6A96-C442-AB6C-3FF420D97580}"/>
              </a:ext>
            </a:extLst>
          </p:cNvPr>
          <p:cNvSpPr>
            <a:spLocks noGrp="1"/>
          </p:cNvSpPr>
          <p:nvPr>
            <p:ph idx="1"/>
          </p:nvPr>
        </p:nvSpPr>
        <p:spPr>
          <a:xfrm>
            <a:off x="1451579" y="2015732"/>
            <a:ext cx="9603275" cy="3739025"/>
          </a:xfrm>
        </p:spPr>
        <p:txBody>
          <a:bodyPr>
            <a:normAutofit/>
          </a:bodyPr>
          <a:lstStyle/>
          <a:p>
            <a:r>
              <a:rPr lang="en-US" dirty="0"/>
              <a:t>Recursive elimination does what it says, removes features one at a time. </a:t>
            </a:r>
          </a:p>
          <a:p>
            <a:r>
              <a:rPr lang="en-US" dirty="0"/>
              <a:t>The entire feature set is modeled.</a:t>
            </a:r>
          </a:p>
          <a:p>
            <a:r>
              <a:rPr lang="en-US" dirty="0"/>
              <a:t>The least important feature is booted. </a:t>
            </a:r>
          </a:p>
          <a:p>
            <a:r>
              <a:rPr lang="en-US" dirty="0"/>
              <a:t>Rinse and repeat until the criteria for # of features is reached. </a:t>
            </a:r>
          </a:p>
          <a:p>
            <a:r>
              <a:rPr lang="en-US" dirty="0"/>
              <a:t>RFECV – Implements a “grid search” with cross validation to choose number of features:</a:t>
            </a:r>
          </a:p>
          <a:p>
            <a:pPr lvl="1"/>
            <a:r>
              <a:rPr lang="en-US" dirty="0"/>
              <a:t>Recursive Feature Elimination with Cross Validation. </a:t>
            </a:r>
          </a:p>
          <a:p>
            <a:pPr lvl="1"/>
            <a:r>
              <a:rPr lang="en-US" dirty="0"/>
              <a:t>Will choose number of features with the best score. </a:t>
            </a:r>
          </a:p>
          <a:p>
            <a:pPr lvl="1"/>
            <a:r>
              <a:rPr lang="en-US" dirty="0"/>
              <a:t>Good for pipelines! Auto-select the best set of features. </a:t>
            </a:r>
          </a:p>
        </p:txBody>
      </p:sp>
    </p:spTree>
    <p:extLst>
      <p:ext uri="{BB962C8B-B14F-4D97-AF65-F5344CB8AC3E}">
        <p14:creationId xmlns:p14="http://schemas.microsoft.com/office/powerpoint/2010/main" val="5805424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1E6085-D3AD-EA37-B436-7E086214B93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7BA5AED-94D9-CE3F-B0B2-4202EA5072D9}"/>
              </a:ext>
            </a:extLst>
          </p:cNvPr>
          <p:cNvSpPr>
            <a:spLocks noGrp="1"/>
          </p:cNvSpPr>
          <p:nvPr>
            <p:ph idx="1"/>
          </p:nvPr>
        </p:nvSpPr>
        <p:spPr/>
        <p:txBody>
          <a:bodyPr/>
          <a:lstStyle/>
          <a:p>
            <a:endParaRPr lang="en-US"/>
          </a:p>
        </p:txBody>
      </p:sp>
      <p:pic>
        <p:nvPicPr>
          <p:cNvPr id="3074" name="Picture 2" descr="The flowchart of recursive feature elimination with cross-validation... |  Download Scientific Diagram">
            <a:extLst>
              <a:ext uri="{FF2B5EF4-FFF2-40B4-BE49-F238E27FC236}">
                <a16:creationId xmlns:a16="http://schemas.microsoft.com/office/drawing/2014/main" id="{5F5C86B3-462A-80E5-3D78-7EEE870D05B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33788" y="0"/>
            <a:ext cx="4922837"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7973153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295A92-63A5-CED6-DCFC-B697FB80B1BD}"/>
              </a:ext>
            </a:extLst>
          </p:cNvPr>
          <p:cNvSpPr>
            <a:spLocks noGrp="1"/>
          </p:cNvSpPr>
          <p:nvPr>
            <p:ph type="title"/>
          </p:nvPr>
        </p:nvSpPr>
        <p:spPr/>
        <p:txBody>
          <a:bodyPr/>
          <a:lstStyle/>
          <a:p>
            <a:r>
              <a:rPr lang="en-US" dirty="0"/>
              <a:t>Weirder Stuff</a:t>
            </a:r>
          </a:p>
        </p:txBody>
      </p:sp>
      <p:sp>
        <p:nvSpPr>
          <p:cNvPr id="3" name="Content Placeholder 2">
            <a:extLst>
              <a:ext uri="{FF2B5EF4-FFF2-40B4-BE49-F238E27FC236}">
                <a16:creationId xmlns:a16="http://schemas.microsoft.com/office/drawing/2014/main" id="{A0318E0B-0679-E0EE-B7B0-04D15401B1A5}"/>
              </a:ext>
            </a:extLst>
          </p:cNvPr>
          <p:cNvSpPr>
            <a:spLocks noGrp="1"/>
          </p:cNvSpPr>
          <p:nvPr>
            <p:ph idx="1"/>
          </p:nvPr>
        </p:nvSpPr>
        <p:spPr>
          <a:xfrm>
            <a:off x="1451579" y="1853754"/>
            <a:ext cx="9603275" cy="4199727"/>
          </a:xfrm>
        </p:spPr>
        <p:txBody>
          <a:bodyPr/>
          <a:lstStyle/>
          <a:p>
            <a:r>
              <a:rPr lang="en-US" dirty="0"/>
              <a:t>There’s a handful of other ways to select features that are less common. </a:t>
            </a:r>
          </a:p>
          <a:p>
            <a:pPr lvl="1"/>
            <a:r>
              <a:rPr lang="en-US" dirty="0"/>
              <a:t>Don’t memorize this stuff. </a:t>
            </a:r>
          </a:p>
          <a:p>
            <a:r>
              <a:rPr lang="en-US" dirty="0"/>
              <a:t>Permutation Importance - calculated after a model has been fitted. </a:t>
            </a:r>
          </a:p>
          <a:p>
            <a:pPr lvl="1"/>
            <a:r>
              <a:rPr lang="en-US" dirty="0"/>
              <a:t>Randomly shuffle a single column of the validation data, leaving the target and all other columns in place, and then measure the performance of the model with the new data against the performance of the model with the original data. The drop in model performance measures the importance of the variable you just shuffled.</a:t>
            </a:r>
          </a:p>
          <a:p>
            <a:r>
              <a:rPr lang="en-US" dirty="0"/>
              <a:t>Target mean performance – a convoluted process someone published in a competition (http://</a:t>
            </a:r>
            <a:r>
              <a:rPr lang="en-US" dirty="0" err="1"/>
              <a:t>proceedings.mlr.press</a:t>
            </a:r>
            <a:r>
              <a:rPr lang="en-US" dirty="0"/>
              <a:t>/v7/miller09/miller09.pdf)</a:t>
            </a:r>
          </a:p>
        </p:txBody>
      </p:sp>
    </p:spTree>
    <p:extLst>
      <p:ext uri="{BB962C8B-B14F-4D97-AF65-F5344CB8AC3E}">
        <p14:creationId xmlns:p14="http://schemas.microsoft.com/office/powerpoint/2010/main" val="408703780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C63C853E-3842-4594-86A9-051FFAF4D3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1" name="Picture 10">
            <a:extLst>
              <a:ext uri="{FF2B5EF4-FFF2-40B4-BE49-F238E27FC236}">
                <a16:creationId xmlns:a16="http://schemas.microsoft.com/office/drawing/2014/main" id="{B591CDC5-6B61-4116-B3B5-0FF42B6E606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2">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cxnSp>
        <p:nvCxnSpPr>
          <p:cNvPr id="13" name="Straight Connector 12">
            <a:extLst>
              <a:ext uri="{FF2B5EF4-FFF2-40B4-BE49-F238E27FC236}">
                <a16:creationId xmlns:a16="http://schemas.microsoft.com/office/drawing/2014/main" id="{25B08984-5BEB-422F-A364-2B41E6A516E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8F413B1-54E0-4B16-92AB-1CC5C7D645B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pic>
        <p:nvPicPr>
          <p:cNvPr id="5" name="Picture 4" descr="A fingerprint in black and white">
            <a:extLst>
              <a:ext uri="{FF2B5EF4-FFF2-40B4-BE49-F238E27FC236}">
                <a16:creationId xmlns:a16="http://schemas.microsoft.com/office/drawing/2014/main" id="{57AD4442-CB87-4FEC-5EE8-5F8176BD5AF6}"/>
              </a:ext>
            </a:extLst>
          </p:cNvPr>
          <p:cNvPicPr>
            <a:picLocks noChangeAspect="1"/>
          </p:cNvPicPr>
          <p:nvPr/>
        </p:nvPicPr>
        <p:blipFill>
          <a:blip r:embed="rId3"/>
          <a:srcRect t="7430" r="-1" b="8298"/>
          <a:stretch/>
        </p:blipFill>
        <p:spPr>
          <a:xfrm>
            <a:off x="20" y="10"/>
            <a:ext cx="12191675" cy="6857990"/>
          </a:xfrm>
          <a:prstGeom prst="rect">
            <a:avLst/>
          </a:prstGeom>
        </p:spPr>
      </p:pic>
      <p:sp>
        <p:nvSpPr>
          <p:cNvPr id="17" name="Rectangle 16">
            <a:extLst>
              <a:ext uri="{FF2B5EF4-FFF2-40B4-BE49-F238E27FC236}">
                <a16:creationId xmlns:a16="http://schemas.microsoft.com/office/drawing/2014/main" id="{2E67E8BF-E4B2-4098-9FB3-9E400BD869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30686" y="4905349"/>
            <a:ext cx="5610646" cy="1450464"/>
          </a:xfrm>
          <a:prstGeom prst="rect">
            <a:avLst/>
          </a:prstGeom>
          <a:solidFill>
            <a:srgbClr val="00000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95D667F-43B3-9027-FC06-8DD86DC027BC}"/>
              </a:ext>
            </a:extLst>
          </p:cNvPr>
          <p:cNvSpPr>
            <a:spLocks noGrp="1"/>
          </p:cNvSpPr>
          <p:nvPr>
            <p:ph type="title"/>
          </p:nvPr>
        </p:nvSpPr>
        <p:spPr>
          <a:xfrm>
            <a:off x="6094412" y="5239131"/>
            <a:ext cx="5279490" cy="960087"/>
          </a:xfrm>
        </p:spPr>
        <p:txBody>
          <a:bodyPr vert="horz" lIns="91440" tIns="45720" rIns="91440" bIns="45720" rtlCol="0" anchor="t">
            <a:normAutofit/>
          </a:bodyPr>
          <a:lstStyle/>
          <a:p>
            <a:r>
              <a:rPr lang="en-US" sz="2500">
                <a:solidFill>
                  <a:srgbClr val="FFFFFE"/>
                </a:solidFill>
              </a:rPr>
              <a:t>Where we’re going, we don’t need Feature Selection</a:t>
            </a:r>
          </a:p>
        </p:txBody>
      </p:sp>
      <p:cxnSp>
        <p:nvCxnSpPr>
          <p:cNvPr id="19" name="Straight Connector 18">
            <a:extLst>
              <a:ext uri="{FF2B5EF4-FFF2-40B4-BE49-F238E27FC236}">
                <a16:creationId xmlns:a16="http://schemas.microsoft.com/office/drawing/2014/main" id="{3781A10F-5DF6-4C9B-AE0B-5249E4399D2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094411" y="5073596"/>
            <a:ext cx="5283196" cy="0"/>
          </a:xfrm>
          <a:prstGeom prst="line">
            <a:avLst/>
          </a:prstGeom>
          <a:ln w="31750">
            <a:solidFill>
              <a:srgbClr val="DC87A0"/>
            </a:solidFill>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03187971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A29D0D-FA1E-CEBC-04C5-85BCB7DA7367}"/>
              </a:ext>
            </a:extLst>
          </p:cNvPr>
          <p:cNvSpPr>
            <a:spLocks noGrp="1"/>
          </p:cNvSpPr>
          <p:nvPr>
            <p:ph type="title"/>
          </p:nvPr>
        </p:nvSpPr>
        <p:spPr/>
        <p:txBody>
          <a:bodyPr/>
          <a:lstStyle/>
          <a:p>
            <a:r>
              <a:rPr lang="en-US" dirty="0"/>
              <a:t>Do we Select? </a:t>
            </a:r>
          </a:p>
        </p:txBody>
      </p:sp>
      <p:sp>
        <p:nvSpPr>
          <p:cNvPr id="3" name="Content Placeholder 2">
            <a:extLst>
              <a:ext uri="{FF2B5EF4-FFF2-40B4-BE49-F238E27FC236}">
                <a16:creationId xmlns:a16="http://schemas.microsoft.com/office/drawing/2014/main" id="{BD241134-7F19-81C1-4108-D885B995317D}"/>
              </a:ext>
            </a:extLst>
          </p:cNvPr>
          <p:cNvSpPr>
            <a:spLocks noGrp="1"/>
          </p:cNvSpPr>
          <p:nvPr>
            <p:ph idx="1"/>
          </p:nvPr>
        </p:nvSpPr>
        <p:spPr>
          <a:xfrm>
            <a:off x="874644" y="1853754"/>
            <a:ext cx="11141766" cy="4199728"/>
          </a:xfrm>
        </p:spPr>
        <p:txBody>
          <a:bodyPr>
            <a:normAutofit fontScale="92500" lnSpcReduction="10000"/>
          </a:bodyPr>
          <a:lstStyle/>
          <a:p>
            <a:r>
              <a:rPr lang="en-US" dirty="0"/>
              <a:t>As noted, removing features makes the model more ‘efficient’ but doesn’t normally raise the ceiling. </a:t>
            </a:r>
          </a:p>
          <a:p>
            <a:r>
              <a:rPr lang="en-US" dirty="0"/>
              <a:t>Selecting features makes the most sense when:</a:t>
            </a:r>
          </a:p>
          <a:p>
            <a:pPr lvl="1"/>
            <a:r>
              <a:rPr lang="en-US" b="1" dirty="0"/>
              <a:t>There’s some substantial domain knowledge where you know something about importance. </a:t>
            </a:r>
          </a:p>
          <a:p>
            <a:pPr lvl="1"/>
            <a:r>
              <a:rPr lang="en-US" dirty="0"/>
              <a:t>In our scenarios, the features are kind of random values, in reality they’re measurements of actual real stuff.</a:t>
            </a:r>
          </a:p>
          <a:p>
            <a:pPr lvl="1"/>
            <a:r>
              <a:rPr lang="en-US" dirty="0"/>
              <a:t>The process needs to be somewhat understandable or explainable. </a:t>
            </a:r>
          </a:p>
          <a:p>
            <a:pPr lvl="1"/>
            <a:r>
              <a:rPr lang="en-US" dirty="0"/>
              <a:t>The training data is limited, as a too high wide/tall ratio will tend to overfitting. </a:t>
            </a:r>
            <a:r>
              <a:rPr lang="en-US" b="1" dirty="0"/>
              <a:t>If data is limited, it matters. </a:t>
            </a:r>
            <a:endParaRPr lang="en-US" dirty="0"/>
          </a:p>
          <a:p>
            <a:r>
              <a:rPr lang="en-US" dirty="0"/>
              <a:t>Simple is (usually) better for most cases in practice. </a:t>
            </a:r>
          </a:p>
          <a:p>
            <a:pPr lvl="1"/>
            <a:r>
              <a:rPr lang="en-US" dirty="0"/>
              <a:t>Feature selection will make more of an impact with smaller, simpler models and data. </a:t>
            </a:r>
            <a:endParaRPr lang="en-US" b="1" dirty="0"/>
          </a:p>
          <a:p>
            <a:pPr lvl="1"/>
            <a:r>
              <a:rPr lang="en-US" dirty="0"/>
              <a:t>Can unlock better performance on large models by allowing quicker trials. </a:t>
            </a:r>
          </a:p>
          <a:p>
            <a:pPr lvl="1"/>
            <a:r>
              <a:rPr lang="en-US" dirty="0"/>
              <a:t>In many real-life scenarios, bias error might not be the worst. E.g. a bank will default to ‘generalizing’.</a:t>
            </a:r>
          </a:p>
          <a:p>
            <a:pPr lvl="1"/>
            <a:r>
              <a:rPr lang="en-US" dirty="0"/>
              <a:t>Work ‘up’ in complexity – there’s no use getting 2% better from a model that is 20x larger (usually).</a:t>
            </a:r>
          </a:p>
          <a:p>
            <a:endParaRPr lang="en-US" dirty="0"/>
          </a:p>
        </p:txBody>
      </p:sp>
    </p:spTree>
    <p:extLst>
      <p:ext uri="{BB962C8B-B14F-4D97-AF65-F5344CB8AC3E}">
        <p14:creationId xmlns:p14="http://schemas.microsoft.com/office/powerpoint/2010/main" val="34295563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D5BC61-74C0-D8DB-21FC-4D58523C8D00}"/>
              </a:ext>
            </a:extLst>
          </p:cNvPr>
          <p:cNvSpPr>
            <a:spLocks noGrp="1"/>
          </p:cNvSpPr>
          <p:nvPr>
            <p:ph type="title"/>
          </p:nvPr>
        </p:nvSpPr>
        <p:spPr/>
        <p:txBody>
          <a:bodyPr/>
          <a:lstStyle/>
          <a:p>
            <a:r>
              <a:rPr lang="en-US" dirty="0"/>
              <a:t>So…</a:t>
            </a:r>
          </a:p>
        </p:txBody>
      </p:sp>
      <p:sp>
        <p:nvSpPr>
          <p:cNvPr id="3" name="Content Placeholder 2">
            <a:extLst>
              <a:ext uri="{FF2B5EF4-FFF2-40B4-BE49-F238E27FC236}">
                <a16:creationId xmlns:a16="http://schemas.microsoft.com/office/drawing/2014/main" id="{8BFC246F-491C-D9C4-8B84-5A1060772B6E}"/>
              </a:ext>
            </a:extLst>
          </p:cNvPr>
          <p:cNvSpPr>
            <a:spLocks noGrp="1"/>
          </p:cNvSpPr>
          <p:nvPr>
            <p:ph idx="1"/>
          </p:nvPr>
        </p:nvSpPr>
        <p:spPr>
          <a:xfrm>
            <a:off x="1451579" y="1853754"/>
            <a:ext cx="9603275" cy="4199727"/>
          </a:xfrm>
        </p:spPr>
        <p:txBody>
          <a:bodyPr/>
          <a:lstStyle/>
          <a:p>
            <a:r>
              <a:rPr lang="en-US" dirty="0"/>
              <a:t>Performing feature selection will rarely, if ever, make large accuracy differences. </a:t>
            </a:r>
          </a:p>
          <a:p>
            <a:pPr lvl="1"/>
            <a:r>
              <a:rPr lang="en-US" dirty="0"/>
              <a:t>That requires ensuring a model that fits well. </a:t>
            </a:r>
          </a:p>
          <a:p>
            <a:r>
              <a:rPr lang="en-US" dirty="0"/>
              <a:t>More features are theoretically better for peak accuracy, as long as they are relevant. </a:t>
            </a:r>
          </a:p>
          <a:p>
            <a:r>
              <a:rPr lang="en-US" dirty="0"/>
              <a:t>To ‘use’ the info in larger numbers of features we need more complex models. </a:t>
            </a:r>
          </a:p>
          <a:p>
            <a:r>
              <a:rPr lang="en-US" dirty="0"/>
              <a:t>To constrain overfitting with complex models, we need lots of data. </a:t>
            </a:r>
          </a:p>
          <a:p>
            <a:r>
              <a:rPr lang="en-US" dirty="0"/>
              <a:t>We’re mostly doing things for learning/experience, so we tend to pursue accuracy. </a:t>
            </a:r>
          </a:p>
          <a:p>
            <a:r>
              <a:rPr lang="en-US" dirty="0"/>
              <a:t>In reality, many/most scenarios we want the simplest thing that does the job. </a:t>
            </a:r>
          </a:p>
          <a:p>
            <a:pPr lvl="1"/>
            <a:r>
              <a:rPr lang="en-US" dirty="0"/>
              <a:t>The degree of accuracy that matters might not be the maximum, if there’s tradeoffs. </a:t>
            </a:r>
          </a:p>
        </p:txBody>
      </p:sp>
    </p:spTree>
    <p:extLst>
      <p:ext uri="{BB962C8B-B14F-4D97-AF65-F5344CB8AC3E}">
        <p14:creationId xmlns:p14="http://schemas.microsoft.com/office/powerpoint/2010/main" val="264631689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B6E3C1-5B20-D524-8B03-2C9E50076095}"/>
              </a:ext>
            </a:extLst>
          </p:cNvPr>
          <p:cNvSpPr>
            <a:spLocks noGrp="1"/>
          </p:cNvSpPr>
          <p:nvPr>
            <p:ph type="title"/>
          </p:nvPr>
        </p:nvSpPr>
        <p:spPr/>
        <p:txBody>
          <a:bodyPr/>
          <a:lstStyle/>
          <a:p>
            <a:r>
              <a:rPr lang="en-US" dirty="0"/>
              <a:t>Feature Selection’s Buddies</a:t>
            </a:r>
          </a:p>
        </p:txBody>
      </p:sp>
      <p:sp>
        <p:nvSpPr>
          <p:cNvPr id="3" name="Content Placeholder 2">
            <a:extLst>
              <a:ext uri="{FF2B5EF4-FFF2-40B4-BE49-F238E27FC236}">
                <a16:creationId xmlns:a16="http://schemas.microsoft.com/office/drawing/2014/main" id="{57DC8E8B-57F3-C18E-4EA1-CDDEBA73389B}"/>
              </a:ext>
            </a:extLst>
          </p:cNvPr>
          <p:cNvSpPr>
            <a:spLocks noGrp="1"/>
          </p:cNvSpPr>
          <p:nvPr>
            <p:ph idx="1"/>
          </p:nvPr>
        </p:nvSpPr>
        <p:spPr>
          <a:xfrm>
            <a:off x="1451579" y="1853755"/>
            <a:ext cx="9603275" cy="4199726"/>
          </a:xfrm>
        </p:spPr>
        <p:txBody>
          <a:bodyPr>
            <a:normAutofit/>
          </a:bodyPr>
          <a:lstStyle/>
          <a:p>
            <a:r>
              <a:rPr lang="en-US" dirty="0"/>
              <a:t>PCA – extracts portions of the “value” from each feature, composed into new features. </a:t>
            </a:r>
          </a:p>
          <a:p>
            <a:pPr lvl="1"/>
            <a:r>
              <a:rPr lang="en-US" dirty="0"/>
              <a:t>Not feature selection as none of the features actually goes away in the same sense. </a:t>
            </a:r>
          </a:p>
          <a:p>
            <a:pPr lvl="1"/>
            <a:r>
              <a:rPr lang="en-US" dirty="0"/>
              <a:t>Can provide many of the same benefits, or better. E.g. example with pixels. </a:t>
            </a:r>
          </a:p>
          <a:p>
            <a:r>
              <a:rPr lang="en-US" dirty="0"/>
              <a:t>Bigger/better models – large models, like NNs, learn feature selection given enough data. </a:t>
            </a:r>
          </a:p>
          <a:p>
            <a:pPr lvl="1"/>
            <a:r>
              <a:rPr lang="en-US" dirty="0"/>
              <a:t>Complex scenarios may allow the model to learn this better than is possible with this stuff. </a:t>
            </a:r>
          </a:p>
          <a:p>
            <a:pPr lvl="1"/>
            <a:r>
              <a:rPr lang="en-US" dirty="0"/>
              <a:t>The model can learn the importance of features, and even different representations of them. </a:t>
            </a:r>
          </a:p>
          <a:p>
            <a:pPr lvl="1"/>
            <a:r>
              <a:rPr lang="en-US" dirty="0"/>
              <a:t>In high-dimension things (generative, image rec., NLP, </a:t>
            </a:r>
            <a:r>
              <a:rPr lang="en-US" dirty="0" err="1"/>
              <a:t>etc</a:t>
            </a:r>
            <a:r>
              <a:rPr lang="en-US" dirty="0"/>
              <a:t>…) each feature tends to not have a specific value that someone can evaluate manually – a pixel or part of a sound wave doesn’t have the relationship to a target that “income” or “age” do. A large model with large data is basically able to figure these complex relationships out – we can’t really do it up front. </a:t>
            </a:r>
          </a:p>
        </p:txBody>
      </p:sp>
    </p:spTree>
    <p:extLst>
      <p:ext uri="{BB962C8B-B14F-4D97-AF65-F5344CB8AC3E}">
        <p14:creationId xmlns:p14="http://schemas.microsoft.com/office/powerpoint/2010/main" val="260904033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06797-DAA5-FF31-F4AC-8692D3079874}"/>
              </a:ext>
            </a:extLst>
          </p:cNvPr>
          <p:cNvSpPr>
            <a:spLocks noGrp="1"/>
          </p:cNvSpPr>
          <p:nvPr>
            <p:ph type="title"/>
          </p:nvPr>
        </p:nvSpPr>
        <p:spPr/>
        <p:txBody>
          <a:bodyPr/>
          <a:lstStyle/>
          <a:p>
            <a:r>
              <a:rPr lang="en-US" dirty="0"/>
              <a:t>Feature Construction</a:t>
            </a:r>
          </a:p>
        </p:txBody>
      </p:sp>
      <p:sp>
        <p:nvSpPr>
          <p:cNvPr id="3" name="Content Placeholder 2">
            <a:extLst>
              <a:ext uri="{FF2B5EF4-FFF2-40B4-BE49-F238E27FC236}">
                <a16:creationId xmlns:a16="http://schemas.microsoft.com/office/drawing/2014/main" id="{13992327-7D84-F1AF-AEE6-EE0C074E630C}"/>
              </a:ext>
            </a:extLst>
          </p:cNvPr>
          <p:cNvSpPr>
            <a:spLocks noGrp="1"/>
          </p:cNvSpPr>
          <p:nvPr>
            <p:ph idx="1"/>
          </p:nvPr>
        </p:nvSpPr>
        <p:spPr>
          <a:xfrm>
            <a:off x="1451579" y="1853754"/>
            <a:ext cx="9603275" cy="4199727"/>
          </a:xfrm>
        </p:spPr>
        <p:txBody>
          <a:bodyPr/>
          <a:lstStyle/>
          <a:p>
            <a:r>
              <a:rPr lang="en-US" dirty="0"/>
              <a:t>We can also create new features out of the original data. </a:t>
            </a:r>
          </a:p>
          <a:p>
            <a:pPr lvl="1"/>
            <a:r>
              <a:rPr lang="en-US" dirty="0"/>
              <a:t>PCA is one example of this we’ll see soon. </a:t>
            </a:r>
          </a:p>
          <a:p>
            <a:pPr lvl="1"/>
            <a:r>
              <a:rPr lang="en-US" dirty="0"/>
              <a:t>Neural networks kind of do this, though not as an explicit step. </a:t>
            </a:r>
          </a:p>
          <a:p>
            <a:r>
              <a:rPr lang="en-US" dirty="0"/>
              <a:t>In reality, this is pretty common:</a:t>
            </a:r>
          </a:p>
          <a:p>
            <a:pPr lvl="1"/>
            <a:r>
              <a:rPr lang="en-US" dirty="0"/>
              <a:t>A retailer may calculate people in area, or within walking distance, or # of similar stores…</a:t>
            </a:r>
          </a:p>
          <a:p>
            <a:pPr lvl="1"/>
            <a:r>
              <a:rPr lang="en-US" dirty="0"/>
              <a:t>A marketer may construct features to look back at recent advertising. </a:t>
            </a:r>
          </a:p>
          <a:p>
            <a:pPr lvl="1"/>
            <a:r>
              <a:rPr lang="en-US" dirty="0"/>
              <a:t>Infection tracing looking for number of contacts. </a:t>
            </a:r>
          </a:p>
          <a:p>
            <a:r>
              <a:rPr lang="en-US" dirty="0"/>
              <a:t>What we can need and what we can measure may not always align. </a:t>
            </a:r>
          </a:p>
          <a:p>
            <a:r>
              <a:rPr lang="en-US" dirty="0"/>
              <a:t>When we are in realistic scenarios, this is another thing needing domain knowledge. </a:t>
            </a:r>
          </a:p>
        </p:txBody>
      </p:sp>
    </p:spTree>
    <p:extLst>
      <p:ext uri="{BB962C8B-B14F-4D97-AF65-F5344CB8AC3E}">
        <p14:creationId xmlns:p14="http://schemas.microsoft.com/office/powerpoint/2010/main" val="77888969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ABF31B-58D3-9586-5153-574351A714D0}"/>
              </a:ext>
            </a:extLst>
          </p:cNvPr>
          <p:cNvSpPr>
            <a:spLocks noGrp="1"/>
          </p:cNvSpPr>
          <p:nvPr>
            <p:ph type="title"/>
          </p:nvPr>
        </p:nvSpPr>
        <p:spPr/>
        <p:txBody>
          <a:bodyPr/>
          <a:lstStyle/>
          <a:p>
            <a:r>
              <a:rPr lang="en-US" dirty="0"/>
              <a:t>Real Life Feature Construction</a:t>
            </a:r>
          </a:p>
        </p:txBody>
      </p:sp>
      <p:sp>
        <p:nvSpPr>
          <p:cNvPr id="3" name="Content Placeholder 2">
            <a:extLst>
              <a:ext uri="{FF2B5EF4-FFF2-40B4-BE49-F238E27FC236}">
                <a16:creationId xmlns:a16="http://schemas.microsoft.com/office/drawing/2014/main" id="{3FD36F8B-2FFD-0C54-CBF3-6B1E25CD4000}"/>
              </a:ext>
            </a:extLst>
          </p:cNvPr>
          <p:cNvSpPr>
            <a:spLocks noGrp="1"/>
          </p:cNvSpPr>
          <p:nvPr>
            <p:ph idx="1"/>
          </p:nvPr>
        </p:nvSpPr>
        <p:spPr>
          <a:xfrm>
            <a:off x="1451579" y="1853754"/>
            <a:ext cx="9603275" cy="4199728"/>
          </a:xfrm>
        </p:spPr>
        <p:txBody>
          <a:bodyPr/>
          <a:lstStyle/>
          <a:p>
            <a:r>
              <a:rPr lang="en-US" dirty="0"/>
              <a:t>In reality, we don’t really have “all” the relevant inputs like we do with examples. </a:t>
            </a:r>
          </a:p>
          <a:p>
            <a:r>
              <a:rPr lang="en-US" dirty="0"/>
              <a:t>We typically have the data in whatever format it could be collected it. </a:t>
            </a:r>
          </a:p>
          <a:p>
            <a:r>
              <a:rPr lang="en-US" dirty="0"/>
              <a:t>We likely need to make features from what we collected and use those. </a:t>
            </a:r>
          </a:p>
          <a:p>
            <a:r>
              <a:rPr lang="en-US" dirty="0"/>
              <a:t>For example:</a:t>
            </a:r>
          </a:p>
          <a:p>
            <a:pPr lvl="1"/>
            <a:r>
              <a:rPr lang="en-US" dirty="0"/>
              <a:t>Spatial (location) – distance from things, time from thing, density of things. </a:t>
            </a:r>
          </a:p>
          <a:p>
            <a:pPr lvl="1"/>
            <a:r>
              <a:rPr lang="en-US" dirty="0"/>
              <a:t>Time series – time since, frequency. </a:t>
            </a:r>
          </a:p>
          <a:p>
            <a:pPr lvl="1"/>
            <a:r>
              <a:rPr lang="en-US" dirty="0"/>
              <a:t>Other – aggregates (sum/avg) instead of raw value, ranking, ratios, </a:t>
            </a:r>
            <a:r>
              <a:rPr lang="en-US" dirty="0" err="1"/>
              <a:t>etc</a:t>
            </a:r>
            <a:r>
              <a:rPr lang="en-US" dirty="0"/>
              <a:t>…</a:t>
            </a:r>
          </a:p>
          <a:p>
            <a:r>
              <a:rPr lang="en-US" dirty="0"/>
              <a:t>The data we start with might be good for predictions, it might not. </a:t>
            </a:r>
          </a:p>
          <a:p>
            <a:pPr lvl="1"/>
            <a:r>
              <a:rPr lang="en-US" dirty="0"/>
              <a:t>This definitely requires some domain knowledge to do well. </a:t>
            </a:r>
          </a:p>
        </p:txBody>
      </p:sp>
    </p:spTree>
    <p:extLst>
      <p:ext uri="{BB962C8B-B14F-4D97-AF65-F5344CB8AC3E}">
        <p14:creationId xmlns:p14="http://schemas.microsoft.com/office/powerpoint/2010/main" val="275122322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99A85-8288-A29F-A26D-1F58C2FDF8D4}"/>
              </a:ext>
            </a:extLst>
          </p:cNvPr>
          <p:cNvSpPr>
            <a:spLocks noGrp="1"/>
          </p:cNvSpPr>
          <p:nvPr>
            <p:ph type="title"/>
          </p:nvPr>
        </p:nvSpPr>
        <p:spPr/>
        <p:txBody>
          <a:bodyPr/>
          <a:lstStyle/>
          <a:p>
            <a:r>
              <a:rPr lang="en-US" dirty="0"/>
              <a:t>Other Changes</a:t>
            </a:r>
          </a:p>
        </p:txBody>
      </p:sp>
      <p:sp>
        <p:nvSpPr>
          <p:cNvPr id="3" name="Content Placeholder 2">
            <a:extLst>
              <a:ext uri="{FF2B5EF4-FFF2-40B4-BE49-F238E27FC236}">
                <a16:creationId xmlns:a16="http://schemas.microsoft.com/office/drawing/2014/main" id="{97B1291F-210D-F3A7-CDEF-15135451536B}"/>
              </a:ext>
            </a:extLst>
          </p:cNvPr>
          <p:cNvSpPr>
            <a:spLocks noGrp="1"/>
          </p:cNvSpPr>
          <p:nvPr>
            <p:ph idx="1"/>
          </p:nvPr>
        </p:nvSpPr>
        <p:spPr>
          <a:xfrm>
            <a:off x="1451579" y="1853754"/>
            <a:ext cx="9603275" cy="4199727"/>
          </a:xfrm>
        </p:spPr>
        <p:txBody>
          <a:bodyPr>
            <a:normAutofit/>
          </a:bodyPr>
          <a:lstStyle/>
          <a:p>
            <a:r>
              <a:rPr lang="en-US" dirty="0"/>
              <a:t>Grouping and “other” groups for categories with many options. </a:t>
            </a:r>
          </a:p>
          <a:p>
            <a:r>
              <a:rPr lang="en-US" dirty="0"/>
              <a:t>Recategorizing or merging groups – e.g. café, coffee shop, and dinner grouped. </a:t>
            </a:r>
          </a:p>
          <a:p>
            <a:r>
              <a:rPr lang="en-US" dirty="0"/>
              <a:t>Categorizing some continuous data. </a:t>
            </a:r>
          </a:p>
          <a:p>
            <a:pPr lvl="1"/>
            <a:r>
              <a:rPr lang="en-US" dirty="0"/>
              <a:t>E.g. credit scores are generally used as buckets, not specific numbers. </a:t>
            </a:r>
          </a:p>
          <a:p>
            <a:r>
              <a:rPr lang="en-US" dirty="0"/>
              <a:t>Truncating values – are there outliers where “high” is good enough. </a:t>
            </a:r>
          </a:p>
          <a:p>
            <a:r>
              <a:rPr lang="en-US" dirty="0"/>
              <a:t>Combining or splitting columns. </a:t>
            </a:r>
          </a:p>
          <a:p>
            <a:pPr lvl="1"/>
            <a:r>
              <a:rPr lang="en-US" dirty="0"/>
              <a:t>Sometimes feature-info may not be 1-to-1, e.g. address to city, province. Lat/</a:t>
            </a:r>
            <a:r>
              <a:rPr lang="en-US" dirty="0" err="1"/>
              <a:t>lon</a:t>
            </a:r>
            <a:r>
              <a:rPr lang="en-US" dirty="0"/>
              <a:t> to point. </a:t>
            </a:r>
          </a:p>
          <a:p>
            <a:pPr lvl="1"/>
            <a:r>
              <a:rPr lang="en-US" dirty="0"/>
              <a:t>Constructed features like BMI (or advanced sports statistics). </a:t>
            </a:r>
          </a:p>
          <a:p>
            <a:r>
              <a:rPr lang="en-US" dirty="0"/>
              <a:t>The performance is the ultimate decider – want to provide good predictors of target. </a:t>
            </a:r>
          </a:p>
        </p:txBody>
      </p:sp>
    </p:spTree>
    <p:extLst>
      <p:ext uri="{BB962C8B-B14F-4D97-AF65-F5344CB8AC3E}">
        <p14:creationId xmlns:p14="http://schemas.microsoft.com/office/powerpoint/2010/main" val="213748179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F2EFCA-E1A1-C25B-F6AD-A150E348DAC9}"/>
              </a:ext>
            </a:extLst>
          </p:cNvPr>
          <p:cNvSpPr>
            <a:spLocks noGrp="1"/>
          </p:cNvSpPr>
          <p:nvPr>
            <p:ph type="title"/>
          </p:nvPr>
        </p:nvSpPr>
        <p:spPr/>
        <p:txBody>
          <a:bodyPr/>
          <a:lstStyle/>
          <a:p>
            <a:r>
              <a:rPr lang="en-US" dirty="0"/>
              <a:t>Conclusion</a:t>
            </a:r>
          </a:p>
        </p:txBody>
      </p:sp>
      <p:sp>
        <p:nvSpPr>
          <p:cNvPr id="3" name="Content Placeholder 2">
            <a:extLst>
              <a:ext uri="{FF2B5EF4-FFF2-40B4-BE49-F238E27FC236}">
                <a16:creationId xmlns:a16="http://schemas.microsoft.com/office/drawing/2014/main" id="{D0515971-A907-9575-2A75-F707FAB67321}"/>
              </a:ext>
            </a:extLst>
          </p:cNvPr>
          <p:cNvSpPr>
            <a:spLocks noGrp="1"/>
          </p:cNvSpPr>
          <p:nvPr>
            <p:ph idx="1"/>
          </p:nvPr>
        </p:nvSpPr>
        <p:spPr>
          <a:xfrm>
            <a:off x="1451579" y="1853755"/>
            <a:ext cx="10018178" cy="4199726"/>
          </a:xfrm>
        </p:spPr>
        <p:txBody>
          <a:bodyPr>
            <a:normAutofit fontScale="92500"/>
          </a:bodyPr>
          <a:lstStyle/>
          <a:p>
            <a:r>
              <a:rPr lang="en-US" dirty="0"/>
              <a:t>In most real situations, you probably want to do something like:</a:t>
            </a:r>
          </a:p>
          <a:p>
            <a:pPr lvl="1"/>
            <a:r>
              <a:rPr lang="en-US" dirty="0"/>
              <a:t>Make a baseline model with minimal prep &amp; use domain knowledge &amp; metrics to trim the feature set. </a:t>
            </a:r>
          </a:p>
          <a:p>
            <a:pPr lvl="1"/>
            <a:r>
              <a:rPr lang="en-US" dirty="0"/>
              <a:t>Continue trimming to see where/if there’s a </a:t>
            </a:r>
            <a:r>
              <a:rPr lang="en-US" dirty="0" err="1"/>
              <a:t>dropoff</a:t>
            </a:r>
            <a:r>
              <a:rPr lang="en-US" dirty="0"/>
              <a:t> in performance. (e.g. 10f = 90%, 9f = 81%)</a:t>
            </a:r>
          </a:p>
          <a:p>
            <a:pPr lvl="1"/>
            <a:r>
              <a:rPr lang="en-US" dirty="0"/>
              <a:t>Make a model with whatever set of features ‘matter’, evaluate if this is sufficient. </a:t>
            </a:r>
          </a:p>
          <a:p>
            <a:pPr lvl="1"/>
            <a:r>
              <a:rPr lang="en-US" dirty="0"/>
              <a:t>This is for tabular ‘real-life’ data (like ours), with a human-manageable number of features. </a:t>
            </a:r>
          </a:p>
          <a:p>
            <a:r>
              <a:rPr lang="en-US" dirty="0"/>
              <a:t>But, if you want complex data &amp; maximal performance, then big models keeping most/all is good. </a:t>
            </a:r>
          </a:p>
          <a:p>
            <a:pPr lvl="1"/>
            <a:r>
              <a:rPr lang="en-US" dirty="0"/>
              <a:t>You need a large model capable of learning complex relationships, and enough data to allow it.</a:t>
            </a:r>
          </a:p>
          <a:p>
            <a:pPr lvl="1"/>
            <a:r>
              <a:rPr lang="en-US" dirty="0"/>
              <a:t>These scenarios are often unstructured data, building off of what works is smart. </a:t>
            </a:r>
          </a:p>
          <a:p>
            <a:r>
              <a:rPr lang="en-US" dirty="0"/>
              <a:t>Shrinking models can also allow for other devices (phones, watches, </a:t>
            </a:r>
            <a:r>
              <a:rPr lang="en-US" dirty="0" err="1"/>
              <a:t>rpi</a:t>
            </a:r>
            <a:r>
              <a:rPr lang="en-US" dirty="0"/>
              <a:t>, </a:t>
            </a:r>
            <a:r>
              <a:rPr lang="en-US" dirty="0" err="1"/>
              <a:t>etc</a:t>
            </a:r>
            <a:r>
              <a:rPr lang="en-US" dirty="0"/>
              <a:t>…) to run things. </a:t>
            </a:r>
          </a:p>
          <a:p>
            <a:r>
              <a:rPr lang="en-US" dirty="0"/>
              <a:t>For us, we can use metrics, and be reasonable – we don’t have the domain know/constraints. </a:t>
            </a:r>
          </a:p>
        </p:txBody>
      </p:sp>
    </p:spTree>
    <p:extLst>
      <p:ext uri="{BB962C8B-B14F-4D97-AF65-F5344CB8AC3E}">
        <p14:creationId xmlns:p14="http://schemas.microsoft.com/office/powerpoint/2010/main" val="2515144660"/>
      </p:ext>
    </p:extLst>
  </p:cSld>
  <p:clrMapOvr>
    <a:masterClrMapping/>
  </p:clrMapOvr>
</p:sld>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docProps/app.xml><?xml version="1.0" encoding="utf-8"?>
<Properties xmlns="http://schemas.openxmlformats.org/officeDocument/2006/extended-properties" xmlns:vt="http://schemas.openxmlformats.org/officeDocument/2006/docPropsVTypes">
  <Template>{2C098A6B-0D6A-6740-AB07-6AAE29A34FE3}tf10001119</Template>
  <TotalTime>26160</TotalTime>
  <Words>3459</Words>
  <Application>Microsoft Macintosh PowerPoint</Application>
  <PresentationFormat>Widescreen</PresentationFormat>
  <Paragraphs>260</Paragraphs>
  <Slides>32</Slides>
  <Notes>0</Notes>
  <HiddenSlides>2</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Gill Sans MT</vt:lpstr>
      <vt:lpstr>Gallery</vt:lpstr>
      <vt:lpstr>Stuff</vt:lpstr>
      <vt:lpstr>Review – Multiclass classification and Image data in Logistic Regression</vt:lpstr>
      <vt:lpstr>Softmax and Multiple classes</vt:lpstr>
      <vt:lpstr>Labels and Softmax and Sklearn and You</vt:lpstr>
      <vt:lpstr>Feature Selection</vt:lpstr>
      <vt:lpstr>Detour – Sparse vs Dense</vt:lpstr>
      <vt:lpstr>Feature Selection</vt:lpstr>
      <vt:lpstr>But First, Baselining </vt:lpstr>
      <vt:lpstr>Feature Selection Basics</vt:lpstr>
      <vt:lpstr>It’s Hip to be (R) Square(d). </vt:lpstr>
      <vt:lpstr>Feature Selection Impacts</vt:lpstr>
      <vt:lpstr>The Human Touch (Maybe it’ll Touch You In That Project class…)</vt:lpstr>
      <vt:lpstr>With Real Life Data</vt:lpstr>
      <vt:lpstr>Get a Clue!</vt:lpstr>
      <vt:lpstr>Ways to select Features</vt:lpstr>
      <vt:lpstr>How to do Selection</vt:lpstr>
      <vt:lpstr>Relative Importance in Multicollinearity</vt:lpstr>
      <vt:lpstr>Variance Based Selection</vt:lpstr>
      <vt:lpstr>Univariate Selection</vt:lpstr>
      <vt:lpstr>Univariate Implementation</vt:lpstr>
      <vt:lpstr>Internal Selection</vt:lpstr>
      <vt:lpstr>Recursive Elimination</vt:lpstr>
      <vt:lpstr>PowerPoint Presentation</vt:lpstr>
      <vt:lpstr>Weirder Stuff</vt:lpstr>
      <vt:lpstr>Where we’re going, we don’t need Feature Selection</vt:lpstr>
      <vt:lpstr>Do we Select? </vt:lpstr>
      <vt:lpstr>So…</vt:lpstr>
      <vt:lpstr>Feature Selection’s Buddies</vt:lpstr>
      <vt:lpstr>Feature Construction</vt:lpstr>
      <vt:lpstr>Real Life Feature Construction</vt:lpstr>
      <vt:lpstr>Other Changes</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Feature Selection</dc:title>
  <dc:creator>Akeem Semper</dc:creator>
  <cp:lastModifiedBy>Akeem Semper</cp:lastModifiedBy>
  <cp:revision>45</cp:revision>
  <dcterms:created xsi:type="dcterms:W3CDTF">2022-01-27T17:10:47Z</dcterms:created>
  <dcterms:modified xsi:type="dcterms:W3CDTF">2026-01-29T19:04:13Z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0877899-02b0-462c-b2a9-b7d15c4f96fe_Enabled">
    <vt:lpwstr>true</vt:lpwstr>
  </property>
  <property fmtid="{D5CDD505-2E9C-101B-9397-08002B2CF9AE}" pid="3" name="MSIP_Label_10877899-02b0-462c-b2a9-b7d15c4f96fe_SetDate">
    <vt:lpwstr>2026-01-22T16:30:58Z</vt:lpwstr>
  </property>
  <property fmtid="{D5CDD505-2E9C-101B-9397-08002B2CF9AE}" pid="4" name="MSIP_Label_10877899-02b0-462c-b2a9-b7d15c4f96fe_Method">
    <vt:lpwstr>Standard</vt:lpwstr>
  </property>
  <property fmtid="{D5CDD505-2E9C-101B-9397-08002B2CF9AE}" pid="5" name="MSIP_Label_10877899-02b0-462c-b2a9-b7d15c4f96fe_Name">
    <vt:lpwstr>Protected [Protected A]</vt:lpwstr>
  </property>
  <property fmtid="{D5CDD505-2E9C-101B-9397-08002B2CF9AE}" pid="6" name="MSIP_Label_10877899-02b0-462c-b2a9-b7d15c4f96fe_SiteId">
    <vt:lpwstr>5c98fb47-d3b9-4649-9d94-f88cbdd9729c</vt:lpwstr>
  </property>
  <property fmtid="{D5CDD505-2E9C-101B-9397-08002B2CF9AE}" pid="7" name="MSIP_Label_10877899-02b0-462c-b2a9-b7d15c4f96fe_ActionId">
    <vt:lpwstr>a491407d-45c0-4830-bdc1-c4fc312a577f</vt:lpwstr>
  </property>
  <property fmtid="{D5CDD505-2E9C-101B-9397-08002B2CF9AE}" pid="8" name="MSIP_Label_10877899-02b0-462c-b2a9-b7d15c4f96fe_ContentBits">
    <vt:lpwstr>0</vt:lpwstr>
  </property>
  <property fmtid="{D5CDD505-2E9C-101B-9397-08002B2CF9AE}" pid="9" name="MSIP_Label_10877899-02b0-462c-b2a9-b7d15c4f96fe_Tag">
    <vt:lpwstr>50, 3, 0, 1</vt:lpwstr>
  </property>
</Properties>
</file>