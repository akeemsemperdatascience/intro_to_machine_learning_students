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3" r:id="rId2"/>
    <p:sldId id="274" r:id="rId3"/>
    <p:sldId id="275" r:id="rId4"/>
    <p:sldId id="276" r:id="rId5"/>
    <p:sldId id="270" r:id="rId6"/>
    <p:sldId id="271" r:id="rId7"/>
    <p:sldId id="256" r:id="rId8"/>
    <p:sldId id="266" r:id="rId9"/>
    <p:sldId id="268" r:id="rId10"/>
    <p:sldId id="267" r:id="rId11"/>
    <p:sldId id="269" r:id="rId12"/>
    <p:sldId id="272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8BA21F-7F32-4540-9208-09D77F5B03BA}">
          <p14:sldIdLst>
            <p14:sldId id="273"/>
          </p14:sldIdLst>
        </p14:section>
        <p14:section name="Weird Charts" id="{2AEAC93D-C99C-1047-830D-43486A067398}">
          <p14:sldIdLst>
            <p14:sldId id="274"/>
            <p14:sldId id="275"/>
            <p14:sldId id="276"/>
          </p14:sldIdLst>
        </p14:section>
        <p14:section name="Review" id="{C7432C32-F37E-7249-B88B-001A7073A27F}">
          <p14:sldIdLst>
            <p14:sldId id="270"/>
            <p14:sldId id="271"/>
            <p14:sldId id="256"/>
            <p14:sldId id="266"/>
            <p14:sldId id="268"/>
            <p14:sldId id="267"/>
            <p14:sldId id="269"/>
            <p14:sldId id="272"/>
          </p14:sldIdLst>
        </p14:section>
        <p14:section name="Bayes" id="{1EE95CFD-4D78-9A43-80C9-00F166D1574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2"/>
    <p:restoredTop sz="96327"/>
  </p:normalViewPr>
  <p:slideViewPr>
    <p:cSldViewPr snapToGrid="0" snapToObjects="1">
      <p:cViewPr varScale="1">
        <p:scale>
          <a:sx n="167" d="100"/>
          <a:sy n="167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11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8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76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83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2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742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2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296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16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40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42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230E0-7B2D-6541-9101-3722104B4ABF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415E0B7-B27D-A54B-907F-685C377FDEF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6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C9AEB-116D-42CD-AAFB-F9DFF9A1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B2240-35C9-D562-BADA-D7D93C21F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81200"/>
            <a:ext cx="9603275" cy="4072281"/>
          </a:xfrm>
        </p:spPr>
        <p:txBody>
          <a:bodyPr/>
          <a:lstStyle/>
          <a:p>
            <a:r>
              <a:rPr lang="en-US" dirty="0"/>
              <a:t>Probability, conditional probability, and (potentially) Bayes. </a:t>
            </a:r>
          </a:p>
          <a:p>
            <a:pPr lvl="1"/>
            <a:r>
              <a:rPr lang="en-US" dirty="0"/>
              <a:t>Please be honest about what makes sense, we’ll see how far we can get. </a:t>
            </a:r>
          </a:p>
          <a:p>
            <a:pPr lvl="1"/>
            <a:r>
              <a:rPr lang="en-US" dirty="0"/>
              <a:t>Largely example based, the core theory of probability is pretty simple. </a:t>
            </a:r>
          </a:p>
          <a:p>
            <a:r>
              <a:rPr lang="en-US" dirty="0"/>
              <a:t>For test things, conditional probability is fair game, after that is off. </a:t>
            </a:r>
          </a:p>
          <a:p>
            <a:r>
              <a:rPr lang="en-US" dirty="0"/>
              <a:t>We’ll finish the topic next Monday, the last class.</a:t>
            </a:r>
          </a:p>
          <a:p>
            <a:pPr lvl="1"/>
            <a:r>
              <a:rPr lang="en-US" dirty="0"/>
              <a:t>We’ll cover the actual sklearn model then. </a:t>
            </a:r>
          </a:p>
          <a:p>
            <a:pPr lvl="1"/>
            <a:r>
              <a:rPr lang="en-US" dirty="0"/>
              <a:t>We (probably) won’t get to deriving it, that’s worth a read through (w.b.32). </a:t>
            </a:r>
          </a:p>
        </p:txBody>
      </p:sp>
    </p:spTree>
    <p:extLst>
      <p:ext uri="{BB962C8B-B14F-4D97-AF65-F5344CB8AC3E}">
        <p14:creationId xmlns:p14="http://schemas.microsoft.com/office/powerpoint/2010/main" val="1560395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83E5-2524-759A-34CB-AF79F119D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densities so Weird?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2D88E-CBA3-BD41-400C-306B01101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DD1F11-10A9-2178-1300-92D45A6C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40" y="1853754"/>
            <a:ext cx="7772400" cy="479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4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EEAC-B5F8-286E-45A6-8A0E3866A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Density… Really…?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13EB2-9902-4D0F-B459-E6FF4D1F5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940" y="1927860"/>
            <a:ext cx="6195060" cy="4190326"/>
          </a:xfrm>
        </p:spPr>
        <p:txBody>
          <a:bodyPr/>
          <a:lstStyle/>
          <a:p>
            <a:r>
              <a:rPr lang="en-US" dirty="0"/>
              <a:t>Density means the total area under curve is 1. </a:t>
            </a:r>
          </a:p>
          <a:p>
            <a:pPr lvl="1"/>
            <a:r>
              <a:rPr lang="en-US" dirty="0"/>
              <a:t>If we have a continuous dataset, this works, but…</a:t>
            </a:r>
          </a:p>
          <a:p>
            <a:r>
              <a:rPr lang="en-US" dirty="0"/>
              <a:t>The area is the integral, not </a:t>
            </a:r>
            <a:r>
              <a:rPr lang="en-US"/>
              <a:t>a count. </a:t>
            </a:r>
            <a:endParaRPr lang="en-US" dirty="0"/>
          </a:p>
          <a:p>
            <a:pPr lvl="1"/>
            <a:r>
              <a:rPr lang="en-US" dirty="0"/>
              <a:t>Works over an area, not a point (like a bin w/ discreet).</a:t>
            </a:r>
          </a:p>
          <a:p>
            <a:pPr lvl="1"/>
            <a:r>
              <a:rPr lang="en-US" dirty="0"/>
              <a:t>Sparse discreet data can make this weird. </a:t>
            </a:r>
          </a:p>
          <a:p>
            <a:pPr lvl="1"/>
            <a:r>
              <a:rPr lang="en-US" dirty="0"/>
              <a:t>We don’t get a ‘rectangle’ we get stalagmites. </a:t>
            </a:r>
          </a:p>
          <a:p>
            <a:r>
              <a:rPr lang="en-US" dirty="0"/>
              <a:t>With discreet data there’s estimating going on. </a:t>
            </a:r>
          </a:p>
          <a:p>
            <a:pPr lvl="1"/>
            <a:r>
              <a:rPr lang="en-US" dirty="0"/>
              <a:t>There is a smoothing parameter that can help.  </a:t>
            </a:r>
          </a:p>
          <a:p>
            <a:r>
              <a:rPr lang="en-US" dirty="0"/>
              <a:t>Fundamentally a mismatch data/visual tool.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86271-D1FA-EAD9-4BA2-151754E511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608"/>
          <a:stretch>
            <a:fillRect/>
          </a:stretch>
        </p:blipFill>
        <p:spPr>
          <a:xfrm>
            <a:off x="0" y="1927860"/>
            <a:ext cx="6040066" cy="2148503"/>
          </a:xfrm>
          <a:prstGeom prst="rect">
            <a:avLst/>
          </a:prstGeom>
        </p:spPr>
      </p:pic>
      <p:pic>
        <p:nvPicPr>
          <p:cNvPr id="4098" name="Picture 2" descr="Area under the Curve Formula">
            <a:extLst>
              <a:ext uri="{FF2B5EF4-FFF2-40B4-BE49-F238E27FC236}">
                <a16:creationId xmlns:a16="http://schemas.microsoft.com/office/drawing/2014/main" id="{629798F0-9DFB-2B16-53B9-08F7AA504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" y="4086186"/>
            <a:ext cx="3524250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EACD2-979A-A564-465A-679079D0E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410" y="4076362"/>
            <a:ext cx="2378656" cy="232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2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589B-47C1-266A-40AF-130E8518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2968021" cy="1049235"/>
          </a:xfrm>
        </p:spPr>
        <p:txBody>
          <a:bodyPr/>
          <a:lstStyle/>
          <a:p>
            <a:r>
              <a:rPr lang="en-US" dirty="0"/>
              <a:t>Discreetness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19449-E5C9-6B55-A0C0-F2C0EA6A2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6132884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With discreet data, those y values can be odd. </a:t>
            </a:r>
          </a:p>
          <a:p>
            <a:pPr lvl="1"/>
            <a:r>
              <a:rPr lang="en-US" dirty="0"/>
              <a:t>’Area’ is not the most meaningful concept. </a:t>
            </a:r>
          </a:p>
          <a:p>
            <a:pPr lvl="1"/>
            <a:r>
              <a:rPr lang="en-US" dirty="0"/>
              <a:t>Discreet data is ‘meant’ for a histogram. </a:t>
            </a:r>
          </a:p>
          <a:p>
            <a:r>
              <a:rPr lang="en-US" dirty="0"/>
              <a:t>Change to ‘probability’ to get something more readable. </a:t>
            </a:r>
          </a:p>
          <a:p>
            <a:pPr lvl="1"/>
            <a:r>
              <a:rPr lang="en-US" dirty="0"/>
              <a:t>Height of bars sums to 1. </a:t>
            </a:r>
          </a:p>
          <a:p>
            <a:r>
              <a:rPr lang="en-US" dirty="0"/>
              <a:t>In practice this isn’t really an issue often.</a:t>
            </a:r>
          </a:p>
          <a:p>
            <a:pPr lvl="1"/>
            <a:r>
              <a:rPr lang="en-US" dirty="0"/>
              <a:t>Only if you need to read Y value from KDE. </a:t>
            </a:r>
          </a:p>
          <a:p>
            <a:pPr lvl="1"/>
            <a:r>
              <a:rPr lang="en-US" dirty="0"/>
              <a:t>Pattern, comparisons, etc.. Still work fine. </a:t>
            </a:r>
          </a:p>
          <a:p>
            <a:pPr lvl="1"/>
            <a:r>
              <a:rPr lang="en-US" b="1" dirty="0"/>
              <a:t>Bigger and smoother data lessens impact. </a:t>
            </a:r>
          </a:p>
          <a:p>
            <a:r>
              <a:rPr lang="en-US" dirty="0"/>
              <a:t>Seaborn has a “visualizing distributions” page.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1E070-22D1-F4BF-7166-7DC567863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884" y="717579"/>
            <a:ext cx="6059116" cy="473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8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6C9E-B79D-AB5E-8508-79F50D9B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6252241" cy="1049235"/>
          </a:xfrm>
        </p:spPr>
        <p:txBody>
          <a:bodyPr/>
          <a:lstStyle/>
          <a:p>
            <a:r>
              <a:rPr lang="en-US" dirty="0"/>
              <a:t>Review - Gradient Descent and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3EC63-4186-A738-8B18-E965F1B9E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" y="2015732"/>
            <a:ext cx="10727195" cy="3981208"/>
          </a:xfrm>
        </p:spPr>
        <p:txBody>
          <a:bodyPr/>
          <a:lstStyle/>
          <a:p>
            <a:r>
              <a:rPr lang="en-US" dirty="0"/>
              <a:t>Last week we looked at classification using logistic regression. </a:t>
            </a:r>
          </a:p>
          <a:p>
            <a:pPr lvl="1"/>
            <a:r>
              <a:rPr lang="en-US" dirty="0"/>
              <a:t>Instead of predicting a value we predict T/F, a class membership. </a:t>
            </a:r>
          </a:p>
          <a:p>
            <a:r>
              <a:rPr lang="en-US" dirty="0"/>
              <a:t>Still a linear calculation, but the details differ – need to predict probability not value. </a:t>
            </a:r>
          </a:p>
          <a:p>
            <a:pPr lvl="1"/>
            <a:r>
              <a:rPr lang="en-US" dirty="0"/>
              <a:t>Uses a regression to the logit to get (something convertible to) probabilities. </a:t>
            </a:r>
          </a:p>
          <a:p>
            <a:pPr lvl="1"/>
            <a:r>
              <a:rPr lang="en-US" dirty="0"/>
              <a:t>Sigmoid calculation converts any logit to a probability. </a:t>
            </a:r>
          </a:p>
          <a:p>
            <a:r>
              <a:rPr lang="en-US" dirty="0"/>
              <a:t>The slope and intercepts can’t be calculated directly here like with LLS. </a:t>
            </a:r>
          </a:p>
          <a:p>
            <a:pPr lvl="1"/>
            <a:r>
              <a:rPr lang="en-US" dirty="0"/>
              <a:t>Need an alternative way to find best </a:t>
            </a:r>
            <a:r>
              <a:rPr lang="en-US" dirty="0" err="1"/>
              <a:t>coef</a:t>
            </a:r>
            <a:r>
              <a:rPr lang="en-US" dirty="0"/>
              <a:t> – gradient descent. </a:t>
            </a:r>
          </a:p>
          <a:p>
            <a:pPr lvl="1"/>
            <a:r>
              <a:rPr lang="en-US" dirty="0"/>
              <a:t>Guess some coefficients, calculate cost, adjust </a:t>
            </a:r>
            <a:r>
              <a:rPr lang="en-US" dirty="0" err="1"/>
              <a:t>coef</a:t>
            </a:r>
            <a:r>
              <a:rPr lang="en-US" dirty="0"/>
              <a:t> (using gradient), repeat until done. </a:t>
            </a:r>
          </a:p>
          <a:p>
            <a:pPr lvl="1"/>
            <a:r>
              <a:rPr lang="en-US" dirty="0"/>
              <a:t>This process is very common, coefficients can rarely be directly calculated. </a:t>
            </a:r>
          </a:p>
        </p:txBody>
      </p:sp>
      <p:pic>
        <p:nvPicPr>
          <p:cNvPr id="3074" name="Picture 2" descr="A Beginners Guide to Gradient Descent Algorithm for Data Scientists!">
            <a:extLst>
              <a:ext uri="{FF2B5EF4-FFF2-40B4-BE49-F238E27FC236}">
                <a16:creationId xmlns:a16="http://schemas.microsoft.com/office/drawing/2014/main" id="{D781402D-BF2D-6CDB-E1B2-1503F49C1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351" y="132098"/>
            <a:ext cx="4445649" cy="277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ogistic Regression">
            <a:extLst>
              <a:ext uri="{FF2B5EF4-FFF2-40B4-BE49-F238E27FC236}">
                <a16:creationId xmlns:a16="http://schemas.microsoft.com/office/drawing/2014/main" id="{2AA27453-B847-AD5C-4877-5ED568E5E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640" y="3063239"/>
            <a:ext cx="2880361" cy="304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148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C23E-81B1-D949-ED13-5AA32B801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"/>
            <a:ext cx="9603275" cy="708659"/>
          </a:xfrm>
        </p:spPr>
        <p:txBody>
          <a:bodyPr/>
          <a:lstStyle/>
          <a:p>
            <a:r>
              <a:rPr lang="en-US" dirty="0"/>
              <a:t>At bottom of Logistic Regression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52937-88E5-8960-688A-42135C3CB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3016EB-70FA-7AC3-CA72-EF73322A6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590"/>
            <a:ext cx="12183342" cy="564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841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5D26-77CB-5048-8DE4-A9B849C71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80B032-B292-674D-855C-81EE4ADE61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7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2FC0B-61AD-1F6E-3C66-FF8CAE0E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– Remember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803DB-F57D-5E3B-58C8-97671A475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12620"/>
            <a:ext cx="9603275" cy="414086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Recall the idea of probability. </a:t>
            </a:r>
          </a:p>
          <a:p>
            <a:pPr lvl="1"/>
            <a:r>
              <a:rPr lang="en-US" dirty="0"/>
              <a:t>P(A) – what is the likelihood that A will happen. </a:t>
            </a:r>
          </a:p>
          <a:p>
            <a:r>
              <a:rPr lang="en-US" dirty="0"/>
              <a:t>Probability comes up directly in several inferential things:</a:t>
            </a:r>
          </a:p>
          <a:p>
            <a:pPr lvl="1"/>
            <a:r>
              <a:rPr lang="en-US" dirty="0"/>
              <a:t>Monte </a:t>
            </a:r>
            <a:r>
              <a:rPr lang="en-US" dirty="0" err="1"/>
              <a:t>carlo</a:t>
            </a:r>
            <a:r>
              <a:rPr lang="en-US" dirty="0"/>
              <a:t> simulation and hypothesis testing. </a:t>
            </a:r>
          </a:p>
          <a:p>
            <a:pPr lvl="1"/>
            <a:r>
              <a:rPr lang="en-US" dirty="0"/>
              <a:t>Odds and logit for gradient descent and logistic regression. </a:t>
            </a:r>
          </a:p>
          <a:p>
            <a:r>
              <a:rPr lang="en-US" dirty="0"/>
              <a:t>We can understand all* of the stats we’ve done from the perspective of probability. </a:t>
            </a:r>
          </a:p>
          <a:p>
            <a:pPr lvl="1"/>
            <a:r>
              <a:rPr lang="en-US" dirty="0"/>
              <a:t>We track what happens in data. </a:t>
            </a:r>
          </a:p>
          <a:p>
            <a:pPr lvl="1"/>
            <a:r>
              <a:rPr lang="en-US" dirty="0"/>
              <a:t>These happenings can be converted into probabilities. </a:t>
            </a:r>
          </a:p>
          <a:p>
            <a:pPr lvl="1"/>
            <a:r>
              <a:rPr lang="en-US" dirty="0"/>
              <a:t>Bayesian statistics explains the ideas we’ve covered, but looking at probability. </a:t>
            </a:r>
          </a:p>
          <a:p>
            <a:r>
              <a:rPr lang="en-US" dirty="0"/>
              <a:t>Log. Reg. Classification models predict the probability something will happen!</a:t>
            </a:r>
          </a:p>
        </p:txBody>
      </p:sp>
    </p:spTree>
    <p:extLst>
      <p:ext uri="{BB962C8B-B14F-4D97-AF65-F5344CB8AC3E}">
        <p14:creationId xmlns:p14="http://schemas.microsoft.com/office/powerpoint/2010/main" val="85153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A8CB-103E-B491-DBA9-1234FE730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Features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B6B3F-F17C-A75A-D035-14381BBCE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In this stuff we’ll use totally categorical data. </a:t>
            </a:r>
          </a:p>
          <a:p>
            <a:pPr lvl="1"/>
            <a:r>
              <a:rPr lang="en-US" dirty="0"/>
              <a:t>Classification of categorical target. </a:t>
            </a:r>
          </a:p>
          <a:p>
            <a:pPr lvl="1"/>
            <a:r>
              <a:rPr lang="en-US" dirty="0"/>
              <a:t>Features are all categorical. </a:t>
            </a:r>
          </a:p>
          <a:p>
            <a:r>
              <a:rPr lang="en-US" dirty="0"/>
              <a:t>We </a:t>
            </a:r>
            <a:r>
              <a:rPr lang="en-US" i="1" dirty="0"/>
              <a:t>can</a:t>
            </a:r>
            <a:r>
              <a:rPr lang="en-US" dirty="0"/>
              <a:t> use numeric features, but we won’t now. </a:t>
            </a:r>
          </a:p>
          <a:p>
            <a:pPr lvl="1"/>
            <a:r>
              <a:rPr lang="en-US" dirty="0"/>
              <a:t>Practically, this is very easy to do, follows most sklearn conventions. </a:t>
            </a:r>
          </a:p>
          <a:p>
            <a:pPr lvl="1"/>
            <a:r>
              <a:rPr lang="en-US" dirty="0"/>
              <a:t>Several model types just make more sense to explain with one or the other. </a:t>
            </a:r>
          </a:p>
          <a:p>
            <a:r>
              <a:rPr lang="en-US" dirty="0"/>
              <a:t>This is one where the model assumes normal distribution of features. </a:t>
            </a:r>
          </a:p>
          <a:p>
            <a:pPr lvl="1"/>
            <a:r>
              <a:rPr lang="en-US" dirty="0"/>
              <a:t>Probability calculations are similar to hypothesis test probabilities. </a:t>
            </a:r>
          </a:p>
          <a:p>
            <a:pPr lvl="1"/>
            <a:r>
              <a:rPr lang="en-US" dirty="0"/>
              <a:t>The closer the features are to normal, the better the results. </a:t>
            </a:r>
          </a:p>
        </p:txBody>
      </p:sp>
      <p:pic>
        <p:nvPicPr>
          <p:cNvPr id="1026" name="Picture 2" descr="Gaussian Naive Bayes - GeeksforGeeks">
            <a:extLst>
              <a:ext uri="{FF2B5EF4-FFF2-40B4-BE49-F238E27FC236}">
                <a16:creationId xmlns:a16="http://schemas.microsoft.com/office/drawing/2014/main" id="{33BDC3CA-1B3E-CF82-C90A-05DF2F13B9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r="4288"/>
          <a:stretch>
            <a:fillRect/>
          </a:stretch>
        </p:blipFill>
        <p:spPr bwMode="auto">
          <a:xfrm>
            <a:off x="6705331" y="0"/>
            <a:ext cx="5486669" cy="306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223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CD5E-C5F9-36E1-D902-FBC23F1EE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CACC-9724-6AB9-0C2C-94E7AFD07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Using probabilities for prediction relies on conditional probabilities. </a:t>
            </a:r>
          </a:p>
          <a:p>
            <a:pPr lvl="1"/>
            <a:r>
              <a:rPr lang="en-US" dirty="0"/>
              <a:t>Given this fact, what is the probability. </a:t>
            </a:r>
          </a:p>
          <a:p>
            <a:pPr lvl="1"/>
            <a:r>
              <a:rPr lang="en-US" dirty="0"/>
              <a:t>E.g. if you have high blood pressure, what is the likelihood of a stroke. </a:t>
            </a:r>
          </a:p>
          <a:p>
            <a:r>
              <a:rPr lang="en-US" dirty="0"/>
              <a:t>We can express conditional probabilities like this:</a:t>
            </a:r>
          </a:p>
          <a:p>
            <a:pPr lvl="1"/>
            <a:r>
              <a:rPr lang="en-US" dirty="0"/>
              <a:t>P(A | B) – probability of A, given that B is true. </a:t>
            </a:r>
          </a:p>
          <a:p>
            <a:r>
              <a:rPr lang="en-US" dirty="0"/>
              <a:t>In datasets, this conditional probability could be calculated for any combo. E.g.</a:t>
            </a:r>
          </a:p>
          <a:p>
            <a:pPr lvl="1"/>
            <a:r>
              <a:rPr lang="en-US" dirty="0"/>
              <a:t>P( stroke | high blood pressure)</a:t>
            </a:r>
          </a:p>
          <a:p>
            <a:pPr lvl="1"/>
            <a:r>
              <a:rPr lang="en-US" dirty="0"/>
              <a:t>P( stroke | high BMI)</a:t>
            </a:r>
          </a:p>
          <a:p>
            <a:pPr lvl="1"/>
            <a:r>
              <a:rPr lang="en-US" dirty="0"/>
              <a:t>P( stroke | high BMI and high blood pressure)</a:t>
            </a:r>
          </a:p>
        </p:txBody>
      </p:sp>
    </p:spTree>
    <p:extLst>
      <p:ext uri="{BB962C8B-B14F-4D97-AF65-F5344CB8AC3E}">
        <p14:creationId xmlns:p14="http://schemas.microsoft.com/office/powerpoint/2010/main" val="2149056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E2F3D-7F2C-87A8-F7BD-87C162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F6650-86B9-30B6-1DA6-E9CD532D9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65968"/>
          </a:xfrm>
        </p:spPr>
        <p:txBody>
          <a:bodyPr/>
          <a:lstStyle/>
          <a:p>
            <a:r>
              <a:rPr lang="en-US" dirty="0"/>
              <a:t>We can think of the probability as conditional, and progress through ‘learning’ things. </a:t>
            </a:r>
          </a:p>
          <a:p>
            <a:pPr lvl="1"/>
            <a:r>
              <a:rPr lang="en-US" dirty="0"/>
              <a:t>Pretend you learn each feature one-by-one and change the estimate each time. </a:t>
            </a:r>
          </a:p>
          <a:p>
            <a:r>
              <a:rPr lang="en-US" dirty="0"/>
              <a:t>We start with a baseline – what is the probability?</a:t>
            </a:r>
          </a:p>
          <a:p>
            <a:pPr lvl="1"/>
            <a:r>
              <a:rPr lang="en-US" dirty="0"/>
              <a:t>As we ‘learn’ each feature, the probability becomes conditional on that. P( Y | X1)…</a:t>
            </a:r>
          </a:p>
          <a:p>
            <a:r>
              <a:rPr lang="en-US" dirty="0"/>
              <a:t>These ‘updates’ make our prediction more accurate as we learn each one. </a:t>
            </a:r>
          </a:p>
          <a:p>
            <a:pPr lvl="1"/>
            <a:r>
              <a:rPr lang="en-US" dirty="0"/>
              <a:t>Each adds another X to the prediction. </a:t>
            </a:r>
          </a:p>
          <a:p>
            <a:pPr lvl="1"/>
            <a:r>
              <a:rPr lang="en-US" dirty="0"/>
              <a:t>If that X is useful, we’ve ‘learned more’. </a:t>
            </a:r>
          </a:p>
          <a:p>
            <a:r>
              <a:rPr lang="en-US" dirty="0"/>
              <a:t>We can label them prior and posterior.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A839F1-5F1A-8CEC-AE82-9B2ACAE6E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748" y="4022222"/>
            <a:ext cx="4747902" cy="2099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238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D4623-BBBE-B4CE-396F-4AB6571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the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A685-BA9E-DC45-F79C-E5FF84554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 to code for an example of some updating…</a:t>
            </a:r>
          </a:p>
        </p:txBody>
      </p:sp>
    </p:spTree>
    <p:extLst>
      <p:ext uri="{BB962C8B-B14F-4D97-AF65-F5344CB8AC3E}">
        <p14:creationId xmlns:p14="http://schemas.microsoft.com/office/powerpoint/2010/main" val="569268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43F18-8AA3-FE4E-8B12-38C59A9EB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41D47-3353-8C41-9E35-AD14C68C2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1664973"/>
          </a:xfrm>
        </p:spPr>
        <p:txBody>
          <a:bodyPr/>
          <a:lstStyle/>
          <a:p>
            <a:r>
              <a:rPr lang="en-US" dirty="0"/>
              <a:t>Recall Bayes’ Theorem on conditional probability. </a:t>
            </a:r>
          </a:p>
          <a:p>
            <a:r>
              <a:rPr lang="en-US" dirty="0"/>
              <a:t>Bayes’ allows us to update the probability of something happening as we gain information.</a:t>
            </a:r>
          </a:p>
          <a:p>
            <a:pPr lvl="1"/>
            <a:r>
              <a:rPr lang="en-US" dirty="0"/>
              <a:t>Think – Bayes’ tables from stats. </a:t>
            </a:r>
          </a:p>
          <a:p>
            <a:endParaRPr lang="en-US" dirty="0"/>
          </a:p>
        </p:txBody>
      </p:sp>
      <p:pic>
        <p:nvPicPr>
          <p:cNvPr id="1028" name="Picture 4" descr="Bayes&amp;amp;#39; theorem - GaussianWaves">
            <a:extLst>
              <a:ext uri="{FF2B5EF4-FFF2-40B4-BE49-F238E27FC236}">
                <a16:creationId xmlns:a16="http://schemas.microsoft.com/office/drawing/2014/main" id="{D8CD2F94-4A06-EF48-836B-2053502732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8"/>
          <a:stretch/>
        </p:blipFill>
        <p:spPr bwMode="auto">
          <a:xfrm>
            <a:off x="0" y="3680705"/>
            <a:ext cx="12192000" cy="316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440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2419-AB90-9D4F-B801-D554E63F1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CB6A0-9F6B-D945-A3D0-A8766505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423" y="2015734"/>
            <a:ext cx="4497858" cy="4137931"/>
          </a:xfrm>
        </p:spPr>
        <p:txBody>
          <a:bodyPr>
            <a:normAutofit/>
          </a:bodyPr>
          <a:lstStyle/>
          <a:p>
            <a:r>
              <a:rPr lang="en-US" dirty="0"/>
              <a:t>Naïve bayes is an algorithm that is built on the Bayes’ Theorem calculation. </a:t>
            </a:r>
          </a:p>
          <a:p>
            <a:pPr lvl="1"/>
            <a:r>
              <a:rPr lang="en-US" dirty="0"/>
              <a:t>Naïve – each feature is treated as independent. </a:t>
            </a:r>
          </a:p>
          <a:p>
            <a:pPr lvl="1"/>
            <a:r>
              <a:rPr lang="en-US" dirty="0"/>
              <a:t>Bayes – uses Bayes’ Theorem. </a:t>
            </a:r>
          </a:p>
          <a:p>
            <a:r>
              <a:rPr lang="en-US" dirty="0"/>
              <a:t>Classifier is a “Big Bayes’ Theorem” where each feature is another term. </a:t>
            </a:r>
          </a:p>
        </p:txBody>
      </p:sp>
      <p:pic>
        <p:nvPicPr>
          <p:cNvPr id="2050" name="Picture 2" descr="How Naive Bayes Algorithm Works? (with example and full code) | ML+">
            <a:extLst>
              <a:ext uri="{FF2B5EF4-FFF2-40B4-BE49-F238E27FC236}">
                <a16:creationId xmlns:a16="http://schemas.microsoft.com/office/drawing/2014/main" id="{515FCD61-37E5-824F-85B7-4115F865E5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0" r="3502"/>
          <a:stretch/>
        </p:blipFill>
        <p:spPr bwMode="auto">
          <a:xfrm>
            <a:off x="4720280" y="1853753"/>
            <a:ext cx="7449883" cy="4299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186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55E2-BEE8-5246-8131-825FD594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by Hand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1FDB3-F93C-CD41-8D40-C935B319E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1175143"/>
          </a:xfrm>
        </p:spPr>
        <p:txBody>
          <a:bodyPr/>
          <a:lstStyle/>
          <a:p>
            <a:r>
              <a:rPr lang="en-US" dirty="0"/>
              <a:t>A fruit is </a:t>
            </a:r>
            <a:r>
              <a:rPr lang="en-CA" dirty="0"/>
              <a:t>Long, Sweet, and Yellow – what fruit is it? </a:t>
            </a:r>
          </a:p>
          <a:p>
            <a:r>
              <a:rPr lang="en-CA" dirty="0"/>
              <a:t>Below is our training data. 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5D086A0-478F-2D47-BF8F-080C85AE6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90875"/>
            <a:ext cx="12192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095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67BD-9241-3741-9B79-DBE953F63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2901D-1C72-1F4D-BB37-771A36FDC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20616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Calculate prior probabilities: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(Banana) = .5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(Orange) = .3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(Other) = .2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Compute denominator: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(Long) = .5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(Sweet) = .65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(Yellow) = .8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P(L)*P(S)*P(Y) = .26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This is needed for the full calculation, but doesn’t matter in the prediction. </a:t>
            </a:r>
          </a:p>
        </p:txBody>
      </p:sp>
      <p:pic>
        <p:nvPicPr>
          <p:cNvPr id="4" name="Picture 2" descr="How Naive Bayes Algorithm Works? (with example and full code) | ML+">
            <a:extLst>
              <a:ext uri="{FF2B5EF4-FFF2-40B4-BE49-F238E27FC236}">
                <a16:creationId xmlns:a16="http://schemas.microsoft.com/office/drawing/2014/main" id="{71FA7E87-71C0-1748-9EF6-F0FFD89E65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0" r="3502"/>
          <a:stretch/>
        </p:blipFill>
        <p:spPr bwMode="auto">
          <a:xfrm>
            <a:off x="6227805" y="1853754"/>
            <a:ext cx="5942358" cy="342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135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59FF4-3EEC-2B4F-A123-7BF3A9500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Process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753A-4060-3645-BF81-FD8F1F648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2665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/>
              <a:t>Calculate numerator: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(Long | Banana) = .8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(Sweet | Banana) = .7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(Yellow | Banana) = .9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 (Banana) = .5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Product = .252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/>
              <a:t>Classify – Calculate probability for all potential classes. 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dirty="0"/>
              <a:t>P (Banana | Long, Sweet, Yellow) = .252/.26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dirty="0"/>
              <a:t>P (Orange | Long, Sweet, Yellow) = 0 (There are no long oranges)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dirty="0"/>
              <a:t>P (Other | Long, Sweet, Yellow) = .01875/.26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D596723-D0D5-384C-BC44-94665CDAE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156" y="1414544"/>
            <a:ext cx="7065844" cy="301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43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D0871-89D4-FA48-824A-16A783B4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A7A55-4D9A-E648-8729-A18D0E238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26651"/>
          </a:xfrm>
        </p:spPr>
        <p:txBody>
          <a:bodyPr/>
          <a:lstStyle/>
          <a:p>
            <a:r>
              <a:rPr lang="en-US" dirty="0"/>
              <a:t>Those final probabilities could be normalized to get the probability on a percentage scale.</a:t>
            </a:r>
          </a:p>
          <a:p>
            <a:pPr lvl="1"/>
            <a:r>
              <a:rPr lang="en-US" dirty="0"/>
              <a:t>As we did with the Bayesian tables in stats. </a:t>
            </a:r>
          </a:p>
          <a:p>
            <a:r>
              <a:rPr lang="en-US" dirty="0"/>
              <a:t>As a classifier, Bayes is:</a:t>
            </a:r>
          </a:p>
          <a:p>
            <a:pPr lvl="1"/>
            <a:r>
              <a:rPr lang="en-US" dirty="0"/>
              <a:t>Interpretable – we can illustrate how predictions are made. </a:t>
            </a:r>
          </a:p>
          <a:p>
            <a:pPr lvl="1"/>
            <a:r>
              <a:rPr lang="en-US" dirty="0"/>
              <a:t>Simple – the math is just what we did by hand. </a:t>
            </a:r>
          </a:p>
          <a:p>
            <a:pPr lvl="1"/>
            <a:r>
              <a:rPr lang="en-US" dirty="0"/>
              <a:t>Fast – due to the simplicity, training and predicting are usually fast.  </a:t>
            </a:r>
          </a:p>
          <a:p>
            <a:r>
              <a:rPr lang="en-US" dirty="0"/>
              <a:t>However, Bayes is also:</a:t>
            </a:r>
          </a:p>
          <a:p>
            <a:pPr lvl="1"/>
            <a:r>
              <a:rPr lang="en-US" dirty="0"/>
              <a:t>Limited – the independence assumption is often untrue. Making its applications limited. </a:t>
            </a:r>
          </a:p>
          <a:p>
            <a:pPr lvl="1"/>
            <a:r>
              <a:rPr lang="en-US" dirty="0"/>
              <a:t>Probability estimates aren’t reliable, even if classifier is accurate. </a:t>
            </a:r>
          </a:p>
        </p:txBody>
      </p:sp>
    </p:spTree>
    <p:extLst>
      <p:ext uri="{BB962C8B-B14F-4D97-AF65-F5344CB8AC3E}">
        <p14:creationId xmlns:p14="http://schemas.microsoft.com/office/powerpoint/2010/main" val="377180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2F8B-CC41-B844-BE6A-DD4E51E39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Smoothing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33FC4-E87A-814B-AFD5-9180DC614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623" y="2015734"/>
            <a:ext cx="4934512" cy="413793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One issue Bayes can have is if there is an example to predict that was not in the training data.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E.g. what if a fruit is green?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This introduces a divide by 0, which is impossible.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Laplace smoothing is the solution: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Add 1 (or another value) to the observations.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Built into any implementation, usually as a parameter. </a:t>
            </a:r>
          </a:p>
        </p:txBody>
      </p:sp>
      <p:pic>
        <p:nvPicPr>
          <p:cNvPr id="6146" name="Picture 2" descr="Nave Bayes Text Classification Applying Multinomial Naive Bayes">
            <a:extLst>
              <a:ext uri="{FF2B5EF4-FFF2-40B4-BE49-F238E27FC236}">
                <a16:creationId xmlns:a16="http://schemas.microsoft.com/office/drawing/2014/main" id="{2FED2A53-FB89-984E-83A5-DE39888F2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4224" y="2015734"/>
            <a:ext cx="4600817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417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029B3-CC94-2543-9E94-CD26B3EE1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Flexible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FEA7E-CA17-B54B-8045-D82F45542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15" y="2015734"/>
            <a:ext cx="5132220" cy="403774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By default, Bayes only works with categorical features.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When dealing with numerical features we need to adapt the algorithm.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Gaussian Bayes does so by replacing the probability calculation with a probability calculation based on a gaussian distribution.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These probabilities replace the probabilities in Bayes and everything else works in the same way. </a:t>
            </a:r>
          </a:p>
        </p:txBody>
      </p:sp>
      <p:pic>
        <p:nvPicPr>
          <p:cNvPr id="7170" name="Picture 2" descr="Gaussian Naive Bayes">
            <a:extLst>
              <a:ext uri="{FF2B5EF4-FFF2-40B4-BE49-F238E27FC236}">
                <a16:creationId xmlns:a16="http://schemas.microsoft.com/office/drawing/2014/main" id="{3248527C-2ADF-5345-AFAB-60A7F06FE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09811" y="1853754"/>
            <a:ext cx="6182190" cy="462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490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13C7-2AD5-8445-A578-9756556E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82E42-0273-FB4E-B3D8-2E3564257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 is one of the more simple classifiers that we can create. </a:t>
            </a:r>
          </a:p>
          <a:p>
            <a:r>
              <a:rPr lang="en-US" dirty="0"/>
              <a:t>Bayes regression exists, but is not super common. </a:t>
            </a:r>
          </a:p>
          <a:p>
            <a:endParaRPr lang="en-US" dirty="0"/>
          </a:p>
          <a:p>
            <a:r>
              <a:rPr lang="en-US" dirty="0"/>
              <a:t>Bayes is often used in things like spam detection, the speed helps here. </a:t>
            </a:r>
          </a:p>
          <a:p>
            <a:r>
              <a:rPr lang="en-US" dirty="0"/>
              <a:t>When Bayes works well for a dataset, it can be very good, but if it doesn’t there is limited ability to tune it to </a:t>
            </a:r>
            <a:r>
              <a:rPr lang="en-US"/>
              <a:t>be better.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44718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1288</TotalTime>
  <Words>1455</Words>
  <Application>Microsoft Macintosh PowerPoint</Application>
  <PresentationFormat>Widescreen</PresentationFormat>
  <Paragraphs>146</Paragraphs>
  <Slides>21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Gill Sans MT</vt:lpstr>
      <vt:lpstr>Gallery</vt:lpstr>
      <vt:lpstr>Housekeeping</vt:lpstr>
      <vt:lpstr>Why Are densities so Weird? </vt:lpstr>
      <vt:lpstr>What’s the Density… Really…?</vt:lpstr>
      <vt:lpstr>Discreetness</vt:lpstr>
      <vt:lpstr>Review - Gradient Descent and Logistic Regression</vt:lpstr>
      <vt:lpstr>At bottom of Logistic Regression Code</vt:lpstr>
      <vt:lpstr>Naïve Bayes</vt:lpstr>
      <vt:lpstr>Probability – Remember it!</vt:lpstr>
      <vt:lpstr>Note on Features </vt:lpstr>
      <vt:lpstr>Conditional Probability</vt:lpstr>
      <vt:lpstr>Updates</vt:lpstr>
      <vt:lpstr>Check the Code</vt:lpstr>
      <vt:lpstr>Back to Bayes</vt:lpstr>
      <vt:lpstr>Naïve Bayes</vt:lpstr>
      <vt:lpstr>Example by Hand</vt:lpstr>
      <vt:lpstr>Naïve Bayes Process</vt:lpstr>
      <vt:lpstr>Naïve Bayes Process 2</vt:lpstr>
      <vt:lpstr>Naïve Bayes</vt:lpstr>
      <vt:lpstr>Smoothing</vt:lpstr>
      <vt:lpstr>Flexible Bayes</vt:lpstr>
      <vt:lpstr>Naïve Bayes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Akeem Semper</dc:creator>
  <cp:lastModifiedBy>Akeem Semper</cp:lastModifiedBy>
  <cp:revision>13</cp:revision>
  <dcterms:created xsi:type="dcterms:W3CDTF">2022-03-06T22:45:50Z</dcterms:created>
  <dcterms:modified xsi:type="dcterms:W3CDTF">2025-12-01T18:33:26Z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2025-12-01T16:39:17Z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11388bab-c556-4053-9c3b-cc30ad2bd3cf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