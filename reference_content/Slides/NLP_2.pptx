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0" r:id="rId2"/>
    <p:sldId id="298" r:id="rId3"/>
    <p:sldId id="303" r:id="rId4"/>
    <p:sldId id="256" r:id="rId5"/>
    <p:sldId id="271" r:id="rId6"/>
    <p:sldId id="294" r:id="rId7"/>
    <p:sldId id="272" r:id="rId8"/>
    <p:sldId id="299" r:id="rId9"/>
    <p:sldId id="302" r:id="rId10"/>
    <p:sldId id="275" r:id="rId11"/>
    <p:sldId id="260" r:id="rId12"/>
    <p:sldId id="261" r:id="rId13"/>
    <p:sldId id="288" r:id="rId14"/>
    <p:sldId id="262" r:id="rId15"/>
    <p:sldId id="280" r:id="rId16"/>
    <p:sldId id="283" r:id="rId17"/>
    <p:sldId id="265" r:id="rId18"/>
    <p:sldId id="301" r:id="rId19"/>
    <p:sldId id="300" r:id="rId20"/>
    <p:sldId id="286" r:id="rId21"/>
    <p:sldId id="281" r:id="rId22"/>
    <p:sldId id="276" r:id="rId23"/>
    <p:sldId id="273" r:id="rId24"/>
    <p:sldId id="274" r:id="rId25"/>
    <p:sldId id="278" r:id="rId26"/>
    <p:sldId id="267" r:id="rId27"/>
    <p:sldId id="282" r:id="rId28"/>
    <p:sldId id="292" r:id="rId29"/>
    <p:sldId id="279" r:id="rId30"/>
    <p:sldId id="296" r:id="rId31"/>
    <p:sldId id="266" r:id="rId32"/>
    <p:sldId id="277" r:id="rId33"/>
    <p:sldId id="269" r:id="rId34"/>
    <p:sldId id="305" r:id="rId35"/>
    <p:sldId id="290" r:id="rId36"/>
    <p:sldId id="293" r:id="rId37"/>
    <p:sldId id="289" r:id="rId38"/>
    <p:sldId id="295" r:id="rId39"/>
    <p:sldId id="268" r:id="rId40"/>
    <p:sldId id="297" r:id="rId41"/>
    <p:sldId id="287" r:id="rId42"/>
    <p:sldId id="304" r:id="rId43"/>
    <p:sldId id="263" r:id="rId44"/>
    <p:sldId id="264" r:id="rId45"/>
    <p:sldId id="285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409A5A-F3A0-C644-9D14-F90332C2F294}">
          <p14:sldIdLst>
            <p14:sldId id="270"/>
            <p14:sldId id="298"/>
            <p14:sldId id="303"/>
            <p14:sldId id="256"/>
          </p14:sldIdLst>
        </p14:section>
        <p14:section name="Review" id="{6A4A1638-6C5B-FD46-9241-003F8688D84E}">
          <p14:sldIdLst>
            <p14:sldId id="271"/>
            <p14:sldId id="294"/>
            <p14:sldId id="272"/>
            <p14:sldId id="299"/>
            <p14:sldId id="302"/>
          </p14:sldIdLst>
        </p14:section>
        <p14:section name="LSA" id="{A471851E-0BD6-3E4B-9D3C-A0A2FD91235B}">
          <p14:sldIdLst>
            <p14:sldId id="275"/>
            <p14:sldId id="260"/>
            <p14:sldId id="261"/>
            <p14:sldId id="288"/>
            <p14:sldId id="262"/>
            <p14:sldId id="280"/>
            <p14:sldId id="283"/>
            <p14:sldId id="265"/>
          </p14:sldIdLst>
        </p14:section>
        <p14:section name="Prep" id="{738262B2-0E0A-2A46-BFB5-00FCC8E5FBCF}">
          <p14:sldIdLst>
            <p14:sldId id="301"/>
            <p14:sldId id="300"/>
            <p14:sldId id="286"/>
            <p14:sldId id="281"/>
          </p14:sldIdLst>
        </p14:section>
        <p14:section name="Embedding" id="{950CBF42-36C8-6D44-8B2B-C42ACAF8271A}">
          <p14:sldIdLst>
            <p14:sldId id="276"/>
            <p14:sldId id="273"/>
            <p14:sldId id="274"/>
            <p14:sldId id="278"/>
            <p14:sldId id="267"/>
            <p14:sldId id="282"/>
            <p14:sldId id="292"/>
            <p14:sldId id="279"/>
            <p14:sldId id="296"/>
          </p14:sldIdLst>
        </p14:section>
        <p14:section name="Word2Vec" id="{EE197081-6C27-8340-BFCF-CCBA08B9CBBA}">
          <p14:sldIdLst>
            <p14:sldId id="266"/>
            <p14:sldId id="277"/>
            <p14:sldId id="269"/>
            <p14:sldId id="305"/>
            <p14:sldId id="290"/>
            <p14:sldId id="293"/>
            <p14:sldId id="289"/>
            <p14:sldId id="295"/>
          </p14:sldIdLst>
        </p14:section>
        <p14:section name="Temporal" id="{5FFED15F-945B-1443-9631-2A24E5CB4B90}">
          <p14:sldIdLst>
            <p14:sldId id="268"/>
            <p14:sldId id="297"/>
          </p14:sldIdLst>
        </p14:section>
        <p14:section name="Using Embeddings" id="{42FE9BC5-248B-FD4F-88BD-8AD4E6195CA6}">
          <p14:sldIdLst>
            <p14:sldId id="287"/>
            <p14:sldId id="304"/>
          </p14:sldIdLst>
        </p14:section>
        <p14:section name="Conclusion" id="{4510A3BA-4C7F-4341-9B90-1ADE82AF0D54}">
          <p14:sldIdLst>
            <p14:sldId id="263"/>
            <p14:sldId id="26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44"/>
    <p:restoredTop sz="96327"/>
  </p:normalViewPr>
  <p:slideViewPr>
    <p:cSldViewPr snapToGrid="0" snapToObjects="1">
      <p:cViewPr varScale="1">
        <p:scale>
          <a:sx n="110" d="100"/>
          <a:sy n="110" d="100"/>
        </p:scale>
        <p:origin x="176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8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68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47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4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48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99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08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48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2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34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D3139-13C9-D140-A605-51870A8CAC8E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6BB2F96-A6C6-7C42-9FE8-9D073C7BD64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1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C079-9EB0-9647-9FE2-03AB3CEA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3ED8-5646-904C-AB5A-0348968AE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Text processing project. </a:t>
            </a:r>
          </a:p>
          <a:p>
            <a:pPr lvl="1"/>
            <a:r>
              <a:rPr lang="en-US" dirty="0"/>
              <a:t>You can tackle this after today. </a:t>
            </a:r>
          </a:p>
          <a:p>
            <a:pPr lvl="1"/>
            <a:r>
              <a:rPr lang="en-US" dirty="0"/>
              <a:t>Be attentive to the details – for this you need to produce a specific output. </a:t>
            </a:r>
          </a:p>
          <a:p>
            <a:pPr lvl="1"/>
            <a:r>
              <a:rPr lang="en-US" dirty="0"/>
              <a:t>Trial and experimentation are probably needed, and this is pretty well suited to splitting work.</a:t>
            </a:r>
          </a:p>
          <a:p>
            <a:r>
              <a:rPr lang="en-US" dirty="0"/>
              <a:t>Today – more text processing and NLP. </a:t>
            </a:r>
          </a:p>
          <a:p>
            <a:pPr lvl="1"/>
            <a:r>
              <a:rPr lang="en-US" dirty="0"/>
              <a:t>Dimension reduction and latent data with </a:t>
            </a:r>
            <a:r>
              <a:rPr lang="en-US" dirty="0" err="1"/>
              <a:t>tsvd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Embeddings. </a:t>
            </a:r>
          </a:p>
          <a:p>
            <a:r>
              <a:rPr lang="en-US" dirty="0"/>
              <a:t>Did you all do Bayes models in stats? Ideally making the model from scratch. </a:t>
            </a:r>
          </a:p>
        </p:txBody>
      </p:sp>
    </p:spTree>
    <p:extLst>
      <p:ext uri="{BB962C8B-B14F-4D97-AF65-F5344CB8AC3E}">
        <p14:creationId xmlns:p14="http://schemas.microsoft.com/office/powerpoint/2010/main" val="170538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4FF6-C726-27F7-717F-A3C3B31D9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Stems/</a:t>
            </a:r>
            <a:r>
              <a:rPr lang="en-US" dirty="0" err="1"/>
              <a:t>Lemms</a:t>
            </a:r>
            <a:r>
              <a:rPr lang="en-US" dirty="0"/>
              <a:t> and Other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7B15-777E-9B5C-01C2-1079120C8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782" y="1853754"/>
            <a:ext cx="6361217" cy="4199727"/>
          </a:xfrm>
        </p:spPr>
        <p:txBody>
          <a:bodyPr/>
          <a:lstStyle/>
          <a:p>
            <a:r>
              <a:rPr lang="en-US" dirty="0"/>
              <a:t>Someone asked last time if the stemming/lemmatization would handle infixes in other languages. </a:t>
            </a:r>
          </a:p>
          <a:p>
            <a:r>
              <a:rPr lang="en-US" dirty="0"/>
              <a:t>I looked into it, my tentative yes is correct. </a:t>
            </a:r>
          </a:p>
          <a:p>
            <a:r>
              <a:rPr lang="en-US" dirty="0"/>
              <a:t>When doing the cleaning, we rely on premade rules:</a:t>
            </a:r>
          </a:p>
          <a:p>
            <a:pPr lvl="1"/>
            <a:r>
              <a:rPr lang="en-US" dirty="0"/>
              <a:t>The term is checked in a ~dictionary. </a:t>
            </a:r>
          </a:p>
          <a:p>
            <a:pPr lvl="1"/>
            <a:r>
              <a:rPr lang="en-US" dirty="0"/>
              <a:t>If there’s a preferred root, swap it out for that root. </a:t>
            </a:r>
          </a:p>
          <a:p>
            <a:r>
              <a:rPr lang="en-US" dirty="0"/>
              <a:t>This would rely on someone defining that correctly. </a:t>
            </a:r>
          </a:p>
          <a:p>
            <a:r>
              <a:rPr lang="en-US" dirty="0"/>
              <a:t>Non-English languages are generally worse in AI, for reasons like this – people build with English in mind.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11C41-14B5-85D9-09B2-15B17CBB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81" y="2460025"/>
            <a:ext cx="5687703" cy="254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8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64B5-E56B-8381-82F7-E869AE0C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LLM Note (Just FYI)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2AE4D-6F1D-6793-3545-BD6DF43D6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50678"/>
          </a:xfrm>
        </p:spPr>
        <p:txBody>
          <a:bodyPr/>
          <a:lstStyle/>
          <a:p>
            <a:r>
              <a:rPr lang="en-US" dirty="0"/>
              <a:t>If you’re thinking of (or cheating with) some LLMs, they’re a bit different. </a:t>
            </a:r>
          </a:p>
          <a:p>
            <a:r>
              <a:rPr lang="en-US" dirty="0"/>
              <a:t>The main difference is the setup of the data/targets:</a:t>
            </a:r>
          </a:p>
          <a:p>
            <a:pPr lvl="1"/>
            <a:r>
              <a:rPr lang="en-US" dirty="0"/>
              <a:t>The target is the next token (word). </a:t>
            </a:r>
          </a:p>
          <a:p>
            <a:pPr lvl="1"/>
            <a:r>
              <a:rPr lang="en-US" dirty="0"/>
              <a:t>The features is the text before that. </a:t>
            </a:r>
          </a:p>
          <a:p>
            <a:pPr lvl="1"/>
            <a:r>
              <a:rPr lang="en-US" dirty="0"/>
              <a:t>It just keeps predicting “the next word”. </a:t>
            </a:r>
          </a:p>
          <a:p>
            <a:r>
              <a:rPr lang="en-US" dirty="0"/>
              <a:t>For us, things are “normal” – target is some external thing, features are text. </a:t>
            </a:r>
          </a:p>
          <a:p>
            <a:r>
              <a:rPr lang="en-US" dirty="0"/>
              <a:t>Details vary, but that’s the basic concept. </a:t>
            </a:r>
          </a:p>
        </p:txBody>
      </p:sp>
    </p:spTree>
    <p:extLst>
      <p:ext uri="{BB962C8B-B14F-4D97-AF65-F5344CB8AC3E}">
        <p14:creationId xmlns:p14="http://schemas.microsoft.com/office/powerpoint/2010/main" val="405019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979B-3BE2-8A46-8F66-12A03A428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NLP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EF9AF-2934-5C49-BEA4-8229E37E25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8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CA53-E686-75D2-3F6C-4D918414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30764-4B1F-4F0B-4EF5-06F5C7594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 can use text as a feature set to do predictive modelling (sentiment/spam/</a:t>
            </a:r>
            <a:r>
              <a:rPr lang="en-US" dirty="0" err="1"/>
              <a:t>etc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X is our feature set – the text after its processing. </a:t>
            </a:r>
          </a:p>
          <a:p>
            <a:pPr lvl="1"/>
            <a:r>
              <a:rPr lang="en-US" dirty="0"/>
              <a:t>Y is our target – something external. E.g. positive/negative review, spam/not spam. </a:t>
            </a:r>
          </a:p>
          <a:p>
            <a:pPr lvl="1"/>
            <a:r>
              <a:rPr lang="en-US" dirty="0"/>
              <a:t>We end up with a ‘normal’ array of data, that we can then TTS, predict,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NLP uses some specific terms:</a:t>
            </a:r>
          </a:p>
          <a:p>
            <a:pPr lvl="1"/>
            <a:r>
              <a:rPr lang="en-US" dirty="0"/>
              <a:t>Corpus – all the text that we are using. </a:t>
            </a:r>
          </a:p>
          <a:p>
            <a:pPr lvl="1"/>
            <a:r>
              <a:rPr lang="en-US" dirty="0"/>
              <a:t>Document – one ‘piece’ of text. Normally a sentence or line. </a:t>
            </a:r>
          </a:p>
          <a:p>
            <a:pPr lvl="1"/>
            <a:r>
              <a:rPr lang="en-US" dirty="0"/>
              <a:t>Vocabulary – all the tokens (words/terms) that is in our corpus. </a:t>
            </a:r>
          </a:p>
          <a:p>
            <a:r>
              <a:rPr lang="en-US" dirty="0"/>
              <a:t>Creating the feature set from the text involves some preparation. </a:t>
            </a:r>
          </a:p>
          <a:p>
            <a:pPr lvl="1"/>
            <a:r>
              <a:rPr lang="en-US" dirty="0"/>
              <a:t>Text is first tokenized – transformed into individual ‘terms’ (words or n-grams). </a:t>
            </a:r>
          </a:p>
        </p:txBody>
      </p:sp>
    </p:spTree>
    <p:extLst>
      <p:ext uri="{BB962C8B-B14F-4D97-AF65-F5344CB8AC3E}">
        <p14:creationId xmlns:p14="http://schemas.microsoft.com/office/powerpoint/2010/main" val="1605237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EC9D-6620-0C3E-8B92-145C7E74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BDD67-82D5-7F80-70C0-EF8BFDD30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8070"/>
            <a:ext cx="9603275" cy="4105411"/>
          </a:xfrm>
        </p:spPr>
        <p:txBody>
          <a:bodyPr/>
          <a:lstStyle/>
          <a:p>
            <a:r>
              <a:rPr lang="en-US" dirty="0"/>
              <a:t>Last time we saw the basics of using free text as feature data. </a:t>
            </a:r>
          </a:p>
          <a:p>
            <a:r>
              <a:rPr lang="en-US" dirty="0"/>
              <a:t>Key step is vectorization – transforming the text into a numeric representation. </a:t>
            </a:r>
          </a:p>
          <a:p>
            <a:pPr lvl="1"/>
            <a:r>
              <a:rPr lang="en-US" dirty="0"/>
              <a:t>Saw two methods, count and </a:t>
            </a:r>
            <a:r>
              <a:rPr lang="en-US" dirty="0" err="1"/>
              <a:t>tf-idf</a:t>
            </a:r>
            <a:r>
              <a:rPr lang="en-US" dirty="0"/>
              <a:t> vectorization. </a:t>
            </a:r>
          </a:p>
          <a:p>
            <a:pPr lvl="1"/>
            <a:r>
              <a:rPr lang="en-US" dirty="0"/>
              <a:t>Once we have a “row of values” representing each document, we can use it like any data. </a:t>
            </a:r>
          </a:p>
          <a:p>
            <a:r>
              <a:rPr lang="en-US" dirty="0"/>
              <a:t>Process aims to extract as much information from the text and represent that in data. </a:t>
            </a:r>
          </a:p>
          <a:p>
            <a:pPr lvl="1"/>
            <a:r>
              <a:rPr lang="en-US" dirty="0"/>
              <a:t>Inherently lossy – we aren’t ever capturing </a:t>
            </a:r>
            <a:r>
              <a:rPr lang="en-US" i="1" dirty="0"/>
              <a:t>all</a:t>
            </a:r>
            <a:r>
              <a:rPr lang="en-US" dirty="0"/>
              <a:t> of the information from the text. </a:t>
            </a:r>
          </a:p>
          <a:p>
            <a:pPr lvl="1"/>
            <a:r>
              <a:rPr lang="en-US" dirty="0"/>
              <a:t>Pretty hard, there’s not really a simple language-&gt;number translation for us. </a:t>
            </a:r>
          </a:p>
          <a:p>
            <a:r>
              <a:rPr lang="en-US" dirty="0"/>
              <a:t>Kind of akin to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– there is information embedded in it, but not in the raw format.</a:t>
            </a:r>
          </a:p>
        </p:txBody>
      </p:sp>
    </p:spTree>
    <p:extLst>
      <p:ext uri="{BB962C8B-B14F-4D97-AF65-F5344CB8AC3E}">
        <p14:creationId xmlns:p14="http://schemas.microsoft.com/office/powerpoint/2010/main" val="840269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007C-70FB-789B-403A-EC838F0D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7A0B-3132-B113-8D27-0DEA73CDF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Turning the text into numbers – vectorization. </a:t>
            </a:r>
          </a:p>
          <a:p>
            <a:pPr lvl="1"/>
            <a:r>
              <a:rPr lang="en-US" dirty="0"/>
              <a:t>We translate the free text into a numerical representation of that text. </a:t>
            </a:r>
          </a:p>
          <a:p>
            <a:pPr lvl="1"/>
            <a:r>
              <a:rPr lang="en-US" dirty="0"/>
              <a:t>Simple vectorization is based on counts of words in that piece of text. </a:t>
            </a:r>
          </a:p>
          <a:p>
            <a:pPr lvl="1"/>
            <a:r>
              <a:rPr lang="en-US" dirty="0"/>
              <a:t>More elaborate vectorization calculates a value based on frequency (</a:t>
            </a:r>
            <a:r>
              <a:rPr lang="en-US" dirty="0" err="1"/>
              <a:t>tf-idf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Result is a set of numbers (a vector) that represents the document we started with. </a:t>
            </a:r>
          </a:p>
          <a:p>
            <a:r>
              <a:rPr lang="en-US" dirty="0"/>
              <a:t>Text-y data preparation tools are also involved:</a:t>
            </a:r>
          </a:p>
          <a:p>
            <a:pPr lvl="1"/>
            <a:r>
              <a:rPr lang="en-US" dirty="0"/>
              <a:t>Removing stop words – get rid of ‘a’, ’the’, ‘it’, </a:t>
            </a:r>
            <a:r>
              <a:rPr lang="en-US" dirty="0" err="1"/>
              <a:t>etc</a:t>
            </a:r>
            <a:r>
              <a:rPr lang="en-US" dirty="0"/>
              <a:t>… as they don’t really change meaning. </a:t>
            </a:r>
          </a:p>
          <a:p>
            <a:pPr lvl="1"/>
            <a:r>
              <a:rPr lang="en-US" dirty="0"/>
              <a:t>Stemming – chopping words down to their root. E.g. Skiing -&gt; ski. </a:t>
            </a:r>
          </a:p>
          <a:p>
            <a:pPr lvl="1"/>
            <a:r>
              <a:rPr lang="en-US" dirty="0"/>
              <a:t>Lemmatization – reducing words down to their root meaning. Chuckling -&gt; laugh. </a:t>
            </a:r>
          </a:p>
          <a:p>
            <a:r>
              <a:rPr lang="en-US" dirty="0"/>
              <a:t>The goal is to have a vector that “means” the same as the original text.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922E-1893-FF36-2B23-4798EB50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the Dik Pyramid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5969-99DF-1D59-BB7E-78E578020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Defining Knowledge, Information, Data">
            <a:extLst>
              <a:ext uri="{FF2B5EF4-FFF2-40B4-BE49-F238E27FC236}">
                <a16:creationId xmlns:a16="http://schemas.microsoft.com/office/drawing/2014/main" id="{A7141B0C-9154-CF1D-7A83-13E5E6F1D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861" y="1853754"/>
            <a:ext cx="9394993" cy="447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43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B035-E9EB-E29D-87F7-1022ACD6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D8BF4-6492-4253-EC6F-7D59F3C27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representation of information from language matters. </a:t>
            </a:r>
          </a:p>
          <a:p>
            <a:r>
              <a:rPr lang="en-US" dirty="0"/>
              <a:t>Our two methods so far are both count-</a:t>
            </a:r>
            <a:r>
              <a:rPr lang="en-US" dirty="0" err="1"/>
              <a:t>ish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“He killed it” vs “it killed him”. </a:t>
            </a:r>
          </a:p>
          <a:p>
            <a:r>
              <a:rPr lang="en-US" dirty="0"/>
              <a:t>Word count probably doesn’t capture the full meaning of language. </a:t>
            </a:r>
          </a:p>
          <a:p>
            <a:pPr lvl="1"/>
            <a:r>
              <a:rPr lang="en-US" dirty="0"/>
              <a:t>That’s hard. </a:t>
            </a:r>
          </a:p>
          <a:p>
            <a:pPr lvl="1"/>
            <a:r>
              <a:rPr lang="en-US" dirty="0"/>
              <a:t>What we want/need will vary depending on scenario. </a:t>
            </a:r>
          </a:p>
          <a:p>
            <a:pPr lvl="1"/>
            <a:r>
              <a:rPr lang="en-US" dirty="0"/>
              <a:t>There’s no simple way, there’s not even a “flatten” equivalent. </a:t>
            </a:r>
          </a:p>
          <a:p>
            <a:r>
              <a:rPr lang="en-US" dirty="0"/>
              <a:t>Other methods aim to capture more meaning in a numerical value. </a:t>
            </a:r>
          </a:p>
          <a:p>
            <a:r>
              <a:rPr lang="en-US" dirty="0"/>
              <a:t>How can we capture more “meaning” in the features we can use?</a:t>
            </a:r>
          </a:p>
        </p:txBody>
      </p:sp>
    </p:spTree>
    <p:extLst>
      <p:ext uri="{BB962C8B-B14F-4D97-AF65-F5344CB8AC3E}">
        <p14:creationId xmlns:p14="http://schemas.microsoft.com/office/powerpoint/2010/main" val="1713708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C565-B3FD-8EB5-6FCC-0911E40F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53D1-FF7C-BC24-DBA1-5FEE58906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83179"/>
            <a:ext cx="9603275" cy="4070301"/>
          </a:xfrm>
        </p:spPr>
        <p:txBody>
          <a:bodyPr/>
          <a:lstStyle/>
          <a:p>
            <a:r>
              <a:rPr lang="en-US" dirty="0"/>
              <a:t>Our vectorization processes have a weak spot – vocabulary size. </a:t>
            </a:r>
          </a:p>
          <a:p>
            <a:pPr lvl="1"/>
            <a:r>
              <a:rPr lang="en-US" dirty="0"/>
              <a:t>Each token becomes one column in the feature set. </a:t>
            </a:r>
          </a:p>
          <a:p>
            <a:pPr lvl="1"/>
            <a:r>
              <a:rPr lang="en-US" dirty="0"/>
              <a:t>Can limit with stem/</a:t>
            </a:r>
            <a:r>
              <a:rPr lang="en-US" dirty="0" err="1"/>
              <a:t>lem</a:t>
            </a:r>
            <a:r>
              <a:rPr lang="en-US" dirty="0"/>
              <a:t>./stop words/hard limits, but that loses information. </a:t>
            </a:r>
          </a:p>
          <a:p>
            <a:r>
              <a:rPr lang="en-US" dirty="0"/>
              <a:t>Smart models can use this size, but we need large volumes of data. </a:t>
            </a:r>
          </a:p>
          <a:p>
            <a:r>
              <a:rPr lang="en-US" dirty="0"/>
              <a:t>Wide data pushes towards overfitting. </a:t>
            </a:r>
          </a:p>
          <a:p>
            <a:pPr lvl="1"/>
            <a:r>
              <a:rPr lang="en-US" dirty="0"/>
              <a:t>With classification (spam, sentiment, </a:t>
            </a:r>
            <a:r>
              <a:rPr lang="en-US" dirty="0" err="1"/>
              <a:t>etc</a:t>
            </a:r>
            <a:r>
              <a:rPr lang="en-US" dirty="0"/>
              <a:t>…) we likely want to lean towards bias error. </a:t>
            </a:r>
          </a:p>
          <a:p>
            <a:pPr lvl="1"/>
            <a:r>
              <a:rPr lang="en-US" dirty="0"/>
              <a:t>I.e. we want a model to react on general trends, not adapt to specifics – language has specifics.</a:t>
            </a:r>
          </a:p>
        </p:txBody>
      </p:sp>
    </p:spTree>
    <p:extLst>
      <p:ext uri="{BB962C8B-B14F-4D97-AF65-F5344CB8AC3E}">
        <p14:creationId xmlns:p14="http://schemas.microsoft.com/office/powerpoint/2010/main" val="2778546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0373-2B50-4840-85BA-ECD03A2E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Too many Words! Dimension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29C07-EC26-2C4F-9DF1-2BA9C2BEA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174" y="1853754"/>
            <a:ext cx="7400467" cy="41997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Feature sets for text can get massive! Probably excessively so: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# of features is often &gt; # of rows -&gt; trends towards overfitting.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Common sense – only subset of words really define meaning.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Processing time can grow to be unreasonable.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Result is </a:t>
            </a:r>
            <a:r>
              <a:rPr lang="en-US" sz="2000" b="1" dirty="0"/>
              <a:t>sparse</a:t>
            </a:r>
            <a:r>
              <a:rPr lang="en-US" sz="2000" dirty="0"/>
              <a:t> – mostly a table of zeros.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Can be hard to fit, especially with limited data. </a:t>
            </a:r>
          </a:p>
          <a:p>
            <a:pPr>
              <a:lnSpc>
                <a:spcPct val="110000"/>
              </a:lnSpc>
            </a:pPr>
            <a:r>
              <a:rPr lang="en-US" dirty="0"/>
              <a:t>Some caps can be placed on size during vectorization: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Limit max features, </a:t>
            </a:r>
            <a:r>
              <a:rPr lang="en-US" sz="2000" dirty="0" err="1"/>
              <a:t>stopwords</a:t>
            </a:r>
            <a:r>
              <a:rPr lang="en-US" sz="2000" dirty="0"/>
              <a:t>, </a:t>
            </a:r>
            <a:r>
              <a:rPr lang="en-US" sz="2000" dirty="0" err="1"/>
              <a:t>lem</a:t>
            </a:r>
            <a:r>
              <a:rPr lang="en-US" sz="2000" dirty="0"/>
              <a:t>/stem. </a:t>
            </a:r>
          </a:p>
          <a:p>
            <a:pPr>
              <a:lnSpc>
                <a:spcPct val="110000"/>
              </a:lnSpc>
            </a:pPr>
            <a:r>
              <a:rPr lang="en-US" dirty="0"/>
              <a:t>There has to be a better way!</a:t>
            </a:r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  <p:pic>
        <p:nvPicPr>
          <p:cNvPr id="5124" name="Picture 4" descr="Image - 495702] | Infomercial Fails | Know Your Meme">
            <a:extLst>
              <a:ext uri="{FF2B5EF4-FFF2-40B4-BE49-F238E27FC236}">
                <a16:creationId xmlns:a16="http://schemas.microsoft.com/office/drawing/2014/main" id="{D529BB3C-5520-B849-9A0D-85AEE213B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0642" y="2127901"/>
            <a:ext cx="4491183" cy="33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9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71F2-A6CC-D74A-B73E-8FD74DE8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Truncated SVD and LSA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0909-3AB2-F946-BC80-4602BB028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LSA is latent semantic analysis. LSA attempts to:</a:t>
            </a:r>
          </a:p>
          <a:p>
            <a:pPr lvl="1"/>
            <a:r>
              <a:rPr lang="en-US" dirty="0"/>
              <a:t>Extract meaning from large amounts of text, using more advanced frequency calculations. </a:t>
            </a:r>
          </a:p>
          <a:p>
            <a:r>
              <a:rPr lang="en-US" dirty="0"/>
              <a:t>LSA follows a couple of assumptions:</a:t>
            </a:r>
          </a:p>
          <a:p>
            <a:pPr lvl="1"/>
            <a:r>
              <a:rPr lang="en-CA" i="1" dirty="0"/>
              <a:t>Meaning of Sentences or Documents is a sum of the meaning of all words</a:t>
            </a:r>
            <a:r>
              <a:rPr lang="en-CA" dirty="0"/>
              <a:t> occurring in it. Overall, the meaning of a certain word is an average across all the documents it occurs in.</a:t>
            </a:r>
          </a:p>
          <a:p>
            <a:pPr lvl="1"/>
            <a:r>
              <a:rPr lang="en-CA" dirty="0"/>
              <a:t>Semantic associations between words are present not explicitly, but only latently in the large sample of language.</a:t>
            </a:r>
          </a:p>
          <a:p>
            <a:r>
              <a:rPr lang="en-CA" dirty="0"/>
              <a:t>Latent Semantic Analysis (LSA) comprises of certain mathematical operation to get insight on a document. This algorithm forms the basis of </a:t>
            </a:r>
            <a:r>
              <a:rPr lang="en-CA" i="1" dirty="0"/>
              <a:t>Topic Modeling</a:t>
            </a:r>
            <a:r>
              <a:rPr lang="en-CA" dirty="0"/>
              <a:t>. The core idea is to take a matrix of what we have — documents and terms — and decompose it into a separate document-topic matrix and a topic-term matrix.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81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5D59-FBC2-4B2A-4E9E-EAF5338F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Going 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7AE7B-5DAF-6036-DD80-A42607A35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process is an attempt at dimensional reduction. </a:t>
            </a:r>
          </a:p>
          <a:p>
            <a:pPr lvl="1"/>
            <a:r>
              <a:rPr lang="en-US" dirty="0"/>
              <a:t>Store the same amount of information in a smaller matrix. </a:t>
            </a:r>
          </a:p>
          <a:p>
            <a:pPr lvl="1"/>
            <a:r>
              <a:rPr lang="en-US" dirty="0"/>
              <a:t>Original is unreasonably large and also sparse, can we condense it? </a:t>
            </a:r>
          </a:p>
          <a:p>
            <a:r>
              <a:rPr lang="en-US" dirty="0"/>
              <a:t>The process does some linear algebra calculations to generate the topics and strengths.</a:t>
            </a:r>
          </a:p>
          <a:p>
            <a:r>
              <a:rPr lang="en-US" dirty="0"/>
              <a:t>We’ll look at PCA soon, which does a similar thing. (Math isn’t that important now). </a:t>
            </a:r>
          </a:p>
          <a:p>
            <a:pPr lvl="1"/>
            <a:r>
              <a:rPr lang="en-US" dirty="0"/>
              <a:t>PCA has math that is more clear and easy to understand. </a:t>
            </a:r>
          </a:p>
          <a:p>
            <a:pPr lvl="1"/>
            <a:r>
              <a:rPr lang="en-US" dirty="0"/>
              <a:t>We, fortunately, aren’t linear algebra enthusiasts. </a:t>
            </a:r>
          </a:p>
          <a:p>
            <a:r>
              <a:rPr lang="en-US" dirty="0"/>
              <a:t>We want the key info (var. of target), contained in as few features as possible. </a:t>
            </a:r>
          </a:p>
          <a:p>
            <a:pPr lvl="1"/>
            <a:r>
              <a:rPr lang="en-US" dirty="0"/>
              <a:t>The ‘ideal’ scenario is one feature with an R2 of 1, how close can we get?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1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23D9-B0A2-9F49-B568-BDB521FA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Truncated SVD – Singular Value Decomposition</a:t>
            </a:r>
          </a:p>
        </p:txBody>
      </p:sp>
      <p:pic>
        <p:nvPicPr>
          <p:cNvPr id="3074" name="Picture 2" descr="What is Latent Semantic Analysis (LSA) - Latent Semantic Analysis (LSA)  Definition from MarketMuse Blog">
            <a:extLst>
              <a:ext uri="{FF2B5EF4-FFF2-40B4-BE49-F238E27FC236}">
                <a16:creationId xmlns:a16="http://schemas.microsoft.com/office/drawing/2014/main" id="{648E684A-F848-124A-BD35-934B6F66E9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-5829" y="2345916"/>
            <a:ext cx="6417851" cy="361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F2139-D46F-EF48-BDC6-B0C1181D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252" y="2015734"/>
            <a:ext cx="5128591" cy="4037747"/>
          </a:xfrm>
        </p:spPr>
        <p:txBody>
          <a:bodyPr>
            <a:normAutofit fontScale="92500"/>
          </a:bodyPr>
          <a:lstStyle/>
          <a:p>
            <a:r>
              <a:rPr lang="en-US" dirty="0"/>
              <a:t>Truncated SVD is the mathematical mechanics used for LSA.</a:t>
            </a:r>
          </a:p>
          <a:p>
            <a:r>
              <a:rPr lang="en-US" dirty="0"/>
              <a:t>SVD breaks the original data into 3:</a:t>
            </a:r>
          </a:p>
          <a:p>
            <a:pPr lvl="1"/>
            <a:r>
              <a:rPr lang="en-US" dirty="0"/>
              <a:t>Documents x concepts.</a:t>
            </a:r>
          </a:p>
          <a:p>
            <a:pPr lvl="1"/>
            <a:r>
              <a:rPr lang="en-US" dirty="0"/>
              <a:t>Strength of concepts.</a:t>
            </a:r>
          </a:p>
          <a:p>
            <a:pPr lvl="1"/>
            <a:r>
              <a:rPr lang="en-US" dirty="0"/>
              <a:t>Concepts x terms. </a:t>
            </a:r>
          </a:p>
          <a:p>
            <a:r>
              <a:rPr lang="en-CA" dirty="0"/>
              <a:t>Concepts are represented as patterns of words that usually appear together in documents. For example “leash”, “treat”, and “obey” might usually appear in documents about dog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80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5859-B78D-47B0-FF03-F2BBE44C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9C50-B839-ECD0-A567-3E07EBF3F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Latent Semantic Analysis (LSA) and Singular Value Decomposition (SVD) -  datajango">
            <a:extLst>
              <a:ext uri="{FF2B5EF4-FFF2-40B4-BE49-F238E27FC236}">
                <a16:creationId xmlns:a16="http://schemas.microsoft.com/office/drawing/2014/main" id="{4299163F-BD79-423A-63E5-AF6EC6433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576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C7DA-D147-B95D-4158-D0B38510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565483"/>
          </a:xfrm>
        </p:spPr>
        <p:txBody>
          <a:bodyPr/>
          <a:lstStyle/>
          <a:p>
            <a:r>
              <a:rPr lang="en-US" dirty="0"/>
              <a:t>TSVD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2585-4190-C6A7-99FB-B59EBCB20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947" y="2970579"/>
            <a:ext cx="11550316" cy="3082901"/>
          </a:xfrm>
        </p:spPr>
        <p:txBody>
          <a:bodyPr>
            <a:normAutofit/>
          </a:bodyPr>
          <a:lstStyle/>
          <a:p>
            <a:r>
              <a:rPr lang="en-US" dirty="0"/>
              <a:t>This is an example of the ‘topics’ detected from </a:t>
            </a:r>
            <a:r>
              <a:rPr lang="en-US" dirty="0" err="1"/>
              <a:t>tsvd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topics are internally similar, as far as the model is concerned. </a:t>
            </a:r>
          </a:p>
          <a:p>
            <a:r>
              <a:rPr lang="en-US" dirty="0"/>
              <a:t>These topics aren’t defined from outside, the process learns them. (More data impacts this a lot). </a:t>
            </a:r>
          </a:p>
          <a:p>
            <a:pPr lvl="1"/>
            <a:r>
              <a:rPr lang="en-US" dirty="0"/>
              <a:t>The process has no understanding of meaning here, it’s just math. </a:t>
            </a:r>
          </a:p>
          <a:p>
            <a:pPr lvl="1"/>
            <a:r>
              <a:rPr lang="en-US" dirty="0"/>
              <a:t>1 is bank-y things, 3 is love, 8 is a future Netflix documentary. More data, better results. </a:t>
            </a:r>
          </a:p>
          <a:p>
            <a:r>
              <a:rPr lang="en-US" dirty="0"/>
              <a:t>For meaning predictions – knowing the topic is likely better than the exact token. </a:t>
            </a:r>
          </a:p>
          <a:p>
            <a:r>
              <a:rPr lang="en-US" dirty="0"/>
              <a:t>Inconsistency in meaning will require more data or worsen results. E.g. bad can be bad or good.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D5702-1E49-1F86-A71E-C991A9E9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6" y="565484"/>
            <a:ext cx="12037447" cy="240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69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A15F-2865-624E-88AB-16D82E00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Truncated SVD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D1D4E-CD49-FA4B-B96D-7B71B4D9C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SVD aims to capture the maximum meaning with the minimum amount of data. </a:t>
            </a:r>
          </a:p>
          <a:p>
            <a:pPr lvl="1"/>
            <a:r>
              <a:rPr lang="en-US" dirty="0"/>
              <a:t>Each topic is assembled from commonly repeating tokens. </a:t>
            </a:r>
          </a:p>
          <a:p>
            <a:pPr lvl="1"/>
            <a:r>
              <a:rPr lang="en-US" dirty="0"/>
              <a:t>Each document (record) is scored on topics instead of individual tokens. </a:t>
            </a:r>
          </a:p>
          <a:p>
            <a:pPr lvl="1"/>
            <a:r>
              <a:rPr lang="en-US" dirty="0"/>
              <a:t>Assuming the topics are ‘better’ than the tokens at capturing meaning, this is better. </a:t>
            </a:r>
          </a:p>
          <a:p>
            <a:r>
              <a:rPr lang="en-US" dirty="0"/>
              <a:t>Only the strongest concepts are kept. </a:t>
            </a:r>
          </a:p>
          <a:p>
            <a:pPr lvl="1"/>
            <a:r>
              <a:rPr lang="en-US" dirty="0"/>
              <a:t>Similar to how PCA reconstructs features into more meaningful components. </a:t>
            </a:r>
          </a:p>
          <a:p>
            <a:pPr lvl="1"/>
            <a:r>
              <a:rPr lang="en-US" dirty="0"/>
              <a:t>Feature set can be massively reduced. (Less data, less overfit,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r>
              <a:rPr lang="en-US" dirty="0"/>
              <a:t>We don’t know a good number of components going in – we need to tune it. </a:t>
            </a:r>
          </a:p>
          <a:p>
            <a:r>
              <a:rPr lang="en-US" dirty="0"/>
              <a:t>Downside - Can’t reliably separate different meanings of one word. </a:t>
            </a:r>
          </a:p>
        </p:txBody>
      </p:sp>
    </p:spTree>
    <p:extLst>
      <p:ext uri="{BB962C8B-B14F-4D97-AF65-F5344CB8AC3E}">
        <p14:creationId xmlns:p14="http://schemas.microsoft.com/office/powerpoint/2010/main" val="3772727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A663-F66B-08A5-04C2-510FA7D1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- Unsupervised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E73D-6F82-EFF5-8ABE-C7D3ECBCF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/>
          <a:lstStyle/>
          <a:p>
            <a:r>
              <a:rPr lang="en-US" dirty="0"/>
              <a:t>This is an example of data preparation using some unsupervised learning. </a:t>
            </a:r>
          </a:p>
          <a:p>
            <a:r>
              <a:rPr lang="en-US" dirty="0"/>
              <a:t>The topics are something the </a:t>
            </a:r>
            <a:r>
              <a:rPr lang="en-US" dirty="0" err="1"/>
              <a:t>tsvd</a:t>
            </a:r>
            <a:r>
              <a:rPr lang="en-US" dirty="0"/>
              <a:t> process discovers on its own. </a:t>
            </a:r>
          </a:p>
          <a:p>
            <a:pPr lvl="1"/>
            <a:r>
              <a:rPr lang="en-US" dirty="0"/>
              <a:t>Patterns in the data, not abstract human concepts. </a:t>
            </a:r>
          </a:p>
          <a:p>
            <a:r>
              <a:rPr lang="en-US" dirty="0"/>
              <a:t>This kind of approach isn’t uncommon:</a:t>
            </a:r>
          </a:p>
          <a:p>
            <a:pPr lvl="1"/>
            <a:r>
              <a:rPr lang="en-US" dirty="0"/>
              <a:t>Data is messy initially. </a:t>
            </a:r>
          </a:p>
          <a:p>
            <a:pPr lvl="1"/>
            <a:r>
              <a:rPr lang="en-US" dirty="0"/>
              <a:t>Use some technique to transform original data. </a:t>
            </a:r>
          </a:p>
          <a:p>
            <a:pPr lvl="1"/>
            <a:r>
              <a:rPr lang="en-US" dirty="0"/>
              <a:t>Predict based on that. </a:t>
            </a:r>
          </a:p>
        </p:txBody>
      </p:sp>
    </p:spTree>
    <p:extLst>
      <p:ext uri="{BB962C8B-B14F-4D97-AF65-F5344CB8AC3E}">
        <p14:creationId xmlns:p14="http://schemas.microsoft.com/office/powerpoint/2010/main" val="1408594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47A4-909E-C911-0C67-D4AABB30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TSVD Feature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F46DA-9496-F5B4-91FA-8BC96B8C5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the other end, we get documents scored on each topic. </a:t>
            </a:r>
          </a:p>
        </p:txBody>
      </p:sp>
    </p:spTree>
    <p:extLst>
      <p:ext uri="{BB962C8B-B14F-4D97-AF65-F5344CB8AC3E}">
        <p14:creationId xmlns:p14="http://schemas.microsoft.com/office/powerpoint/2010/main" val="2281089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E3DF-2907-02D8-E6FE-A6DA6EDE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Slight Detour – Remember R2?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ED1F-0799-FA26-0B4B-B66676A93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978421" cy="4199727"/>
          </a:xfrm>
        </p:spPr>
        <p:txBody>
          <a:bodyPr/>
          <a:lstStyle/>
          <a:p>
            <a:r>
              <a:rPr lang="en-US" dirty="0"/>
              <a:t>One of the key metrics we use in regression is the coefficient of determination – R2. </a:t>
            </a:r>
          </a:p>
          <a:p>
            <a:r>
              <a:rPr lang="en-US" dirty="0"/>
              <a:t>R2 tells us the proportion of variance in the target that is explained by our model. </a:t>
            </a:r>
          </a:p>
          <a:p>
            <a:pPr lvl="1"/>
            <a:r>
              <a:rPr lang="en-US" dirty="0"/>
              <a:t>i.e. an R2 of .8 for predicting lifespan means that our model accounts for 80% of the value of the target, while stuff not captured by our model is the other 20%. </a:t>
            </a:r>
          </a:p>
          <a:p>
            <a:r>
              <a:rPr lang="en-US" dirty="0"/>
              <a:t>When we do dimensional reduction, we can think of it like R2. (Conceptually, not literally).</a:t>
            </a:r>
          </a:p>
          <a:p>
            <a:pPr lvl="1"/>
            <a:r>
              <a:rPr lang="en-US" dirty="0"/>
              <a:t>Our original M features (as a whole) capture K% of the meaning of the document. </a:t>
            </a:r>
          </a:p>
          <a:p>
            <a:pPr lvl="1"/>
            <a:r>
              <a:rPr lang="en-US" dirty="0"/>
              <a:t>After reduction, we have &lt;M features, but hopefully capture ~K of the meaning. </a:t>
            </a:r>
          </a:p>
          <a:p>
            <a:pPr lvl="1"/>
            <a:r>
              <a:rPr lang="en-US" dirty="0"/>
              <a:t>Each of our features captures more useful data, while we discard the non-useful parts.</a:t>
            </a:r>
          </a:p>
          <a:p>
            <a:pPr lvl="1"/>
            <a:r>
              <a:rPr lang="en-US" dirty="0"/>
              <a:t>Kind of (even more conceptually) like multicollinearity – capture meaning in fewer features. </a:t>
            </a:r>
          </a:p>
        </p:txBody>
      </p:sp>
    </p:spTree>
    <p:extLst>
      <p:ext uri="{BB962C8B-B14F-4D97-AF65-F5344CB8AC3E}">
        <p14:creationId xmlns:p14="http://schemas.microsoft.com/office/powerpoint/2010/main" val="1296426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307A-86A8-4E2B-B16C-F1148CCD7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from Words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EA0C-E1BB-25C9-0019-7CFDEFCFE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853" y="1853754"/>
            <a:ext cx="10644808" cy="4199727"/>
          </a:xfrm>
        </p:spPr>
        <p:txBody>
          <a:bodyPr/>
          <a:lstStyle/>
          <a:p>
            <a:r>
              <a:rPr lang="en-US" dirty="0"/>
              <a:t>Every tool aims to generate some numeric representation of the text – needed </a:t>
            </a:r>
            <a:r>
              <a:rPr lang="en-US"/>
              <a:t>for model. </a:t>
            </a:r>
            <a:endParaRPr lang="en-US" dirty="0"/>
          </a:p>
          <a:p>
            <a:r>
              <a:rPr lang="en-US" dirty="0"/>
              <a:t>Count vectorization does it with simple arithmetic. </a:t>
            </a:r>
          </a:p>
          <a:p>
            <a:r>
              <a:rPr lang="en-US" dirty="0"/>
              <a:t>TF-IDF does it with some algebra. </a:t>
            </a:r>
          </a:p>
          <a:p>
            <a:r>
              <a:rPr lang="en-US" dirty="0"/>
              <a:t>Truncated SVD does it with some linear algebra. </a:t>
            </a:r>
          </a:p>
          <a:p>
            <a:r>
              <a:rPr lang="en-US" dirty="0"/>
              <a:t>Other tools do it with predictive models. </a:t>
            </a:r>
          </a:p>
          <a:p>
            <a:r>
              <a:rPr lang="en-US" dirty="0"/>
              <a:t>Generally, we call the result of the models' embeddings (others do too, but term is less common): </a:t>
            </a:r>
          </a:p>
          <a:p>
            <a:pPr lvl="1"/>
            <a:r>
              <a:rPr lang="en-US" dirty="0"/>
              <a:t>This embedding space is multi-dimensional – each term is represented by K numbers. </a:t>
            </a:r>
          </a:p>
          <a:p>
            <a:pPr lvl="1"/>
            <a:r>
              <a:rPr lang="en-US" dirty="0"/>
              <a:t>The larger K gets, the more accurate our representation can be, given we have the data. </a:t>
            </a:r>
          </a:p>
        </p:txBody>
      </p:sp>
    </p:spTree>
    <p:extLst>
      <p:ext uri="{BB962C8B-B14F-4D97-AF65-F5344CB8AC3E}">
        <p14:creationId xmlns:p14="http://schemas.microsoft.com/office/powerpoint/2010/main" val="3763944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C8AC-2DCC-B80D-D838-619FC0C4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Generating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D49CF-7DD4-5F36-37EB-E24713DB8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LSA aims to better extract meaning from text. </a:t>
            </a:r>
          </a:p>
          <a:p>
            <a:pPr lvl="1"/>
            <a:r>
              <a:rPr lang="en-US" dirty="0"/>
              <a:t>Text is transformed into topics. </a:t>
            </a:r>
          </a:p>
          <a:p>
            <a:pPr lvl="1"/>
            <a:r>
              <a:rPr lang="en-US" dirty="0"/>
              <a:t>Scores on those topics, not specific tokens, are used as features.</a:t>
            </a:r>
          </a:p>
          <a:p>
            <a:r>
              <a:rPr lang="en-US" dirty="0"/>
              <a:t>LSA is still count based, just more sophisticated. </a:t>
            </a:r>
          </a:p>
          <a:p>
            <a:r>
              <a:rPr lang="en-US" dirty="0"/>
              <a:t>What if we need to capture deeper meaning?</a:t>
            </a:r>
          </a:p>
          <a:p>
            <a:pPr lvl="1"/>
            <a:r>
              <a:rPr lang="en-US" dirty="0"/>
              <a:t>Smarter models with access to more data. </a:t>
            </a:r>
          </a:p>
          <a:p>
            <a:pPr lvl="1"/>
            <a:r>
              <a:rPr lang="en-US" dirty="0"/>
              <a:t>Generative text where more than just meaning matters. </a:t>
            </a:r>
          </a:p>
        </p:txBody>
      </p:sp>
    </p:spTree>
    <p:extLst>
      <p:ext uri="{BB962C8B-B14F-4D97-AF65-F5344CB8AC3E}">
        <p14:creationId xmlns:p14="http://schemas.microsoft.com/office/powerpoint/2010/main" val="1103754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4136-6DD6-4902-50EB-74935C67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“meaning” of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4B84B-C360-DEF2-1561-165793C3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7642"/>
          </a:xfrm>
        </p:spPr>
        <p:txBody>
          <a:bodyPr/>
          <a:lstStyle/>
          <a:p>
            <a:r>
              <a:rPr lang="en-US" dirty="0"/>
              <a:t>When used for prediction, the meaning of the vector determines model quality. </a:t>
            </a:r>
          </a:p>
          <a:p>
            <a:pPr lvl="1"/>
            <a:r>
              <a:rPr lang="en-US" dirty="0"/>
              <a:t>We need to generate a vector that accurately captures the underlying meaning in text. </a:t>
            </a:r>
          </a:p>
          <a:p>
            <a:r>
              <a:rPr lang="en-US" dirty="0"/>
              <a:t>In larger scenarios this is called creating embeddings. </a:t>
            </a:r>
          </a:p>
          <a:p>
            <a:pPr lvl="1"/>
            <a:r>
              <a:rPr lang="en-US" dirty="0"/>
              <a:t>Take in some free text. </a:t>
            </a:r>
          </a:p>
          <a:p>
            <a:pPr lvl="1"/>
            <a:r>
              <a:rPr lang="en-US" dirty="0"/>
              <a:t>Evaluate the meaning of that text, using some complex model. </a:t>
            </a:r>
          </a:p>
          <a:p>
            <a:pPr lvl="1"/>
            <a:r>
              <a:rPr lang="en-US" dirty="0"/>
              <a:t>Return a set of values that ‘capture the meaning’ in n-dimensional space. </a:t>
            </a:r>
          </a:p>
          <a:p>
            <a:r>
              <a:rPr lang="en-US" dirty="0"/>
              <a:t>“Real” models can have an embedding space that is 1000s or more dimensions. </a:t>
            </a:r>
          </a:p>
          <a:p>
            <a:pPr lvl="1"/>
            <a:r>
              <a:rPr lang="en-US" dirty="0"/>
              <a:t>The ‘meaning’ of a word is its position in 1000-dimensional space. </a:t>
            </a:r>
          </a:p>
          <a:p>
            <a:pPr lvl="1"/>
            <a:r>
              <a:rPr lang="en-US" dirty="0"/>
              <a:t>The distance between words shows their similarity in meaning. </a:t>
            </a:r>
          </a:p>
        </p:txBody>
      </p:sp>
    </p:spTree>
    <p:extLst>
      <p:ext uri="{BB962C8B-B14F-4D97-AF65-F5344CB8AC3E}">
        <p14:creationId xmlns:p14="http://schemas.microsoft.com/office/powerpoint/2010/main" val="1543216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219A-7D89-8AA7-9FF7-BBE0F5B9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and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D9838-C41B-043A-0E9F-03F2391D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974" y="1853754"/>
            <a:ext cx="10460477" cy="4255216"/>
          </a:xfrm>
        </p:spPr>
        <p:txBody>
          <a:bodyPr/>
          <a:lstStyle/>
          <a:p>
            <a:r>
              <a:rPr lang="en-US" dirty="0"/>
              <a:t>The meaning captured with real embedding processes are more sophisticated. </a:t>
            </a:r>
          </a:p>
          <a:p>
            <a:pPr lvl="1"/>
            <a:r>
              <a:rPr lang="en-US" dirty="0"/>
              <a:t>Use massive amounts of text to learn meaning from seeing tokens over and over. </a:t>
            </a:r>
          </a:p>
          <a:p>
            <a:r>
              <a:rPr lang="en-US" dirty="0"/>
              <a:t>The larger and more complex the embedding space, the higher the celling. </a:t>
            </a:r>
          </a:p>
          <a:p>
            <a:pPr lvl="1"/>
            <a:r>
              <a:rPr lang="en-US" dirty="0"/>
              <a:t>The amount of data needed to generate it also increases. </a:t>
            </a:r>
          </a:p>
          <a:p>
            <a:r>
              <a:rPr lang="en-US" dirty="0"/>
              <a:t>For smarter NLP-</a:t>
            </a:r>
            <a:r>
              <a:rPr lang="en-US" dirty="0" err="1"/>
              <a:t>ish</a:t>
            </a:r>
            <a:r>
              <a:rPr lang="en-US" dirty="0"/>
              <a:t> models, we want to represent the meaning of docs as accurately as possible. </a:t>
            </a:r>
          </a:p>
          <a:p>
            <a:pPr lvl="1"/>
            <a:r>
              <a:rPr lang="en-US" dirty="0"/>
              <a:t>Counting occurrences of terms captures some meaning, but it is rudimentary. </a:t>
            </a:r>
          </a:p>
          <a:p>
            <a:pPr lvl="1"/>
            <a:r>
              <a:rPr lang="en-US" dirty="0"/>
              <a:t>We can use other processing tools to extract meaning from the text, and use the values on those “meaning” metrics as our feature set. </a:t>
            </a:r>
          </a:p>
          <a:p>
            <a:r>
              <a:rPr lang="en-US" dirty="0"/>
              <a:t>Note: this isn’t dealing with generating text, that requires models that capture sequence. </a:t>
            </a:r>
          </a:p>
        </p:txBody>
      </p:sp>
    </p:spTree>
    <p:extLst>
      <p:ext uri="{BB962C8B-B14F-4D97-AF65-F5344CB8AC3E}">
        <p14:creationId xmlns:p14="http://schemas.microsoft.com/office/powerpoint/2010/main" val="751915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ECFB-6194-91CC-3072-F1EF34FA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This, but in 5000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E9C9-9B32-28FE-3CD2-0301568E0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ow to Develop Word Embeddings in Python with Gensim -  MachineLearningMastery.com">
            <a:extLst>
              <a:ext uri="{FF2B5EF4-FFF2-40B4-BE49-F238E27FC236}">
                <a16:creationId xmlns:a16="http://schemas.microsoft.com/office/drawing/2014/main" id="{AB49025B-33C1-F887-DBB8-637B1D489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378" y="1537034"/>
            <a:ext cx="7094621" cy="532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428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2BFA-C699-9F44-9DE2-BBBD054F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A36E-A132-904D-9622-96FD35E4E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087" y="3429000"/>
            <a:ext cx="10426148" cy="2642046"/>
          </a:xfrm>
        </p:spPr>
        <p:txBody>
          <a:bodyPr>
            <a:normAutofit/>
          </a:bodyPr>
          <a:lstStyle/>
          <a:p>
            <a:r>
              <a:rPr lang="en-US" dirty="0"/>
              <a:t>Each word is defined by a 100/200/2000/big number dimension vector of values. </a:t>
            </a:r>
          </a:p>
          <a:p>
            <a:r>
              <a:rPr lang="en-US" dirty="0"/>
              <a:t>Those dimensions are learned when the model is trained. </a:t>
            </a:r>
          </a:p>
          <a:p>
            <a:r>
              <a:rPr lang="en-US" dirty="0"/>
              <a:t>Each word is “placed” in that N-dim space, and it “sits” in an area of similar words. </a:t>
            </a:r>
          </a:p>
          <a:p>
            <a:pPr lvl="1"/>
            <a:r>
              <a:rPr lang="en-US" dirty="0"/>
              <a:t>Large embeddings basically plot tokens in large D, the distance to other tokens is the similarity. </a:t>
            </a:r>
          </a:p>
          <a:p>
            <a:pPr lvl="1"/>
            <a:r>
              <a:rPr lang="en-US" dirty="0"/>
              <a:t>E.g. Man, dude, guy, </a:t>
            </a:r>
            <a:r>
              <a:rPr lang="en-US" dirty="0" err="1"/>
              <a:t>brochacho</a:t>
            </a:r>
            <a:r>
              <a:rPr lang="en-US" dirty="0"/>
              <a:t>, will all have similar values in nearly all dimensions. </a:t>
            </a:r>
          </a:p>
          <a:p>
            <a:pPr lvl="2"/>
            <a:r>
              <a:rPr lang="en-US" dirty="0"/>
              <a:t>The ones where they differ will (very roughly) measure things like formality. (This is rough, not pre-def.)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298E9D5-1702-9E4D-BFA9-CF620B134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564" y="1329136"/>
            <a:ext cx="8911723" cy="210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24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F2834-A31C-84B8-F900-96154C90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Visualized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5553F-CA0B-6416-03B4-D3C6F36FE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9" y="1853754"/>
            <a:ext cx="5326716" cy="4278689"/>
          </a:xfrm>
        </p:spPr>
        <p:txBody>
          <a:bodyPr/>
          <a:lstStyle/>
          <a:p>
            <a:r>
              <a:rPr lang="en-US" dirty="0"/>
              <a:t>Each token is represented in K dimensions. </a:t>
            </a:r>
          </a:p>
          <a:p>
            <a:pPr lvl="1"/>
            <a:r>
              <a:rPr lang="en-US" dirty="0"/>
              <a:t>Larger k, more complex representation. </a:t>
            </a:r>
          </a:p>
          <a:p>
            <a:pPr lvl="1"/>
            <a:r>
              <a:rPr lang="en-US" dirty="0"/>
              <a:t>Data needs scale rapidly. </a:t>
            </a:r>
          </a:p>
          <a:p>
            <a:r>
              <a:rPr lang="en-US" dirty="0"/>
              <a:t>Those dimensions aren’t predefined as they are here, that’s what the embedding system learns. </a:t>
            </a:r>
          </a:p>
          <a:p>
            <a:pPr lvl="1"/>
            <a:r>
              <a:rPr lang="en-US" dirty="0"/>
              <a:t>They aren’t human dims, they’re machine dims. </a:t>
            </a:r>
          </a:p>
          <a:p>
            <a:r>
              <a:rPr lang="en-US" dirty="0"/>
              <a:t>The accuracy of this embedding determines how well the model handles the meaning of each word. </a:t>
            </a:r>
          </a:p>
          <a:p>
            <a:r>
              <a:rPr lang="en-US" dirty="0"/>
              <a:t>LLMs are in </a:t>
            </a:r>
            <a:r>
              <a:rPr lang="en-US"/>
              <a:t>the thousands. </a:t>
            </a:r>
            <a:endParaRPr lang="en-US" dirty="0"/>
          </a:p>
        </p:txBody>
      </p:sp>
      <p:pic>
        <p:nvPicPr>
          <p:cNvPr id="1026" name="Picture 2" descr="Word Embedding: Basics. Create a vector from a word | by Hariom Gautam |  Medium">
            <a:extLst>
              <a:ext uri="{FF2B5EF4-FFF2-40B4-BE49-F238E27FC236}">
                <a16:creationId xmlns:a16="http://schemas.microsoft.com/office/drawing/2014/main" id="{3C7A720A-0AFD-B354-E87C-3B3DBBE4D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554" y="1490500"/>
            <a:ext cx="6702446" cy="500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532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B6D0-BB9E-0B3C-152B-239D65F6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859686" cy="1049235"/>
          </a:xfrm>
        </p:spPr>
        <p:txBody>
          <a:bodyPr/>
          <a:lstStyle/>
          <a:p>
            <a:r>
              <a:rPr lang="en-US" dirty="0"/>
              <a:t>Detour – </a:t>
            </a:r>
            <a:r>
              <a:rPr lang="en-US" dirty="0" err="1"/>
              <a:t>MultiModal</a:t>
            </a:r>
            <a:r>
              <a:rPr lang="en-US" dirty="0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335C-478C-C422-2490-567258DA4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4859685" cy="4199727"/>
          </a:xfrm>
        </p:spPr>
        <p:txBody>
          <a:bodyPr/>
          <a:lstStyle/>
          <a:p>
            <a:r>
              <a:rPr lang="en-US" dirty="0"/>
              <a:t>Many of the generative models are multi-modal, i.e. they deal with different types of content like text, images, video,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This works by generating embeddings for each type of media, to a shared space. </a:t>
            </a:r>
          </a:p>
          <a:p>
            <a:pPr lvl="1"/>
            <a:r>
              <a:rPr lang="en-US" dirty="0"/>
              <a:t>E.g. a picture labeled “</a:t>
            </a:r>
            <a:r>
              <a:rPr lang="en-US" dirty="0" err="1"/>
              <a:t>horse.jpg</a:t>
            </a:r>
            <a:r>
              <a:rPr lang="en-US" dirty="0"/>
              <a:t>” tells the model that a horse is X in text and Y in image.</a:t>
            </a:r>
          </a:p>
          <a:p>
            <a:pPr lvl="1"/>
            <a:r>
              <a:rPr lang="en-US" dirty="0"/>
              <a:t>When someone asks for a horse, it “looks up” the image representations and gens…</a:t>
            </a:r>
          </a:p>
        </p:txBody>
      </p:sp>
      <p:pic>
        <p:nvPicPr>
          <p:cNvPr id="4" name="Picture 3" descr="How LLMs See Images, Audio, and More">
            <a:extLst>
              <a:ext uri="{FF2B5EF4-FFF2-40B4-BE49-F238E27FC236}">
                <a16:creationId xmlns:a16="http://schemas.microsoft.com/office/drawing/2014/main" id="{06012C61-BA30-0B91-4D6E-DEBD93FEA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265" y="0"/>
            <a:ext cx="5880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23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3580-C066-403C-F510-0D51B59D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97F70-73BA-9251-7164-424F69DC9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2015732"/>
            <a:ext cx="2120348" cy="3450613"/>
          </a:xfrm>
        </p:spPr>
        <p:txBody>
          <a:bodyPr/>
          <a:lstStyle/>
          <a:p>
            <a:r>
              <a:rPr lang="en-US" dirty="0"/>
              <a:t>Visualizations map from M-dim down to 2D to visualize the embedding space. </a:t>
            </a:r>
          </a:p>
        </p:txBody>
      </p:sp>
      <p:pic>
        <p:nvPicPr>
          <p:cNvPr id="2050" name="Picture 2" descr="vector - word mapping for 2D word embedding - Stack Overflow">
            <a:extLst>
              <a:ext uri="{FF2B5EF4-FFF2-40B4-BE49-F238E27FC236}">
                <a16:creationId xmlns:a16="http://schemas.microsoft.com/office/drawing/2014/main" id="{CE1DA12F-1873-06E6-2B79-EB882E5F9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656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21CF9-F3AC-CC4C-F930-E6BE6D39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554D-5361-6A6E-1E5B-FBA6964E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859686" cy="1049235"/>
          </a:xfrm>
        </p:spPr>
        <p:txBody>
          <a:bodyPr/>
          <a:lstStyle/>
          <a:p>
            <a:r>
              <a:rPr lang="en-US" dirty="0"/>
              <a:t>Detour – </a:t>
            </a:r>
            <a:r>
              <a:rPr lang="en-US" dirty="0" err="1"/>
              <a:t>MultiModal</a:t>
            </a:r>
            <a:r>
              <a:rPr lang="en-US" dirty="0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6424E-1D17-1AA9-C81B-3DBFE2E7C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" y="1853754"/>
            <a:ext cx="5994466" cy="4199727"/>
          </a:xfrm>
        </p:spPr>
        <p:txBody>
          <a:bodyPr/>
          <a:lstStyle/>
          <a:p>
            <a:r>
              <a:rPr lang="en-US" dirty="0"/>
              <a:t>Many generative models are multi-modal, i.e. they deal with different content like text, images, video…</a:t>
            </a:r>
          </a:p>
          <a:p>
            <a:r>
              <a:rPr lang="en-US" dirty="0"/>
              <a:t>This works by generating embeddings for each type of media, to a shared space. </a:t>
            </a:r>
          </a:p>
          <a:p>
            <a:pPr lvl="1"/>
            <a:r>
              <a:rPr lang="en-US" dirty="0"/>
              <a:t>E.g. a picture labeled “</a:t>
            </a:r>
            <a:r>
              <a:rPr lang="en-US" dirty="0" err="1"/>
              <a:t>horse.jpg</a:t>
            </a:r>
            <a:r>
              <a:rPr lang="en-US" dirty="0"/>
              <a:t>” tells the model that a horse is X in text and Y in image.</a:t>
            </a:r>
          </a:p>
          <a:p>
            <a:pPr lvl="1"/>
            <a:r>
              <a:rPr lang="en-US" dirty="0"/>
              <a:t>Both sets of embeddings ‘end up’ close to each other. </a:t>
            </a:r>
          </a:p>
          <a:p>
            <a:pPr lvl="1"/>
            <a:r>
              <a:rPr lang="en-US" dirty="0"/>
              <a:t>When someone asks for a horse, it “looks up” the ‘horse’ embedding, then finds image embedding that are close in M-dim space, meaning they are similar. </a:t>
            </a:r>
          </a:p>
          <a:p>
            <a:pPr lvl="1"/>
            <a:endParaRPr lang="en-US" dirty="0"/>
          </a:p>
        </p:txBody>
      </p:sp>
      <p:pic>
        <p:nvPicPr>
          <p:cNvPr id="5" name="Picture 4" descr="Instead of relying on a joint embedding space, we address the problem... |  Download Scientific Diagram">
            <a:extLst>
              <a:ext uri="{FF2B5EF4-FFF2-40B4-BE49-F238E27FC236}">
                <a16:creationId xmlns:a16="http://schemas.microsoft.com/office/drawing/2014/main" id="{4397D4E3-7771-3A24-3083-F77087540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84" y="690002"/>
            <a:ext cx="5880100" cy="2641600"/>
          </a:xfrm>
          <a:prstGeom prst="rect">
            <a:avLst/>
          </a:prstGeom>
        </p:spPr>
      </p:pic>
      <p:pic>
        <p:nvPicPr>
          <p:cNvPr id="6" name="Picture 5" descr="The proposed framework that learns a joint embedding of word images and...  | Download Scientific Diagram">
            <a:extLst>
              <a:ext uri="{FF2B5EF4-FFF2-40B4-BE49-F238E27FC236}">
                <a16:creationId xmlns:a16="http://schemas.microsoft.com/office/drawing/2014/main" id="{456047EF-1A8F-CBA5-2A3D-28674BAD35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752"/>
          <a:stretch>
            <a:fillRect/>
          </a:stretch>
        </p:blipFill>
        <p:spPr>
          <a:xfrm>
            <a:off x="6094491" y="3804231"/>
            <a:ext cx="6097509" cy="20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36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C1E9-9DB9-D348-83D2-878E06DE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 and Alternate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ECEC-AE79-BF4D-99A3-10DDD2E85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There are lots of other NLP libraries out there that take different approaches to dealing with text. </a:t>
            </a:r>
          </a:p>
          <a:p>
            <a:r>
              <a:rPr lang="en-US" dirty="0"/>
              <a:t>One library we can use is Word2Vec, originally developed by Google. </a:t>
            </a:r>
          </a:p>
          <a:p>
            <a:r>
              <a:rPr lang="en-US" dirty="0"/>
              <a:t>Word2Vec transforms words into vector representations using a neural network. </a:t>
            </a:r>
          </a:p>
          <a:p>
            <a:r>
              <a:rPr lang="en-US" dirty="0"/>
              <a:t>Word2Vec looks at words and their surroundings in sentences (documents) to generate the encoding. </a:t>
            </a:r>
          </a:p>
          <a:p>
            <a:r>
              <a:rPr lang="en-US" dirty="0"/>
              <a:t>Each word gets a vector of values that encodes it, in M-dimensions. </a:t>
            </a:r>
          </a:p>
        </p:txBody>
      </p:sp>
    </p:spTree>
    <p:extLst>
      <p:ext uri="{BB962C8B-B14F-4D97-AF65-F5344CB8AC3E}">
        <p14:creationId xmlns:p14="http://schemas.microsoft.com/office/powerpoint/2010/main" val="2027915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B03E-04F7-EF5A-D8D9-115A0970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3AC09-E8B8-FE2E-54A9-646D6CCA3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Tools that create embeddings such as word2vec are critical in NLP models. </a:t>
            </a:r>
          </a:p>
          <a:p>
            <a:r>
              <a:rPr lang="en-US" dirty="0"/>
              <a:t>Models only use and predict numbers, no matter the complexity. </a:t>
            </a:r>
          </a:p>
          <a:p>
            <a:pPr lvl="1"/>
            <a:r>
              <a:rPr lang="en-US" dirty="0"/>
              <a:t>The embedding is what defines the text -&gt; numbers relationship. </a:t>
            </a:r>
          </a:p>
          <a:p>
            <a:pPr lvl="1"/>
            <a:r>
              <a:rPr lang="en-US" dirty="0"/>
              <a:t>The better the embedding is (the closer its representations matches the ‘real’ meaning), the more accurate (with respect to actual use, not model statistics) the results will be. </a:t>
            </a:r>
          </a:p>
          <a:p>
            <a:r>
              <a:rPr lang="en-US" dirty="0"/>
              <a:t>Real tools use massive text sets to learn word meaning / embedding space. </a:t>
            </a:r>
          </a:p>
          <a:p>
            <a:pPr lvl="1"/>
            <a:r>
              <a:rPr lang="en-US" dirty="0"/>
              <a:t>Larger dimensionality can yield better results, but requires more data/time. </a:t>
            </a:r>
          </a:p>
          <a:p>
            <a:r>
              <a:rPr lang="en-US" dirty="0"/>
              <a:t>Key – the model learns the dimensions to use, they aren’t defined going in. </a:t>
            </a:r>
          </a:p>
          <a:p>
            <a:pPr lvl="1"/>
            <a:r>
              <a:rPr lang="en-US" dirty="0"/>
              <a:t>E.g. there’s no “plural” axis, or “masculine” axis – the model learns the dimensions needed and they don’t need to correspond to the metrics that we’d use to “measure” a word. </a:t>
            </a:r>
          </a:p>
        </p:txBody>
      </p:sp>
    </p:spTree>
    <p:extLst>
      <p:ext uri="{BB962C8B-B14F-4D97-AF65-F5344CB8AC3E}">
        <p14:creationId xmlns:p14="http://schemas.microsoft.com/office/powerpoint/2010/main" val="592998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4AA9-913F-1A4D-B078-31FF9F62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 - </a:t>
            </a:r>
            <a:r>
              <a:rPr lang="en-US" dirty="0" err="1"/>
              <a:t>SkipGram</a:t>
            </a:r>
            <a:r>
              <a:rPr lang="en-US" dirty="0"/>
              <a:t> and CBOW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1CE0A-B9D5-4241-BA2B-42CBAF304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BA63EEB-C6C9-1346-BA75-23695AF85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050" y="2015732"/>
            <a:ext cx="7073900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634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9A7B-2F70-EF73-4ECA-7854D379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50296-0629-87D7-2AC4-A6E40E28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493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79CE-B3E0-CE3A-9FCE-44C45AB4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9BF9D-63C7-6454-018B-4F9A56D89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6366"/>
            <a:ext cx="9603275" cy="4107115"/>
          </a:xfrm>
        </p:spPr>
        <p:txBody>
          <a:bodyPr/>
          <a:lstStyle/>
          <a:p>
            <a:r>
              <a:rPr lang="en-US" dirty="0"/>
              <a:t>Skip Gram</a:t>
            </a:r>
          </a:p>
          <a:p>
            <a:pPr lvl="1"/>
            <a:r>
              <a:rPr lang="en-US" dirty="0"/>
              <a:t>Often better with low frequency words and maintains sequence information. </a:t>
            </a:r>
          </a:p>
          <a:p>
            <a:pPr lvl="1"/>
            <a:r>
              <a:rPr lang="en-US" dirty="0"/>
              <a:t>Can be computationally slow and perform worse with non-diverse datasets. </a:t>
            </a:r>
          </a:p>
          <a:p>
            <a:pPr lvl="1"/>
            <a:r>
              <a:rPr lang="en-US" dirty="0"/>
              <a:t>Better for semantic relationships (meaning) and text generation. </a:t>
            </a:r>
          </a:p>
          <a:p>
            <a:r>
              <a:rPr lang="en-US" dirty="0"/>
              <a:t>CBOW</a:t>
            </a:r>
          </a:p>
          <a:p>
            <a:pPr lvl="1"/>
            <a:r>
              <a:rPr lang="en-US" dirty="0"/>
              <a:t>Faster and often better where words are frequent and order is less important. </a:t>
            </a:r>
          </a:p>
          <a:p>
            <a:pPr lvl="1"/>
            <a:r>
              <a:rPr lang="en-US" dirty="0"/>
              <a:t>Often worse with low-frequency words and loses order. </a:t>
            </a:r>
          </a:p>
          <a:p>
            <a:pPr lvl="1"/>
            <a:r>
              <a:rPr lang="en-US" dirty="0"/>
              <a:t>Common in classification and recommendations – ‘vibes’ over details. </a:t>
            </a:r>
          </a:p>
          <a:p>
            <a:r>
              <a:rPr lang="en-US" dirty="0"/>
              <a:t>How well the embedding matches the text meaning and use will determine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38678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B496-7BFD-750A-4AAB-C884240D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B3D58-940E-690F-FA9B-AB0866ECE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F4C17-6A95-E7EE-DDA6-31D60EFD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918" y="0"/>
            <a:ext cx="7694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50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D1227-A141-327F-EB19-DF351941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Note For us right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F796C-B5F8-A589-2F00-3A98CB8A7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/>
          <a:lstStyle/>
          <a:p>
            <a:r>
              <a:rPr lang="en-US" dirty="0"/>
              <a:t>We can/will use embeddings, but we </a:t>
            </a:r>
            <a:r>
              <a:rPr lang="en-US" b="1" i="1" dirty="0"/>
              <a:t>must </a:t>
            </a:r>
            <a:r>
              <a:rPr lang="en-US" dirty="0"/>
              <a:t>collapse them to 1 dimension. </a:t>
            </a:r>
          </a:p>
          <a:p>
            <a:pPr lvl="1"/>
            <a:r>
              <a:rPr lang="en-US" dirty="0"/>
              <a:t>Each feature needs 1 value, not 200 values. </a:t>
            </a:r>
          </a:p>
          <a:p>
            <a:r>
              <a:rPr lang="en-US" dirty="0"/>
              <a:t>This is a simplification for our simple models that must have 1D data. </a:t>
            </a:r>
          </a:p>
          <a:p>
            <a:r>
              <a:rPr lang="en-US" dirty="0"/>
              <a:t>In neural network models we don’t do this, we can keep 2D data. </a:t>
            </a:r>
          </a:p>
          <a:p>
            <a:pPr lvl="1"/>
            <a:r>
              <a:rPr lang="en-US" dirty="0"/>
              <a:t>Feature x embedding dimensions. </a:t>
            </a:r>
          </a:p>
          <a:p>
            <a:pPr lvl="1"/>
            <a:r>
              <a:rPr lang="en-US" dirty="0"/>
              <a:t>The process doesn’t really change all that much, the we can just use the embedding as is. </a:t>
            </a:r>
          </a:p>
          <a:p>
            <a:r>
              <a:rPr lang="en-US" dirty="0"/>
              <a:t>This loses the ‘magic’ of fancy embedding, so we can expect much better results with this approach only if we use a bigger model to take advantage of them. </a:t>
            </a:r>
          </a:p>
          <a:p>
            <a:pPr lvl="1"/>
            <a:r>
              <a:rPr lang="en-US" dirty="0"/>
              <a:t>I.e. when flattening all this data to a single value, we shouldn’t expect things to be great. </a:t>
            </a:r>
          </a:p>
        </p:txBody>
      </p:sp>
    </p:spTree>
    <p:extLst>
      <p:ext uri="{BB962C8B-B14F-4D97-AF65-F5344CB8AC3E}">
        <p14:creationId xmlns:p14="http://schemas.microsoft.com/office/powerpoint/2010/main" val="3213704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1305-286A-A78D-3510-67ED554D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5FD46-EF9E-DBF0-46DC-DCF41E4A7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embeddings basically transform each token into a M-dimension vector value. </a:t>
            </a:r>
          </a:p>
          <a:p>
            <a:r>
              <a:rPr lang="en-US" dirty="0"/>
              <a:t>The closeness in this space determines the similarity of tokens. </a:t>
            </a:r>
          </a:p>
          <a:p>
            <a:pPr lvl="1"/>
            <a:r>
              <a:rPr lang="en-US" dirty="0"/>
              <a:t>E.g. “Guy” and “dude” are probably pretty close in most dimensions. </a:t>
            </a:r>
          </a:p>
          <a:p>
            <a:r>
              <a:rPr lang="en-US" dirty="0"/>
              <a:t>With LLMs, this is key to predicting the next token.</a:t>
            </a:r>
          </a:p>
          <a:p>
            <a:pPr lvl="1"/>
            <a:r>
              <a:rPr lang="en-US" dirty="0"/>
              <a:t>Model predicts a M-dim value of next word, select a token that is close to that. </a:t>
            </a:r>
          </a:p>
          <a:p>
            <a:r>
              <a:rPr lang="en-US" dirty="0"/>
              <a:t>This benefits from large amounts of data. </a:t>
            </a:r>
          </a:p>
          <a:p>
            <a:pPr lvl="1"/>
            <a:r>
              <a:rPr lang="en-US" dirty="0"/>
              <a:t>English is messy, lots of context is needed to disambiguate meaning. </a:t>
            </a:r>
          </a:p>
          <a:p>
            <a:r>
              <a:rPr lang="en-US" dirty="0"/>
              <a:t>We can use embedding spaces defined by others or make our own. </a:t>
            </a:r>
          </a:p>
          <a:p>
            <a:pPr lvl="1"/>
            <a:r>
              <a:rPr lang="en-US" dirty="0"/>
              <a:t>If we have specialized language, our own might be better, otherwise likely not. </a:t>
            </a:r>
          </a:p>
        </p:txBody>
      </p:sp>
    </p:spTree>
    <p:extLst>
      <p:ext uri="{BB962C8B-B14F-4D97-AF65-F5344CB8AC3E}">
        <p14:creationId xmlns:p14="http://schemas.microsoft.com/office/powerpoint/2010/main" val="1094309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5609-D71B-AB4E-8925-81157B02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F3120-6F43-9442-A1C8-322B97A7B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5434" y="1853754"/>
            <a:ext cx="5096566" cy="4051300"/>
          </a:xfrm>
        </p:spPr>
        <p:txBody>
          <a:bodyPr/>
          <a:lstStyle/>
          <a:p>
            <a:r>
              <a:rPr lang="en-US" dirty="0"/>
              <a:t>Text isn’t just a bag-o-words, order matters.</a:t>
            </a:r>
          </a:p>
          <a:p>
            <a:pPr lvl="1"/>
            <a:r>
              <a:rPr lang="en-US" dirty="0"/>
              <a:t>”Dumps like a truck” and “likes dump trucks” are verry different. </a:t>
            </a:r>
          </a:p>
          <a:p>
            <a:r>
              <a:rPr lang="en-US" dirty="0"/>
              <a:t>NLP can benefit from learning from order. </a:t>
            </a:r>
          </a:p>
          <a:p>
            <a:pPr lvl="1"/>
            <a:r>
              <a:rPr lang="en-US" dirty="0"/>
              <a:t>In NN, we’ll look at order more explicitly. </a:t>
            </a:r>
          </a:p>
          <a:p>
            <a:r>
              <a:rPr lang="en-US" dirty="0"/>
              <a:t>The order will (hopefully) help capture meaning from text better. </a:t>
            </a:r>
          </a:p>
          <a:p>
            <a:r>
              <a:rPr lang="en-US" dirty="0"/>
              <a:t>LLM and similar models capture information on sequence as part of their process.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EE09B02-039B-2C4A-B46D-0D99539A3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35" y="1853754"/>
            <a:ext cx="6807200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06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F473-3831-723D-A4F2-DB607ABCE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More Aware…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1C8ED-D767-7DC9-4496-E670EA042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749821" cy="4199727"/>
          </a:xfrm>
        </p:spPr>
        <p:txBody>
          <a:bodyPr>
            <a:normAutofit/>
          </a:bodyPr>
          <a:lstStyle/>
          <a:p>
            <a:r>
              <a:rPr lang="en-US" dirty="0"/>
              <a:t>With images, we flattened the data and that looses spatial awareness. </a:t>
            </a:r>
          </a:p>
          <a:p>
            <a:pPr lvl="1"/>
            <a:r>
              <a:rPr lang="en-US" dirty="0"/>
              <a:t>The relationship of pixels that are close to each other is important. </a:t>
            </a:r>
          </a:p>
          <a:p>
            <a:pPr lvl="1"/>
            <a:r>
              <a:rPr lang="en-US" dirty="0"/>
              <a:t>A face is the same in the top left or bottom right, we don’t capture that in our features. </a:t>
            </a:r>
          </a:p>
          <a:p>
            <a:r>
              <a:rPr lang="en-US" dirty="0"/>
              <a:t>With text, we transform the data into a ~count of words, this looses temporal awareness.</a:t>
            </a:r>
          </a:p>
          <a:p>
            <a:pPr lvl="1"/>
            <a:r>
              <a:rPr lang="en-US" dirty="0"/>
              <a:t>The relationship of tokens to things before/after them matters.  </a:t>
            </a:r>
          </a:p>
          <a:p>
            <a:pPr lvl="1"/>
            <a:r>
              <a:rPr lang="en-US" dirty="0"/>
              <a:t>Where words are in text matters and can change meaning, our features don’t capture that. </a:t>
            </a:r>
          </a:p>
          <a:p>
            <a:r>
              <a:rPr lang="en-US" dirty="0"/>
              <a:t>Each of these is an example of how classical models don’t fit unstructured data well. </a:t>
            </a:r>
          </a:p>
          <a:p>
            <a:pPr lvl="1"/>
            <a:r>
              <a:rPr lang="en-US" dirty="0"/>
              <a:t>One of the things we need to make accurate predictions isn’t capturable by our methods. </a:t>
            </a:r>
          </a:p>
          <a:p>
            <a:pPr lvl="1"/>
            <a:r>
              <a:rPr lang="en-US" dirty="0"/>
              <a:t>We can get </a:t>
            </a:r>
            <a:r>
              <a:rPr lang="en-US" i="1" dirty="0"/>
              <a:t>some</a:t>
            </a:r>
            <a:r>
              <a:rPr lang="en-US" dirty="0"/>
              <a:t> information from text into our model, but not (near?) all. </a:t>
            </a:r>
          </a:p>
          <a:p>
            <a:pPr lvl="1"/>
            <a:r>
              <a:rPr lang="en-US" dirty="0"/>
              <a:t>There’s model structures that specialize in capturing different types of relationships. </a:t>
            </a:r>
          </a:p>
        </p:txBody>
      </p:sp>
      <p:pic>
        <p:nvPicPr>
          <p:cNvPr id="4" name="Picture 3" descr="Data Augmentation: How to Use Deep Learning with Limited Data">
            <a:extLst>
              <a:ext uri="{FF2B5EF4-FFF2-40B4-BE49-F238E27FC236}">
                <a16:creationId xmlns:a16="http://schemas.microsoft.com/office/drawing/2014/main" id="{9682DDC7-DF9D-4493-9EE3-B361FFEA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03"/>
          <a:stretch>
            <a:fillRect/>
          </a:stretch>
        </p:blipFill>
        <p:spPr>
          <a:xfrm>
            <a:off x="5712110" y="142504"/>
            <a:ext cx="3468828" cy="1464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87E6E-0631-43AF-2755-FFEB267061DF}"/>
              </a:ext>
            </a:extLst>
          </p:cNvPr>
          <p:cNvSpPr txBox="1"/>
          <p:nvPr/>
        </p:nvSpPr>
        <p:spPr>
          <a:xfrm>
            <a:off x="9343815" y="836711"/>
            <a:ext cx="2494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“He killed it” vs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“It killed him”</a:t>
            </a:r>
          </a:p>
        </p:txBody>
      </p:sp>
    </p:spTree>
    <p:extLst>
      <p:ext uri="{BB962C8B-B14F-4D97-AF65-F5344CB8AC3E}">
        <p14:creationId xmlns:p14="http://schemas.microsoft.com/office/powerpoint/2010/main" val="2191944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A5D6-C8FC-B473-94E4-174561A24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7881-E651-AE6B-4396-F5603E69A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For us, for now, we’ll collapse the embedding values down. </a:t>
            </a:r>
          </a:p>
          <a:p>
            <a:r>
              <a:rPr lang="en-US" dirty="0"/>
              <a:t>Later, with neural networks, we’ll look at how we can use them sans collapse. </a:t>
            </a:r>
          </a:p>
          <a:p>
            <a:pPr lvl="1"/>
            <a:r>
              <a:rPr lang="en-US" dirty="0"/>
              <a:t>Our models can only handle a 2D grid of data.</a:t>
            </a:r>
          </a:p>
          <a:p>
            <a:r>
              <a:rPr lang="en-US" dirty="0"/>
              <a:t>Overall, any representation could work.</a:t>
            </a:r>
          </a:p>
          <a:p>
            <a:pPr lvl="1"/>
            <a:r>
              <a:rPr lang="en-US" dirty="0"/>
              <a:t>In our examples, we’ll collapse multi-D embeddings down to 1 D. </a:t>
            </a:r>
          </a:p>
          <a:p>
            <a:pPr lvl="1"/>
            <a:r>
              <a:rPr lang="en-US" dirty="0"/>
              <a:t>We could keep the multiple dimensions, and have a 3D dataset (later). </a:t>
            </a:r>
          </a:p>
          <a:p>
            <a:pPr lvl="1"/>
            <a:r>
              <a:rPr lang="en-US" dirty="0"/>
              <a:t>We could do any other flattening – we’d have to test to see what works well. </a:t>
            </a:r>
          </a:p>
        </p:txBody>
      </p:sp>
    </p:spTree>
    <p:extLst>
      <p:ext uri="{BB962C8B-B14F-4D97-AF65-F5344CB8AC3E}">
        <p14:creationId xmlns:p14="http://schemas.microsoft.com/office/powerpoint/2010/main" val="24981841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88F9-85E9-5484-C5D9-13312DC8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9C6F-DE31-64B5-D08A-991491184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273" y="1853754"/>
            <a:ext cx="4838219" cy="4280828"/>
          </a:xfrm>
        </p:spPr>
        <p:txBody>
          <a:bodyPr/>
          <a:lstStyle/>
          <a:p>
            <a:r>
              <a:rPr lang="en-US" dirty="0"/>
              <a:t>No matter the process, we end up with usable features to feed a model. </a:t>
            </a:r>
          </a:p>
          <a:p>
            <a:r>
              <a:rPr lang="en-US" dirty="0"/>
              <a:t>If these features capture meaning varies. </a:t>
            </a:r>
          </a:p>
          <a:p>
            <a:r>
              <a:rPr lang="en-US" dirty="0"/>
              <a:t>More elaborate systems can capture ‘deeper’ meaning. </a:t>
            </a:r>
          </a:p>
          <a:p>
            <a:r>
              <a:rPr lang="en-US" dirty="0"/>
              <a:t>Current </a:t>
            </a:r>
            <a:r>
              <a:rPr lang="en-US" dirty="0" err="1"/>
              <a:t>sota</a:t>
            </a:r>
            <a:r>
              <a:rPr lang="en-US" dirty="0"/>
              <a:t> uses embeddings of several thousand dimensions. </a:t>
            </a:r>
          </a:p>
          <a:p>
            <a:pPr lvl="1"/>
            <a:r>
              <a:rPr lang="en-US" dirty="0" err="1"/>
              <a:t>Subword</a:t>
            </a:r>
            <a:r>
              <a:rPr lang="en-US" dirty="0"/>
              <a:t> tokenization (splits </a:t>
            </a:r>
            <a:r>
              <a:rPr lang="en-US" dirty="0" err="1"/>
              <a:t>ing</a:t>
            </a:r>
            <a:r>
              <a:rPr lang="en-US" dirty="0"/>
              <a:t>/er/non…)</a:t>
            </a:r>
          </a:p>
          <a:p>
            <a:pPr lvl="1"/>
            <a:r>
              <a:rPr lang="en-US" dirty="0"/>
              <a:t>Massive data needs to train embeddings. </a:t>
            </a:r>
          </a:p>
        </p:txBody>
      </p:sp>
      <p:pic>
        <p:nvPicPr>
          <p:cNvPr id="4" name="Picture 3" descr="What are Embedding Models? An Overview - The Couchbase Blog">
            <a:extLst>
              <a:ext uri="{FF2B5EF4-FFF2-40B4-BE49-F238E27FC236}">
                <a16:creationId xmlns:a16="http://schemas.microsoft.com/office/drawing/2014/main" id="{D608F6BC-07D6-B351-6A8A-E0E6C7008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491" y="1853754"/>
            <a:ext cx="6231038" cy="465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80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39ED-4049-484A-8A23-EF2C3DFB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59CA-DD5B-E345-972A-8104869FC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NLP is an area that is very quickly developing. </a:t>
            </a:r>
          </a:p>
          <a:p>
            <a:r>
              <a:rPr lang="en-US" dirty="0"/>
              <a:t>More data makes a big difference!</a:t>
            </a:r>
          </a:p>
          <a:p>
            <a:pPr lvl="1"/>
            <a:r>
              <a:rPr lang="en-US" dirty="0"/>
              <a:t>Language has subtleties, massive datasets allow those subtleties to become patterns. </a:t>
            </a:r>
          </a:p>
          <a:p>
            <a:pPr lvl="1"/>
            <a:r>
              <a:rPr lang="en-US" dirty="0"/>
              <a:t>Models may have kind of stalled, where is there more human text to use to train? </a:t>
            </a:r>
          </a:p>
          <a:p>
            <a:r>
              <a:rPr lang="en-US" dirty="0"/>
              <a:t>Preprocessing choices can make massive differences:</a:t>
            </a:r>
          </a:p>
          <a:p>
            <a:pPr lvl="1"/>
            <a:r>
              <a:rPr lang="en-US" dirty="0"/>
              <a:t>Stemming, lemmatization, stop words, and n-gram size all vary widely depending on context. </a:t>
            </a:r>
          </a:p>
          <a:p>
            <a:r>
              <a:rPr lang="en-US" dirty="0"/>
              <a:t>The embedding space quality matters as much or more than the predictor. </a:t>
            </a:r>
          </a:p>
          <a:p>
            <a:pPr lvl="1"/>
            <a:r>
              <a:rPr lang="en-US" dirty="0"/>
              <a:t>Like images, we must represent text as numbers – how well we do this is critical. </a:t>
            </a:r>
          </a:p>
          <a:p>
            <a:pPr lvl="1"/>
            <a:r>
              <a:rPr lang="en-US" dirty="0"/>
              <a:t>This is a source of irreducible error for the predictive model. </a:t>
            </a:r>
          </a:p>
          <a:p>
            <a:pPr lvl="1"/>
            <a:r>
              <a:rPr lang="en-US" dirty="0"/>
              <a:t>E.g. the word “lit” has a different lemma on Twitter, in a college English dept, or for wildfires. </a:t>
            </a:r>
          </a:p>
        </p:txBody>
      </p:sp>
    </p:spTree>
    <p:extLst>
      <p:ext uri="{BB962C8B-B14F-4D97-AF65-F5344CB8AC3E}">
        <p14:creationId xmlns:p14="http://schemas.microsoft.com/office/powerpoint/2010/main" val="2196243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237C-6E20-E34E-B7D9-06A3FF03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advanced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941D-47C9-7A41-96F7-C35BE56B8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038579" cy="4144969"/>
          </a:xfrm>
        </p:spPr>
        <p:txBody>
          <a:bodyPr>
            <a:normAutofit/>
          </a:bodyPr>
          <a:lstStyle/>
          <a:p>
            <a:r>
              <a:rPr lang="en-US" dirty="0"/>
              <a:t>Many NLP tools are used in concert with neural networks. </a:t>
            </a:r>
          </a:p>
          <a:p>
            <a:pPr lvl="1"/>
            <a:r>
              <a:rPr lang="en-US" dirty="0"/>
              <a:t>We’ll revisit some later on towards the end. </a:t>
            </a:r>
          </a:p>
          <a:p>
            <a:pPr lvl="1"/>
            <a:r>
              <a:rPr lang="en-US" dirty="0"/>
              <a:t>NNs are well suited to the challenge of extracting patterns from large datasets. </a:t>
            </a:r>
          </a:p>
          <a:p>
            <a:pPr lvl="2"/>
            <a:r>
              <a:rPr lang="en-US" dirty="0"/>
              <a:t>Complex relationships, huge data, large models. </a:t>
            </a:r>
          </a:p>
          <a:p>
            <a:r>
              <a:rPr lang="en-US" dirty="0"/>
              <a:t>Recurrent neural networks and transformers (March) are model types that are good at NLP. </a:t>
            </a:r>
          </a:p>
          <a:p>
            <a:pPr lvl="1"/>
            <a:r>
              <a:rPr lang="en-US" dirty="0"/>
              <a:t>Good at capturing sequence of tokens – important for actual language. </a:t>
            </a:r>
          </a:p>
          <a:p>
            <a:pPr lvl="1"/>
            <a:r>
              <a:rPr lang="en-US" dirty="0"/>
              <a:t>These tools enable text generation – predict the next word, and generate it. </a:t>
            </a:r>
          </a:p>
          <a:p>
            <a:pPr lvl="1"/>
            <a:r>
              <a:rPr lang="en-US" dirty="0"/>
              <a:t>I.e. what value (in N-dim) should the next word have? Choose a word that is embedded close to that ‘correct’ word. </a:t>
            </a:r>
          </a:p>
          <a:p>
            <a:pPr lvl="1"/>
            <a:r>
              <a:rPr lang="en-US" dirty="0"/>
              <a:t>Precursor to the types of models that are used for modern text generation, transformers. </a:t>
            </a:r>
          </a:p>
        </p:txBody>
      </p:sp>
    </p:spTree>
    <p:extLst>
      <p:ext uri="{BB962C8B-B14F-4D97-AF65-F5344CB8AC3E}">
        <p14:creationId xmlns:p14="http://schemas.microsoft.com/office/powerpoint/2010/main" val="4889137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F35A-AABD-D1BE-E81C-27EB4675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Conclusion,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1C4D-C3A6-CBBA-0845-3BBB9A122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Text is a very complex thing – we can express the same thing in many ways, and different things in similar ways. </a:t>
            </a:r>
          </a:p>
          <a:p>
            <a:r>
              <a:rPr lang="en-US" dirty="0"/>
              <a:t>Performance of our models is very context dependent:</a:t>
            </a:r>
          </a:p>
          <a:p>
            <a:pPr lvl="1"/>
            <a:r>
              <a:rPr lang="en-US" dirty="0"/>
              <a:t>Different parts of text matter depending on the goal (e.g. generation vs classification). </a:t>
            </a:r>
          </a:p>
          <a:p>
            <a:pPr lvl="1"/>
            <a:r>
              <a:rPr lang="en-US" dirty="0"/>
              <a:t>There are several moving parts – cleaning, processing, embedding, model….</a:t>
            </a:r>
          </a:p>
          <a:p>
            <a:r>
              <a:rPr lang="en-US" dirty="0"/>
              <a:t>In general:</a:t>
            </a:r>
          </a:p>
          <a:p>
            <a:pPr lvl="1"/>
            <a:r>
              <a:rPr lang="en-US" dirty="0"/>
              <a:t>For classification/regression – simplify the problem as much as is reasonable/works. </a:t>
            </a:r>
          </a:p>
          <a:p>
            <a:pPr lvl="2"/>
            <a:r>
              <a:rPr lang="en-US" dirty="0"/>
              <a:t>Meaning matters, text detail doesn’t. We want to limit variance errors. </a:t>
            </a:r>
          </a:p>
          <a:p>
            <a:pPr lvl="1"/>
            <a:r>
              <a:rPr lang="en-US" dirty="0"/>
              <a:t>For generation/advanced stuff – complex model, embedding, large data. </a:t>
            </a:r>
          </a:p>
          <a:p>
            <a:pPr lvl="2"/>
            <a:r>
              <a:rPr lang="en-US" dirty="0"/>
              <a:t>The relationships are complex, so we need a large model to be able to capture it. </a:t>
            </a:r>
          </a:p>
          <a:p>
            <a:pPr lvl="2"/>
            <a:r>
              <a:rPr lang="en-US" dirty="0"/>
              <a:t>Data needs can explode – need to be able to disambiguate all uses of each token. </a:t>
            </a:r>
          </a:p>
        </p:txBody>
      </p:sp>
    </p:spTree>
    <p:extLst>
      <p:ext uri="{BB962C8B-B14F-4D97-AF65-F5344CB8AC3E}">
        <p14:creationId xmlns:p14="http://schemas.microsoft.com/office/powerpoint/2010/main" val="17493912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32928</TotalTime>
  <Words>4091</Words>
  <Application>Microsoft Macintosh PowerPoint</Application>
  <PresentationFormat>Widescreen</PresentationFormat>
  <Paragraphs>323</Paragraphs>
  <Slides>45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Gill Sans MT</vt:lpstr>
      <vt:lpstr>Gallery</vt:lpstr>
      <vt:lpstr>Today:</vt:lpstr>
      <vt:lpstr>Stems/Lemms and Other languages</vt:lpstr>
      <vt:lpstr>Quick LLM Note (Just FYI)</vt:lpstr>
      <vt:lpstr>NLP Part 2</vt:lpstr>
      <vt:lpstr>Natural Language Processing Review</vt:lpstr>
      <vt:lpstr>Processing Text</vt:lpstr>
      <vt:lpstr>Vectorization </vt:lpstr>
      <vt:lpstr>Remember the Dik Pyramid</vt:lpstr>
      <vt:lpstr>Represent!</vt:lpstr>
      <vt:lpstr>Dealing With dimensions</vt:lpstr>
      <vt:lpstr>Too many Words! Dimension Reduction</vt:lpstr>
      <vt:lpstr>Truncated SVD and LSA</vt:lpstr>
      <vt:lpstr>What’s Going on…</vt:lpstr>
      <vt:lpstr>Truncated SVD – Singular Value Decomposition</vt:lpstr>
      <vt:lpstr>PowerPoint Presentation</vt:lpstr>
      <vt:lpstr>TSVD Results</vt:lpstr>
      <vt:lpstr>Truncated SVD - Results</vt:lpstr>
      <vt:lpstr>Note - Unsupervised Data Preparation</vt:lpstr>
      <vt:lpstr>TSVD Feature Set</vt:lpstr>
      <vt:lpstr>Slight Detour – Remember R2?</vt:lpstr>
      <vt:lpstr>Numbers from Words </vt:lpstr>
      <vt:lpstr>Embedding Generating Tools</vt:lpstr>
      <vt:lpstr>“meaning” of Text</vt:lpstr>
      <vt:lpstr>Dimensionality and Embeddings</vt:lpstr>
      <vt:lpstr>This, but in 5000 Dimensions</vt:lpstr>
      <vt:lpstr>Embeddings</vt:lpstr>
      <vt:lpstr>Embeddings Visualized</vt:lpstr>
      <vt:lpstr>Detour – MultiModal Models</vt:lpstr>
      <vt:lpstr>PowerPoint Presentation</vt:lpstr>
      <vt:lpstr>Detour – MultiModal Models</vt:lpstr>
      <vt:lpstr>Word2Vec and Alternate encodings</vt:lpstr>
      <vt:lpstr>Embedding Systems</vt:lpstr>
      <vt:lpstr>Word2Vec - SkipGram and CBOW</vt:lpstr>
      <vt:lpstr>PowerPoint Presentation</vt:lpstr>
      <vt:lpstr>Differences</vt:lpstr>
      <vt:lpstr>PowerPoint Presentation</vt:lpstr>
      <vt:lpstr>Big Note For us right now</vt:lpstr>
      <vt:lpstr>Using embeddings</vt:lpstr>
      <vt:lpstr>Temporal Awareness</vt:lpstr>
      <vt:lpstr>Be More Aware…</vt:lpstr>
      <vt:lpstr>Using Embeddings</vt:lpstr>
      <vt:lpstr>Embedding Results</vt:lpstr>
      <vt:lpstr>NLP in Practice</vt:lpstr>
      <vt:lpstr>More advanced NLP</vt:lpstr>
      <vt:lpstr>NLP Conclusion, Part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Akeem Semper</dc:creator>
  <cp:keywords/>
  <dc:description/>
  <cp:lastModifiedBy>Akeem Semper</cp:lastModifiedBy>
  <cp:revision>52</cp:revision>
  <dcterms:created xsi:type="dcterms:W3CDTF">2022-02-06T17:46:03Z</dcterms:created>
  <dcterms:modified xsi:type="dcterms:W3CDTF">2026-02-10T18:06:00Z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2025-02-06T15:21:24Z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e13597fe-cec5-4261-80ed-b8487247325c</vt:lpwstr>
  </property>
  <property fmtid="{D5CDD505-2E9C-101B-9397-08002B2CF9AE}" pid="8" name="MSIP_Label_10877899-02b0-462c-b2a9-b7d15c4f96fe_ContentBits">
    <vt:lpwstr>0</vt:lpwstr>
  </property>
</Properties>
</file>