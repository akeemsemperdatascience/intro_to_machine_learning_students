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56" r:id="rId3"/>
    <p:sldId id="279" r:id="rId4"/>
    <p:sldId id="257" r:id="rId5"/>
    <p:sldId id="278" r:id="rId6"/>
    <p:sldId id="258" r:id="rId7"/>
    <p:sldId id="259" r:id="rId8"/>
    <p:sldId id="263" r:id="rId9"/>
    <p:sldId id="264" r:id="rId10"/>
    <p:sldId id="281" r:id="rId11"/>
    <p:sldId id="265" r:id="rId12"/>
    <p:sldId id="260" r:id="rId13"/>
    <p:sldId id="261" r:id="rId14"/>
    <p:sldId id="269" r:id="rId15"/>
    <p:sldId id="270" r:id="rId16"/>
    <p:sldId id="262" r:id="rId17"/>
    <p:sldId id="273" r:id="rId18"/>
    <p:sldId id="271" r:id="rId19"/>
    <p:sldId id="277" r:id="rId20"/>
    <p:sldId id="266" r:id="rId21"/>
    <p:sldId id="274" r:id="rId22"/>
    <p:sldId id="275" r:id="rId23"/>
    <p:sldId id="276" r:id="rId24"/>
    <p:sldId id="267" r:id="rId25"/>
    <p:sldId id="2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482239-EE7A-9C4F-BC57-278085C53989}">
          <p14:sldIdLst>
            <p14:sldId id="280"/>
            <p14:sldId id="256"/>
            <p14:sldId id="279"/>
          </p14:sldIdLst>
        </p14:section>
        <p14:section name="RNN Overview" id="{D2354D4F-31A4-9A43-866C-B9DB35545208}">
          <p14:sldIdLst>
            <p14:sldId id="257"/>
            <p14:sldId id="278"/>
          </p14:sldIdLst>
        </p14:section>
        <p14:section name="NLP Review" id="{0592FA4D-4CF8-8645-BFDE-A56924EDB134}">
          <p14:sldIdLst>
            <p14:sldId id="258"/>
          </p14:sldIdLst>
        </p14:section>
        <p14:section name="NLP Data" id="{68EA8FCF-E263-BB43-AD14-EDEDD459511C}">
          <p14:sldIdLst>
            <p14:sldId id="259"/>
            <p14:sldId id="263"/>
            <p14:sldId id="264"/>
            <p14:sldId id="281"/>
            <p14:sldId id="265"/>
          </p14:sldIdLst>
        </p14:section>
        <p14:section name="Padding" id="{ED6B34E2-AB8D-A745-B450-4FBD0082BC25}">
          <p14:sldIdLst>
            <p14:sldId id="260"/>
          </p14:sldIdLst>
        </p14:section>
        <p14:section name="Sequences" id="{10F186FD-5291-BF49-9AB0-9D440E162FC8}">
          <p14:sldIdLst>
            <p14:sldId id="261"/>
            <p14:sldId id="269"/>
          </p14:sldIdLst>
        </p14:section>
        <p14:section name="Coallate" id="{4B728811-7040-AB45-95AD-B7F395A7AF25}">
          <p14:sldIdLst>
            <p14:sldId id="270"/>
          </p14:sldIdLst>
        </p14:section>
        <p14:section name="LSTM Classifications" id="{8C1640FA-251D-FF4E-93B8-F91603B63952}">
          <p14:sldIdLst>
            <p14:sldId id="262"/>
            <p14:sldId id="273"/>
            <p14:sldId id="271"/>
            <p14:sldId id="277"/>
          </p14:sldIdLst>
        </p14:section>
        <p14:section name="Other Applications" id="{B29780C7-CD48-1F4A-B12D-5162464A94D0}">
          <p14:sldIdLst>
            <p14:sldId id="266"/>
          </p14:sldIdLst>
        </p14:section>
        <p14:section name="Untitled Section" id="{79CF649C-A65D-1347-AA71-8EE183850373}">
          <p14:sldIdLst>
            <p14:sldId id="274"/>
            <p14:sldId id="275"/>
            <p14:sldId id="276"/>
          </p14:sldIdLst>
        </p14:section>
        <p14:section name="Conclusion" id="{5D8A95F7-F167-F942-AEA7-F1E6A6E89CB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2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00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20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19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75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52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3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8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0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4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30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3468F-BFE4-1941-B2E8-8D68C7F4FCD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7B04237-3430-E94C-AAFF-A448BCC29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8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26ED-D298-B68C-BE92-D9D7A049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36E3-22CE-692D-0086-1DDF63C57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– NLP with RNNs part 1, classification. </a:t>
            </a:r>
          </a:p>
          <a:p>
            <a:pPr lvl="1"/>
            <a:r>
              <a:rPr lang="en-US" dirty="0"/>
              <a:t>Padding and sequences. </a:t>
            </a:r>
          </a:p>
          <a:p>
            <a:pPr lvl="1"/>
            <a:r>
              <a:rPr lang="en-US" dirty="0"/>
              <a:t>Using embeddings to their fullest. </a:t>
            </a:r>
          </a:p>
        </p:txBody>
      </p:sp>
    </p:spTree>
    <p:extLst>
      <p:ext uri="{BB962C8B-B14F-4D97-AF65-F5344CB8AC3E}">
        <p14:creationId xmlns:p14="http://schemas.microsoft.com/office/powerpoint/2010/main" val="2318280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7063-C909-0A13-60AD-41C7D4D5D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with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C53-1207-9192-57D0-271B0FA2B9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69933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58D7-87F9-9E29-0916-E2F795D6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D2DE0-698D-85ED-6736-4C3C9602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networks work well with natural language. </a:t>
            </a:r>
          </a:p>
          <a:p>
            <a:pPr lvl="1"/>
            <a:r>
              <a:rPr lang="en-US" dirty="0"/>
              <a:t>Language is unstructured, very highly dimensional, and has complex relationships. </a:t>
            </a:r>
          </a:p>
          <a:p>
            <a:r>
              <a:rPr lang="en-US" dirty="0"/>
              <a:t>Today – classification with NLP. </a:t>
            </a:r>
          </a:p>
          <a:p>
            <a:r>
              <a:rPr lang="en-US" dirty="0"/>
              <a:t>Next time – generation with NLP (which isn’t as different as we’d think). </a:t>
            </a:r>
          </a:p>
        </p:txBody>
      </p:sp>
    </p:spTree>
    <p:extLst>
      <p:ext uri="{BB962C8B-B14F-4D97-AF65-F5344CB8AC3E}">
        <p14:creationId xmlns:p14="http://schemas.microsoft.com/office/powerpoint/2010/main" val="347709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CC46-852C-4538-7593-F312CF99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RNNs?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9FB5-C08A-297D-9454-89852629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549" y="2015732"/>
            <a:ext cx="6413679" cy="4037749"/>
          </a:xfrm>
        </p:spPr>
        <p:txBody>
          <a:bodyPr/>
          <a:lstStyle/>
          <a:p>
            <a:r>
              <a:rPr lang="en-US" dirty="0"/>
              <a:t>Recurrent neural networks handle temporal relationships. </a:t>
            </a:r>
          </a:p>
          <a:p>
            <a:pPr lvl="1"/>
            <a:r>
              <a:rPr lang="en-US" dirty="0"/>
              <a:t>They can capture the impact of prior time steps on future predictions. </a:t>
            </a:r>
          </a:p>
          <a:p>
            <a:r>
              <a:rPr lang="en-US" dirty="0"/>
              <a:t>These models perform better on sequenced data. </a:t>
            </a:r>
          </a:p>
          <a:p>
            <a:pPr lvl="1"/>
            <a:r>
              <a:rPr lang="en-US" dirty="0"/>
              <a:t>Something that is repeated over many time steps. </a:t>
            </a:r>
          </a:p>
          <a:p>
            <a:pPr lvl="1"/>
            <a:r>
              <a:rPr lang="en-US" dirty="0"/>
              <a:t>Stock quotes, price forecasts, language,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Benefit from maintaining a ‘memory’. </a:t>
            </a:r>
          </a:p>
          <a:p>
            <a:pPr lvl="1"/>
            <a:r>
              <a:rPr lang="en-US" dirty="0"/>
              <a:t>Tracks the earlier stuff so the model can make predictions from data + memory. </a:t>
            </a:r>
          </a:p>
        </p:txBody>
      </p:sp>
      <p:pic>
        <p:nvPicPr>
          <p:cNvPr id="9218" name="Picture 2" descr="A Brief Introduction to Recurrent Neural Networks | Towards Data Science">
            <a:extLst>
              <a:ext uri="{FF2B5EF4-FFF2-40B4-BE49-F238E27FC236}">
                <a16:creationId xmlns:a16="http://schemas.microsoft.com/office/drawing/2014/main" id="{71F7150B-B75C-83FA-A97E-85009B6CB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89"/>
          <a:stretch>
            <a:fillRect/>
          </a:stretch>
        </p:blipFill>
        <p:spPr bwMode="auto">
          <a:xfrm>
            <a:off x="6993228" y="2512760"/>
            <a:ext cx="5198772" cy="222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C775-BEA8-5DD3-00AA-D7B7F687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6DE4-F40A-C2DB-4610-5D03C153B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several RNN implementations. </a:t>
            </a:r>
          </a:p>
          <a:p>
            <a:r>
              <a:rPr lang="en-US" dirty="0"/>
              <a:t>Simple RNNs maintain a state, that is passed forward each step. </a:t>
            </a:r>
          </a:p>
          <a:p>
            <a:pPr lvl="1"/>
            <a:r>
              <a:rPr lang="en-US" dirty="0"/>
              <a:t>This can lead to issues over long time periods. </a:t>
            </a:r>
          </a:p>
          <a:p>
            <a:pPr lvl="1"/>
            <a:r>
              <a:rPr lang="en-US" dirty="0"/>
              <a:t>E.g. how much do initial words in a long sentence impact the next word. </a:t>
            </a:r>
          </a:p>
          <a:p>
            <a:r>
              <a:rPr lang="en-US" dirty="0"/>
              <a:t>Backpropagation goes over time, and gradients can vanish (or explode). </a:t>
            </a:r>
          </a:p>
          <a:p>
            <a:pPr lvl="1"/>
            <a:r>
              <a:rPr lang="en-US" dirty="0"/>
              <a:t>Model isn’t able to accurately learn from far past time steps. </a:t>
            </a:r>
          </a:p>
          <a:p>
            <a:r>
              <a:rPr lang="en-US" dirty="0"/>
              <a:t>Solution – long short term memory models with two states. </a:t>
            </a:r>
          </a:p>
          <a:p>
            <a:pPr lvl="1"/>
            <a:r>
              <a:rPr lang="en-US" dirty="0"/>
              <a:t>Cell state tracks long term information, hidden state tracks short term info. </a:t>
            </a:r>
          </a:p>
          <a:p>
            <a:pPr lvl="1"/>
            <a:r>
              <a:rPr lang="en-US" dirty="0"/>
              <a:t>Series of gates combine data and keep/remove based on relevance (w/ linear algebra). </a:t>
            </a:r>
          </a:p>
        </p:txBody>
      </p:sp>
      <p:pic>
        <p:nvPicPr>
          <p:cNvPr id="4" name="Picture 2" descr="A Brief Introduction to Recurrent Neural Networks | Towards Data Science">
            <a:extLst>
              <a:ext uri="{FF2B5EF4-FFF2-40B4-BE49-F238E27FC236}">
                <a16:creationId xmlns:a16="http://schemas.microsoft.com/office/drawing/2014/main" id="{E3DBA74B-6B22-39AE-190C-F48640006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89"/>
          <a:stretch>
            <a:fillRect/>
          </a:stretch>
        </p:blipFill>
        <p:spPr bwMode="auto">
          <a:xfrm>
            <a:off x="6993228" y="0"/>
            <a:ext cx="5198772" cy="222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90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DA5D-55B0-47D1-EEB6-37AA0F48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01C5-D48B-81D8-725E-5AA3FF34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702" y="1853754"/>
            <a:ext cx="7164298" cy="4199727"/>
          </a:xfrm>
        </p:spPr>
        <p:txBody>
          <a:bodyPr/>
          <a:lstStyle/>
          <a:p>
            <a:r>
              <a:rPr lang="en-US" dirty="0"/>
              <a:t>Natural language processing uses natural text as features. </a:t>
            </a:r>
          </a:p>
          <a:p>
            <a:r>
              <a:rPr lang="en-US" dirty="0"/>
              <a:t>Can do sentiment, classification, text generation,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Depends on vectorization – represent text with numbers. </a:t>
            </a:r>
          </a:p>
          <a:p>
            <a:pPr lvl="1"/>
            <a:r>
              <a:rPr lang="en-US" dirty="0"/>
              <a:t>Simple versions are count based like frequency or </a:t>
            </a:r>
            <a:r>
              <a:rPr lang="en-US" dirty="0" err="1"/>
              <a:t>tf-idf</a:t>
            </a:r>
            <a:r>
              <a:rPr lang="en-US" dirty="0"/>
              <a:t>. </a:t>
            </a:r>
          </a:p>
          <a:p>
            <a:r>
              <a:rPr lang="en-US" dirty="0"/>
              <a:t>In neural networks we use embeddings. </a:t>
            </a:r>
          </a:p>
          <a:p>
            <a:pPr lvl="1"/>
            <a:r>
              <a:rPr lang="en-US" dirty="0"/>
              <a:t>Represent each token with a N-dimensional number. </a:t>
            </a:r>
          </a:p>
          <a:p>
            <a:pPr lvl="1"/>
            <a:r>
              <a:rPr lang="en-US" dirty="0"/>
              <a:t>High dimension space and lots of text give a good representation.</a:t>
            </a:r>
          </a:p>
        </p:txBody>
      </p:sp>
      <p:pic>
        <p:nvPicPr>
          <p:cNvPr id="11266" name="Picture 2" descr="Word Embeddings in Natural Language Processing | NLP | by Mohammed Zeeshan  Mulla | Medium">
            <a:extLst>
              <a:ext uri="{FF2B5EF4-FFF2-40B4-BE49-F238E27FC236}">
                <a16:creationId xmlns:a16="http://schemas.microsoft.com/office/drawing/2014/main" id="{1871FCA5-C385-3185-338A-933FD5176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9859"/>
            <a:ext cx="5027702" cy="473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45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CC8F5-F59D-78F9-DC3D-1C5ADC78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5B50-CB7B-95D1-7FF7-002E06E5D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With neural network models we don’t need 1D input data. </a:t>
            </a:r>
          </a:p>
          <a:p>
            <a:pPr lvl="1"/>
            <a:r>
              <a:rPr lang="en-US" dirty="0"/>
              <a:t>Those solutions work, but they lose lots of data. </a:t>
            </a:r>
          </a:p>
          <a:p>
            <a:r>
              <a:rPr lang="en-US" dirty="0"/>
              <a:t>Using high-dimensional embedding captures value better. </a:t>
            </a:r>
          </a:p>
          <a:p>
            <a:pPr lvl="1"/>
            <a:r>
              <a:rPr lang="en-US" dirty="0"/>
              <a:t>Each record is # tokens * embedding dimension. </a:t>
            </a:r>
          </a:p>
          <a:p>
            <a:r>
              <a:rPr lang="en-US" dirty="0"/>
              <a:t>The temporal abilities of the model help with the time factor. </a:t>
            </a:r>
          </a:p>
          <a:p>
            <a:r>
              <a:rPr lang="en-US" dirty="0"/>
              <a:t>Overall, neural networks classify like ‘regular’ ones, except:</a:t>
            </a:r>
          </a:p>
          <a:p>
            <a:pPr lvl="1"/>
            <a:r>
              <a:rPr lang="en-US" dirty="0"/>
              <a:t>The model can understand the sequencing of stuff. </a:t>
            </a:r>
          </a:p>
          <a:p>
            <a:pPr lvl="1"/>
            <a:r>
              <a:rPr lang="en-US" dirty="0"/>
              <a:t>The data provides a right representation of the meaning of words (tokens). </a:t>
            </a:r>
          </a:p>
          <a:p>
            <a:r>
              <a:rPr lang="en-US" dirty="0"/>
              <a:t>The model and data structure capture “what matters” better than before. </a:t>
            </a:r>
          </a:p>
        </p:txBody>
      </p:sp>
    </p:spTree>
    <p:extLst>
      <p:ext uri="{BB962C8B-B14F-4D97-AF65-F5344CB8AC3E}">
        <p14:creationId xmlns:p14="http://schemas.microsoft.com/office/powerpoint/2010/main" val="1342021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3740-3A9B-3966-8F73-1C92F967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A5763-3189-9A2E-567C-E890F5A09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5732"/>
            <a:ext cx="6110266" cy="3450613"/>
          </a:xfrm>
        </p:spPr>
        <p:txBody>
          <a:bodyPr/>
          <a:lstStyle/>
          <a:p>
            <a:r>
              <a:rPr lang="en-US" dirty="0"/>
              <a:t>Recall the embeddings we looked at with word2vec. </a:t>
            </a:r>
          </a:p>
          <a:p>
            <a:pPr lvl="1"/>
            <a:r>
              <a:rPr lang="en-US" dirty="0"/>
              <a:t>Represent each token with K dimensions. </a:t>
            </a:r>
          </a:p>
          <a:p>
            <a:r>
              <a:rPr lang="en-US" dirty="0"/>
              <a:t>With statistical models we had to collapse the embedding down to 1D.</a:t>
            </a:r>
          </a:p>
          <a:p>
            <a:r>
              <a:rPr lang="en-US" dirty="0"/>
              <a:t>Our neural networks can handle the data as-is. </a:t>
            </a:r>
          </a:p>
          <a:p>
            <a:pPr lvl="1"/>
            <a:r>
              <a:rPr lang="en-US" dirty="0"/>
              <a:t>Can capture a richer modeling of meaning of text. </a:t>
            </a:r>
          </a:p>
          <a:p>
            <a:endParaRPr lang="en-US" dirty="0"/>
          </a:p>
        </p:txBody>
      </p:sp>
      <p:pic>
        <p:nvPicPr>
          <p:cNvPr id="2050" name="Picture 2" descr="Word2Vec Explained: What IT Leaders Need to Know About NLP &amp; AI">
            <a:extLst>
              <a:ext uri="{FF2B5EF4-FFF2-40B4-BE49-F238E27FC236}">
                <a16:creationId xmlns:a16="http://schemas.microsoft.com/office/drawing/2014/main" id="{46230FA8-7550-66DE-BE34-FC5B2FF5E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" t="23964" r="4001" b="16937"/>
          <a:stretch>
            <a:fillRect/>
          </a:stretch>
        </p:blipFill>
        <p:spPr bwMode="auto">
          <a:xfrm>
            <a:off x="0" y="1935039"/>
            <a:ext cx="6110266" cy="229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veBook · Manning">
            <a:extLst>
              <a:ext uri="{FF2B5EF4-FFF2-40B4-BE49-F238E27FC236}">
                <a16:creationId xmlns:a16="http://schemas.microsoft.com/office/drawing/2014/main" id="{04B7C807-E265-9ECB-736D-652BF69D3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159" y="4233396"/>
            <a:ext cx="4246179" cy="253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23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60A0-2CE6-A3A8-0715-76EA2557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FE25-E707-3185-FF58-330F7612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4769709" cy="4068346"/>
          </a:xfrm>
        </p:spPr>
        <p:txBody>
          <a:bodyPr/>
          <a:lstStyle/>
          <a:p>
            <a:r>
              <a:rPr lang="en-US" dirty="0"/>
              <a:t>Performing the embedding is easy. </a:t>
            </a:r>
          </a:p>
          <a:p>
            <a:pPr lvl="1"/>
            <a:r>
              <a:rPr lang="en-US" dirty="0"/>
              <a:t>Can use </a:t>
            </a:r>
            <a:r>
              <a:rPr lang="en-US" dirty="0" err="1"/>
              <a:t>from_pretrained</a:t>
            </a:r>
            <a:r>
              <a:rPr lang="en-US" dirty="0"/>
              <a:t>() to use existing embedding spaces. </a:t>
            </a:r>
          </a:p>
          <a:p>
            <a:r>
              <a:rPr lang="en-US" dirty="0"/>
              <a:t>Add embedding layer as/near first layer. </a:t>
            </a:r>
          </a:p>
          <a:p>
            <a:pPr lvl="1"/>
            <a:r>
              <a:rPr lang="en-US" dirty="0"/>
              <a:t>Feed it sequences of tokens. </a:t>
            </a:r>
          </a:p>
          <a:p>
            <a:r>
              <a:rPr lang="en-US" dirty="0"/>
              <a:t>Outputs embedded values. </a:t>
            </a:r>
          </a:p>
          <a:p>
            <a:pPr lvl="1"/>
            <a:r>
              <a:rPr lang="en-US" dirty="0" err="1"/>
              <a:t>Num_tokens</a:t>
            </a:r>
            <a:r>
              <a:rPr lang="en-US" dirty="0"/>
              <a:t> * </a:t>
            </a:r>
            <a:r>
              <a:rPr lang="en-US" dirty="0" err="1"/>
              <a:t>emb_dimension</a:t>
            </a:r>
            <a:r>
              <a:rPr lang="en-US" dirty="0"/>
              <a:t>. </a:t>
            </a:r>
          </a:p>
          <a:p>
            <a:r>
              <a:rPr lang="en-US" dirty="0"/>
              <a:t>We just need to have series of tokens. </a:t>
            </a:r>
          </a:p>
          <a:p>
            <a:pPr lvl="1"/>
            <a:r>
              <a:rPr lang="en-US" dirty="0"/>
              <a:t>No need to manage embedding dims. </a:t>
            </a:r>
          </a:p>
        </p:txBody>
      </p:sp>
      <p:pic>
        <p:nvPicPr>
          <p:cNvPr id="3074" name="Picture 2" descr="Text Classification With PyTorch | Towards Data Science">
            <a:extLst>
              <a:ext uri="{FF2B5EF4-FFF2-40B4-BE49-F238E27FC236}">
                <a16:creationId xmlns:a16="http://schemas.microsoft.com/office/drawing/2014/main" id="{66A1938D-B886-25AE-3D8F-0CF657E72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708" y="2015732"/>
            <a:ext cx="7422292" cy="390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61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0D63-A48E-37C6-9756-F2CBB14B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Smarts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460F4-1BB5-3852-282A-8CFE997E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good embedding values is critical to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560919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7E47-4403-89F6-2EB0-5A9EEC94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Hope!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0E58-B391-37AD-E616-D196CCA0D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4144"/>
          </a:xfrm>
        </p:spPr>
        <p:txBody>
          <a:bodyPr/>
          <a:lstStyle/>
          <a:p>
            <a:r>
              <a:rPr lang="en-US" dirty="0"/>
              <a:t>This dataset structure and model should hopefully be better for text predictions. </a:t>
            </a:r>
          </a:p>
          <a:p>
            <a:pPr lvl="1"/>
            <a:r>
              <a:rPr lang="en-US" dirty="0"/>
              <a:t>Each token is represented in a “smarter” way – our representation gets more of the true meaning of that token. </a:t>
            </a:r>
          </a:p>
          <a:p>
            <a:pPr lvl="1"/>
            <a:r>
              <a:rPr lang="en-US" dirty="0"/>
              <a:t>The features sent to the dense layers come from this sequential “reading”. </a:t>
            </a:r>
          </a:p>
          <a:p>
            <a:pPr lvl="1"/>
            <a:r>
              <a:rPr lang="en-US" dirty="0"/>
              <a:t>The LSTM’s memories should help with understanding. </a:t>
            </a:r>
          </a:p>
          <a:p>
            <a:pPr lvl="2"/>
            <a:r>
              <a:rPr lang="en-US" dirty="0"/>
              <a:t>Cell state should (hopefully) capture things earlier in a sentence that matter. </a:t>
            </a:r>
          </a:p>
          <a:p>
            <a:pPr lvl="2"/>
            <a:r>
              <a:rPr lang="en-US" dirty="0"/>
              <a:t>That state isn’t “overridden” with new stuff, like a plain RNN. </a:t>
            </a:r>
          </a:p>
          <a:p>
            <a:r>
              <a:rPr lang="en-US" dirty="0"/>
              <a:t>Our input to the model can just be a sequence of tokens. </a:t>
            </a:r>
          </a:p>
          <a:p>
            <a:pPr lvl="1"/>
            <a:r>
              <a:rPr lang="en-US" dirty="0"/>
              <a:t>Embedding layer will translate it to vector of meaning, this will be </a:t>
            </a:r>
            <a:r>
              <a:rPr lang="en-US"/>
              <a:t>passed forward.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0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F89D-2C2A-BBB9-6BEF-0A609ABD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9D90-EA44-C25C-FF5E-CB24E216E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338" y="1853754"/>
            <a:ext cx="7455558" cy="4199727"/>
          </a:xfrm>
        </p:spPr>
        <p:txBody>
          <a:bodyPr>
            <a:normAutofit/>
          </a:bodyPr>
          <a:lstStyle/>
          <a:p>
            <a:r>
              <a:rPr lang="en-US" dirty="0"/>
              <a:t>To allow documents of different lengths to be used in the same model we can pad. </a:t>
            </a:r>
          </a:p>
          <a:p>
            <a:pPr lvl="1"/>
            <a:r>
              <a:rPr lang="en-US" dirty="0"/>
              <a:t>This makes our data a nice cube shape. (rows * tokens * dims). </a:t>
            </a:r>
          </a:p>
          <a:p>
            <a:r>
              <a:rPr lang="en-US" dirty="0"/>
              <a:t>Padding is inserting a special character/0s to fill the dead space. </a:t>
            </a:r>
          </a:p>
          <a:p>
            <a:pPr lvl="1"/>
            <a:r>
              <a:rPr lang="en-US" dirty="0"/>
              <a:t>Can do it manually, it is just a loop. </a:t>
            </a:r>
          </a:p>
          <a:p>
            <a:r>
              <a:rPr lang="en-US" dirty="0"/>
              <a:t>Padding can be at start or end (or other, but we’ll ignore). </a:t>
            </a:r>
          </a:p>
          <a:p>
            <a:pPr lvl="1"/>
            <a:r>
              <a:rPr lang="en-US" dirty="0"/>
              <a:t>Padding at the start is used when generating data. </a:t>
            </a:r>
          </a:p>
          <a:p>
            <a:r>
              <a:rPr lang="en-US" dirty="0"/>
              <a:t>Pieces of text are random lengths, so we need to use something like this to handle all of our data.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Effect of sequence padding on the performance of deep learning models in  archaeal protein functional prediction | Scientific Reports">
            <a:extLst>
              <a:ext uri="{FF2B5EF4-FFF2-40B4-BE49-F238E27FC236}">
                <a16:creationId xmlns:a16="http://schemas.microsoft.com/office/drawing/2014/main" id="{A2C3FF5E-148F-4AEF-E38A-EB48A743B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895" y="2674238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856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F454-54E5-151C-AE4C-B0E67CD3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F880-630C-A801-684C-80E83D1A3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also offers a more elaborate way to manage different length inputs – sequences. </a:t>
            </a:r>
          </a:p>
          <a:p>
            <a:pPr lvl="1"/>
            <a:r>
              <a:rPr lang="en-US" dirty="0"/>
              <a:t>Sequences can manage different lengths, without padding. </a:t>
            </a:r>
          </a:p>
          <a:p>
            <a:r>
              <a:rPr lang="en-US" dirty="0"/>
              <a:t>Saves processing time, we don’t need to worry about the padded part. </a:t>
            </a:r>
          </a:p>
          <a:p>
            <a:r>
              <a:rPr lang="en-US" dirty="0" err="1"/>
              <a:t>PyTorch</a:t>
            </a:r>
            <a:r>
              <a:rPr lang="en-US" dirty="0"/>
              <a:t> provides padded and packed sequences to:</a:t>
            </a:r>
          </a:p>
          <a:p>
            <a:pPr lvl="1"/>
            <a:r>
              <a:rPr lang="en-US" dirty="0"/>
              <a:t>Keep batching efficient.</a:t>
            </a:r>
          </a:p>
          <a:p>
            <a:pPr lvl="1"/>
            <a:r>
              <a:rPr lang="en-US" dirty="0"/>
              <a:t>Ensure RNN/LSTM models only process real tokens.</a:t>
            </a:r>
          </a:p>
          <a:p>
            <a:r>
              <a:rPr lang="en-US" dirty="0"/>
              <a:t>Common workflow: pad → pack → model. </a:t>
            </a:r>
          </a:p>
        </p:txBody>
      </p:sp>
    </p:spTree>
    <p:extLst>
      <p:ext uri="{BB962C8B-B14F-4D97-AF65-F5344CB8AC3E}">
        <p14:creationId xmlns:p14="http://schemas.microsoft.com/office/powerpoint/2010/main" val="343886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A926-BFE7-EB9C-F63B-3843EC51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557B-576C-A171-136A-452E4FC2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Packed sequences remove padded elements before computation</a:t>
            </a:r>
          </a:p>
          <a:p>
            <a:pPr lvl="1"/>
            <a:r>
              <a:rPr lang="en-US" dirty="0"/>
              <a:t>Created using </a:t>
            </a:r>
            <a:r>
              <a:rPr lang="en-US" dirty="0" err="1"/>
              <a:t>pack_padded_sequence</a:t>
            </a:r>
            <a:r>
              <a:rPr lang="en-US" dirty="0"/>
              <a:t>()</a:t>
            </a:r>
          </a:p>
          <a:p>
            <a:r>
              <a:rPr lang="en-US" dirty="0"/>
              <a:t>To pack the sequences, we need:</a:t>
            </a:r>
          </a:p>
          <a:p>
            <a:pPr lvl="1"/>
            <a:r>
              <a:rPr lang="en-US" dirty="0"/>
              <a:t>Actual sequence lengths.</a:t>
            </a:r>
          </a:p>
          <a:p>
            <a:pPr lvl="1"/>
            <a:r>
              <a:rPr lang="en-US" dirty="0"/>
              <a:t>Sequences are sorted by length or the </a:t>
            </a:r>
            <a:r>
              <a:rPr lang="en-US" dirty="0" err="1"/>
              <a:t>enforce_sorted</a:t>
            </a:r>
            <a:r>
              <a:rPr lang="en-US" dirty="0"/>
              <a:t> is False. </a:t>
            </a:r>
          </a:p>
          <a:p>
            <a:r>
              <a:rPr lang="en-US" dirty="0"/>
              <a:t>Allows for model to not deal with useless padding data. </a:t>
            </a:r>
          </a:p>
          <a:p>
            <a:r>
              <a:rPr lang="en-US" dirty="0"/>
              <a:t>Helps convergence in many cases. </a:t>
            </a:r>
          </a:p>
        </p:txBody>
      </p:sp>
    </p:spTree>
    <p:extLst>
      <p:ext uri="{BB962C8B-B14F-4D97-AF65-F5344CB8AC3E}">
        <p14:creationId xmlns:p14="http://schemas.microsoft.com/office/powerpoint/2010/main" val="14872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AD39-21E8-47C5-E0EE-BAAD1197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8836-B749-2129-D719-196B6F4D4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Collate functions can be used to provide a batch, in some different way.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is provided the function, and calls it to get data. </a:t>
            </a:r>
          </a:p>
          <a:p>
            <a:r>
              <a:rPr lang="en-US" dirty="0"/>
              <a:t>This function can do anything. </a:t>
            </a:r>
          </a:p>
          <a:p>
            <a:pPr lvl="1"/>
            <a:r>
              <a:rPr lang="en-US" dirty="0"/>
              <a:t>Ours will take the data and create the sequences. </a:t>
            </a:r>
          </a:p>
          <a:p>
            <a:r>
              <a:rPr lang="en-US" dirty="0"/>
              <a:t>Our collate will allow padding to be to max length of batch. </a:t>
            </a:r>
          </a:p>
          <a:p>
            <a:r>
              <a:rPr lang="en-US" dirty="0"/>
              <a:t>When the </a:t>
            </a:r>
            <a:r>
              <a:rPr lang="en-US" dirty="0" err="1"/>
              <a:t>dataloader</a:t>
            </a:r>
            <a:r>
              <a:rPr lang="en-US" dirty="0"/>
              <a:t> wants data, it’ll get a padded sequence, instead of a tensor. </a:t>
            </a:r>
          </a:p>
        </p:txBody>
      </p:sp>
    </p:spTree>
    <p:extLst>
      <p:ext uri="{BB962C8B-B14F-4D97-AF65-F5344CB8AC3E}">
        <p14:creationId xmlns:p14="http://schemas.microsoft.com/office/powerpoint/2010/main" val="688961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CEAA-E3C6-76D8-2022-77F80BF6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Classifications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3C68-4E5C-269F-4146-6D014ED4D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LSTM model will perform similarly to CNN models when doing classification. </a:t>
            </a:r>
          </a:p>
          <a:p>
            <a:pPr lvl="1"/>
            <a:r>
              <a:rPr lang="en-US" dirty="0"/>
              <a:t>The recurrent layers will transform the sequence to features. </a:t>
            </a:r>
          </a:p>
          <a:p>
            <a:pPr lvl="1"/>
            <a:r>
              <a:rPr lang="en-US" dirty="0"/>
              <a:t>The dense layers will transform these to a prediction. </a:t>
            </a:r>
          </a:p>
          <a:p>
            <a:r>
              <a:rPr lang="en-US" dirty="0"/>
              <a:t>Remember, given these features, we can predict anything we set as target. </a:t>
            </a:r>
          </a:p>
          <a:p>
            <a:r>
              <a:rPr lang="en-US" dirty="0"/>
              <a:t>Bidirectional is more likely to be helpful here. </a:t>
            </a:r>
          </a:p>
        </p:txBody>
      </p:sp>
    </p:spTree>
    <p:extLst>
      <p:ext uri="{BB962C8B-B14F-4D97-AF65-F5344CB8AC3E}">
        <p14:creationId xmlns:p14="http://schemas.microsoft.com/office/powerpoint/2010/main" val="1828430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FEF8-3AE6-F00C-DBC6-7F73C988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Multi-Label Classifications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F43E-AC27-CB8C-A5D2-948E5AA8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Our predictions are determined by the output shape and the values we put there. </a:t>
            </a:r>
          </a:p>
          <a:p>
            <a:r>
              <a:rPr lang="en-US" dirty="0"/>
              <a:t>One thing we can do is multi-label classifications. </a:t>
            </a:r>
          </a:p>
          <a:p>
            <a:pPr lvl="1"/>
            <a:r>
              <a:rPr lang="en-US" dirty="0"/>
              <a:t>Predict membership of several classes, irrespective of each other. </a:t>
            </a:r>
          </a:p>
          <a:p>
            <a:pPr lvl="1"/>
            <a:r>
              <a:rPr lang="en-US" dirty="0"/>
              <a:t>E.g. is this person a runner, cyclist, swimmer, skier, </a:t>
            </a:r>
            <a:r>
              <a:rPr lang="en-US" dirty="0" err="1"/>
              <a:t>etc</a:t>
            </a:r>
            <a:r>
              <a:rPr lang="en-US" dirty="0"/>
              <a:t>… </a:t>
            </a:r>
          </a:p>
          <a:p>
            <a:r>
              <a:rPr lang="en-US" dirty="0"/>
              <a:t>Setup:</a:t>
            </a:r>
          </a:p>
          <a:p>
            <a:pPr lvl="1"/>
            <a:r>
              <a:rPr lang="en-US" dirty="0"/>
              <a:t>Each class gets its own output neuron. </a:t>
            </a:r>
          </a:p>
          <a:p>
            <a:pPr lvl="1"/>
            <a:r>
              <a:rPr lang="en-US" dirty="0"/>
              <a:t>Each uses a sigmoid individually (no </a:t>
            </a:r>
            <a:r>
              <a:rPr lang="en-US" dirty="0" err="1"/>
              <a:t>softmax</a:t>
            </a:r>
            <a:r>
              <a:rPr lang="en-US" dirty="0"/>
              <a:t>) to determine membership. </a:t>
            </a:r>
          </a:p>
          <a:p>
            <a:pPr lvl="1"/>
            <a:r>
              <a:rPr lang="en-US" dirty="0"/>
              <a:t>Each prediction is like a separate binary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67831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BE8B-30F3-49E8-4566-2FDC2DC4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9CFEB-378E-9232-D638-5851908D1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How we generate embeddings matters depending on what we are doing. </a:t>
            </a:r>
          </a:p>
          <a:p>
            <a:pPr lvl="1"/>
            <a:r>
              <a:rPr lang="en-US" dirty="0"/>
              <a:t>Classification or sentiment models need only the meaningful words. </a:t>
            </a:r>
          </a:p>
          <a:p>
            <a:pPr lvl="1"/>
            <a:r>
              <a:rPr lang="en-US" dirty="0"/>
              <a:t>Generative text models need to capture and “understand” punctuation. </a:t>
            </a:r>
          </a:p>
          <a:p>
            <a:pPr lvl="1"/>
            <a:r>
              <a:rPr lang="en-US" dirty="0"/>
              <a:t>Generating embeddings for either task has different goals. </a:t>
            </a:r>
          </a:p>
          <a:p>
            <a:r>
              <a:rPr lang="en-US" dirty="0"/>
              <a:t>The embedding representation is roughly like data quality for tabular data. </a:t>
            </a:r>
          </a:p>
          <a:p>
            <a:pPr lvl="1"/>
            <a:r>
              <a:rPr lang="en-US" dirty="0"/>
              <a:t>We need to capture the features important for our prediction. </a:t>
            </a:r>
          </a:p>
          <a:p>
            <a:pPr lvl="1"/>
            <a:r>
              <a:rPr lang="en-US" dirty="0"/>
              <a:t>Quality of the representation matters as much or more than modelling. </a:t>
            </a:r>
          </a:p>
          <a:p>
            <a:r>
              <a:rPr lang="en-US" dirty="0"/>
              <a:t>There are many tokenizers/vectorizers/embedding models, results may vary. </a:t>
            </a:r>
          </a:p>
        </p:txBody>
      </p:sp>
    </p:spTree>
    <p:extLst>
      <p:ext uri="{BB962C8B-B14F-4D97-AF65-F5344CB8AC3E}">
        <p14:creationId xmlns:p14="http://schemas.microsoft.com/office/powerpoint/2010/main" val="3973577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9EAB-9443-1B5F-F660-8C99062C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went Bi, Wrong!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545B8-9E7C-56A2-590D-B8093FCF8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607" y="1853754"/>
            <a:ext cx="4755394" cy="4199727"/>
          </a:xfrm>
        </p:spPr>
        <p:txBody>
          <a:bodyPr>
            <a:normAutofit/>
          </a:bodyPr>
          <a:lstStyle/>
          <a:p>
            <a:r>
              <a:rPr lang="en-US" dirty="0"/>
              <a:t>In the last lesson I said that </a:t>
            </a:r>
            <a:r>
              <a:rPr lang="en-US" dirty="0" err="1"/>
              <a:t>pytorch</a:t>
            </a:r>
            <a:r>
              <a:rPr lang="en-US" dirty="0"/>
              <a:t> will auto-combine the forward and backward direction. </a:t>
            </a:r>
          </a:p>
          <a:p>
            <a:pPr lvl="1"/>
            <a:r>
              <a:rPr lang="en-US" dirty="0"/>
              <a:t>I read this in a text. </a:t>
            </a:r>
          </a:p>
          <a:p>
            <a:r>
              <a:rPr lang="en-US" dirty="0"/>
              <a:t>That doesn’t seem to be true, I messed that up. </a:t>
            </a:r>
          </a:p>
          <a:p>
            <a:r>
              <a:rPr lang="en-US" dirty="0"/>
              <a:t>We want to combine the hidden state from the last forward and backward layer.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D276A-FD06-2958-9254-2780AE6C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59" y="2485623"/>
            <a:ext cx="7274547" cy="246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48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50C1-4E3A-5BF8-826D-B9BBAA2A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Text-y Uses of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8E87-0DAF-3676-B7AD-5331CB604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NLP uses with neural networks have exploded over the last few years. </a:t>
            </a:r>
          </a:p>
          <a:p>
            <a:pPr lvl="1"/>
            <a:r>
              <a:rPr lang="en-US" dirty="0"/>
              <a:t>These concepts apply, but some details differ with modern commercial models. </a:t>
            </a:r>
          </a:p>
          <a:p>
            <a:pPr lvl="1"/>
            <a:r>
              <a:rPr lang="en-US" dirty="0"/>
              <a:t>Modern transformer models have a more elaborate, larger method of tracking relevance. </a:t>
            </a:r>
          </a:p>
          <a:p>
            <a:r>
              <a:rPr lang="en-US" dirty="0"/>
              <a:t>Translation. </a:t>
            </a:r>
          </a:p>
          <a:p>
            <a:r>
              <a:rPr lang="en-US" dirty="0"/>
              <a:t>Chatbots. </a:t>
            </a:r>
          </a:p>
          <a:p>
            <a:r>
              <a:rPr lang="en-US" dirty="0"/>
              <a:t>Document review. </a:t>
            </a:r>
          </a:p>
          <a:p>
            <a:pPr lvl="1"/>
            <a:r>
              <a:rPr lang="en-US" dirty="0"/>
              <a:t>Classification – is this document relevant to this lawsuit? </a:t>
            </a:r>
          </a:p>
          <a:p>
            <a:r>
              <a:rPr lang="en-US" dirty="0"/>
              <a:t>Marketing – mass review/twitter/comment processing for sentiment and trends. </a:t>
            </a:r>
          </a:p>
        </p:txBody>
      </p:sp>
    </p:spTree>
    <p:extLst>
      <p:ext uri="{BB962C8B-B14F-4D97-AF65-F5344CB8AC3E}">
        <p14:creationId xmlns:p14="http://schemas.microsoft.com/office/powerpoint/2010/main" val="246316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99B9-6DFD-6895-7BF1-43FF21E6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Multi-Label Classifications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2668-432C-4ECF-95E6-955F1A4F0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601" y="2015732"/>
            <a:ext cx="3986253" cy="3450613"/>
          </a:xfrm>
        </p:spPr>
        <p:txBody>
          <a:bodyPr/>
          <a:lstStyle/>
          <a:p>
            <a:r>
              <a:rPr lang="en-US" dirty="0"/>
              <a:t>We can set our models up to do multilabel classification easily. </a:t>
            </a:r>
          </a:p>
          <a:p>
            <a:r>
              <a:rPr lang="en-US" dirty="0"/>
              <a:t>Classification where record can be in 0 or more classes. </a:t>
            </a:r>
          </a:p>
          <a:p>
            <a:r>
              <a:rPr lang="en-US" dirty="0"/>
              <a:t>Setup:</a:t>
            </a:r>
          </a:p>
          <a:p>
            <a:pPr lvl="1"/>
            <a:r>
              <a:rPr lang="en-US" dirty="0"/>
              <a:t>Neuron per class. </a:t>
            </a:r>
          </a:p>
          <a:p>
            <a:pPr lvl="1"/>
            <a:r>
              <a:rPr lang="en-US" dirty="0"/>
              <a:t>Individual sigmoid activation. </a:t>
            </a:r>
          </a:p>
        </p:txBody>
      </p:sp>
      <p:pic>
        <p:nvPicPr>
          <p:cNvPr id="6146" name="Picture 2" descr="How to Choose the Right Activation Function for Neural Networks | Towards  Data Science">
            <a:extLst>
              <a:ext uri="{FF2B5EF4-FFF2-40B4-BE49-F238E27FC236}">
                <a16:creationId xmlns:a16="http://schemas.microsoft.com/office/drawing/2014/main" id="{196251C4-6FE9-C075-E273-6FAC348D25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2"/>
          <a:stretch>
            <a:fillRect/>
          </a:stretch>
        </p:blipFill>
        <p:spPr bwMode="auto">
          <a:xfrm>
            <a:off x="0" y="1779148"/>
            <a:ext cx="7068601" cy="427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848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2EA3-736A-7FAD-8A23-C829042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(Network) Plasticity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0567-1366-D94F-55CB-9B7FFA5B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128" y="1853754"/>
            <a:ext cx="6787164" cy="4199728"/>
          </a:xfrm>
        </p:spPr>
        <p:txBody>
          <a:bodyPr>
            <a:normAutofit/>
          </a:bodyPr>
          <a:lstStyle/>
          <a:p>
            <a:r>
              <a:rPr lang="en-US" dirty="0"/>
              <a:t>Basic example of how neural networks can predict anything. </a:t>
            </a:r>
          </a:p>
          <a:p>
            <a:pPr lvl="1"/>
            <a:r>
              <a:rPr lang="en-US" dirty="0"/>
              <a:t>Need to provide target and predictors. </a:t>
            </a:r>
          </a:p>
          <a:p>
            <a:pPr lvl="1"/>
            <a:r>
              <a:rPr lang="en-US" dirty="0"/>
              <a:t>Those could be basically anything (but do features have info?). </a:t>
            </a:r>
          </a:p>
          <a:p>
            <a:r>
              <a:rPr lang="en-US" dirty="0"/>
              <a:t>Models with 1+ hidden layers are universal approximators. </a:t>
            </a:r>
          </a:p>
          <a:p>
            <a:pPr lvl="1"/>
            <a:r>
              <a:rPr lang="en-US" dirty="0"/>
              <a:t>Model can theoretically replicate any function*.</a:t>
            </a:r>
          </a:p>
          <a:p>
            <a:pPr lvl="1"/>
            <a:r>
              <a:rPr lang="en-US" dirty="0"/>
              <a:t>Middle layers figure out how to make outputs from inputs. </a:t>
            </a:r>
          </a:p>
          <a:p>
            <a:r>
              <a:rPr lang="en-US" dirty="0"/>
              <a:t>With enough data/time/capacity learns well. </a:t>
            </a:r>
          </a:p>
          <a:p>
            <a:pPr lvl="1"/>
            <a:r>
              <a:rPr lang="en-US" dirty="0"/>
              <a:t>Capped by predictive info in the features, we don’t have it all. </a:t>
            </a:r>
          </a:p>
          <a:p>
            <a:pPr lvl="1"/>
            <a:r>
              <a:rPr lang="en-US" dirty="0"/>
              <a:t>Given preceding text, can you predict the next word (token). </a:t>
            </a:r>
          </a:p>
          <a:p>
            <a:pPr lvl="1"/>
            <a:r>
              <a:rPr lang="en-US" dirty="0"/>
              <a:t>Based on these pixel values, what is this image? </a:t>
            </a:r>
          </a:p>
        </p:txBody>
      </p:sp>
      <p:pic>
        <p:nvPicPr>
          <p:cNvPr id="7170" name="Picture 2" descr="Deep Learning for NLP: ANNs, RNNs and LSTMs explained! | Towards Data  Science">
            <a:extLst>
              <a:ext uri="{FF2B5EF4-FFF2-40B4-BE49-F238E27FC236}">
                <a16:creationId xmlns:a16="http://schemas.microsoft.com/office/drawing/2014/main" id="{D78994DC-5C69-C68C-22F2-B34029214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291" y="1775899"/>
            <a:ext cx="4738889" cy="330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785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93E8-8F57-46A2-B991-E2007679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R-Squared of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91DDC-5896-C188-6407-4F309B54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7569" y="1853754"/>
            <a:ext cx="7104431" cy="4340984"/>
          </a:xfrm>
        </p:spPr>
        <p:txBody>
          <a:bodyPr/>
          <a:lstStyle/>
          <a:p>
            <a:r>
              <a:rPr lang="en-US" dirty="0"/>
              <a:t>A perfect model drops bias and variance error to zero.</a:t>
            </a:r>
          </a:p>
          <a:p>
            <a:pPr lvl="1"/>
            <a:r>
              <a:rPr lang="en-US" dirty="0"/>
              <a:t>We will still have errors though. </a:t>
            </a:r>
          </a:p>
          <a:p>
            <a:r>
              <a:rPr lang="en-US" dirty="0"/>
              <a:t>Irreducible error still exists, we can’t model it away. </a:t>
            </a:r>
          </a:p>
          <a:p>
            <a:pPr lvl="1"/>
            <a:r>
              <a:rPr lang="en-US" dirty="0"/>
              <a:t>Can only make predictions given some (incomplete) inputs. </a:t>
            </a:r>
          </a:p>
          <a:p>
            <a:pPr lvl="1"/>
            <a:r>
              <a:rPr lang="en-US" dirty="0"/>
              <a:t>Those inputs don’t have all the info needed. </a:t>
            </a:r>
          </a:p>
          <a:p>
            <a:r>
              <a:rPr lang="en-US" dirty="0"/>
              <a:t>Real life scenarios make this more clear. </a:t>
            </a:r>
          </a:p>
          <a:p>
            <a:r>
              <a:rPr lang="en-US" dirty="0"/>
              <a:t>The irreducible error in inherent to the problem. </a:t>
            </a:r>
          </a:p>
          <a:p>
            <a:pPr lvl="1"/>
            <a:r>
              <a:rPr lang="en-US" dirty="0"/>
              <a:t>Inputs of previous text don’t give 100% info on next word. </a:t>
            </a:r>
          </a:p>
          <a:p>
            <a:pPr lvl="1"/>
            <a:r>
              <a:rPr lang="en-US" dirty="0"/>
              <a:t>Credit history doesn’t give 100% info on bankruptcy risk. </a:t>
            </a:r>
          </a:p>
          <a:p>
            <a:pPr lvl="1"/>
            <a:r>
              <a:rPr lang="en-US" dirty="0"/>
              <a:t>There are things that change outputs that aren’t in inputs. </a:t>
            </a:r>
          </a:p>
        </p:txBody>
      </p:sp>
      <p:pic>
        <p:nvPicPr>
          <p:cNvPr id="8194" name="Picture 2" descr="The Bias-Variance Tradeoff. Let us understand some basic… | by Yahya Ansari  | Medium">
            <a:extLst>
              <a:ext uri="{FF2B5EF4-FFF2-40B4-BE49-F238E27FC236}">
                <a16:creationId xmlns:a16="http://schemas.microsoft.com/office/drawing/2014/main" id="{EA378A06-92DB-595A-644A-BE9DF2BB1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0" y="1996226"/>
            <a:ext cx="4984539" cy="370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65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9500-ECBE-43C0-011C-C81C3F5B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LSTMs and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3D0A-8D65-E2E5-3FA8-3CC897E6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LSTM models were good performers at text generation and similar, before transformers. </a:t>
            </a:r>
          </a:p>
          <a:p>
            <a:pPr lvl="1"/>
            <a:r>
              <a:rPr lang="en-US" dirty="0"/>
              <a:t>Given a sequence of tokens, what is the next token? </a:t>
            </a:r>
          </a:p>
          <a:p>
            <a:pPr lvl="1"/>
            <a:r>
              <a:rPr lang="en-US" dirty="0"/>
              <a:t>Transformer models are (much) smarter at tracking relevance (e.g. this word is important to the words that come later). </a:t>
            </a:r>
          </a:p>
          <a:p>
            <a:r>
              <a:rPr lang="en-US" dirty="0"/>
              <a:t>There’s not </a:t>
            </a:r>
            <a:r>
              <a:rPr lang="en-US" i="1" dirty="0"/>
              <a:t>that</a:t>
            </a:r>
            <a:r>
              <a:rPr lang="en-US" dirty="0"/>
              <a:t> strict of a separation of model types sometimes. </a:t>
            </a:r>
          </a:p>
          <a:p>
            <a:pPr lvl="1"/>
            <a:r>
              <a:rPr lang="en-US" dirty="0"/>
              <a:t>You can predict text stuff with CNNs and image stuff with RNNs. </a:t>
            </a:r>
          </a:p>
          <a:p>
            <a:pPr lvl="1"/>
            <a:r>
              <a:rPr lang="en-US" dirty="0"/>
              <a:t>Layers can also be mix and matched inside models – </a:t>
            </a:r>
            <a:r>
              <a:rPr lang="en-US" dirty="0" err="1"/>
              <a:t>resnet</a:t>
            </a:r>
            <a:r>
              <a:rPr lang="en-US" dirty="0"/>
              <a:t> image models have recurrent bits.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72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ED32-A43E-0DDC-141D-D62215D5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800E-9687-B200-8060-72721479E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4295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5811</TotalTime>
  <Words>1703</Words>
  <Application>Microsoft Macintosh PowerPoint</Application>
  <PresentationFormat>Widescreen</PresentationFormat>
  <Paragraphs>178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Gill Sans MT</vt:lpstr>
      <vt:lpstr>Gallery</vt:lpstr>
      <vt:lpstr>Housekeeping</vt:lpstr>
      <vt:lpstr>NLP with Neural Networks</vt:lpstr>
      <vt:lpstr>Overview</vt:lpstr>
      <vt:lpstr>Remember RNNs?</vt:lpstr>
      <vt:lpstr>RNN Implementation</vt:lpstr>
      <vt:lpstr>Remember NLP</vt:lpstr>
      <vt:lpstr>Data in NLP</vt:lpstr>
      <vt:lpstr>Embeddings</vt:lpstr>
      <vt:lpstr>Embedding Layers</vt:lpstr>
      <vt:lpstr>Embedding Smarts</vt:lpstr>
      <vt:lpstr>LSTM Hope!</vt:lpstr>
      <vt:lpstr>Padding</vt:lpstr>
      <vt:lpstr>Sequences</vt:lpstr>
      <vt:lpstr>Creating Sequences</vt:lpstr>
      <vt:lpstr>Collate</vt:lpstr>
      <vt:lpstr>NLP Classifications</vt:lpstr>
      <vt:lpstr>Multi-Label Classifications</vt:lpstr>
      <vt:lpstr>Vectorization Matters</vt:lpstr>
      <vt:lpstr>I went Bi, Wrong!</vt:lpstr>
      <vt:lpstr>Other Text-y Uses of Models </vt:lpstr>
      <vt:lpstr>Multi-Label Classifications</vt:lpstr>
      <vt:lpstr>Neural (Network) Plasticity</vt:lpstr>
      <vt:lpstr>The R-Squared of Life</vt:lpstr>
      <vt:lpstr>LSTMs and NLP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21</cp:revision>
  <dcterms:created xsi:type="dcterms:W3CDTF">2026-04-03T16:24:35Z</dcterms:created>
  <dcterms:modified xsi:type="dcterms:W3CDTF">2026-04-07T17:16:23Z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2026-04-03T16:24:50Z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b0a083a2-f949-47ba-8988-7d85a46f27f4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