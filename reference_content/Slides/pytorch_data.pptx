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20"/>
    <p:restoredTop sz="94607"/>
  </p:normalViewPr>
  <p:slideViewPr>
    <p:cSldViewPr snapToGrid="0">
      <p:cViewPr varScale="1">
        <p:scale>
          <a:sx n="121" d="100"/>
          <a:sy n="121" d="100"/>
        </p:scale>
        <p:origin x="168" y="1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460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778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429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4221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7436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001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739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5145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5849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7366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778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5B2FB-9CAA-CB48-9913-D3769F3986D0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59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D1CB9-1E3A-DA11-D7A7-F5480F765F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EC84A-4931-77EC-C6E7-6AD91FB320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26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CB19B-AC38-DB73-A16D-A5B25B789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4114D-F679-830D-CC5D-C95048043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feed our </a:t>
            </a:r>
            <a:r>
              <a:rPr lang="en-US" dirty="0" err="1"/>
              <a:t>pytorch</a:t>
            </a:r>
            <a:r>
              <a:rPr lang="en-US" dirty="0"/>
              <a:t> models data in the same way as sklearn models. </a:t>
            </a:r>
          </a:p>
          <a:p>
            <a:pPr lvl="1"/>
            <a:r>
              <a:rPr lang="en-US" dirty="0"/>
              <a:t>Targets and features are the exact same as before. 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Neural networks are mainly targeted at unstructured data, while sklearn at tabular. </a:t>
            </a:r>
          </a:p>
          <a:p>
            <a:pPr lvl="1"/>
            <a:r>
              <a:rPr lang="en-US" dirty="0"/>
              <a:t>We often deal with large amounts of data, maybe more than we can fit in memory. </a:t>
            </a:r>
          </a:p>
          <a:p>
            <a:pPr lvl="1"/>
            <a:r>
              <a:rPr lang="en-US" dirty="0"/>
              <a:t>We usually have batches, or subsets of the data that we use one at a time. </a:t>
            </a:r>
          </a:p>
          <a:p>
            <a:pPr lvl="1"/>
            <a:r>
              <a:rPr lang="en-US" dirty="0"/>
              <a:t>Preparation steps can be ‘moved around’ for performance reasons. </a:t>
            </a:r>
          </a:p>
          <a:p>
            <a:r>
              <a:rPr lang="en-US" dirty="0"/>
              <a:t>Managing the data in a NN model can involve much more work than we are used to. </a:t>
            </a:r>
          </a:p>
        </p:txBody>
      </p:sp>
    </p:spTree>
    <p:extLst>
      <p:ext uri="{BB962C8B-B14F-4D97-AF65-F5344CB8AC3E}">
        <p14:creationId xmlns:p14="http://schemas.microsoft.com/office/powerpoint/2010/main" val="3945427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66CD4-47EA-F69E-1B29-7A8DDCCE3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 for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4168F-5C8C-BC5B-DBB9-5D52AE81D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9468"/>
            <a:ext cx="9603275" cy="4124013"/>
          </a:xfrm>
        </p:spPr>
        <p:txBody>
          <a:bodyPr/>
          <a:lstStyle/>
          <a:p>
            <a:r>
              <a:rPr lang="en-US" dirty="0"/>
              <a:t>Before we feed data into our neural network we construct some helpers:</a:t>
            </a:r>
          </a:p>
          <a:p>
            <a:pPr lvl="1"/>
            <a:r>
              <a:rPr lang="en-US" dirty="0"/>
              <a:t>Datasets – ‘holds’ the actual data and labels. </a:t>
            </a:r>
          </a:p>
          <a:p>
            <a:pPr lvl="1"/>
            <a:r>
              <a:rPr lang="en-US" dirty="0" err="1"/>
              <a:t>Dataloaders</a:t>
            </a:r>
            <a:r>
              <a:rPr lang="en-US" dirty="0"/>
              <a:t> – manages the data loading process, doing things like batches. </a:t>
            </a:r>
          </a:p>
          <a:p>
            <a:r>
              <a:rPr lang="en-US" dirty="0"/>
              <a:t>Instead of handling a raw </a:t>
            </a:r>
            <a:r>
              <a:rPr lang="en-US" dirty="0" err="1"/>
              <a:t>dataframe</a:t>
            </a:r>
            <a:r>
              <a:rPr lang="en-US" dirty="0"/>
              <a:t>, we use our data to create these objects. </a:t>
            </a:r>
          </a:p>
          <a:p>
            <a:r>
              <a:rPr lang="en-US" dirty="0"/>
              <a:t>The ‘holding’ bit can be a little variable:</a:t>
            </a:r>
          </a:p>
          <a:p>
            <a:pPr lvl="1"/>
            <a:r>
              <a:rPr lang="en-US" dirty="0"/>
              <a:t>The dataset can hold the data in memory, like we are used to. </a:t>
            </a:r>
          </a:p>
          <a:p>
            <a:pPr lvl="1"/>
            <a:r>
              <a:rPr lang="en-US" dirty="0"/>
              <a:t>It doesn’t need to, and is often impossible when we have more data than memory. </a:t>
            </a:r>
          </a:p>
          <a:p>
            <a:pPr lvl="1"/>
            <a:r>
              <a:rPr lang="en-US" dirty="0"/>
              <a:t>The dataset is just responsible for providing data when asked. </a:t>
            </a:r>
          </a:p>
          <a:p>
            <a:pPr lvl="1"/>
            <a:r>
              <a:rPr lang="en-US" dirty="0"/>
              <a:t>That data may be saved on disk, and loaded bit by bit. </a:t>
            </a:r>
          </a:p>
        </p:txBody>
      </p:sp>
    </p:spTree>
    <p:extLst>
      <p:ext uri="{BB962C8B-B14F-4D97-AF65-F5344CB8AC3E}">
        <p14:creationId xmlns:p14="http://schemas.microsoft.com/office/powerpoint/2010/main" val="2751657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B8909-3774-0839-1DF2-8877CABE9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FE1AF-B80B-772B-4432-B942257D9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1079"/>
            <a:ext cx="9603275" cy="4132401"/>
          </a:xfrm>
        </p:spPr>
        <p:txBody>
          <a:bodyPr/>
          <a:lstStyle/>
          <a:p>
            <a:r>
              <a:rPr lang="en-US" dirty="0"/>
              <a:t>Datasets have 3 mandatory parts:</a:t>
            </a:r>
          </a:p>
          <a:p>
            <a:pPr lvl="1"/>
            <a:r>
              <a:rPr lang="en-US" dirty="0"/>
              <a:t>Len – returns the number of items in the dataset. </a:t>
            </a:r>
          </a:p>
          <a:p>
            <a:pPr lvl="1"/>
            <a:r>
              <a:rPr lang="en-US" dirty="0"/>
              <a:t>Init – sets up the data initially – pass in the data or aim at the location of data. </a:t>
            </a:r>
          </a:p>
          <a:p>
            <a:pPr lvl="1"/>
            <a:r>
              <a:rPr lang="en-US" dirty="0" err="1"/>
              <a:t>Getitem</a:t>
            </a:r>
            <a:r>
              <a:rPr lang="en-US" dirty="0"/>
              <a:t> – returns an item from the dataset. </a:t>
            </a:r>
          </a:p>
          <a:p>
            <a:r>
              <a:rPr lang="en-US" dirty="0"/>
              <a:t>In a dataset we don’t look at the entire data and address/select specific items. </a:t>
            </a:r>
          </a:p>
          <a:p>
            <a:pPr lvl="1"/>
            <a:r>
              <a:rPr lang="en-US" dirty="0"/>
              <a:t>If we want data, we need to request a sample, then manipulate that. </a:t>
            </a:r>
          </a:p>
          <a:p>
            <a:r>
              <a:rPr lang="en-US" dirty="0"/>
              <a:t>We can also build in preparation steps such as transformations. </a:t>
            </a:r>
          </a:p>
        </p:txBody>
      </p:sp>
    </p:spTree>
    <p:extLst>
      <p:ext uri="{BB962C8B-B14F-4D97-AF65-F5344CB8AC3E}">
        <p14:creationId xmlns:p14="http://schemas.microsoft.com/office/powerpoint/2010/main" val="3883359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DF7BC-8DDF-D555-337E-00160091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Dataloaders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ABB9A-491D-31F7-7C03-3891D0129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3024"/>
            <a:ext cx="9603275" cy="3942826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takes in the dataset and provides data in a model friendly way. </a:t>
            </a:r>
          </a:p>
          <a:p>
            <a:r>
              <a:rPr lang="en-US" dirty="0"/>
              <a:t>A dataset provides one item at a time with </a:t>
            </a:r>
            <a:r>
              <a:rPr lang="en-US" dirty="0" err="1"/>
              <a:t>getitem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can be set to provide one batch at a time. </a:t>
            </a:r>
          </a:p>
          <a:p>
            <a:pPr lvl="1"/>
            <a:r>
              <a:rPr lang="en-US" dirty="0"/>
              <a:t>We can also tell it to do things like shuffle the data. </a:t>
            </a:r>
          </a:p>
          <a:p>
            <a:r>
              <a:rPr lang="en-US" dirty="0"/>
              <a:t>There are several other things we can do, mostly related to performance. </a:t>
            </a:r>
          </a:p>
          <a:p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is provided to the model to train. </a:t>
            </a:r>
          </a:p>
          <a:p>
            <a:pPr lvl="1"/>
            <a:r>
              <a:rPr lang="en-US" dirty="0"/>
              <a:t>It will provide a batch of data at a time to the training loop. </a:t>
            </a:r>
          </a:p>
        </p:txBody>
      </p:sp>
    </p:spTree>
    <p:extLst>
      <p:ext uri="{BB962C8B-B14F-4D97-AF65-F5344CB8AC3E}">
        <p14:creationId xmlns:p14="http://schemas.microsoft.com/office/powerpoint/2010/main" val="3486626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17989-57C5-833E-EB5F-4F5040A80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966C6-22A5-ADCA-0E20-979C815D4F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7249" y="2015732"/>
            <a:ext cx="5214824" cy="4037749"/>
          </a:xfrm>
        </p:spPr>
        <p:txBody>
          <a:bodyPr/>
          <a:lstStyle/>
          <a:p>
            <a:r>
              <a:rPr lang="en-US" dirty="0"/>
              <a:t>The dataset/loader can do most pipeline stuff.</a:t>
            </a:r>
          </a:p>
          <a:p>
            <a:r>
              <a:rPr lang="en-US" dirty="0"/>
              <a:t>The dataset interacts with actual data/labels.</a:t>
            </a:r>
          </a:p>
          <a:p>
            <a:pPr lvl="1"/>
            <a:r>
              <a:rPr lang="en-US" dirty="0"/>
              <a:t>It can apply transformations to data. </a:t>
            </a:r>
          </a:p>
          <a:p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takes that prepared data and manages providing it as needed </a:t>
            </a:r>
          </a:p>
        </p:txBody>
      </p:sp>
      <p:pic>
        <p:nvPicPr>
          <p:cNvPr id="1026" name="Picture 2" descr="Do You Visualize DataLoaders for Deep Neural Networks?">
            <a:extLst>
              <a:ext uri="{FF2B5EF4-FFF2-40B4-BE49-F238E27FC236}">
                <a16:creationId xmlns:a16="http://schemas.microsoft.com/office/drawing/2014/main" id="{A06C68C4-A2C2-CE55-6127-D6D818D9AD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48" b="8046"/>
          <a:stretch>
            <a:fillRect/>
          </a:stretch>
        </p:blipFill>
        <p:spPr bwMode="auto">
          <a:xfrm>
            <a:off x="79927" y="2015732"/>
            <a:ext cx="6817323" cy="3857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3314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AC7E-194B-2D6D-94F1-4A15DE9F4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DE99D-C154-3653-CF28-73CB52453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9468"/>
            <a:ext cx="9603275" cy="4124013"/>
          </a:xfrm>
        </p:spPr>
        <p:txBody>
          <a:bodyPr/>
          <a:lstStyle/>
          <a:p>
            <a:r>
              <a:rPr lang="en-US" dirty="0"/>
              <a:t>For smaller datasets, the performance of all this doesn’t really matter. </a:t>
            </a:r>
          </a:p>
          <a:p>
            <a:r>
              <a:rPr lang="en-US" dirty="0"/>
              <a:t>With very large data and complex models, that changes. </a:t>
            </a:r>
          </a:p>
          <a:p>
            <a:r>
              <a:rPr lang="en-US" dirty="0"/>
              <a:t>Each ‘step’ takes a while to both setup and perform. </a:t>
            </a:r>
          </a:p>
          <a:p>
            <a:r>
              <a:rPr lang="en-US" dirty="0"/>
              <a:t>Our limiting factor is usually the speed of our GPU, and we can’t change it w/o $$$$. </a:t>
            </a:r>
          </a:p>
          <a:p>
            <a:r>
              <a:rPr lang="en-US" dirty="0"/>
              <a:t>Controlling where/when prep runs, we can keep the GPU busy almost all the time. </a:t>
            </a:r>
          </a:p>
          <a:p>
            <a:pPr lvl="1"/>
            <a:r>
              <a:rPr lang="en-US" dirty="0"/>
              <a:t>E.g. while the GPU is working on one batch, the next can have transformations done by CPU.</a:t>
            </a:r>
          </a:p>
          <a:p>
            <a:r>
              <a:rPr lang="en-US" dirty="0"/>
              <a:t>Faster training means more trials means more chances at best model. </a:t>
            </a:r>
          </a:p>
          <a:p>
            <a:pPr lvl="1"/>
            <a:r>
              <a:rPr lang="en-US" dirty="0"/>
              <a:t>Training is often paid by the hour, so maximizing output </a:t>
            </a:r>
            <a:r>
              <a:rPr lang="en-US"/>
              <a:t>makes sense.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68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0A6B3-2007-4839-5F43-6DDB2213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5E3B6-A8F6-CA64-3527-20F9389E9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931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032F-3B64-1A7B-F7AC-3B6CF4892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EE616-FDC8-8AB8-5EDC-FC555ADE3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79802"/>
            <a:ext cx="9603275" cy="3958543"/>
          </a:xfrm>
        </p:spPr>
        <p:txBody>
          <a:bodyPr/>
          <a:lstStyle/>
          <a:p>
            <a:r>
              <a:rPr lang="en-US" dirty="0"/>
              <a:t>For basic stuff, we can just have some print statements in our training loop. </a:t>
            </a:r>
          </a:p>
          <a:p>
            <a:pPr lvl="1"/>
            <a:r>
              <a:rPr lang="en-US" dirty="0"/>
              <a:t>Loss, epoch, batch,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serious management, we want something better. </a:t>
            </a:r>
          </a:p>
          <a:p>
            <a:pPr lvl="1"/>
            <a:r>
              <a:rPr lang="en-US" dirty="0"/>
              <a:t>Training can take a long time, weeks even. We don’t want to sit there for it. </a:t>
            </a:r>
          </a:p>
          <a:p>
            <a:pPr lvl="1"/>
            <a:r>
              <a:rPr lang="en-US" dirty="0"/>
              <a:t>If doing trials, being able to compare is nice. </a:t>
            </a:r>
          </a:p>
          <a:p>
            <a:pPr lvl="1"/>
            <a:r>
              <a:rPr lang="en-US" dirty="0"/>
              <a:t>Our computer that is training may live in a data center somewhere. </a:t>
            </a:r>
          </a:p>
          <a:p>
            <a:r>
              <a:rPr lang="en-US" dirty="0"/>
              <a:t>One option is to use </a:t>
            </a:r>
            <a:r>
              <a:rPr lang="en-US" dirty="0" err="1"/>
              <a:t>Tensorboard</a:t>
            </a:r>
            <a:r>
              <a:rPr lang="en-US" dirty="0"/>
              <a:t> – a webpage based monitor package. </a:t>
            </a:r>
          </a:p>
          <a:p>
            <a:pPr lvl="1"/>
            <a:r>
              <a:rPr lang="en-US" dirty="0"/>
              <a:t>We write logs with updates on progress to disk. </a:t>
            </a:r>
          </a:p>
          <a:p>
            <a:pPr lvl="1"/>
            <a:r>
              <a:rPr lang="en-US" dirty="0" err="1"/>
              <a:t>Tensorboard</a:t>
            </a:r>
            <a:r>
              <a:rPr lang="en-US" dirty="0"/>
              <a:t> takes the logs and makes them into a nice webpage. </a:t>
            </a:r>
          </a:p>
        </p:txBody>
      </p:sp>
    </p:spTree>
    <p:extLst>
      <p:ext uri="{BB962C8B-B14F-4D97-AF65-F5344CB8AC3E}">
        <p14:creationId xmlns:p14="http://schemas.microsoft.com/office/powerpoint/2010/main" val="3476941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B22F2-67B4-CD48-4741-0C91072D1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Tensorboard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A2F26-25F8-2F89-E0AB-9CC34C9A0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5434"/>
            <a:ext cx="9603275" cy="4088047"/>
          </a:xfrm>
        </p:spPr>
        <p:txBody>
          <a:bodyPr/>
          <a:lstStyle/>
          <a:p>
            <a:r>
              <a:rPr lang="en-US" dirty="0" err="1"/>
              <a:t>Tensorboard</a:t>
            </a:r>
            <a:r>
              <a:rPr lang="en-US" dirty="0"/>
              <a:t> originally came from </a:t>
            </a:r>
            <a:r>
              <a:rPr lang="en-US" dirty="0" err="1"/>
              <a:t>tensorflow</a:t>
            </a:r>
            <a:r>
              <a:rPr lang="en-US" dirty="0"/>
              <a:t>, the other NN package. </a:t>
            </a:r>
          </a:p>
          <a:p>
            <a:r>
              <a:rPr lang="en-US" dirty="0"/>
              <a:t>It has many features and can be customized a fair bit. </a:t>
            </a:r>
          </a:p>
          <a:p>
            <a:r>
              <a:rPr lang="en-US" dirty="0"/>
              <a:t>Some things that it is useful for are:</a:t>
            </a:r>
          </a:p>
          <a:p>
            <a:pPr lvl="1"/>
            <a:r>
              <a:rPr lang="en-US" dirty="0"/>
              <a:t>Monitoring the loss curves as training progresses. </a:t>
            </a:r>
          </a:p>
          <a:p>
            <a:pPr lvl="1"/>
            <a:r>
              <a:rPr lang="en-US" dirty="0"/>
              <a:t>Showing example data/predictions. </a:t>
            </a:r>
          </a:p>
          <a:p>
            <a:pPr lvl="1"/>
            <a:r>
              <a:rPr lang="en-US" dirty="0"/>
              <a:t>Help tune hyperparameters. </a:t>
            </a:r>
          </a:p>
          <a:p>
            <a:r>
              <a:rPr lang="en-US" dirty="0" err="1"/>
              <a:t>Tensorboard</a:t>
            </a:r>
            <a:r>
              <a:rPr lang="en-US" dirty="0"/>
              <a:t> runs on your computer, you can then access it through a browser. </a:t>
            </a:r>
          </a:p>
          <a:p>
            <a:pPr lvl="1"/>
            <a:r>
              <a:rPr lang="en-US" dirty="0"/>
              <a:t>In a big-data environment, training is on a server, you can access this via the web. </a:t>
            </a:r>
          </a:p>
        </p:txBody>
      </p:sp>
    </p:spTree>
    <p:extLst>
      <p:ext uri="{BB962C8B-B14F-4D97-AF65-F5344CB8AC3E}">
        <p14:creationId xmlns:p14="http://schemas.microsoft.com/office/powerpoint/2010/main" val="8166506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17D50-1965-B569-E60D-5DAFF1EA8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Tensoring</a:t>
            </a:r>
            <a:r>
              <a:rPr lang="en-US" dirty="0"/>
              <a:t> your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5DEB4-E9ED-6441-95A0-DCD5DDD47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435" y="1850851"/>
            <a:ext cx="7879592" cy="4276679"/>
          </a:xfrm>
        </p:spPr>
        <p:txBody>
          <a:bodyPr>
            <a:normAutofit/>
          </a:bodyPr>
          <a:lstStyle/>
          <a:p>
            <a:r>
              <a:rPr lang="en-US" dirty="0"/>
              <a:t>For simple stuff, </a:t>
            </a:r>
            <a:r>
              <a:rPr lang="en-US" dirty="0" err="1"/>
              <a:t>tensorboard</a:t>
            </a:r>
            <a:r>
              <a:rPr lang="en-US" dirty="0"/>
              <a:t> does most of the heavy lifting. </a:t>
            </a:r>
          </a:p>
          <a:p>
            <a:r>
              <a:rPr lang="en-US" dirty="0"/>
              <a:t>We just need to write log values, it’ll pick them up and make the GUI. </a:t>
            </a:r>
          </a:p>
          <a:p>
            <a:r>
              <a:rPr lang="en-US" dirty="0"/>
              <a:t>We use a writer object to do the logging. </a:t>
            </a:r>
          </a:p>
          <a:p>
            <a:pPr lvl="1"/>
            <a:r>
              <a:rPr lang="en-US" dirty="0"/>
              <a:t>Create the object, aimed at the desired logging location. </a:t>
            </a:r>
          </a:p>
          <a:p>
            <a:pPr lvl="1"/>
            <a:r>
              <a:rPr lang="en-US" dirty="0"/>
              <a:t>Add stuff (what you want logged) to the writer. </a:t>
            </a:r>
          </a:p>
          <a:p>
            <a:r>
              <a:rPr lang="en-US" dirty="0"/>
              <a:t>Functions for different data – numbers, images, charts,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Usually, you want to add an entry every K batches/epochs to the log. </a:t>
            </a:r>
          </a:p>
          <a:p>
            <a:pPr lvl="1"/>
            <a:r>
              <a:rPr lang="en-US" dirty="0"/>
              <a:t>Usually scalars – loss and accuracy. </a:t>
            </a:r>
          </a:p>
          <a:p>
            <a:pPr lvl="1"/>
            <a:r>
              <a:rPr lang="en-US" dirty="0"/>
              <a:t>Parameters – Label, value, step (x-axis on chart).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BBACEF-AECA-1B33-96A8-5FBEF4969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640" y="27928"/>
            <a:ext cx="5444359" cy="1822924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D6E3DEA-9275-C54B-D6B7-3B2137257C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 b="2835"/>
          <a:stretch>
            <a:fillRect/>
          </a:stretch>
        </p:blipFill>
        <p:spPr bwMode="auto">
          <a:xfrm>
            <a:off x="7893604" y="2228193"/>
            <a:ext cx="4298395" cy="1954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DF983C9-28F8-7760-2F60-FB2891C429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49" t="70651"/>
          <a:stretch>
            <a:fillRect/>
          </a:stretch>
        </p:blipFill>
        <p:spPr bwMode="auto">
          <a:xfrm>
            <a:off x="6926317" y="5167199"/>
            <a:ext cx="5265682" cy="1690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76812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4B42E-4AAF-33C8-EDCC-9D3512BC9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82B5C-A464-5005-460E-9E99C37A9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828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921F0-5A32-C74B-0A9E-39767463F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Hyperparameter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D9BBB-AF93-919A-1AD9-5573F4995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with classical models, we want to modify hyperparameters to tune a model. </a:t>
            </a:r>
          </a:p>
          <a:p>
            <a:pPr lvl="1"/>
            <a:r>
              <a:rPr lang="en-US" dirty="0"/>
              <a:t>Unfortunately, a grid search won’t work here. </a:t>
            </a:r>
          </a:p>
          <a:p>
            <a:r>
              <a:rPr lang="en-US" dirty="0"/>
              <a:t>With </a:t>
            </a:r>
            <a:r>
              <a:rPr lang="en-US" dirty="0" err="1"/>
              <a:t>pytorch</a:t>
            </a:r>
            <a:r>
              <a:rPr lang="en-US" dirty="0"/>
              <a:t> models we want to do the same thing, but it is structured differently. </a:t>
            </a:r>
          </a:p>
          <a:p>
            <a:pPr lvl="1"/>
            <a:r>
              <a:rPr lang="en-US" dirty="0"/>
              <a:t>Setup the set of choices for HPs. </a:t>
            </a:r>
          </a:p>
          <a:p>
            <a:pPr lvl="1"/>
            <a:r>
              <a:rPr lang="en-US" dirty="0"/>
              <a:t>Train the model, with modifications to do some logging. </a:t>
            </a:r>
          </a:p>
        </p:txBody>
      </p:sp>
    </p:spTree>
    <p:extLst>
      <p:ext uri="{BB962C8B-B14F-4D97-AF65-F5344CB8AC3E}">
        <p14:creationId xmlns:p14="http://schemas.microsoft.com/office/powerpoint/2010/main" val="144926490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182</TotalTime>
  <Words>961</Words>
  <Application>Microsoft Macintosh PowerPoint</Application>
  <PresentationFormat>Widescreen</PresentationFormat>
  <Paragraphs>85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Gill Sans MT</vt:lpstr>
      <vt:lpstr>Gallery</vt:lpstr>
      <vt:lpstr>PyTorch Data</vt:lpstr>
      <vt:lpstr>Data in Neural Networks</vt:lpstr>
      <vt:lpstr>Datasets for Neural Networks</vt:lpstr>
      <vt:lpstr>Datasets</vt:lpstr>
      <vt:lpstr>Dataloaders</vt:lpstr>
      <vt:lpstr>The Pipeline</vt:lpstr>
      <vt:lpstr>Data and Performance</vt:lpstr>
      <vt:lpstr>PowerPoint Presentation</vt:lpstr>
      <vt:lpstr>Monitoring Performance</vt:lpstr>
      <vt:lpstr>Tensorboard</vt:lpstr>
      <vt:lpstr>Tensoring your Boards</vt:lpstr>
      <vt:lpstr>PowerPoint Presentation</vt:lpstr>
      <vt:lpstr>Hyperparameter 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5</cp:revision>
  <dcterms:created xsi:type="dcterms:W3CDTF">2026-01-06T20:09:17Z</dcterms:created>
  <dcterms:modified xsi:type="dcterms:W3CDTF">2026-01-06T23:12:15Z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2026-01-06T20:09:37Z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8f05d0a3-1ab5-4179-9183-bc978171ba39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