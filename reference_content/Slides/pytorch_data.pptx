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9" r:id="rId2"/>
    <p:sldId id="275" r:id="rId3"/>
    <p:sldId id="256" r:id="rId4"/>
    <p:sldId id="279" r:id="rId5"/>
    <p:sldId id="280" r:id="rId6"/>
    <p:sldId id="281" r:id="rId7"/>
    <p:sldId id="282" r:id="rId8"/>
    <p:sldId id="283" r:id="rId9"/>
    <p:sldId id="285" r:id="rId10"/>
    <p:sldId id="287" r:id="rId11"/>
    <p:sldId id="277" r:id="rId12"/>
    <p:sldId id="257" r:id="rId13"/>
    <p:sldId id="258" r:id="rId14"/>
    <p:sldId id="273" r:id="rId15"/>
    <p:sldId id="259" r:id="rId16"/>
    <p:sldId id="284" r:id="rId17"/>
    <p:sldId id="260" r:id="rId18"/>
    <p:sldId id="263" r:id="rId19"/>
    <p:sldId id="276" r:id="rId20"/>
    <p:sldId id="261" r:id="rId21"/>
    <p:sldId id="271" r:id="rId22"/>
    <p:sldId id="272" r:id="rId23"/>
    <p:sldId id="262" r:id="rId24"/>
    <p:sldId id="278" r:id="rId25"/>
    <p:sldId id="286" r:id="rId26"/>
    <p:sldId id="270" r:id="rId27"/>
    <p:sldId id="264" r:id="rId28"/>
    <p:sldId id="265" r:id="rId29"/>
    <p:sldId id="266" r:id="rId30"/>
    <p:sldId id="267" r:id="rId31"/>
    <p:sldId id="268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41"/>
    <p:restoredTop sz="94558"/>
  </p:normalViewPr>
  <p:slideViewPr>
    <p:cSldViewPr snapToGrid="0">
      <p:cViewPr varScale="1">
        <p:scale>
          <a:sx n="121" d="100"/>
          <a:sy n="121" d="100"/>
        </p:scale>
        <p:origin x="83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5B2FB-9CAA-CB48-9913-D3769F3986D0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45F2706B-09AF-C14A-860E-6D5EE6C403BE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2460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5B2FB-9CAA-CB48-9913-D3769F3986D0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2706B-09AF-C14A-860E-6D5EE6C403BE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4778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5B2FB-9CAA-CB48-9913-D3769F3986D0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2706B-09AF-C14A-860E-6D5EE6C403BE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5429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5B2FB-9CAA-CB48-9913-D3769F3986D0}" type="datetimeFigureOut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2706B-09AF-C14A-860E-6D5EE6C403BE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4221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5B2FB-9CAA-CB48-9913-D3769F3986D0}" type="datetimeFigureOut">
              <a:rPr lang="en-US" smtClean="0"/>
              <a:t>3/8/26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2706B-09AF-C14A-860E-6D5EE6C403BE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7436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5B2FB-9CAA-CB48-9913-D3769F3986D0}" type="datetimeFigureOut">
              <a:rPr lang="en-US" smtClean="0"/>
              <a:t>3/8/26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2706B-09AF-C14A-860E-6D5EE6C403BE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8001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5B2FB-9CAA-CB48-9913-D3769F3986D0}" type="datetimeFigureOut">
              <a:rPr lang="en-US" smtClean="0"/>
              <a:t>3/8/26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2706B-09AF-C14A-860E-6D5EE6C403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739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5B2FB-9CAA-CB48-9913-D3769F3986D0}" type="datetimeFigureOut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2706B-09AF-C14A-860E-6D5EE6C403BE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5145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ACA5B2FB-9CAA-CB48-9913-D3769F3986D0}" type="datetimeFigureOut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2706B-09AF-C14A-860E-6D5EE6C403BE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5849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5B2FB-9CAA-CB48-9913-D3769F3986D0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2706B-09AF-C14A-860E-6D5EE6C403BE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7366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5B2FB-9CAA-CB48-9913-D3769F3986D0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2706B-09AF-C14A-860E-6D5EE6C403BE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7781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A5B2FB-9CAA-CB48-9913-D3769F3986D0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45F2706B-09AF-C14A-860E-6D5EE6C403BE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0591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DB326-1D0C-4E75-769E-FE4E00FC6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Housekeeping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3AAE6-EAAC-98CA-D2B4-1AAAF67D5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  <a:p>
            <a:pPr lvl="1"/>
            <a:r>
              <a:rPr lang="en-US" dirty="0" err="1"/>
              <a:t>PyTorch</a:t>
            </a:r>
            <a:r>
              <a:rPr lang="en-US" dirty="0"/>
              <a:t> data processing. </a:t>
            </a:r>
          </a:p>
          <a:p>
            <a:pPr lvl="1"/>
            <a:r>
              <a:rPr lang="en-US" dirty="0"/>
              <a:t>Depending on time, first part of CNNs (image models). </a:t>
            </a:r>
          </a:p>
          <a:p>
            <a:r>
              <a:rPr lang="en-US" dirty="0"/>
              <a:t>Next week – tuning models and monitoring training. </a:t>
            </a:r>
          </a:p>
        </p:txBody>
      </p:sp>
    </p:spTree>
    <p:extLst>
      <p:ext uri="{BB962C8B-B14F-4D97-AF65-F5344CB8AC3E}">
        <p14:creationId xmlns:p14="http://schemas.microsoft.com/office/powerpoint/2010/main" val="3328831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4FE75-CDF8-8409-E665-03B5C89F4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 Project Idea!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C85BE-7A01-98D8-39CA-C251B16A8B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1" y="1933903"/>
            <a:ext cx="9835654" cy="4119577"/>
          </a:xfrm>
        </p:spPr>
        <p:txBody>
          <a:bodyPr/>
          <a:lstStyle/>
          <a:p>
            <a:r>
              <a:rPr lang="en-US" dirty="0"/>
              <a:t>For the real estate thing, you have image URLs. </a:t>
            </a:r>
          </a:p>
          <a:p>
            <a:r>
              <a:rPr lang="en-US" dirty="0"/>
              <a:t>Grab the images, create a dataset to process and prepare them, and use them as some features to make a model. </a:t>
            </a:r>
          </a:p>
          <a:p>
            <a:pPr lvl="1"/>
            <a:r>
              <a:rPr lang="en-US" dirty="0"/>
              <a:t>This will require a bit of thinking to plan a good way and order to do it.</a:t>
            </a:r>
          </a:p>
          <a:p>
            <a:pPr lvl="1"/>
            <a:r>
              <a:rPr lang="en-US" dirty="0"/>
              <a:t>We’ll cover the image specific bits by next time. </a:t>
            </a:r>
          </a:p>
          <a:p>
            <a:r>
              <a:rPr lang="en-US" dirty="0"/>
              <a:t>Also, with the tabular stuff, I’d throw it all into a deep regression NN to predict the price and see what happens. </a:t>
            </a:r>
          </a:p>
          <a:p>
            <a:pPr lvl="1"/>
            <a:r>
              <a:rPr lang="en-US" dirty="0"/>
              <a:t>You’ll need to do some clean up (e.g. large number of </a:t>
            </a:r>
            <a:r>
              <a:rPr lang="en-US" dirty="0" err="1"/>
              <a:t>vals</a:t>
            </a:r>
            <a:r>
              <a:rPr lang="en-US" dirty="0"/>
              <a:t> in categorical) but I would just see how it works out. </a:t>
            </a:r>
          </a:p>
          <a:p>
            <a:pPr lvl="1"/>
            <a:r>
              <a:rPr lang="en-US" dirty="0"/>
              <a:t>I’d also try separate features for year and season, as well as something for “momentum”. </a:t>
            </a:r>
          </a:p>
        </p:txBody>
      </p:sp>
    </p:spTree>
    <p:extLst>
      <p:ext uri="{BB962C8B-B14F-4D97-AF65-F5344CB8AC3E}">
        <p14:creationId xmlns:p14="http://schemas.microsoft.com/office/powerpoint/2010/main" val="2453275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D1CB9-1E3A-DA11-D7A7-F5480F765F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PyTorch</a:t>
            </a:r>
            <a:r>
              <a:rPr lang="en-US" dirty="0"/>
              <a:t>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0EC84A-4931-77EC-C6E7-6AD91FB320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267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816BC-F271-6D58-EDBE-69485AC24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Bonus – Gradient Tracking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771E4-504E-DD9A-7BFB-6EC27887C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146" y="1853754"/>
            <a:ext cx="10035351" cy="4199727"/>
          </a:xfrm>
        </p:spPr>
        <p:txBody>
          <a:bodyPr/>
          <a:lstStyle/>
          <a:p>
            <a:r>
              <a:rPr lang="en-US" dirty="0"/>
              <a:t>One (possibly annoying) thing about </a:t>
            </a:r>
            <a:r>
              <a:rPr lang="en-US" dirty="0" err="1"/>
              <a:t>pytorch</a:t>
            </a:r>
            <a:r>
              <a:rPr lang="en-US" dirty="0"/>
              <a:t> is that we must manage if gradients are tracked. </a:t>
            </a:r>
          </a:p>
          <a:p>
            <a:pPr lvl="1"/>
            <a:r>
              <a:rPr lang="en-US" dirty="0"/>
              <a:t>If training, the model needs to calculate gradients to learn. </a:t>
            </a:r>
          </a:p>
          <a:p>
            <a:pPr lvl="1"/>
            <a:r>
              <a:rPr lang="en-US" dirty="0"/>
              <a:t>If evaluating the model doesn’t, we just need predictions. </a:t>
            </a:r>
          </a:p>
          <a:p>
            <a:r>
              <a:rPr lang="en-US" dirty="0"/>
              <a:t>In code, we normally have two things to do to separate train/not train:</a:t>
            </a:r>
          </a:p>
          <a:p>
            <a:pPr lvl="1"/>
            <a:r>
              <a:rPr lang="en-US" dirty="0"/>
              <a:t>Use </a:t>
            </a:r>
            <a:r>
              <a:rPr lang="en-US" dirty="0" err="1"/>
              <a:t>set_grad_enabled</a:t>
            </a:r>
            <a:r>
              <a:rPr lang="en-US" dirty="0"/>
              <a:t> or </a:t>
            </a:r>
            <a:r>
              <a:rPr lang="en-US" dirty="0" err="1"/>
              <a:t>no_grad</a:t>
            </a:r>
            <a:r>
              <a:rPr lang="en-US" dirty="0"/>
              <a:t> to manage if gradient tracking is on.  </a:t>
            </a:r>
          </a:p>
          <a:p>
            <a:pPr lvl="1"/>
            <a:r>
              <a:rPr lang="en-US" dirty="0"/>
              <a:t>Set the model to train or eval mode to tell layers like dropouts if they should work. </a:t>
            </a:r>
          </a:p>
          <a:p>
            <a:r>
              <a:rPr lang="en-US" dirty="0"/>
              <a:t>This is mostly for context – you should understand it to some degree, but the deeper knowledge of this stuff is for more complex work (i.e. something other than stock layers).</a:t>
            </a:r>
          </a:p>
          <a:p>
            <a:pPr lvl="1"/>
            <a:r>
              <a:rPr lang="en-US" dirty="0"/>
              <a:t>I think everything defaults to “on”, and will work by default, but don’t quote me. </a:t>
            </a:r>
          </a:p>
        </p:txBody>
      </p:sp>
    </p:spTree>
    <p:extLst>
      <p:ext uri="{BB962C8B-B14F-4D97-AF65-F5344CB8AC3E}">
        <p14:creationId xmlns:p14="http://schemas.microsoft.com/office/powerpoint/2010/main" val="3703327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8124F-0324-366C-9BF8-24BF613FE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AutoGrad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31315-4FC3-F6F9-F2C6-03222F556A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083" y="1853754"/>
            <a:ext cx="6349990" cy="4199727"/>
          </a:xfrm>
        </p:spPr>
        <p:txBody>
          <a:bodyPr>
            <a:normAutofit/>
          </a:bodyPr>
          <a:lstStyle/>
          <a:p>
            <a:r>
              <a:rPr lang="en-US" dirty="0" err="1"/>
              <a:t>Autograd</a:t>
            </a:r>
            <a:r>
              <a:rPr lang="en-US" dirty="0"/>
              <a:t> is part of </a:t>
            </a:r>
            <a:r>
              <a:rPr lang="en-US" dirty="0" err="1"/>
              <a:t>PyTorch</a:t>
            </a:r>
            <a:r>
              <a:rPr lang="en-US" dirty="0"/>
              <a:t> that, well, automatically calculates gradients. </a:t>
            </a:r>
          </a:p>
          <a:p>
            <a:pPr lvl="1"/>
            <a:r>
              <a:rPr lang="en-US" dirty="0"/>
              <a:t>This saves work from us, we don’t need to do calculus. </a:t>
            </a:r>
          </a:p>
          <a:p>
            <a:r>
              <a:rPr lang="en-US" dirty="0"/>
              <a:t>Recall in the scratch example, we needed to provide pre-differentiated functions and do gradient calculations. </a:t>
            </a:r>
          </a:p>
          <a:p>
            <a:pPr lvl="1"/>
            <a:r>
              <a:rPr lang="en-US" dirty="0"/>
              <a:t>Each calculation had an opposite operation. </a:t>
            </a:r>
          </a:p>
          <a:p>
            <a:pPr lvl="1"/>
            <a:r>
              <a:rPr lang="en-US" dirty="0"/>
              <a:t>E.g. diff loss functions. </a:t>
            </a:r>
          </a:p>
          <a:p>
            <a:r>
              <a:rPr lang="en-US" dirty="0"/>
              <a:t>In this pic, the red is what needs to be done. </a:t>
            </a:r>
          </a:p>
          <a:p>
            <a:pPr lvl="1"/>
            <a:r>
              <a:rPr lang="en-US" dirty="0"/>
              <a:t>The blue is the set of calculations in the backwards pass that are the opposite of the initial steps. </a:t>
            </a:r>
          </a:p>
        </p:txBody>
      </p:sp>
      <p:pic>
        <p:nvPicPr>
          <p:cNvPr id="7" name="Picture 6" descr="image">
            <a:extLst>
              <a:ext uri="{FF2B5EF4-FFF2-40B4-BE49-F238E27FC236}">
                <a16:creationId xmlns:a16="http://schemas.microsoft.com/office/drawing/2014/main" id="{59C2232C-105E-4425-4230-EF2FBF5322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072" y="1269777"/>
            <a:ext cx="5757928" cy="4318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644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C3D674-3D59-4E93-80CA-0C0A9095E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84B8F8-FDC9-498B-9960-5D7260AFC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417737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CFA5D5EA-8849-C735-2C1C-4CD47A02B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80" y="804520"/>
            <a:ext cx="4176511" cy="1049235"/>
          </a:xfrm>
        </p:spPr>
        <p:txBody>
          <a:bodyPr>
            <a:normAutofit/>
          </a:bodyPr>
          <a:lstStyle/>
          <a:p>
            <a:r>
              <a:rPr lang="en-US" dirty="0"/>
              <a:t>Graph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2A81E1-BCBE-426B-8C09-33274E694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6B1D2-C89B-0A5F-3CD2-AFB995B03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90463"/>
            <a:ext cx="5318234" cy="4163005"/>
          </a:xfrm>
        </p:spPr>
        <p:txBody>
          <a:bodyPr>
            <a:normAutofit/>
          </a:bodyPr>
          <a:lstStyle/>
          <a:p>
            <a:r>
              <a:rPr lang="en-US" dirty="0"/>
              <a:t>Internally, </a:t>
            </a:r>
            <a:r>
              <a:rPr lang="en-US" dirty="0" err="1"/>
              <a:t>PyTorch</a:t>
            </a:r>
            <a:r>
              <a:rPr lang="en-US" dirty="0"/>
              <a:t> builds a graph of the executions and tensors in the model. </a:t>
            </a:r>
          </a:p>
          <a:p>
            <a:pPr lvl="1"/>
            <a:r>
              <a:rPr lang="en-US" dirty="0"/>
              <a:t>As it goes forward, inverse </a:t>
            </a:r>
            <a:r>
              <a:rPr lang="en-US" dirty="0" err="1"/>
              <a:t>opps</a:t>
            </a:r>
            <a:r>
              <a:rPr lang="en-US" dirty="0"/>
              <a:t> are added.</a:t>
            </a:r>
          </a:p>
          <a:p>
            <a:r>
              <a:rPr lang="en-US" dirty="0" err="1"/>
              <a:t>PyTorch</a:t>
            </a:r>
            <a:r>
              <a:rPr lang="en-US" dirty="0"/>
              <a:t> does this dynamically (</a:t>
            </a:r>
            <a:r>
              <a:rPr lang="en-US" dirty="0" err="1"/>
              <a:t>tf</a:t>
            </a:r>
            <a:r>
              <a:rPr lang="en-US" dirty="0"/>
              <a:t> doesn’t). </a:t>
            </a:r>
          </a:p>
          <a:p>
            <a:pPr lvl="1"/>
            <a:r>
              <a:rPr lang="en-US" dirty="0"/>
              <a:t>This is one of </a:t>
            </a:r>
            <a:r>
              <a:rPr lang="en-US" dirty="0" err="1"/>
              <a:t>PyTorch’s</a:t>
            </a:r>
            <a:r>
              <a:rPr lang="en-US" dirty="0"/>
              <a:t> big things. </a:t>
            </a:r>
          </a:p>
          <a:p>
            <a:pPr lvl="1"/>
            <a:r>
              <a:rPr lang="en-US" dirty="0"/>
              <a:t>Allows for changes to model structure. </a:t>
            </a:r>
          </a:p>
          <a:p>
            <a:r>
              <a:rPr lang="en-US" dirty="0"/>
              <a:t>More flexible and easier to debug. </a:t>
            </a:r>
          </a:p>
          <a:p>
            <a:pPr lvl="1"/>
            <a:r>
              <a:rPr lang="en-US" dirty="0"/>
              <a:t>Below our level of focus. </a:t>
            </a:r>
          </a:p>
        </p:txBody>
      </p:sp>
      <p:pic>
        <p:nvPicPr>
          <p:cNvPr id="4" name="Picture 3" descr="Overview of PyTorch Autograd Engine – PyTorch">
            <a:extLst>
              <a:ext uri="{FF2B5EF4-FFF2-40B4-BE49-F238E27FC236}">
                <a16:creationId xmlns:a16="http://schemas.microsoft.com/office/drawing/2014/main" id="{1FBDDE87-1C20-2C24-250A-775AE38511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2342" y="43374"/>
            <a:ext cx="7029355" cy="601009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9D1DDD4-5BB3-45BA-B9B3-06B62299A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24DAE64-2302-42EA-8239-F2F0775CA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3931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4A913-AF55-03F6-9BF5-6CA78236A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0547" y="804519"/>
            <a:ext cx="5399157" cy="1049235"/>
          </a:xfrm>
        </p:spPr>
        <p:txBody>
          <a:bodyPr/>
          <a:lstStyle/>
          <a:p>
            <a:r>
              <a:rPr lang="en-US" dirty="0"/>
              <a:t>Doing it with Grads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CEB77-B295-7839-463A-35857217FD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0548" y="1853754"/>
            <a:ext cx="5399156" cy="4273777"/>
          </a:xfrm>
        </p:spPr>
        <p:txBody>
          <a:bodyPr/>
          <a:lstStyle/>
          <a:p>
            <a:r>
              <a:rPr lang="en-US" dirty="0"/>
              <a:t>We can use these commands to control gradient tracking. </a:t>
            </a:r>
          </a:p>
          <a:p>
            <a:r>
              <a:rPr lang="en-US" dirty="0"/>
              <a:t>The </a:t>
            </a:r>
            <a:r>
              <a:rPr lang="en-US" dirty="0" err="1"/>
              <a:t>set_grad_enabled</a:t>
            </a:r>
            <a:r>
              <a:rPr lang="en-US" dirty="0"/>
              <a:t> can be used with False as well, that’s the same as the </a:t>
            </a:r>
            <a:r>
              <a:rPr lang="en-US" dirty="0" err="1"/>
              <a:t>no_grad</a:t>
            </a:r>
            <a:r>
              <a:rPr lang="en-US" dirty="0"/>
              <a:t> call. </a:t>
            </a:r>
          </a:p>
          <a:p>
            <a:r>
              <a:rPr lang="en-US" dirty="0"/>
              <a:t>Not calculating gradients is faster for inference. </a:t>
            </a:r>
          </a:p>
          <a:p>
            <a:pPr lvl="1"/>
            <a:r>
              <a:rPr lang="en-US" dirty="0"/>
              <a:t>Also inference mode which is even less “</a:t>
            </a:r>
            <a:r>
              <a:rPr lang="en-US" dirty="0" err="1"/>
              <a:t>learny</a:t>
            </a:r>
            <a:r>
              <a:rPr lang="en-US" dirty="0"/>
              <a:t>”. </a:t>
            </a:r>
          </a:p>
          <a:p>
            <a:r>
              <a:rPr lang="en-US" dirty="0"/>
              <a:t>Can also be used to fine tune. </a:t>
            </a:r>
          </a:p>
          <a:p>
            <a:pPr lvl="1"/>
            <a:r>
              <a:rPr lang="en-US" dirty="0"/>
              <a:t>Control which weights can be updated. </a:t>
            </a:r>
          </a:p>
          <a:p>
            <a:pPr lvl="1"/>
            <a:r>
              <a:rPr lang="en-US" dirty="0"/>
              <a:t>Transfer one model to different data. 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476E85-8E86-1A71-D201-A4C28BDC5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6805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921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4FE99-2EB3-C869-3AB4-74B38B3D7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Building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B3276-E4B2-E38F-1FE5-9A0E14FEBA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6815" y="2015732"/>
            <a:ext cx="5015185" cy="3984049"/>
          </a:xfrm>
        </p:spPr>
        <p:txBody>
          <a:bodyPr/>
          <a:lstStyle/>
          <a:p>
            <a:r>
              <a:rPr lang="en-US" dirty="0"/>
              <a:t>This graph is generated at run time. </a:t>
            </a:r>
          </a:p>
          <a:p>
            <a:r>
              <a:rPr lang="en-US" dirty="0"/>
              <a:t>This means things can be changed in code. </a:t>
            </a:r>
          </a:p>
          <a:p>
            <a:pPr lvl="1"/>
            <a:r>
              <a:rPr lang="en-US" dirty="0"/>
              <a:t>Sizes and shapes can be changed*.</a:t>
            </a:r>
          </a:p>
          <a:p>
            <a:r>
              <a:rPr lang="en-US" dirty="0"/>
              <a:t>For specialized models, this allows flexibility. </a:t>
            </a:r>
          </a:p>
          <a:p>
            <a:pPr lvl="1"/>
            <a:r>
              <a:rPr lang="en-US" dirty="0"/>
              <a:t>NLP – length of a document. </a:t>
            </a:r>
          </a:p>
          <a:p>
            <a:pPr lvl="1"/>
            <a:r>
              <a:rPr lang="en-US" dirty="0"/>
              <a:t>CNN – image size.  </a:t>
            </a:r>
          </a:p>
          <a:p>
            <a:pPr lvl="1"/>
            <a:r>
              <a:rPr lang="en-US" dirty="0"/>
              <a:t>Some other condition…</a:t>
            </a:r>
          </a:p>
          <a:p>
            <a:r>
              <a:rPr lang="en-US" dirty="0"/>
              <a:t>The steps that are constructed are navigated in reverse automatically. </a:t>
            </a:r>
          </a:p>
        </p:txBody>
      </p:sp>
      <p:pic>
        <p:nvPicPr>
          <p:cNvPr id="5" name="Picture 4" descr="PyTorch - Computation graph | Shivam Mehta">
            <a:extLst>
              <a:ext uri="{FF2B5EF4-FFF2-40B4-BE49-F238E27FC236}">
                <a16:creationId xmlns:a16="http://schemas.microsoft.com/office/drawing/2014/main" id="{42DAF420-631C-5960-C724-163646ED3C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53" y="2015732"/>
            <a:ext cx="7080562" cy="3984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103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9DE94-24CE-9A0D-AA2C-0B9A1D20B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37DEF-A99C-A4EF-B845-349943B10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How to Visualize PyTorch Neural Networks - GeeksforGeeks">
            <a:extLst>
              <a:ext uri="{FF2B5EF4-FFF2-40B4-BE49-F238E27FC236}">
                <a16:creationId xmlns:a16="http://schemas.microsoft.com/office/drawing/2014/main" id="{69F95D74-80AA-967A-9F23-DDAF5F02F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494" y="18847"/>
            <a:ext cx="3962400" cy="6845300"/>
          </a:xfrm>
          <a:prstGeom prst="rect">
            <a:avLst/>
          </a:prstGeom>
        </p:spPr>
      </p:pic>
      <p:pic>
        <p:nvPicPr>
          <p:cNvPr id="5" name="Picture 4" descr="Computational graph example in TensorFlow (Source: Tensorflow Graph Guide)">
            <a:extLst>
              <a:ext uri="{FF2B5EF4-FFF2-40B4-BE49-F238E27FC236}">
                <a16:creationId xmlns:a16="http://schemas.microsoft.com/office/drawing/2014/main" id="{926226D3-A3FD-E231-F571-CEE0A6DEBB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25216"/>
            <a:ext cx="3846095" cy="6837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205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C3B62-4D61-9768-403B-82944925D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Heads up!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5D51A-E6BB-524F-5037-38AC49C95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44414"/>
            <a:ext cx="9603275" cy="4109067"/>
          </a:xfrm>
        </p:spPr>
        <p:txBody>
          <a:bodyPr/>
          <a:lstStyle/>
          <a:p>
            <a:r>
              <a:rPr lang="en-US" dirty="0"/>
              <a:t>In </a:t>
            </a:r>
            <a:r>
              <a:rPr lang="en-US" dirty="0" err="1"/>
              <a:t>PyTorch</a:t>
            </a:r>
            <a:r>
              <a:rPr lang="en-US" dirty="0"/>
              <a:t>, we almost always have several ways to do things:</a:t>
            </a:r>
          </a:p>
          <a:p>
            <a:pPr lvl="1"/>
            <a:r>
              <a:rPr lang="en-US" dirty="0"/>
              <a:t>Write ’raw’ code to do math on tensors directly. </a:t>
            </a:r>
          </a:p>
          <a:p>
            <a:pPr lvl="1"/>
            <a:r>
              <a:rPr lang="en-US" dirty="0"/>
              <a:t>Use simplified defaults like the “sequential” model. </a:t>
            </a:r>
          </a:p>
          <a:p>
            <a:pPr lvl="1"/>
            <a:r>
              <a:rPr lang="en-US" dirty="0"/>
              <a:t>Create custom classes to implement parts of the code. </a:t>
            </a:r>
          </a:p>
          <a:p>
            <a:pPr lvl="1"/>
            <a:r>
              <a:rPr lang="en-US" dirty="0"/>
              <a:t>Older ways to do things. </a:t>
            </a:r>
          </a:p>
          <a:p>
            <a:r>
              <a:rPr lang="en-US" dirty="0"/>
              <a:t>These are generally interchangeable. </a:t>
            </a:r>
          </a:p>
          <a:p>
            <a:r>
              <a:rPr lang="en-US" dirty="0"/>
              <a:t>There’s not one specific way to do stuff, you’ll see examples that all differ. </a:t>
            </a:r>
          </a:p>
          <a:p>
            <a:pPr lvl="1"/>
            <a:r>
              <a:rPr lang="en-US" dirty="0"/>
              <a:t>Flexibility is useful, but it makes it harder </a:t>
            </a:r>
            <a:r>
              <a:rPr lang="en-US"/>
              <a:t>when starting.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39057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CDE46-779C-3586-F921-264BF5A1C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Prepare some Data!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960D8-6C33-DDF6-F6E5-9F933C864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PyTorch Tutorial - GeeksforGeeks">
            <a:extLst>
              <a:ext uri="{FF2B5EF4-FFF2-40B4-BE49-F238E27FC236}">
                <a16:creationId xmlns:a16="http://schemas.microsoft.com/office/drawing/2014/main" id="{ECAC6B40-A11E-61FB-1C43-C0C9C59EB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0" y="2159000"/>
            <a:ext cx="50800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6608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CB19B-AC38-DB73-A16D-A5B25B789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in Neural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4114D-F679-830D-CC5D-C95048043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We can feed our </a:t>
            </a:r>
            <a:r>
              <a:rPr lang="en-US" dirty="0" err="1"/>
              <a:t>pytorch</a:t>
            </a:r>
            <a:r>
              <a:rPr lang="en-US" dirty="0"/>
              <a:t> models data in the same way as sklearn models. </a:t>
            </a:r>
          </a:p>
          <a:p>
            <a:pPr lvl="1"/>
            <a:r>
              <a:rPr lang="en-US" dirty="0"/>
              <a:t>Targets and features are the exact same as before. </a:t>
            </a:r>
          </a:p>
          <a:p>
            <a:r>
              <a:rPr lang="en-US" dirty="0"/>
              <a:t>However…</a:t>
            </a:r>
          </a:p>
          <a:p>
            <a:pPr lvl="1"/>
            <a:r>
              <a:rPr lang="en-US" dirty="0"/>
              <a:t>Neural networks are mainly targeted at unstructured data, while sklearn at tabular. </a:t>
            </a:r>
          </a:p>
          <a:p>
            <a:pPr lvl="1"/>
            <a:r>
              <a:rPr lang="en-US" dirty="0"/>
              <a:t>We often deal with large amounts of data, maybe more than we can fit in memory. </a:t>
            </a:r>
          </a:p>
          <a:p>
            <a:pPr lvl="1"/>
            <a:r>
              <a:rPr lang="en-US" dirty="0"/>
              <a:t>We usually have batches, or subsets of the data that we use one at a time. </a:t>
            </a:r>
          </a:p>
          <a:p>
            <a:pPr lvl="1"/>
            <a:r>
              <a:rPr lang="en-US" dirty="0"/>
              <a:t>Preparation steps can be ‘moved around’ for performance reasons. </a:t>
            </a:r>
          </a:p>
          <a:p>
            <a:r>
              <a:rPr lang="en-US" dirty="0"/>
              <a:t>Managing the data in a NN model can involve much more work than we are used to. </a:t>
            </a:r>
          </a:p>
        </p:txBody>
      </p:sp>
    </p:spTree>
    <p:extLst>
      <p:ext uri="{BB962C8B-B14F-4D97-AF65-F5344CB8AC3E}">
        <p14:creationId xmlns:p14="http://schemas.microsoft.com/office/powerpoint/2010/main" val="39454276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66CD4-47EA-F69E-1B29-7A8DDCCE3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Datasets for Neural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4168F-5C8C-BC5B-DBB9-5D52AE81DE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29468"/>
            <a:ext cx="9603275" cy="4124013"/>
          </a:xfrm>
        </p:spPr>
        <p:txBody>
          <a:bodyPr/>
          <a:lstStyle/>
          <a:p>
            <a:r>
              <a:rPr lang="en-US" dirty="0"/>
              <a:t>Before we feed data into our neural network we construct some helpers:</a:t>
            </a:r>
          </a:p>
          <a:p>
            <a:pPr lvl="1"/>
            <a:r>
              <a:rPr lang="en-US" dirty="0"/>
              <a:t>Datasets – ‘holds’ the actual data and labels. </a:t>
            </a:r>
          </a:p>
          <a:p>
            <a:pPr lvl="1"/>
            <a:r>
              <a:rPr lang="en-US" dirty="0" err="1"/>
              <a:t>Dataloaders</a:t>
            </a:r>
            <a:r>
              <a:rPr lang="en-US" dirty="0"/>
              <a:t> – manages the data loading process, doing things like batches. </a:t>
            </a:r>
          </a:p>
          <a:p>
            <a:r>
              <a:rPr lang="en-US" dirty="0"/>
              <a:t>Instead of handling a raw </a:t>
            </a:r>
            <a:r>
              <a:rPr lang="en-US" dirty="0" err="1"/>
              <a:t>dataframe</a:t>
            </a:r>
            <a:r>
              <a:rPr lang="en-US" dirty="0"/>
              <a:t>, we use our data to create these objects. </a:t>
            </a:r>
          </a:p>
          <a:p>
            <a:r>
              <a:rPr lang="en-US" dirty="0"/>
              <a:t>The ‘holding’ bit can be a little variable:</a:t>
            </a:r>
          </a:p>
          <a:p>
            <a:pPr lvl="1"/>
            <a:r>
              <a:rPr lang="en-US" dirty="0"/>
              <a:t>The dataset can hold the data in memory, like we are used to. </a:t>
            </a:r>
          </a:p>
          <a:p>
            <a:pPr lvl="1"/>
            <a:r>
              <a:rPr lang="en-US" dirty="0"/>
              <a:t>It doesn’t need to, and is often impossible when we have more data than memory. </a:t>
            </a:r>
          </a:p>
          <a:p>
            <a:pPr lvl="1"/>
            <a:r>
              <a:rPr lang="en-US" dirty="0"/>
              <a:t>The dataset is just responsible for providing data when asked. </a:t>
            </a:r>
          </a:p>
          <a:p>
            <a:pPr lvl="1"/>
            <a:r>
              <a:rPr lang="en-US" dirty="0"/>
              <a:t>That data may be saved on disk, and loaded bit by bit. </a:t>
            </a:r>
          </a:p>
        </p:txBody>
      </p:sp>
    </p:spTree>
    <p:extLst>
      <p:ext uri="{BB962C8B-B14F-4D97-AF65-F5344CB8AC3E}">
        <p14:creationId xmlns:p14="http://schemas.microsoft.com/office/powerpoint/2010/main" val="27516576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89EF4-21F1-8D1C-19CC-48B885A4E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</a:t>
            </a:r>
            <a:r>
              <a:rPr lang="en-US" dirty="0" err="1"/>
              <a:t>Thingys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893A7-E901-959E-F03D-8D56ECB57B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0" y="1853754"/>
            <a:ext cx="4419600" cy="419972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Datasets must provide:</a:t>
            </a:r>
          </a:p>
          <a:p>
            <a:pPr lvl="1"/>
            <a:r>
              <a:rPr lang="en-US" dirty="0"/>
              <a:t>Length and get item. </a:t>
            </a:r>
          </a:p>
          <a:p>
            <a:pPr lvl="1"/>
            <a:r>
              <a:rPr lang="en-US" dirty="0"/>
              <a:t>Do transformation. </a:t>
            </a:r>
          </a:p>
          <a:p>
            <a:pPr lvl="1"/>
            <a:r>
              <a:rPr lang="en-US" dirty="0"/>
              <a:t>Make it a tensor. </a:t>
            </a:r>
          </a:p>
          <a:p>
            <a:r>
              <a:rPr lang="en-US" dirty="0" err="1"/>
              <a:t>Dataloaders</a:t>
            </a:r>
            <a:r>
              <a:rPr lang="en-US" dirty="0"/>
              <a:t> manage:</a:t>
            </a:r>
          </a:p>
          <a:p>
            <a:pPr lvl="1"/>
            <a:r>
              <a:rPr lang="en-US" dirty="0"/>
              <a:t>Packaging items into batches. </a:t>
            </a:r>
          </a:p>
          <a:p>
            <a:r>
              <a:rPr lang="en-US" dirty="0"/>
              <a:t>Datasets are often custom. </a:t>
            </a:r>
          </a:p>
          <a:p>
            <a:pPr lvl="1"/>
            <a:r>
              <a:rPr lang="en-US" dirty="0"/>
              <a:t>Loaders can be, but less required. </a:t>
            </a:r>
          </a:p>
          <a:p>
            <a:r>
              <a:rPr lang="en-US" dirty="0"/>
              <a:t>Each data item is separate, they aren’t remixed like in CV. </a:t>
            </a:r>
          </a:p>
        </p:txBody>
      </p:sp>
      <p:pic>
        <p:nvPicPr>
          <p:cNvPr id="4" name="Picture 3" descr="Taking Datasets, DataLoaders, and PyTorch's New DataPipes for a Spin |  Sebastian Raschka, PhD">
            <a:extLst>
              <a:ext uri="{FF2B5EF4-FFF2-40B4-BE49-F238E27FC236}">
                <a16:creationId xmlns:a16="http://schemas.microsoft.com/office/drawing/2014/main" id="{BD3E3A58-E4D6-912D-FEB3-611DFEA0F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53754"/>
            <a:ext cx="7772400" cy="4034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7016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B8909-3774-0839-1DF2-8877CABE9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FE1AF-B80B-772B-4432-B942257D9A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21079"/>
            <a:ext cx="9603275" cy="4132401"/>
          </a:xfrm>
        </p:spPr>
        <p:txBody>
          <a:bodyPr/>
          <a:lstStyle/>
          <a:p>
            <a:r>
              <a:rPr lang="en-US" dirty="0"/>
              <a:t>Datasets have 3 mandatory parts:</a:t>
            </a:r>
          </a:p>
          <a:p>
            <a:pPr lvl="1"/>
            <a:r>
              <a:rPr lang="en-US" dirty="0"/>
              <a:t>Len – returns the number of items in the dataset. </a:t>
            </a:r>
          </a:p>
          <a:p>
            <a:pPr lvl="1"/>
            <a:r>
              <a:rPr lang="en-US" dirty="0"/>
              <a:t>Init – sets up the data initially – pass in the data or aim at the location of data. </a:t>
            </a:r>
          </a:p>
          <a:p>
            <a:pPr lvl="1"/>
            <a:r>
              <a:rPr lang="en-US" dirty="0" err="1"/>
              <a:t>Getitem</a:t>
            </a:r>
            <a:r>
              <a:rPr lang="en-US" dirty="0"/>
              <a:t> – returns an item from the dataset. </a:t>
            </a:r>
          </a:p>
          <a:p>
            <a:r>
              <a:rPr lang="en-US" dirty="0"/>
              <a:t>In a dataset we don’t look at the entire data and address/select specific items. </a:t>
            </a:r>
          </a:p>
          <a:p>
            <a:pPr lvl="1"/>
            <a:r>
              <a:rPr lang="en-US" dirty="0"/>
              <a:t>If we want data, we need to request a sample, then manipulate that. </a:t>
            </a:r>
          </a:p>
          <a:p>
            <a:r>
              <a:rPr lang="en-US" dirty="0"/>
              <a:t>For built-in/public datasets, we generally can use the dataset time they’ve made. </a:t>
            </a:r>
          </a:p>
          <a:p>
            <a:r>
              <a:rPr lang="en-US" dirty="0"/>
              <a:t>We can also build in preparation steps such as transformations. </a:t>
            </a:r>
          </a:p>
          <a:p>
            <a:pPr lvl="1"/>
            <a:r>
              <a:rPr lang="en-US" dirty="0"/>
              <a:t>With more complex data, this can be a big step. </a:t>
            </a:r>
          </a:p>
        </p:txBody>
      </p:sp>
    </p:spTree>
    <p:extLst>
      <p:ext uri="{BB962C8B-B14F-4D97-AF65-F5344CB8AC3E}">
        <p14:creationId xmlns:p14="http://schemas.microsoft.com/office/powerpoint/2010/main" val="38833597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9CAEF-4AB1-8375-85A5-BFCAFED61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 OF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FBA6D-69A3-3289-7006-8D41CF324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9503" y="1853754"/>
            <a:ext cx="6867197" cy="4199727"/>
          </a:xfrm>
        </p:spPr>
        <p:txBody>
          <a:bodyPr/>
          <a:lstStyle/>
          <a:p>
            <a:r>
              <a:rPr lang="en-US" dirty="0"/>
              <a:t>Datasets allow for us to handle data out of memory. </a:t>
            </a:r>
          </a:p>
          <a:p>
            <a:pPr lvl="1"/>
            <a:r>
              <a:rPr lang="en-US" dirty="0"/>
              <a:t>E.g. more data than we have RAM. </a:t>
            </a:r>
          </a:p>
          <a:p>
            <a:r>
              <a:rPr lang="en-US" dirty="0"/>
              <a:t>With a </a:t>
            </a:r>
            <a:r>
              <a:rPr lang="en-US" dirty="0" err="1"/>
              <a:t>df</a:t>
            </a:r>
            <a:r>
              <a:rPr lang="en-US" dirty="0"/>
              <a:t>, we load the </a:t>
            </a:r>
            <a:r>
              <a:rPr lang="en-US" dirty="0" err="1"/>
              <a:t>df</a:t>
            </a:r>
            <a:r>
              <a:rPr lang="en-US" dirty="0"/>
              <a:t>, it is all in memory. </a:t>
            </a:r>
          </a:p>
          <a:p>
            <a:r>
              <a:rPr lang="en-US" dirty="0"/>
              <a:t>With a dataset, we only load a batch (or so), rest is on disk. </a:t>
            </a:r>
          </a:p>
          <a:p>
            <a:r>
              <a:rPr lang="en-US" dirty="0"/>
              <a:t>Key differences:</a:t>
            </a:r>
          </a:p>
          <a:p>
            <a:pPr lvl="1"/>
            <a:r>
              <a:rPr lang="en-US" dirty="0"/>
              <a:t>Dataset can be any size, since only a </a:t>
            </a:r>
            <a:r>
              <a:rPr lang="en-US" dirty="0" err="1"/>
              <a:t>protion</a:t>
            </a:r>
            <a:r>
              <a:rPr lang="en-US" dirty="0"/>
              <a:t> is used at a time. </a:t>
            </a:r>
          </a:p>
          <a:p>
            <a:pPr lvl="1"/>
            <a:r>
              <a:rPr lang="en-US" dirty="0"/>
              <a:t>Access speed differs – the batch in mem is fast, rest is slow. </a:t>
            </a:r>
          </a:p>
          <a:p>
            <a:pPr lvl="1"/>
            <a:r>
              <a:rPr lang="en-US" dirty="0"/>
              <a:t>From perspective of model, it just sees data – as normal. </a:t>
            </a:r>
          </a:p>
          <a:p>
            <a:r>
              <a:rPr lang="en-US" dirty="0"/>
              <a:t>How to access disk data is on us. </a:t>
            </a:r>
          </a:p>
        </p:txBody>
      </p:sp>
      <p:pic>
        <p:nvPicPr>
          <p:cNvPr id="4" name="Picture 3" descr="A guide on good usage of non_blocking and pin_memory() in PyTorch — PyTorch  Tutorials 2.11.0+cu130 documentation">
            <a:extLst>
              <a:ext uri="{FF2B5EF4-FFF2-40B4-BE49-F238E27FC236}">
                <a16:creationId xmlns:a16="http://schemas.microsoft.com/office/drawing/2014/main" id="{073611F0-0708-ED02-7DA6-36ABABDBE2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6700" y="1161716"/>
            <a:ext cx="4305300" cy="477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380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DF7BC-8DDF-D555-337E-001600910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Dataloaders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ABB9A-491D-31F7-7C03-3891D01296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63024"/>
            <a:ext cx="9603275" cy="3942826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dataloader</a:t>
            </a:r>
            <a:r>
              <a:rPr lang="en-US" dirty="0"/>
              <a:t> takes in the dataset and provides data in a model friendly way. </a:t>
            </a:r>
          </a:p>
          <a:p>
            <a:r>
              <a:rPr lang="en-US" dirty="0"/>
              <a:t>A dataset provides one item at a time with </a:t>
            </a:r>
            <a:r>
              <a:rPr lang="en-US" dirty="0" err="1"/>
              <a:t>getitem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The </a:t>
            </a:r>
            <a:r>
              <a:rPr lang="en-US" dirty="0" err="1"/>
              <a:t>dataloader</a:t>
            </a:r>
            <a:r>
              <a:rPr lang="en-US" dirty="0"/>
              <a:t> can be set to provide one batch at a time. </a:t>
            </a:r>
          </a:p>
          <a:p>
            <a:pPr lvl="1"/>
            <a:r>
              <a:rPr lang="en-US" dirty="0"/>
              <a:t>We can also tell it to do things like shuffle the data. </a:t>
            </a:r>
          </a:p>
          <a:p>
            <a:r>
              <a:rPr lang="en-US" dirty="0"/>
              <a:t>There are several other things we can do, mostly related to performance. </a:t>
            </a:r>
          </a:p>
          <a:p>
            <a:r>
              <a:rPr lang="en-US" dirty="0"/>
              <a:t>The </a:t>
            </a:r>
            <a:r>
              <a:rPr lang="en-US" dirty="0" err="1"/>
              <a:t>dataloader</a:t>
            </a:r>
            <a:r>
              <a:rPr lang="en-US" dirty="0"/>
              <a:t> is provided to the model to train. </a:t>
            </a:r>
          </a:p>
          <a:p>
            <a:pPr lvl="1"/>
            <a:r>
              <a:rPr lang="en-US" dirty="0"/>
              <a:t>It will provide a batch of data at a time to the training loop. </a:t>
            </a:r>
          </a:p>
          <a:p>
            <a:pPr lvl="1"/>
            <a:r>
              <a:rPr lang="en-US" dirty="0"/>
              <a:t>The </a:t>
            </a:r>
            <a:r>
              <a:rPr lang="en-US" dirty="0" err="1"/>
              <a:t>dataloader</a:t>
            </a:r>
            <a:r>
              <a:rPr lang="en-US" dirty="0"/>
              <a:t> is a middle-man between dataset and model, they don’t interact. </a:t>
            </a:r>
          </a:p>
        </p:txBody>
      </p:sp>
    </p:spTree>
    <p:extLst>
      <p:ext uri="{BB962C8B-B14F-4D97-AF65-F5344CB8AC3E}">
        <p14:creationId xmlns:p14="http://schemas.microsoft.com/office/powerpoint/2010/main" val="34866264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0A6B3-2007-4839-5F43-6DDB22137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 a Load of this Data!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5E3B6-A8F6-CA64-3527-20F9389E94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9852" y="1853753"/>
            <a:ext cx="6002148" cy="4199727"/>
          </a:xfrm>
        </p:spPr>
        <p:txBody>
          <a:bodyPr>
            <a:normAutofit/>
          </a:bodyPr>
          <a:lstStyle/>
          <a:p>
            <a:r>
              <a:rPr lang="en-US" dirty="0" err="1"/>
              <a:t>Dataloaders</a:t>
            </a:r>
            <a:r>
              <a:rPr lang="en-US" dirty="0"/>
              <a:t> manage the “get the data ready for a model” part of the pipeline. </a:t>
            </a:r>
          </a:p>
          <a:p>
            <a:pPr lvl="1"/>
            <a:r>
              <a:rPr lang="en-US" dirty="0"/>
              <a:t>Uses its dataset to get data, combines with other settings. </a:t>
            </a:r>
          </a:p>
          <a:p>
            <a:r>
              <a:rPr lang="en-US" dirty="0"/>
              <a:t>Batching – set size, each ask for data gets a batch. </a:t>
            </a:r>
          </a:p>
          <a:p>
            <a:r>
              <a:rPr lang="en-US" dirty="0"/>
              <a:t>Shuffle – we normally want to shuffle training data. </a:t>
            </a:r>
          </a:p>
          <a:p>
            <a:r>
              <a:rPr lang="en-US" dirty="0"/>
              <a:t>Num workers – allow for parallel processes. </a:t>
            </a:r>
          </a:p>
          <a:p>
            <a:r>
              <a:rPr lang="en-US" dirty="0"/>
              <a:t>Pin memory – forces loader into special “non-paging” memory area that allows for faster data transfer. </a:t>
            </a:r>
          </a:p>
        </p:txBody>
      </p:sp>
      <p:pic>
        <p:nvPicPr>
          <p:cNvPr id="4" name="Picture 3" descr="dataloader in deep-learning">
            <a:extLst>
              <a:ext uri="{FF2B5EF4-FFF2-40B4-BE49-F238E27FC236}">
                <a16:creationId xmlns:a16="http://schemas.microsoft.com/office/drawing/2014/main" id="{E65CB1AD-8028-A634-0C14-BDC535FFE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8002"/>
            <a:ext cx="6189852" cy="1660692"/>
          </a:xfrm>
          <a:prstGeom prst="rect">
            <a:avLst/>
          </a:prstGeom>
        </p:spPr>
      </p:pic>
      <p:pic>
        <p:nvPicPr>
          <p:cNvPr id="5" name="Picture 4" descr="PyTorch Dataset and DataLoader: Theory, Concepts, and Workflow | by Alok  Choudhary | Towards AI">
            <a:extLst>
              <a:ext uri="{FF2B5EF4-FFF2-40B4-BE49-F238E27FC236}">
                <a16:creationId xmlns:a16="http://schemas.microsoft.com/office/drawing/2014/main" id="{FCE314EA-9F13-DA56-C512-1E97B31DF3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88694"/>
            <a:ext cx="5350042" cy="2330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9318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82396-8384-ED85-4C18-8048146BD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F8318B-4877-68DD-C58D-4BB948810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1490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17989-57C5-833E-EB5F-4F5040A80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966C6-22A5-ADCA-0E20-979C815D4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7249" y="2015732"/>
            <a:ext cx="5214824" cy="4037749"/>
          </a:xfrm>
        </p:spPr>
        <p:txBody>
          <a:bodyPr/>
          <a:lstStyle/>
          <a:p>
            <a:r>
              <a:rPr lang="en-US" dirty="0"/>
              <a:t>The dataset/loader can do most pipeline stuff.</a:t>
            </a:r>
          </a:p>
          <a:p>
            <a:r>
              <a:rPr lang="en-US" dirty="0"/>
              <a:t>The dataset interacts with actual data/labels.</a:t>
            </a:r>
          </a:p>
          <a:p>
            <a:pPr lvl="1"/>
            <a:r>
              <a:rPr lang="en-US" dirty="0"/>
              <a:t>It can apply transformations to data. </a:t>
            </a:r>
          </a:p>
          <a:p>
            <a:r>
              <a:rPr lang="en-US" dirty="0"/>
              <a:t>The </a:t>
            </a:r>
            <a:r>
              <a:rPr lang="en-US" dirty="0" err="1"/>
              <a:t>dataloader</a:t>
            </a:r>
            <a:r>
              <a:rPr lang="en-US" dirty="0"/>
              <a:t> takes that prepared data and manages providing it as needed. </a:t>
            </a:r>
          </a:p>
          <a:p>
            <a:r>
              <a:rPr lang="en-US" dirty="0"/>
              <a:t>The model still sees a batch at a time. </a:t>
            </a:r>
          </a:p>
          <a:p>
            <a:pPr lvl="1"/>
            <a:r>
              <a:rPr lang="en-US" dirty="0"/>
              <a:t>More backend work organizes that batch. </a:t>
            </a:r>
          </a:p>
        </p:txBody>
      </p:sp>
      <p:pic>
        <p:nvPicPr>
          <p:cNvPr id="1026" name="Picture 2" descr="Do You Visualize DataLoaders for Deep Neural Networks?">
            <a:extLst>
              <a:ext uri="{FF2B5EF4-FFF2-40B4-BE49-F238E27FC236}">
                <a16:creationId xmlns:a16="http://schemas.microsoft.com/office/drawing/2014/main" id="{A06C68C4-A2C2-CE55-6127-D6D818D9AD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48" b="8046"/>
          <a:stretch>
            <a:fillRect/>
          </a:stretch>
        </p:blipFill>
        <p:spPr bwMode="auto">
          <a:xfrm>
            <a:off x="79927" y="2015732"/>
            <a:ext cx="6817323" cy="3857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33146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F0F3D-3AD7-DDB8-8A9B-E8D6BA0B9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B8533-6438-CFC6-593E-7A90AA51FC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146" y="1853754"/>
            <a:ext cx="10392701" cy="4199727"/>
          </a:xfrm>
        </p:spPr>
        <p:txBody>
          <a:bodyPr/>
          <a:lstStyle/>
          <a:p>
            <a:r>
              <a:rPr lang="en-US" dirty="0"/>
              <a:t>Transformations are normally applied in the dataset. </a:t>
            </a:r>
          </a:p>
          <a:p>
            <a:pPr lvl="1"/>
            <a:r>
              <a:rPr lang="en-US" dirty="0"/>
              <a:t>Either as it is created or as a batch is produced. </a:t>
            </a:r>
          </a:p>
          <a:p>
            <a:r>
              <a:rPr lang="en-US" dirty="0"/>
              <a:t>With a custom dataset, we can do anything.</a:t>
            </a:r>
          </a:p>
          <a:p>
            <a:r>
              <a:rPr lang="en-US" dirty="0"/>
              <a:t>For images, we generally do things like normalize and resize. </a:t>
            </a:r>
          </a:p>
          <a:p>
            <a:r>
              <a:rPr lang="en-US" dirty="0"/>
              <a:t>For tabular data, we do things like encode or scale. </a:t>
            </a:r>
          </a:p>
          <a:p>
            <a:r>
              <a:rPr lang="en-US" dirty="0"/>
              <a:t>There’s less of a standardized process like an sklearn pipeline. </a:t>
            </a:r>
          </a:p>
          <a:p>
            <a:pPr lvl="1"/>
            <a:r>
              <a:rPr lang="en-US" dirty="0"/>
              <a:t>Things tend to vary more, so are more open </a:t>
            </a:r>
            <a:r>
              <a:rPr lang="en-US" dirty="0" err="1"/>
              <a:t>eneded</a:t>
            </a:r>
            <a:r>
              <a:rPr lang="en-US" dirty="0"/>
              <a:t>. </a:t>
            </a:r>
          </a:p>
          <a:p>
            <a:r>
              <a:rPr lang="en-US" dirty="0"/>
              <a:t>When things are done is open – preprocessing, dataset creation, batch creation, in model…</a:t>
            </a:r>
          </a:p>
          <a:p>
            <a:pPr lvl="1"/>
            <a:r>
              <a:rPr lang="en-US" dirty="0"/>
              <a:t>Performance is a </a:t>
            </a:r>
            <a:r>
              <a:rPr lang="en-US" dirty="0" err="1"/>
              <a:t>cocern</a:t>
            </a:r>
            <a:r>
              <a:rPr lang="en-US" dirty="0"/>
              <a:t>, and we can move prep steps if we need to. </a:t>
            </a:r>
          </a:p>
        </p:txBody>
      </p:sp>
    </p:spTree>
    <p:extLst>
      <p:ext uri="{BB962C8B-B14F-4D97-AF65-F5344CB8AC3E}">
        <p14:creationId xmlns:p14="http://schemas.microsoft.com/office/powerpoint/2010/main" val="21872863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0BECB-66B2-50EB-B206-BA7D2F828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2BC6A-CA32-0D9A-3D25-94CA849463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7989" y="2015732"/>
            <a:ext cx="6416843" cy="3450613"/>
          </a:xfrm>
        </p:spPr>
        <p:txBody>
          <a:bodyPr/>
          <a:lstStyle/>
          <a:p>
            <a:r>
              <a:rPr lang="en-US" dirty="0"/>
              <a:t>Compose is roughly equivalent to a column transformer in sklearn. </a:t>
            </a:r>
          </a:p>
          <a:p>
            <a:r>
              <a:rPr lang="en-US" dirty="0"/>
              <a:t>If there are 2+ transformations, Compose combines them. </a:t>
            </a:r>
          </a:p>
          <a:p>
            <a:r>
              <a:rPr lang="en-US" dirty="0"/>
              <a:t>Compose is generally more efficient than separately. </a:t>
            </a:r>
          </a:p>
          <a:p>
            <a:r>
              <a:rPr lang="en-US" dirty="0"/>
              <a:t>Normally ends with </a:t>
            </a:r>
            <a:r>
              <a:rPr lang="en-US" dirty="0" err="1"/>
              <a:t>toTensor</a:t>
            </a:r>
            <a:r>
              <a:rPr lang="en-US" dirty="0"/>
              <a:t>() to make whatever our data is into a tensor for the model. </a:t>
            </a:r>
          </a:p>
        </p:txBody>
      </p:sp>
      <p:pic>
        <p:nvPicPr>
          <p:cNvPr id="4" name="Picture 3" descr="Introduction to Transformations - KodeKloud">
            <a:extLst>
              <a:ext uri="{FF2B5EF4-FFF2-40B4-BE49-F238E27FC236}">
                <a16:creationId xmlns:a16="http://schemas.microsoft.com/office/drawing/2014/main" id="{5BEF9983-0E1E-2368-726A-39E9BFDE7E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454" r="15995"/>
          <a:stretch>
            <a:fillRect/>
          </a:stretch>
        </p:blipFill>
        <p:spPr>
          <a:xfrm>
            <a:off x="7174831" y="1853754"/>
            <a:ext cx="5017169" cy="437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9066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EAC7E-194B-2D6D-94F1-4A15DE9F4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and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DE99D-C154-3653-CF28-73CB52453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29468"/>
            <a:ext cx="9603275" cy="4124013"/>
          </a:xfrm>
        </p:spPr>
        <p:txBody>
          <a:bodyPr/>
          <a:lstStyle/>
          <a:p>
            <a:r>
              <a:rPr lang="en-US" dirty="0"/>
              <a:t>For smaller datasets, the performance of all this doesn’t really matter. </a:t>
            </a:r>
          </a:p>
          <a:p>
            <a:r>
              <a:rPr lang="en-US" dirty="0"/>
              <a:t>With very large data and complex models, that changes. </a:t>
            </a:r>
          </a:p>
          <a:p>
            <a:r>
              <a:rPr lang="en-US" dirty="0"/>
              <a:t>Each ‘step’ takes a while to both setup and perform. </a:t>
            </a:r>
          </a:p>
          <a:p>
            <a:r>
              <a:rPr lang="en-US" dirty="0"/>
              <a:t>Our limiting factor is usually the speed of our GPU, and we can’t change it w/o $$$$. </a:t>
            </a:r>
          </a:p>
          <a:p>
            <a:r>
              <a:rPr lang="en-US" dirty="0"/>
              <a:t>Controlling where/when prep runs, we can keep the GPU busy almost all the time. </a:t>
            </a:r>
          </a:p>
          <a:p>
            <a:pPr lvl="1"/>
            <a:r>
              <a:rPr lang="en-US" dirty="0"/>
              <a:t>E.g. while the GPU is working on one batch, the next can have transformations done by CPU.</a:t>
            </a:r>
          </a:p>
          <a:p>
            <a:r>
              <a:rPr lang="en-US" dirty="0"/>
              <a:t>Faster training means more trials means more chances at best model. </a:t>
            </a:r>
          </a:p>
          <a:p>
            <a:pPr lvl="1"/>
            <a:r>
              <a:rPr lang="en-US" dirty="0"/>
              <a:t>Training is often paid by the hour, so maximizing output </a:t>
            </a:r>
            <a:r>
              <a:rPr lang="en-US"/>
              <a:t>makes sense.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1681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27F75-BA46-6E76-4AE7-21E5077B9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don’t want this…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BD863-5E94-294B-087D-3D3572E27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00737" y="2015732"/>
            <a:ext cx="3912891" cy="3450613"/>
          </a:xfrm>
        </p:spPr>
        <p:txBody>
          <a:bodyPr/>
          <a:lstStyle/>
          <a:p>
            <a:r>
              <a:rPr lang="en-US" dirty="0"/>
              <a:t>Our GPUs are precious </a:t>
            </a:r>
            <a:r>
              <a:rPr lang="en-US" dirty="0" err="1"/>
              <a:t>jewls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Should not be left idle. </a:t>
            </a:r>
          </a:p>
          <a:p>
            <a:r>
              <a:rPr lang="en-US" dirty="0"/>
              <a:t>We’ll look at this in more detail after we cover </a:t>
            </a:r>
            <a:r>
              <a:rPr lang="en-US" dirty="0" err="1"/>
              <a:t>tensorboard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A tool to monitor training. </a:t>
            </a:r>
          </a:p>
        </p:txBody>
      </p:sp>
      <p:pic>
        <p:nvPicPr>
          <p:cNvPr id="4" name="Picture 3" descr="Efficient Deep Learning Model Training in PyTorch | by Francesco Franco |  Artificial Intelligence in Plain English">
            <a:extLst>
              <a:ext uri="{FF2B5EF4-FFF2-40B4-BE49-F238E27FC236}">
                <a16:creationId xmlns:a16="http://schemas.microsoft.com/office/drawing/2014/main" id="{54239785-E0C1-7043-BC46-B14EE346C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37" y="1853754"/>
            <a:ext cx="7772400" cy="4375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7641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2454E-FD60-8F46-368E-168C88548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Dataloader</a:t>
            </a:r>
            <a:r>
              <a:rPr lang="en-US" dirty="0"/>
              <a:t>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766C0-1BD9-DCD4-2512-B21842BD1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853754"/>
            <a:ext cx="8001000" cy="4083162"/>
          </a:xfrm>
        </p:spPr>
        <p:txBody>
          <a:bodyPr/>
          <a:lstStyle/>
          <a:p>
            <a:r>
              <a:rPr lang="en-US" dirty="0"/>
              <a:t>There are several things we can do to manage performance. </a:t>
            </a:r>
          </a:p>
          <a:p>
            <a:pPr lvl="1"/>
            <a:r>
              <a:rPr lang="en-US" dirty="0"/>
              <a:t>We’ll do more detail later, with </a:t>
            </a:r>
            <a:r>
              <a:rPr lang="en-US" dirty="0" err="1"/>
              <a:t>tensorboard</a:t>
            </a:r>
            <a:r>
              <a:rPr lang="en-US" dirty="0"/>
              <a:t>. </a:t>
            </a:r>
          </a:p>
          <a:p>
            <a:r>
              <a:rPr lang="en-US" dirty="0"/>
              <a:t>Some performance things:</a:t>
            </a:r>
          </a:p>
          <a:p>
            <a:pPr lvl="1"/>
            <a:r>
              <a:rPr lang="en-US" dirty="0" err="1"/>
              <a:t>Num_workers</a:t>
            </a:r>
            <a:r>
              <a:rPr lang="en-US" dirty="0"/>
              <a:t> – allow more processes to load data (Multithreading) instead of current.</a:t>
            </a:r>
          </a:p>
          <a:p>
            <a:pPr lvl="1"/>
            <a:r>
              <a:rPr lang="en-US" dirty="0" err="1"/>
              <a:t>Pin_memory</a:t>
            </a:r>
            <a:r>
              <a:rPr lang="en-US" dirty="0"/>
              <a:t> – force the </a:t>
            </a:r>
            <a:r>
              <a:rPr lang="en-US" dirty="0" err="1"/>
              <a:t>dataloader</a:t>
            </a:r>
            <a:r>
              <a:rPr lang="en-US" dirty="0"/>
              <a:t> into non-paging memory (faster). </a:t>
            </a:r>
          </a:p>
          <a:p>
            <a:pPr lvl="1"/>
            <a:r>
              <a:rPr lang="en-US" dirty="0"/>
              <a:t>Work location – constructor, </a:t>
            </a:r>
            <a:r>
              <a:rPr lang="en-US" dirty="0" err="1"/>
              <a:t>getitem</a:t>
            </a:r>
            <a:r>
              <a:rPr lang="en-US" dirty="0"/>
              <a:t>, vs layer, preprocess step,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pPr lvl="1"/>
            <a:r>
              <a:rPr lang="en-US" dirty="0"/>
              <a:t>Device used – is it on the </a:t>
            </a:r>
            <a:r>
              <a:rPr lang="en-US" dirty="0" err="1"/>
              <a:t>cpu</a:t>
            </a:r>
            <a:r>
              <a:rPr lang="en-US" dirty="0"/>
              <a:t> or the </a:t>
            </a:r>
            <a:r>
              <a:rPr lang="en-US" dirty="0" err="1"/>
              <a:t>gpu</a:t>
            </a:r>
            <a:r>
              <a:rPr lang="en-US" dirty="0"/>
              <a:t>? </a:t>
            </a:r>
          </a:p>
        </p:txBody>
      </p:sp>
      <p:pic>
        <p:nvPicPr>
          <p:cNvPr id="4" name="Picture 3" descr="A guide on good usage of non_blocking and pin_memory() in PyTorch — PyTorch  Tutorials 2.11.0+cu130 documentation">
            <a:extLst>
              <a:ext uri="{FF2B5EF4-FFF2-40B4-BE49-F238E27FC236}">
                <a16:creationId xmlns:a16="http://schemas.microsoft.com/office/drawing/2014/main" id="{E6F18130-5ED4-6B61-EA7F-A0135AF39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6700" y="1161716"/>
            <a:ext cx="4305300" cy="477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1398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F2947-3F8E-08BE-FF41-FE147DC3D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</a:t>
            </a:r>
            <a:r>
              <a:rPr lang="en-US" dirty="0" err="1"/>
              <a:t>Pytorch</a:t>
            </a:r>
            <a:r>
              <a:rPr lang="en-US" dirty="0"/>
              <a:t>….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9CDE0-F0B8-4AC0-D74A-4DDD3654B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In </a:t>
            </a:r>
            <a:r>
              <a:rPr lang="en-US" dirty="0" err="1"/>
              <a:t>PyTorch</a:t>
            </a:r>
            <a:r>
              <a:rPr lang="en-US" dirty="0"/>
              <a:t>, we get our data from a few different sources, slightly differently. </a:t>
            </a:r>
          </a:p>
          <a:p>
            <a:r>
              <a:rPr lang="en-US" dirty="0"/>
              <a:t>Premade </a:t>
            </a:r>
            <a:r>
              <a:rPr lang="en-US" dirty="0" err="1"/>
              <a:t>PyTorch</a:t>
            </a:r>
            <a:r>
              <a:rPr lang="en-US" dirty="0"/>
              <a:t> datasets. </a:t>
            </a:r>
          </a:p>
          <a:p>
            <a:r>
              <a:rPr lang="en-US" dirty="0"/>
              <a:t>Premade other datasets (</a:t>
            </a:r>
            <a:r>
              <a:rPr lang="en-US" dirty="0" err="1"/>
              <a:t>huggingface</a:t>
            </a:r>
            <a:r>
              <a:rPr lang="en-US" dirty="0"/>
              <a:t>, Kaggle, </a:t>
            </a:r>
            <a:r>
              <a:rPr lang="en-US" dirty="0" err="1"/>
              <a:t>tensorflow</a:t>
            </a:r>
            <a:r>
              <a:rPr lang="en-US" dirty="0"/>
              <a:t>, etc..). </a:t>
            </a:r>
          </a:p>
          <a:p>
            <a:r>
              <a:rPr lang="en-US" dirty="0"/>
              <a:t>Custom data datasets. </a:t>
            </a:r>
          </a:p>
          <a:p>
            <a:pPr lvl="1"/>
            <a:r>
              <a:rPr lang="en-US" dirty="0"/>
              <a:t>Customized classes. </a:t>
            </a:r>
          </a:p>
          <a:p>
            <a:pPr lvl="1"/>
            <a:r>
              <a:rPr lang="en-US" dirty="0"/>
              <a:t>“Specialized” dataset creators. (</a:t>
            </a:r>
            <a:r>
              <a:rPr lang="en-US" dirty="0" err="1"/>
              <a:t>Depricated</a:t>
            </a:r>
            <a:r>
              <a:rPr lang="en-US" dirty="0"/>
              <a:t>). </a:t>
            </a:r>
          </a:p>
          <a:p>
            <a:r>
              <a:rPr lang="en-US" dirty="0"/>
              <a:t>Once we get to the data loader level, the layers beneath it can be ignored. </a:t>
            </a:r>
          </a:p>
        </p:txBody>
      </p:sp>
    </p:spTree>
    <p:extLst>
      <p:ext uri="{BB962C8B-B14F-4D97-AF65-F5344CB8AC3E}">
        <p14:creationId xmlns:p14="http://schemas.microsoft.com/office/powerpoint/2010/main" val="32418057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6032F-3B64-1A7B-F7AC-3B6CF4892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Monitoring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EE616-FDC8-8AB8-5EDC-FC555ADE3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79802"/>
            <a:ext cx="9603275" cy="3958543"/>
          </a:xfrm>
        </p:spPr>
        <p:txBody>
          <a:bodyPr/>
          <a:lstStyle/>
          <a:p>
            <a:r>
              <a:rPr lang="en-US" dirty="0"/>
              <a:t>For basic stuff, we can just have some print statements in our training loop. </a:t>
            </a:r>
          </a:p>
          <a:p>
            <a:pPr lvl="1"/>
            <a:r>
              <a:rPr lang="en-US" dirty="0"/>
              <a:t>Loss, epoch, batch,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r>
              <a:rPr lang="en-US" dirty="0"/>
              <a:t>For serious management, we want something better. </a:t>
            </a:r>
          </a:p>
          <a:p>
            <a:pPr lvl="1"/>
            <a:r>
              <a:rPr lang="en-US" dirty="0"/>
              <a:t>Training can take a long time, weeks even. We don’t want to sit there for it. </a:t>
            </a:r>
          </a:p>
          <a:p>
            <a:pPr lvl="1"/>
            <a:r>
              <a:rPr lang="en-US" dirty="0"/>
              <a:t>If doing trials, being able to compare is nice. </a:t>
            </a:r>
          </a:p>
          <a:p>
            <a:pPr lvl="1"/>
            <a:r>
              <a:rPr lang="en-US" dirty="0"/>
              <a:t>Our computer that is training may live in a data center somewhere. </a:t>
            </a:r>
          </a:p>
          <a:p>
            <a:r>
              <a:rPr lang="en-US" dirty="0"/>
              <a:t>One option is to use </a:t>
            </a:r>
            <a:r>
              <a:rPr lang="en-US" dirty="0" err="1"/>
              <a:t>Tensorboard</a:t>
            </a:r>
            <a:r>
              <a:rPr lang="en-US" dirty="0"/>
              <a:t> – a webpage based monitor package. </a:t>
            </a:r>
          </a:p>
          <a:p>
            <a:pPr lvl="1"/>
            <a:r>
              <a:rPr lang="en-US" dirty="0"/>
              <a:t>We write logs with updates on progress to disk. </a:t>
            </a:r>
          </a:p>
          <a:p>
            <a:pPr lvl="1"/>
            <a:r>
              <a:rPr lang="en-US" dirty="0" err="1"/>
              <a:t>Tensorboard</a:t>
            </a:r>
            <a:r>
              <a:rPr lang="en-US" dirty="0"/>
              <a:t> takes the logs and makes them into a nice webpage. </a:t>
            </a:r>
          </a:p>
        </p:txBody>
      </p:sp>
    </p:spTree>
    <p:extLst>
      <p:ext uri="{BB962C8B-B14F-4D97-AF65-F5344CB8AC3E}">
        <p14:creationId xmlns:p14="http://schemas.microsoft.com/office/powerpoint/2010/main" val="34769419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B22F2-67B4-CD48-4741-0C91072D1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Tensorboard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A2F26-25F8-2F89-E0AB-9CC34C9A0C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65434"/>
            <a:ext cx="9603275" cy="4088047"/>
          </a:xfrm>
        </p:spPr>
        <p:txBody>
          <a:bodyPr/>
          <a:lstStyle/>
          <a:p>
            <a:r>
              <a:rPr lang="en-US" dirty="0" err="1"/>
              <a:t>Tensorboard</a:t>
            </a:r>
            <a:r>
              <a:rPr lang="en-US" dirty="0"/>
              <a:t> originally came from </a:t>
            </a:r>
            <a:r>
              <a:rPr lang="en-US" dirty="0" err="1"/>
              <a:t>tensorflow</a:t>
            </a:r>
            <a:r>
              <a:rPr lang="en-US" dirty="0"/>
              <a:t>, the other NN package. </a:t>
            </a:r>
          </a:p>
          <a:p>
            <a:r>
              <a:rPr lang="en-US" dirty="0"/>
              <a:t>It has many features and can be customized a fair bit. </a:t>
            </a:r>
          </a:p>
          <a:p>
            <a:r>
              <a:rPr lang="en-US" dirty="0"/>
              <a:t>Some things that it is useful for are:</a:t>
            </a:r>
          </a:p>
          <a:p>
            <a:pPr lvl="1"/>
            <a:r>
              <a:rPr lang="en-US" dirty="0"/>
              <a:t>Monitoring the loss curves as training progresses. </a:t>
            </a:r>
          </a:p>
          <a:p>
            <a:pPr lvl="1"/>
            <a:r>
              <a:rPr lang="en-US" dirty="0"/>
              <a:t>Showing example data/predictions. </a:t>
            </a:r>
          </a:p>
          <a:p>
            <a:pPr lvl="1"/>
            <a:r>
              <a:rPr lang="en-US" dirty="0"/>
              <a:t>Help tune hyperparameters. </a:t>
            </a:r>
          </a:p>
          <a:p>
            <a:r>
              <a:rPr lang="en-US" dirty="0" err="1"/>
              <a:t>Tensorboard</a:t>
            </a:r>
            <a:r>
              <a:rPr lang="en-US" dirty="0"/>
              <a:t> runs on your computer, you can then access it through a browser. </a:t>
            </a:r>
          </a:p>
          <a:p>
            <a:pPr lvl="1"/>
            <a:r>
              <a:rPr lang="en-US" dirty="0"/>
              <a:t>In a big-data environment, training is on a server, you can access this via the web. </a:t>
            </a:r>
          </a:p>
        </p:txBody>
      </p:sp>
    </p:spTree>
    <p:extLst>
      <p:ext uri="{BB962C8B-B14F-4D97-AF65-F5344CB8AC3E}">
        <p14:creationId xmlns:p14="http://schemas.microsoft.com/office/powerpoint/2010/main" val="8166506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17D50-1965-B569-E60D-5DAFF1EA8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Tensoring</a:t>
            </a:r>
            <a:r>
              <a:rPr lang="en-US" dirty="0"/>
              <a:t> your Boards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5DEB4-E9ED-6441-95A0-DCD5DDD477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435" y="1850851"/>
            <a:ext cx="7879592" cy="4276679"/>
          </a:xfrm>
        </p:spPr>
        <p:txBody>
          <a:bodyPr>
            <a:normAutofit/>
          </a:bodyPr>
          <a:lstStyle/>
          <a:p>
            <a:r>
              <a:rPr lang="en-US" dirty="0"/>
              <a:t>For simple stuff, </a:t>
            </a:r>
            <a:r>
              <a:rPr lang="en-US" dirty="0" err="1"/>
              <a:t>tensorboard</a:t>
            </a:r>
            <a:r>
              <a:rPr lang="en-US" dirty="0"/>
              <a:t> does most of the heavy lifting. </a:t>
            </a:r>
          </a:p>
          <a:p>
            <a:r>
              <a:rPr lang="en-US" dirty="0"/>
              <a:t>We just need to write log values, it’ll pick them up and make the GUI. </a:t>
            </a:r>
          </a:p>
          <a:p>
            <a:r>
              <a:rPr lang="en-US" dirty="0"/>
              <a:t>We use a writer object to do the logging. </a:t>
            </a:r>
          </a:p>
          <a:p>
            <a:pPr lvl="1"/>
            <a:r>
              <a:rPr lang="en-US" dirty="0"/>
              <a:t>Create the object, aimed at the desired logging location. </a:t>
            </a:r>
          </a:p>
          <a:p>
            <a:pPr lvl="1"/>
            <a:r>
              <a:rPr lang="en-US" dirty="0"/>
              <a:t>Add stuff (what you want logged) to the writer. </a:t>
            </a:r>
          </a:p>
          <a:p>
            <a:r>
              <a:rPr lang="en-US" dirty="0"/>
              <a:t>Functions for different data – numbers, images, charts,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r>
              <a:rPr lang="en-US" dirty="0"/>
              <a:t>Usually, you want to add an entry every K batches/epochs to the log. </a:t>
            </a:r>
          </a:p>
          <a:p>
            <a:pPr lvl="1"/>
            <a:r>
              <a:rPr lang="en-US" dirty="0"/>
              <a:t>Usually scalars – loss and accuracy. </a:t>
            </a:r>
          </a:p>
          <a:p>
            <a:pPr lvl="1"/>
            <a:r>
              <a:rPr lang="en-US" dirty="0"/>
              <a:t>Parameters – Label, value, step (x-axis on chart).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BBACEF-AECA-1B33-96A8-5FBEF4969D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7640" y="27928"/>
            <a:ext cx="5444359" cy="1822924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CD6E3DEA-9275-C54B-D6B7-3B2137257C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 b="2835"/>
          <a:stretch>
            <a:fillRect/>
          </a:stretch>
        </p:blipFill>
        <p:spPr bwMode="auto">
          <a:xfrm>
            <a:off x="7893604" y="2228193"/>
            <a:ext cx="4298395" cy="1954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5DF983C9-28F8-7760-2F60-FB2891C429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49" t="70651"/>
          <a:stretch>
            <a:fillRect/>
          </a:stretch>
        </p:blipFill>
        <p:spPr bwMode="auto">
          <a:xfrm>
            <a:off x="6926317" y="5167199"/>
            <a:ext cx="5265682" cy="1690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76812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4B42E-4AAF-33C8-EDCC-9D3512BC9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82B5C-A464-5005-460E-9E99C37A9C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7828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921F0-5A32-C74B-0A9E-39767463F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Hyperparameter Tuning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D9BBB-AF93-919A-1AD9-5573F4995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with classical models, we want to modify hyperparameters to tune a model. </a:t>
            </a:r>
          </a:p>
          <a:p>
            <a:pPr lvl="1"/>
            <a:r>
              <a:rPr lang="en-US" dirty="0"/>
              <a:t>Unfortunately, a grid search won’t work here. </a:t>
            </a:r>
          </a:p>
          <a:p>
            <a:r>
              <a:rPr lang="en-US" dirty="0"/>
              <a:t>With </a:t>
            </a:r>
            <a:r>
              <a:rPr lang="en-US" dirty="0" err="1"/>
              <a:t>pytorch</a:t>
            </a:r>
            <a:r>
              <a:rPr lang="en-US" dirty="0"/>
              <a:t> models we want to do the same thing, but it is structured differently. </a:t>
            </a:r>
          </a:p>
          <a:p>
            <a:pPr lvl="1"/>
            <a:r>
              <a:rPr lang="en-US" dirty="0"/>
              <a:t>Setup the set of choices for HPs. </a:t>
            </a:r>
          </a:p>
          <a:p>
            <a:pPr lvl="1"/>
            <a:r>
              <a:rPr lang="en-US" dirty="0"/>
              <a:t>Train the model, with modifications to do some logging. </a:t>
            </a:r>
          </a:p>
        </p:txBody>
      </p:sp>
    </p:spTree>
    <p:extLst>
      <p:ext uri="{BB962C8B-B14F-4D97-AF65-F5344CB8AC3E}">
        <p14:creationId xmlns:p14="http://schemas.microsoft.com/office/powerpoint/2010/main" val="1449264906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13093</TotalTime>
  <Words>2326</Words>
  <Application>Microsoft Macintosh PowerPoint</Application>
  <PresentationFormat>Widescreen</PresentationFormat>
  <Paragraphs>219</Paragraphs>
  <Slides>31</Slides>
  <Notes>0</Notes>
  <HiddenSlides>5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Gill Sans MT</vt:lpstr>
      <vt:lpstr>Gallery</vt:lpstr>
      <vt:lpstr>Housekeeping</vt:lpstr>
      <vt:lpstr>Fun Project Idea!</vt:lpstr>
      <vt:lpstr>PyTorch Data</vt:lpstr>
      <vt:lpstr>Bonus – Gradient Tracking</vt:lpstr>
      <vt:lpstr>AutoGrad</vt:lpstr>
      <vt:lpstr>Graph</vt:lpstr>
      <vt:lpstr>Doing it with Grads</vt:lpstr>
      <vt:lpstr>Graph Building</vt:lpstr>
      <vt:lpstr>PowerPoint Presentation</vt:lpstr>
      <vt:lpstr>Heads up!</vt:lpstr>
      <vt:lpstr>Prepare some Data!</vt:lpstr>
      <vt:lpstr>Data in Neural Networks</vt:lpstr>
      <vt:lpstr>Datasets for Neural Networks</vt:lpstr>
      <vt:lpstr>Data Thingys</vt:lpstr>
      <vt:lpstr>Datasets</vt:lpstr>
      <vt:lpstr>Out OF memory</vt:lpstr>
      <vt:lpstr>Dataloaders</vt:lpstr>
      <vt:lpstr>Get a Load of this Data!</vt:lpstr>
      <vt:lpstr>Data Preparation</vt:lpstr>
      <vt:lpstr>The Pipeline</vt:lpstr>
      <vt:lpstr>Transformations</vt:lpstr>
      <vt:lpstr>Compose</vt:lpstr>
      <vt:lpstr>Data and Performance</vt:lpstr>
      <vt:lpstr>We don’t want this…</vt:lpstr>
      <vt:lpstr>Dataloader Performance</vt:lpstr>
      <vt:lpstr>In Pytorch….</vt:lpstr>
      <vt:lpstr>Monitoring Performance</vt:lpstr>
      <vt:lpstr>Tensorboard</vt:lpstr>
      <vt:lpstr>Tensoring your Boards</vt:lpstr>
      <vt:lpstr>PowerPoint Presentation</vt:lpstr>
      <vt:lpstr>Hyperparameter Tuning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Akeem Semper</dc:creator>
  <cp:lastModifiedBy>Akeem Semper</cp:lastModifiedBy>
  <cp:revision>23</cp:revision>
  <dcterms:created xsi:type="dcterms:W3CDTF">2026-01-06T20:09:17Z</dcterms:created>
  <dcterms:modified xsi:type="dcterms:W3CDTF">2026-03-17T17:44:53Z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877899-02b0-462c-b2a9-b7d15c4f96fe_Enabled">
    <vt:lpwstr>true</vt:lpwstr>
  </property>
  <property fmtid="{D5CDD505-2E9C-101B-9397-08002B2CF9AE}" pid="3" name="MSIP_Label_10877899-02b0-462c-b2a9-b7d15c4f96fe_SetDate">
    <vt:lpwstr>2026-01-06T20:09:37Z</vt:lpwstr>
  </property>
  <property fmtid="{D5CDD505-2E9C-101B-9397-08002B2CF9AE}" pid="4" name="MSIP_Label_10877899-02b0-462c-b2a9-b7d15c4f96fe_Method">
    <vt:lpwstr>Standard</vt:lpwstr>
  </property>
  <property fmtid="{D5CDD505-2E9C-101B-9397-08002B2CF9AE}" pid="5" name="MSIP_Label_10877899-02b0-462c-b2a9-b7d15c4f96fe_Name">
    <vt:lpwstr>Protected [Protected A]</vt:lpwstr>
  </property>
  <property fmtid="{D5CDD505-2E9C-101B-9397-08002B2CF9AE}" pid="6" name="MSIP_Label_10877899-02b0-462c-b2a9-b7d15c4f96fe_SiteId">
    <vt:lpwstr>5c98fb47-d3b9-4649-9d94-f88cbdd9729c</vt:lpwstr>
  </property>
  <property fmtid="{D5CDD505-2E9C-101B-9397-08002B2CF9AE}" pid="7" name="MSIP_Label_10877899-02b0-462c-b2a9-b7d15c4f96fe_ActionId">
    <vt:lpwstr>8f05d0a3-1ab5-4179-9183-bc978171ba39</vt:lpwstr>
  </property>
  <property fmtid="{D5CDD505-2E9C-101B-9397-08002B2CF9AE}" pid="8" name="MSIP_Label_10877899-02b0-462c-b2a9-b7d15c4f96fe_ContentBits">
    <vt:lpwstr>0</vt:lpwstr>
  </property>
  <property fmtid="{D5CDD505-2E9C-101B-9397-08002B2CF9AE}" pid="9" name="MSIP_Label_10877899-02b0-462c-b2a9-b7d15c4f96fe_Tag">
    <vt:lpwstr>50, 3, 0, 1</vt:lpwstr>
  </property>
</Properties>
</file>