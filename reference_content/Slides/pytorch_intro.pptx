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336" r:id="rId3"/>
    <p:sldId id="256" r:id="rId4"/>
    <p:sldId id="330" r:id="rId5"/>
    <p:sldId id="274" r:id="rId6"/>
    <p:sldId id="322" r:id="rId7"/>
    <p:sldId id="273" r:id="rId8"/>
    <p:sldId id="275" r:id="rId9"/>
    <p:sldId id="280" r:id="rId10"/>
    <p:sldId id="337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4" r:id="rId19"/>
    <p:sldId id="305" r:id="rId20"/>
    <p:sldId id="300" r:id="rId21"/>
    <p:sldId id="301" r:id="rId22"/>
    <p:sldId id="311" r:id="rId23"/>
    <p:sldId id="302" r:id="rId24"/>
    <p:sldId id="303" r:id="rId25"/>
    <p:sldId id="338" r:id="rId26"/>
    <p:sldId id="306" r:id="rId27"/>
    <p:sldId id="309" r:id="rId28"/>
    <p:sldId id="331" r:id="rId29"/>
    <p:sldId id="329" r:id="rId30"/>
    <p:sldId id="325" r:id="rId31"/>
    <p:sldId id="326" r:id="rId32"/>
    <p:sldId id="307" r:id="rId33"/>
    <p:sldId id="308" r:id="rId34"/>
    <p:sldId id="327" r:id="rId35"/>
    <p:sldId id="332" r:id="rId36"/>
    <p:sldId id="333" r:id="rId37"/>
    <p:sldId id="334" r:id="rId38"/>
    <p:sldId id="310" r:id="rId39"/>
    <p:sldId id="312" r:id="rId40"/>
    <p:sldId id="321" r:id="rId41"/>
    <p:sldId id="339" r:id="rId42"/>
    <p:sldId id="316" r:id="rId43"/>
    <p:sldId id="315" r:id="rId44"/>
    <p:sldId id="317" r:id="rId45"/>
    <p:sldId id="319" r:id="rId46"/>
    <p:sldId id="320" r:id="rId47"/>
    <p:sldId id="328" r:id="rId48"/>
    <p:sldId id="335" r:id="rId49"/>
    <p:sldId id="318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A23589-A40C-1A4D-B4FC-1905819E6658}">
          <p14:sldIdLst>
            <p14:sldId id="269"/>
            <p14:sldId id="336"/>
            <p14:sldId id="256"/>
            <p14:sldId id="330"/>
          </p14:sldIdLst>
        </p14:section>
        <p14:section name="Logistics" id="{187AF8B3-733F-0D41-8EEB-BB947E206EB5}">
          <p14:sldIdLst>
            <p14:sldId id="274"/>
            <p14:sldId id="322"/>
            <p14:sldId id="273"/>
            <p14:sldId id="275"/>
            <p14:sldId id="280"/>
            <p14:sldId id="337"/>
          </p14:sldIdLst>
        </p14:section>
        <p14:section name="PyTorch Intro" id="{D7FBF155-CBEC-8949-B981-EBE941F79335}">
          <p14:sldIdLst>
            <p14:sldId id="293"/>
            <p14:sldId id="294"/>
            <p14:sldId id="295"/>
            <p14:sldId id="296"/>
            <p14:sldId id="297"/>
          </p14:sldIdLst>
        </p14:section>
        <p14:section name="Keras and TF" id="{2B08B239-A34C-3D4A-8C5C-267FDC49D3B2}">
          <p14:sldIdLst/>
        </p14:section>
        <p14:section name="Creating PyTorch Models" id="{B2A59B99-3664-E04B-A63C-895C7D2DE19B}">
          <p14:sldIdLst>
            <p14:sldId id="298"/>
            <p14:sldId id="299"/>
            <p14:sldId id="304"/>
            <p14:sldId id="305"/>
            <p14:sldId id="300"/>
            <p14:sldId id="301"/>
            <p14:sldId id="311"/>
          </p14:sldIdLst>
        </p14:section>
        <p14:section name="Layers" id="{C9C238BF-A086-EC45-8C46-90BCADB8AA6C}">
          <p14:sldIdLst>
            <p14:sldId id="302"/>
            <p14:sldId id="303"/>
            <p14:sldId id="338"/>
            <p14:sldId id="306"/>
            <p14:sldId id="309"/>
            <p14:sldId id="331"/>
          </p14:sldIdLst>
        </p14:section>
        <p14:section name="Passes" id="{B484E832-3744-9649-BE76-2A4E45D19601}">
          <p14:sldIdLst>
            <p14:sldId id="329"/>
          </p14:sldIdLst>
        </p14:section>
        <p14:section name="Input" id="{4A5715DA-A741-FC40-89A9-BB1B5071317B}">
          <p14:sldIdLst>
            <p14:sldId id="325"/>
          </p14:sldIdLst>
        </p14:section>
        <p14:section name="Output" id="{DC5DD3BC-9BCD-2F4B-A951-9C35566454D3}">
          <p14:sldIdLst>
            <p14:sldId id="326"/>
          </p14:sldIdLst>
        </p14:section>
        <p14:section name="Hidden Layers" id="{A7580175-1FD6-F543-BADC-661721F86351}">
          <p14:sldIdLst>
            <p14:sldId id="307"/>
            <p14:sldId id="308"/>
            <p14:sldId id="327"/>
            <p14:sldId id="332"/>
            <p14:sldId id="333"/>
            <p14:sldId id="334"/>
            <p14:sldId id="310"/>
          </p14:sldIdLst>
        </p14:section>
        <p14:section name="Model Configuration" id="{814F4922-EC4E-4C48-8C07-FD0EE1FE8A54}">
          <p14:sldIdLst/>
        </p14:section>
        <p14:section name="Torch Loops" id="{FCD5422C-C8BD-9A46-9E12-D03AEB8483B6}">
          <p14:sldIdLst>
            <p14:sldId id="312"/>
            <p14:sldId id="321"/>
            <p14:sldId id="339"/>
          </p14:sldIdLst>
        </p14:section>
        <p14:section name="Tuning and Improving Models" id="{DCF0DC03-C3ED-B54A-961C-1AB627CB8F63}">
          <p14:sldIdLst>
            <p14:sldId id="316"/>
            <p14:sldId id="315"/>
          </p14:sldIdLst>
        </p14:section>
        <p14:section name="Results" id="{6248A564-6056-9649-A815-EDBA40F3D0EF}">
          <p14:sldIdLst>
            <p14:sldId id="317"/>
          </p14:sldIdLst>
        </p14:section>
        <p14:section name="Real Training" id="{66A3C88A-9ACD-2D41-B6E3-9624F8CACD84}">
          <p14:sldIdLst>
            <p14:sldId id="319"/>
            <p14:sldId id="320"/>
          </p14:sldIdLst>
        </p14:section>
        <p14:section name="Conclusion" id="{3C54A90D-D41C-1B4E-9A78-A8B8770DD230}">
          <p14:sldIdLst>
            <p14:sldId id="328"/>
            <p14:sldId id="335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8"/>
    <p:restoredTop sz="95760"/>
  </p:normalViewPr>
  <p:slideViewPr>
    <p:cSldViewPr snapToGrid="0" snapToObjects="1">
      <p:cViewPr varScale="1">
        <p:scale>
          <a:sx n="111" d="100"/>
          <a:sy n="111" d="100"/>
        </p:scale>
        <p:origin x="24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760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563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85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5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27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2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1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21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07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04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13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16A6E-2100-8142-A459-D131503AA14F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22E0453-3720-564A-B6B4-5CB07F85AC0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80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1BAA-703E-984A-BEE3-0CB52B72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 – real Neural Networks!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23FED-F7D2-A74D-91C0-60D875178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943252" cy="4268372"/>
          </a:xfrm>
        </p:spPr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colab</a:t>
            </a:r>
            <a:r>
              <a:rPr lang="en-US" dirty="0"/>
              <a:t> for the GPU. </a:t>
            </a:r>
          </a:p>
          <a:p>
            <a:r>
              <a:rPr lang="en-US" dirty="0"/>
              <a:t>Basics of </a:t>
            </a:r>
            <a:r>
              <a:rPr lang="en-US" dirty="0" err="1"/>
              <a:t>pytorch</a:t>
            </a:r>
            <a:r>
              <a:rPr lang="en-US" dirty="0"/>
              <a:t> neural networks:</a:t>
            </a:r>
          </a:p>
          <a:p>
            <a:pPr lvl="1"/>
            <a:r>
              <a:rPr lang="en-US" dirty="0"/>
              <a:t>Creating models</a:t>
            </a:r>
          </a:p>
          <a:p>
            <a:pPr lvl="1"/>
            <a:r>
              <a:rPr lang="en-US" dirty="0"/>
              <a:t>Adding layers</a:t>
            </a:r>
          </a:p>
          <a:p>
            <a:pPr lvl="1"/>
            <a:r>
              <a:rPr lang="en-US" dirty="0"/>
              <a:t>Next week we’ll do more on data and tuning. </a:t>
            </a:r>
          </a:p>
          <a:p>
            <a:pPr lvl="1"/>
            <a:r>
              <a:rPr lang="en-US" dirty="0"/>
              <a:t>Need to do some exercises and try it out… </a:t>
            </a:r>
          </a:p>
          <a:p>
            <a:r>
              <a:rPr lang="en-US" dirty="0"/>
              <a:t>Versioning and </a:t>
            </a:r>
            <a:r>
              <a:rPr lang="en-US" dirty="0" err="1"/>
              <a:t>PyTorch</a:t>
            </a:r>
            <a:r>
              <a:rPr lang="en-US" dirty="0"/>
              <a:t> notes:</a:t>
            </a:r>
          </a:p>
          <a:p>
            <a:pPr lvl="1"/>
            <a:r>
              <a:rPr lang="en-US" dirty="0"/>
              <a:t>I’ll do most of the work in </a:t>
            </a:r>
            <a:r>
              <a:rPr lang="en-US" dirty="0" err="1"/>
              <a:t>Colab</a:t>
            </a:r>
            <a:r>
              <a:rPr lang="en-US" dirty="0"/>
              <a:t> – so what you’ll get is identical. </a:t>
            </a:r>
          </a:p>
          <a:p>
            <a:pPr lvl="1"/>
            <a:r>
              <a:rPr lang="en-US" dirty="0"/>
              <a:t>If running on your computer, details may vary (largely around name/imports)</a:t>
            </a:r>
          </a:p>
        </p:txBody>
      </p:sp>
    </p:spTree>
    <p:extLst>
      <p:ext uri="{BB962C8B-B14F-4D97-AF65-F5344CB8AC3E}">
        <p14:creationId xmlns:p14="http://schemas.microsoft.com/office/powerpoint/2010/main" val="209515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7C2B-24B9-9D56-7AB2-D4B37768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5F695-A340-FCB4-175A-0E2C2FB6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Deep learning with </a:t>
            </a:r>
            <a:r>
              <a:rPr lang="en-US" dirty="0" err="1"/>
              <a:t>Pytorch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 – Intro (pretty simple and basic)</a:t>
            </a:r>
          </a:p>
          <a:p>
            <a:pPr lvl="1"/>
            <a:r>
              <a:rPr lang="en-US" dirty="0"/>
              <a:t>2 – Neural network example/basic intro. </a:t>
            </a:r>
          </a:p>
          <a:p>
            <a:pPr lvl="1"/>
            <a:r>
              <a:rPr lang="en-US" dirty="0"/>
              <a:t>3/4 - Tensors and datasets. (~next week)</a:t>
            </a:r>
          </a:p>
          <a:p>
            <a:pPr lvl="1"/>
            <a:r>
              <a:rPr lang="en-US" dirty="0"/>
              <a:t>5 – </a:t>
            </a:r>
            <a:r>
              <a:rPr lang="en-US" dirty="0" err="1"/>
              <a:t>Pytorch</a:t>
            </a:r>
            <a:r>
              <a:rPr lang="en-US" dirty="0"/>
              <a:t> model and training details. (~today)</a:t>
            </a:r>
          </a:p>
          <a:p>
            <a:pPr lvl="1"/>
            <a:r>
              <a:rPr lang="en-US" dirty="0"/>
              <a:t>6 – Extending from 5, more </a:t>
            </a:r>
            <a:r>
              <a:rPr lang="en-US" dirty="0" err="1"/>
              <a:t>pytorch</a:t>
            </a:r>
            <a:r>
              <a:rPr lang="en-US" dirty="0"/>
              <a:t> details. (~next week)</a:t>
            </a:r>
          </a:p>
          <a:p>
            <a:r>
              <a:rPr lang="en-US" dirty="0"/>
              <a:t>You want to read all of this stuff over the next ~2 weeks, but it isn’t super urgent. </a:t>
            </a:r>
          </a:p>
          <a:p>
            <a:r>
              <a:rPr lang="en-US" dirty="0"/>
              <a:t>Overall, the book is written to explain ML and NN simultaneously. </a:t>
            </a:r>
          </a:p>
          <a:p>
            <a:pPr lvl="1"/>
            <a:r>
              <a:rPr lang="en-US" dirty="0"/>
              <a:t>You can gloss over or skip the parts there are old news for us. </a:t>
            </a:r>
          </a:p>
          <a:p>
            <a:pPr lvl="1"/>
            <a:r>
              <a:rPr lang="en-US" dirty="0"/>
              <a:t>You do want to read it, the depth is good, this is kind of hard to full grasp solely from doing. </a:t>
            </a:r>
          </a:p>
        </p:txBody>
      </p:sp>
    </p:spTree>
    <p:extLst>
      <p:ext uri="{BB962C8B-B14F-4D97-AF65-F5344CB8AC3E}">
        <p14:creationId xmlns:p14="http://schemas.microsoft.com/office/powerpoint/2010/main" val="381437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651E-E0E9-A14E-A8FC-AAB671BE4A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Neural Networks with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02B9C-D175-3343-B5C5-C97A981D50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82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8A79-F199-B728-7F1F-62CD0A9B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run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730B8-71E5-BD33-44C6-8CE754D5E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605" y="1853754"/>
            <a:ext cx="6342395" cy="4199727"/>
          </a:xfrm>
        </p:spPr>
        <p:txBody>
          <a:bodyPr>
            <a:normAutofit fontScale="92500"/>
          </a:bodyPr>
          <a:lstStyle/>
          <a:p>
            <a:r>
              <a:rPr lang="en-US" dirty="0"/>
              <a:t>We can control where things are processed directly – GPU or CPU. </a:t>
            </a:r>
          </a:p>
          <a:p>
            <a:r>
              <a:rPr lang="en-US" dirty="0"/>
              <a:t>If you have a GPU, you want to set this up locally. </a:t>
            </a:r>
          </a:p>
          <a:p>
            <a:pPr lvl="1"/>
            <a:r>
              <a:rPr lang="en-US" dirty="0"/>
              <a:t>There a pip command for a GPU accelerated </a:t>
            </a:r>
            <a:r>
              <a:rPr lang="en-US" dirty="0" err="1"/>
              <a:t>pytorch</a:t>
            </a:r>
            <a:r>
              <a:rPr lang="en-US" dirty="0"/>
              <a:t> install. </a:t>
            </a:r>
          </a:p>
          <a:p>
            <a:pPr lvl="1"/>
            <a:r>
              <a:rPr lang="en-US" dirty="0"/>
              <a:t>Mine is an Apple M2, this shows that it’ll use the GPU. </a:t>
            </a:r>
          </a:p>
          <a:p>
            <a:pPr lvl="1"/>
            <a:r>
              <a:rPr lang="en-US" dirty="0"/>
              <a:t>It can be much, much faster. </a:t>
            </a:r>
          </a:p>
          <a:p>
            <a:r>
              <a:rPr lang="en-US" dirty="0"/>
              <a:t>We can manually send things to GPU as desired. </a:t>
            </a:r>
          </a:p>
          <a:p>
            <a:pPr lvl="1"/>
            <a:r>
              <a:rPr lang="en-US" dirty="0"/>
              <a:t>Generally, the batch that we are using. </a:t>
            </a:r>
          </a:p>
          <a:p>
            <a:r>
              <a:rPr lang="en-US" dirty="0"/>
              <a:t>Note: code run on remote systems don’t have disk access. </a:t>
            </a:r>
          </a:p>
          <a:p>
            <a:r>
              <a:rPr lang="en-US" dirty="0"/>
              <a:t>We semi regularly need to move things to/from </a:t>
            </a:r>
            <a:r>
              <a:rPr lang="en-US" dirty="0" err="1"/>
              <a:t>gpu</a:t>
            </a:r>
            <a:r>
              <a:rPr lang="en-US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4F865-534F-5822-216E-44F8A2133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7551"/>
            <a:ext cx="5849605" cy="31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4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2A91-5257-B54B-64F1-6008D882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F73A-3D57-53DC-016E-A3B0C595C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Neural networks have libraries similar to sklearn, but there are some new concerns. </a:t>
            </a:r>
          </a:p>
          <a:p>
            <a:pPr lvl="1"/>
            <a:r>
              <a:rPr lang="en-US" dirty="0"/>
              <a:t>GPU acceleration – the big matrix math that is needed in neural networks is done much (much, much…) faster by GPUs (video cards) than by CPUs (regular processors). </a:t>
            </a:r>
          </a:p>
          <a:p>
            <a:r>
              <a:rPr lang="en-US" dirty="0"/>
              <a:t>To do any serious neural network training, we need a GPU of some sort. </a:t>
            </a:r>
          </a:p>
          <a:p>
            <a:pPr lvl="1"/>
            <a:r>
              <a:rPr lang="en-US" dirty="0" err="1"/>
              <a:t>nVidia</a:t>
            </a:r>
            <a:r>
              <a:rPr lang="en-US" dirty="0"/>
              <a:t> GPUs are the king, and far beyond anything else, largely due to CUDA (next). </a:t>
            </a:r>
          </a:p>
          <a:p>
            <a:pPr lvl="1"/>
            <a:r>
              <a:rPr lang="en-US" dirty="0"/>
              <a:t>Apple silicon macs have </a:t>
            </a:r>
            <a:r>
              <a:rPr lang="en-US" dirty="0" err="1"/>
              <a:t>tensorflow</a:t>
            </a:r>
            <a:r>
              <a:rPr lang="en-US" dirty="0"/>
              <a:t> acceleration that you can enable. </a:t>
            </a:r>
          </a:p>
          <a:p>
            <a:pPr lvl="1"/>
            <a:r>
              <a:rPr lang="en-US" dirty="0" err="1"/>
              <a:t>Colab</a:t>
            </a:r>
            <a:r>
              <a:rPr lang="en-US" dirty="0"/>
              <a:t> (or other online workbooks) offer GPU access, </a:t>
            </a:r>
            <a:r>
              <a:rPr lang="en-US" dirty="0" err="1"/>
              <a:t>Colab</a:t>
            </a:r>
            <a:r>
              <a:rPr lang="en-US" dirty="0"/>
              <a:t> is the easiest/cheapest solution.</a:t>
            </a:r>
          </a:p>
          <a:p>
            <a:pPr lvl="1"/>
            <a:r>
              <a:rPr lang="en-US" dirty="0"/>
              <a:t>Other GPUs like Radeons or Intel usually have something, but it tends to suck. </a:t>
            </a:r>
          </a:p>
          <a:p>
            <a:r>
              <a:rPr lang="en-US" dirty="0"/>
              <a:t>You typically install some variation of TensorFlow and get GPU friendly output. </a:t>
            </a:r>
          </a:p>
          <a:p>
            <a:pPr lvl="1"/>
            <a:r>
              <a:rPr lang="en-US" dirty="0"/>
              <a:t>The GPU operations utilize some faster set of commands than ‘normal’ operations. (CUDA)</a:t>
            </a:r>
          </a:p>
        </p:txBody>
      </p:sp>
    </p:spTree>
    <p:extLst>
      <p:ext uri="{BB962C8B-B14F-4D97-AF65-F5344CB8AC3E}">
        <p14:creationId xmlns:p14="http://schemas.microsoft.com/office/powerpoint/2010/main" val="600591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24E45-7D1F-8BC3-2ACB-E5C6CA1C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GPWho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B72D6-B950-86D2-8D48-D805B7F1C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526" y="2015732"/>
            <a:ext cx="5560636" cy="4037749"/>
          </a:xfrm>
        </p:spPr>
        <p:txBody>
          <a:bodyPr/>
          <a:lstStyle/>
          <a:p>
            <a:r>
              <a:rPr lang="en-US" dirty="0"/>
              <a:t>GPUs are graphical processors – video card. </a:t>
            </a:r>
          </a:p>
          <a:p>
            <a:pPr lvl="1"/>
            <a:r>
              <a:rPr lang="en-US" dirty="0"/>
              <a:t>Really good at 3d video. </a:t>
            </a:r>
          </a:p>
          <a:p>
            <a:pPr lvl="1"/>
            <a:r>
              <a:rPr lang="en-US" dirty="0"/>
              <a:t>Also really good at machine learning. </a:t>
            </a:r>
          </a:p>
          <a:p>
            <a:r>
              <a:rPr lang="en-US" dirty="0"/>
              <a:t>GPUs are good at many parallel calculations. </a:t>
            </a:r>
          </a:p>
          <a:p>
            <a:pPr lvl="1"/>
            <a:r>
              <a:rPr lang="en-US" dirty="0"/>
              <a:t>In graphics, things like objects, interactions, light, shading, position,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In neural networks, these are all the matrix and gradient calculations that we do. </a:t>
            </a:r>
          </a:p>
          <a:p>
            <a:r>
              <a:rPr lang="en-US" dirty="0"/>
              <a:t>For ‘real’ NN we need to use GPUs (or </a:t>
            </a:r>
            <a:r>
              <a:rPr lang="en-US" dirty="0" err="1"/>
              <a:t>equiv</a:t>
            </a:r>
            <a:r>
              <a:rPr lang="en-US" dirty="0"/>
              <a:t>)</a:t>
            </a:r>
          </a:p>
        </p:txBody>
      </p:sp>
      <p:pic>
        <p:nvPicPr>
          <p:cNvPr id="1026" name="Picture 2" descr="GPUs vs CPUs (Threads, core, speed) | by Abhishek Jain | Medium">
            <a:extLst>
              <a:ext uri="{FF2B5EF4-FFF2-40B4-BE49-F238E27FC236}">
                <a16:creationId xmlns:a16="http://schemas.microsoft.com/office/drawing/2014/main" id="{C18A7D4D-9D3C-C89E-CA5D-83D0F77AA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549" y="131034"/>
            <a:ext cx="8393965" cy="60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231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B1E9-184B-3CD4-D1AB-F0DAABD0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8317E-BAF7-8032-1620-55B316C9C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D4AC59-9AC9-ACF7-120D-4F2FB5F01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4188"/>
            <a:ext cx="12192000" cy="588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0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DEB8-0E03-E8ED-849C-B80F8FD2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this is something you want to do, what Hardware do you want?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0C4E-B08E-3F9D-6AD5-A4B2F2C53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best overall solution (IMO) is a </a:t>
            </a:r>
            <a:r>
              <a:rPr lang="en-US" dirty="0" err="1"/>
              <a:t>macbook</a:t>
            </a:r>
            <a:r>
              <a:rPr lang="en-US" dirty="0"/>
              <a:t> pro/air + </a:t>
            </a:r>
            <a:r>
              <a:rPr lang="en-US" dirty="0" err="1"/>
              <a:t>Colab</a:t>
            </a:r>
            <a:r>
              <a:rPr lang="en-US" dirty="0"/>
              <a:t> or similar for big stuff. </a:t>
            </a:r>
          </a:p>
          <a:p>
            <a:pPr lvl="1"/>
            <a:r>
              <a:rPr lang="en-US" dirty="0" err="1"/>
              <a:t>Macbooks</a:t>
            </a:r>
            <a:r>
              <a:rPr lang="en-US" dirty="0"/>
              <a:t> are accelerated enough for (most) trials, then you can use cloud for training. </a:t>
            </a:r>
          </a:p>
          <a:p>
            <a:r>
              <a:rPr lang="en-US" dirty="0"/>
              <a:t>Another GPU + </a:t>
            </a:r>
            <a:r>
              <a:rPr lang="en-US" dirty="0" err="1"/>
              <a:t>Colab</a:t>
            </a:r>
            <a:r>
              <a:rPr lang="en-US" dirty="0"/>
              <a:t> will probably work, thought support may vary. </a:t>
            </a:r>
          </a:p>
          <a:p>
            <a:r>
              <a:rPr lang="en-US" dirty="0"/>
              <a:t>If you want to train lots of stuff from scratch, get an </a:t>
            </a:r>
            <a:r>
              <a:rPr lang="en-US" dirty="0" err="1"/>
              <a:t>nVidia</a:t>
            </a:r>
            <a:r>
              <a:rPr lang="en-US" dirty="0"/>
              <a:t> GPU. </a:t>
            </a:r>
          </a:p>
          <a:p>
            <a:pPr lvl="1"/>
            <a:r>
              <a:rPr lang="en-US" dirty="0"/>
              <a:t>Look up speeds, there’s </a:t>
            </a:r>
            <a:r>
              <a:rPr lang="en-US" dirty="0" err="1"/>
              <a:t>pytorch</a:t>
            </a:r>
            <a:r>
              <a:rPr lang="en-US" dirty="0"/>
              <a:t> benchmark pages out there. </a:t>
            </a:r>
          </a:p>
          <a:p>
            <a:pPr lvl="1"/>
            <a:r>
              <a:rPr lang="en-US" dirty="0"/>
              <a:t>There’s no (effective) replacement for CUDA, so even fast hardware tends to lose out. </a:t>
            </a:r>
          </a:p>
          <a:p>
            <a:pPr lvl="1"/>
            <a:r>
              <a:rPr lang="en-US" dirty="0"/>
              <a:t>If you’re doing lots of stuff, having your own might be cheaper (though I’d hesitate unless you want the GPU for other stuff too, </a:t>
            </a:r>
            <a:r>
              <a:rPr lang="en-US" dirty="0" err="1"/>
              <a:t>Colab</a:t>
            </a:r>
            <a:r>
              <a:rPr lang="en-US" dirty="0"/>
              <a:t> is really fast, and upgrades things.)</a:t>
            </a:r>
          </a:p>
          <a:p>
            <a:pPr lvl="1"/>
            <a:r>
              <a:rPr lang="en-US" dirty="0"/>
              <a:t>There are hard limits for running models – they must fit in GPU memory. </a:t>
            </a:r>
          </a:p>
          <a:p>
            <a:pPr lvl="1"/>
            <a:r>
              <a:rPr lang="en-US" dirty="0"/>
              <a:t>Laptop GPUs will work but are much slower, so unless you want it to game, it isn’t worth it. </a:t>
            </a:r>
          </a:p>
          <a:p>
            <a:r>
              <a:rPr lang="en-US" dirty="0"/>
              <a:t>There are </a:t>
            </a:r>
            <a:r>
              <a:rPr lang="en-US" dirty="0" err="1"/>
              <a:t>colab</a:t>
            </a:r>
            <a:r>
              <a:rPr lang="en-US" dirty="0"/>
              <a:t> competitors out there, some give free time, some cost less,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1497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BCA7-9E2E-BADD-61D3-65EC15315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in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BFEC-908E-34A5-B79F-70E98C2F7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7301" y="1853754"/>
            <a:ext cx="7044699" cy="4199727"/>
          </a:xfrm>
        </p:spPr>
        <p:txBody>
          <a:bodyPr>
            <a:normAutofit/>
          </a:bodyPr>
          <a:lstStyle/>
          <a:p>
            <a:r>
              <a:rPr lang="en-US" dirty="0"/>
              <a:t>For me (and I assume most) we can use </a:t>
            </a:r>
            <a:r>
              <a:rPr lang="en-US" dirty="0" err="1"/>
              <a:t>Colab</a:t>
            </a:r>
            <a:r>
              <a:rPr lang="en-US" dirty="0"/>
              <a:t> for the NN stuff. </a:t>
            </a:r>
          </a:p>
          <a:p>
            <a:r>
              <a:rPr lang="en-US" dirty="0"/>
              <a:t>We can use things from GitHub and </a:t>
            </a:r>
            <a:r>
              <a:rPr lang="en-US" dirty="0" err="1"/>
              <a:t>VSCode</a:t>
            </a:r>
            <a:r>
              <a:rPr lang="en-US" dirty="0"/>
              <a:t> relatively easily. </a:t>
            </a:r>
          </a:p>
          <a:p>
            <a:r>
              <a:rPr lang="en-US" dirty="0"/>
              <a:t>I generally prefer to:</a:t>
            </a:r>
          </a:p>
          <a:p>
            <a:pPr lvl="1"/>
            <a:r>
              <a:rPr lang="en-US" dirty="0"/>
              <a:t>Code and run small tests locally. (Ifs for ‘in </a:t>
            </a:r>
            <a:r>
              <a:rPr lang="en-US" dirty="0" err="1"/>
              <a:t>colab</a:t>
            </a:r>
            <a:r>
              <a:rPr lang="en-US" dirty="0"/>
              <a:t>’ may help). </a:t>
            </a:r>
          </a:p>
          <a:p>
            <a:pPr lvl="1"/>
            <a:r>
              <a:rPr lang="en-US" dirty="0"/>
              <a:t>Push to my repository. </a:t>
            </a:r>
          </a:p>
          <a:p>
            <a:pPr lvl="1"/>
            <a:r>
              <a:rPr lang="en-US" dirty="0"/>
              <a:t>Open in </a:t>
            </a:r>
            <a:r>
              <a:rPr lang="en-US" dirty="0" err="1"/>
              <a:t>Colab</a:t>
            </a:r>
            <a:r>
              <a:rPr lang="en-US" dirty="0"/>
              <a:t> and run for real. </a:t>
            </a:r>
          </a:p>
          <a:p>
            <a:r>
              <a:rPr lang="en-US" dirty="0"/>
              <a:t>On </a:t>
            </a:r>
            <a:r>
              <a:rPr lang="en-US" dirty="0" err="1"/>
              <a:t>Colab</a:t>
            </a:r>
            <a:r>
              <a:rPr lang="en-US" dirty="0"/>
              <a:t>, use GPU runtimes for speed. </a:t>
            </a:r>
          </a:p>
          <a:p>
            <a:r>
              <a:rPr lang="en-US" dirty="0"/>
              <a:t>Acceleration – runtime -&gt; change runtime type for GPU. </a:t>
            </a:r>
          </a:p>
          <a:p>
            <a:r>
              <a:rPr lang="en-US" dirty="0"/>
              <a:t>For now, what they give free is fine.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81EE6-8A2E-4822-9364-AC3B5CB51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9302"/>
            <a:ext cx="5147301" cy="417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24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10E7A-853A-92FF-C68F-9A7AB070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4457C-2F2F-D456-BA06-ABCA8459A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1" y="2015732"/>
            <a:ext cx="4790440" cy="3450613"/>
          </a:xfrm>
        </p:spPr>
        <p:txBody>
          <a:bodyPr/>
          <a:lstStyle/>
          <a:p>
            <a:r>
              <a:rPr lang="en-US" dirty="0"/>
              <a:t>We can also add a plugin to </a:t>
            </a:r>
            <a:r>
              <a:rPr lang="en-US" dirty="0" err="1"/>
              <a:t>vscode</a:t>
            </a:r>
            <a:r>
              <a:rPr lang="en-US" dirty="0"/>
              <a:t> to let it use </a:t>
            </a:r>
            <a:r>
              <a:rPr lang="en-US" dirty="0" err="1"/>
              <a:t>Colab</a:t>
            </a:r>
            <a:r>
              <a:rPr lang="en-US" dirty="0"/>
              <a:t> runtimes. </a:t>
            </a:r>
          </a:p>
          <a:p>
            <a:pPr lvl="1"/>
            <a:r>
              <a:rPr lang="en-US" dirty="0"/>
              <a:t>Run code on local editor. </a:t>
            </a:r>
          </a:p>
          <a:p>
            <a:pPr lvl="1"/>
            <a:r>
              <a:rPr lang="en-US" dirty="0"/>
              <a:t>Execution is all done remotely. </a:t>
            </a:r>
          </a:p>
          <a:p>
            <a:r>
              <a:rPr lang="en-US" dirty="0"/>
              <a:t>I usually use this. </a:t>
            </a:r>
          </a:p>
          <a:p>
            <a:r>
              <a:rPr lang="en-US" dirty="0"/>
              <a:t>Don’t have local files with remote kernel.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9A025-84B4-A002-6A30-5F846391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07950"/>
            <a:ext cx="6731000" cy="66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5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5B8B8-DFE5-89EE-DE23-3ED95F6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PyTorch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8912-5820-90C9-2EF7-7199B5DE3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903" y="1853754"/>
            <a:ext cx="7773143" cy="4199727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is a library that provides neural network models and tools. </a:t>
            </a:r>
          </a:p>
          <a:p>
            <a:pPr lvl="1"/>
            <a:r>
              <a:rPr lang="en-US" dirty="0"/>
              <a:t>Similar to how we use sklearn for statistical models. </a:t>
            </a:r>
          </a:p>
          <a:p>
            <a:pPr lvl="1"/>
            <a:r>
              <a:rPr lang="en-US" dirty="0"/>
              <a:t>Made by Facebook, in Zuckerberg’s pre-alpha bro, skinny and weak nerd, stage. Thanks, Zuck!</a:t>
            </a:r>
          </a:p>
          <a:p>
            <a:pPr lvl="1"/>
            <a:r>
              <a:rPr lang="en-US" dirty="0"/>
              <a:t>There was a brief moment in time where big tech maybe, </a:t>
            </a:r>
            <a:r>
              <a:rPr lang="en-US" dirty="0" err="1"/>
              <a:t>kinda</a:t>
            </a:r>
            <a:r>
              <a:rPr lang="en-US" dirty="0"/>
              <a:t> did some good things on occasion. </a:t>
            </a:r>
          </a:p>
          <a:p>
            <a:r>
              <a:rPr lang="en-US" dirty="0"/>
              <a:t>Provides prebuilt functionality to do the majority of neural networks. </a:t>
            </a:r>
          </a:p>
          <a:p>
            <a:pPr lvl="1"/>
            <a:r>
              <a:rPr lang="en-US" dirty="0"/>
              <a:t>We don’t need to manually do matrix math and similar details. </a:t>
            </a:r>
          </a:p>
          <a:p>
            <a:r>
              <a:rPr lang="en-US" dirty="0"/>
              <a:t>We can focus on layers, loss, </a:t>
            </a:r>
            <a:r>
              <a:rPr lang="en-US" dirty="0" err="1"/>
              <a:t>etc</a:t>
            </a:r>
            <a:r>
              <a:rPr lang="en-US" dirty="0"/>
              <a:t>… at a higher level. </a:t>
            </a:r>
          </a:p>
          <a:p>
            <a:pPr lvl="1"/>
            <a:r>
              <a:rPr lang="en-US" dirty="0"/>
              <a:t>On a personal note, I think </a:t>
            </a:r>
            <a:r>
              <a:rPr lang="en-US" dirty="0" err="1"/>
              <a:t>PyTorch</a:t>
            </a:r>
            <a:r>
              <a:rPr lang="en-US" dirty="0"/>
              <a:t> still has way too much low level code.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Mark Zuckerberg Thinks Companies Need 'Masculine Energy'">
            <a:extLst>
              <a:ext uri="{FF2B5EF4-FFF2-40B4-BE49-F238E27FC236}">
                <a16:creationId xmlns:a16="http://schemas.microsoft.com/office/drawing/2014/main" id="{0CF59ABD-99EC-9501-A3CF-B77B4090D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046" y="2159726"/>
            <a:ext cx="3077737" cy="3077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84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7CEC-B14B-740E-B936-BB1CEEDED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D7687-B1C1-8980-8388-8A889D5F9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8270"/>
            <a:ext cx="9603275" cy="4075212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is currently one of the two big NN libraries, with </a:t>
            </a:r>
            <a:r>
              <a:rPr lang="en-US" dirty="0" err="1"/>
              <a:t>tensorflow</a:t>
            </a:r>
            <a:r>
              <a:rPr lang="en-US" dirty="0"/>
              <a:t>/</a:t>
            </a:r>
            <a:r>
              <a:rPr lang="en-US" dirty="0" err="1"/>
              <a:t>keras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They do basically the same thing, syntax and details are different.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tends to be more common on new/public stuff, </a:t>
            </a:r>
            <a:r>
              <a:rPr lang="en-US" dirty="0" err="1"/>
              <a:t>tf</a:t>
            </a:r>
            <a:r>
              <a:rPr lang="en-US" dirty="0"/>
              <a:t> is older and kind of more est.</a:t>
            </a:r>
          </a:p>
          <a:p>
            <a:endParaRPr lang="en-US" dirty="0"/>
          </a:p>
          <a:p>
            <a:r>
              <a:rPr lang="en-US" dirty="0"/>
              <a:t>There’s some messy and confusing stuff with backends, combining </a:t>
            </a:r>
            <a:r>
              <a:rPr lang="en-US" dirty="0" err="1"/>
              <a:t>keras</a:t>
            </a:r>
            <a:r>
              <a:rPr lang="en-US" dirty="0"/>
              <a:t>/torch,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Ignore all this, unless you really care, it doesn’t matter much for learning.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537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6234D-0308-E7E7-AF49-906E3824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5B4D6-61EC-8844-F715-EC4343ED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6A217-3EDF-F948-9D99-70EF4467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ensorflow Vs Pytorch - Genspark">
            <a:extLst>
              <a:ext uri="{FF2B5EF4-FFF2-40B4-BE49-F238E27FC236}">
                <a16:creationId xmlns:a16="http://schemas.microsoft.com/office/drawing/2014/main" id="{19C8519E-B818-1004-FA3A-1B92FF06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1175"/>
            <a:ext cx="12192000" cy="583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77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5D26-3E52-6BFC-6E3A-8E6E9918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Usage…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F2B75-F54B-5D3C-5544-F35599219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6724"/>
            <a:ext cx="9603275" cy="4136758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is much easier to use than doing it by hand, but not the simplest. </a:t>
            </a:r>
          </a:p>
          <a:p>
            <a:pPr lvl="1"/>
            <a:r>
              <a:rPr lang="en-US" dirty="0"/>
              <a:t>There’s still some boilerplate code and some details we need to manage. </a:t>
            </a:r>
          </a:p>
          <a:p>
            <a:r>
              <a:rPr lang="en-US" dirty="0"/>
              <a:t>Our main projects when making </a:t>
            </a:r>
            <a:r>
              <a:rPr lang="en-US" dirty="0" err="1"/>
              <a:t>pytorch</a:t>
            </a:r>
            <a:r>
              <a:rPr lang="en-US" dirty="0"/>
              <a:t> models will be:</a:t>
            </a:r>
          </a:p>
          <a:p>
            <a:pPr lvl="1"/>
            <a:r>
              <a:rPr lang="en-US" dirty="0"/>
              <a:t>Mange the data – similar to before, though now we make special torch specific data objects. </a:t>
            </a:r>
          </a:p>
          <a:p>
            <a:pPr lvl="1"/>
            <a:r>
              <a:rPr lang="en-US" dirty="0"/>
              <a:t>Construct the model – make a model object (actually build it) with the layers and such. </a:t>
            </a:r>
          </a:p>
          <a:p>
            <a:pPr lvl="1"/>
            <a:r>
              <a:rPr lang="en-US" dirty="0"/>
              <a:t>Configure training – define loss and optimization (</a:t>
            </a:r>
            <a:r>
              <a:rPr lang="en-US" dirty="0" err="1"/>
              <a:t>gd</a:t>
            </a:r>
            <a:r>
              <a:rPr lang="en-US" dirty="0"/>
              <a:t> algorithm). </a:t>
            </a:r>
          </a:p>
          <a:p>
            <a:pPr lvl="1"/>
            <a:r>
              <a:rPr lang="en-US" dirty="0"/>
              <a:t>Make train/test loops – define what happens when we train (similar to manual version). </a:t>
            </a:r>
          </a:p>
          <a:p>
            <a:r>
              <a:rPr lang="en-US" dirty="0"/>
              <a:t>The data and model are scenario specific, the loops are pretty boilerplate. </a:t>
            </a:r>
          </a:p>
          <a:p>
            <a:r>
              <a:rPr lang="en-US" dirty="0"/>
              <a:t>Note: there’s a condensed/simplified interface called lightning, we </a:t>
            </a:r>
            <a:r>
              <a:rPr lang="en-US" i="1" dirty="0"/>
              <a:t>might</a:t>
            </a:r>
            <a:r>
              <a:rPr lang="en-US" dirty="0"/>
              <a:t> touch it later. </a:t>
            </a:r>
          </a:p>
        </p:txBody>
      </p:sp>
    </p:spTree>
    <p:extLst>
      <p:ext uri="{BB962C8B-B14F-4D97-AF65-F5344CB8AC3E}">
        <p14:creationId xmlns:p14="http://schemas.microsoft.com/office/powerpoint/2010/main" val="1534284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0085-9BCE-AF55-8314-62BF95D5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1FDC2-2EB3-3ABF-D068-4C6A0E87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3100"/>
            <a:ext cx="9603275" cy="4110381"/>
          </a:xfrm>
        </p:spPr>
        <p:txBody>
          <a:bodyPr/>
          <a:lstStyle/>
          <a:p>
            <a:r>
              <a:rPr lang="en-US" dirty="0"/>
              <a:t>Generally, these models will have more custom code than sklearn projects. </a:t>
            </a:r>
          </a:p>
          <a:p>
            <a:pPr lvl="1"/>
            <a:r>
              <a:rPr lang="en-US" dirty="0"/>
              <a:t>#1 hint – build/test incrementally. Can I load one record, one set of records, train a model, test it, add layers, change optimizer, </a:t>
            </a:r>
            <a:r>
              <a:rPr lang="en-US" dirty="0" err="1"/>
              <a:t>etc</a:t>
            </a:r>
            <a:r>
              <a:rPr lang="en-US" dirty="0"/>
              <a:t>… Test one thing at a time if struggling. </a:t>
            </a:r>
          </a:p>
          <a:p>
            <a:r>
              <a:rPr lang="en-US" dirty="0"/>
              <a:t>The documentation is very substantial and mostly good.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documentation is decent and has some examples. </a:t>
            </a:r>
          </a:p>
          <a:p>
            <a:pPr lvl="1"/>
            <a:r>
              <a:rPr lang="en-US" dirty="0"/>
              <a:t>The text gives pretty good explanations and examples that can be adapted. </a:t>
            </a:r>
          </a:p>
          <a:p>
            <a:pPr lvl="1"/>
            <a:r>
              <a:rPr lang="en-US" dirty="0"/>
              <a:t>There is a near infinite amount of resources and examples online – beware of version used. </a:t>
            </a:r>
          </a:p>
          <a:p>
            <a:r>
              <a:rPr lang="en-US" dirty="0"/>
              <a:t>I find it is easy to find answers, but you need to know what specifically you’re looking for.</a:t>
            </a:r>
          </a:p>
          <a:p>
            <a:pPr lvl="1"/>
            <a:r>
              <a:rPr lang="en-US" dirty="0"/>
              <a:t>E.g. “this model doesn’t work” is hard to answer, “this model gives this error when adding an LSTM layer” is probably pretty simple. </a:t>
            </a:r>
          </a:p>
        </p:txBody>
      </p:sp>
    </p:spTree>
    <p:extLst>
      <p:ext uri="{BB962C8B-B14F-4D97-AF65-F5344CB8AC3E}">
        <p14:creationId xmlns:p14="http://schemas.microsoft.com/office/powerpoint/2010/main" val="3603154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BE8B-8BC7-2FAE-6FF9-B95BDCF4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PyTorch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8226-DA09-6059-073C-32918A4CE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To make a model we need to do a bit more work than sklearn:</a:t>
            </a:r>
          </a:p>
          <a:p>
            <a:pPr lvl="1"/>
            <a:r>
              <a:rPr lang="en-US" dirty="0"/>
              <a:t>Create the model object, with the layers and structure defined. </a:t>
            </a:r>
          </a:p>
          <a:p>
            <a:pPr lvl="1"/>
            <a:r>
              <a:rPr lang="en-US" dirty="0"/>
              <a:t>Create datasets from the data or location of data on disk/</a:t>
            </a:r>
            <a:r>
              <a:rPr lang="en-US" dirty="0" err="1"/>
              <a:t>db</a:t>
            </a:r>
            <a:r>
              <a:rPr lang="en-US" dirty="0"/>
              <a:t>/network. </a:t>
            </a:r>
          </a:p>
          <a:p>
            <a:pPr lvl="1"/>
            <a:r>
              <a:rPr lang="en-US" dirty="0"/>
              <a:t>Define the configuration – loss and optimizer. </a:t>
            </a:r>
          </a:p>
          <a:p>
            <a:pPr lvl="1"/>
            <a:r>
              <a:rPr lang="en-US" dirty="0"/>
              <a:t>Define the loops – what to do each training and testing round. </a:t>
            </a:r>
          </a:p>
          <a:p>
            <a:pPr lvl="1"/>
            <a:r>
              <a:rPr lang="en-US" dirty="0"/>
              <a:t>Running it all!</a:t>
            </a:r>
          </a:p>
          <a:p>
            <a:r>
              <a:rPr lang="en-US" dirty="0"/>
              <a:t>Datasets and preprocessing is also quite different here. </a:t>
            </a:r>
          </a:p>
          <a:p>
            <a:pPr lvl="1"/>
            <a:r>
              <a:rPr lang="en-US" dirty="0"/>
              <a:t>Data is often/usually too big for memory. </a:t>
            </a:r>
          </a:p>
          <a:p>
            <a:pPr lvl="1"/>
            <a:r>
              <a:rPr lang="en-US" dirty="0"/>
              <a:t>Data loaders will manage pulling data off disk as needed. </a:t>
            </a:r>
          </a:p>
          <a:p>
            <a:pPr lvl="1"/>
            <a:r>
              <a:rPr lang="en-US" dirty="0"/>
              <a:t>Pipeline steps to preprocess data are normally applied to the data loader.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56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26CE-D987-E6D0-8B3C-A3F63C193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ustom training: walkthrough | TensorFlow Core">
            <a:extLst>
              <a:ext uri="{FF2B5EF4-FFF2-40B4-BE49-F238E27FC236}">
                <a16:creationId xmlns:a16="http://schemas.microsoft.com/office/drawing/2014/main" id="{3102D6AC-6E67-D7ED-15D3-DD1D5EC25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1165"/>
            <a:ext cx="7585166" cy="321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DC089F-218E-A32B-BDC0-FDD97708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Model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D9F35-972F-F59F-598B-340A20BD9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1954" y="1853754"/>
            <a:ext cx="4606835" cy="4199727"/>
          </a:xfrm>
        </p:spPr>
        <p:txBody>
          <a:bodyPr/>
          <a:lstStyle/>
          <a:p>
            <a:r>
              <a:rPr lang="en-US" dirty="0"/>
              <a:t>The network itself is made of layers. </a:t>
            </a:r>
          </a:p>
          <a:p>
            <a:pPr lvl="1"/>
            <a:r>
              <a:rPr lang="en-US" dirty="0"/>
              <a:t>There are many types (later). </a:t>
            </a:r>
          </a:p>
          <a:p>
            <a:pPr lvl="1"/>
            <a:r>
              <a:rPr lang="en-US" dirty="0"/>
              <a:t>Layers types are premade*. </a:t>
            </a:r>
          </a:p>
          <a:p>
            <a:r>
              <a:rPr lang="en-US" dirty="0"/>
              <a:t>Input – handle data in its original shape.</a:t>
            </a:r>
          </a:p>
          <a:p>
            <a:r>
              <a:rPr lang="en-US" dirty="0"/>
              <a:t>Hidden – do the learning. </a:t>
            </a:r>
          </a:p>
          <a:p>
            <a:r>
              <a:rPr lang="en-US" dirty="0"/>
              <a:t>Output – translate learned values to prediction. </a:t>
            </a:r>
          </a:p>
          <a:p>
            <a:r>
              <a:rPr lang="en-US" dirty="0"/>
              <a:t>There are assorted other layers  - normalization, reshaping,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06839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8B66E-4365-8828-A149-804290C2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1A53F-DE8D-E3E5-89CC-4900F1E5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0214" y="1973766"/>
            <a:ext cx="6467708" cy="4079715"/>
          </a:xfrm>
        </p:spPr>
        <p:txBody>
          <a:bodyPr>
            <a:normAutofit/>
          </a:bodyPr>
          <a:lstStyle/>
          <a:p>
            <a:r>
              <a:rPr lang="en-US" dirty="0"/>
              <a:t>Data, when fed to the model, needs to be in a tensor. </a:t>
            </a:r>
          </a:p>
          <a:p>
            <a:pPr lvl="1"/>
            <a:r>
              <a:rPr lang="en-US" dirty="0"/>
              <a:t>A tensor is a 3+ dimension array.  </a:t>
            </a:r>
          </a:p>
          <a:p>
            <a:r>
              <a:rPr lang="en-US" dirty="0"/>
              <a:t>This structure is part of what lets neural networks be good at unstructured stuff. </a:t>
            </a:r>
          </a:p>
          <a:p>
            <a:pPr lvl="1"/>
            <a:r>
              <a:rPr lang="en-US" dirty="0"/>
              <a:t>We can capture 3 or 4D data (images, video, </a:t>
            </a:r>
            <a:r>
              <a:rPr lang="en-US" dirty="0" err="1"/>
              <a:t>etc</a:t>
            </a:r>
            <a:r>
              <a:rPr lang="en-US" dirty="0"/>
              <a:t>…) in its ‘actual’ shape. </a:t>
            </a:r>
          </a:p>
          <a:p>
            <a:pPr lvl="1"/>
            <a:r>
              <a:rPr lang="en-US" dirty="0"/>
              <a:t>We can have very complex (high dimensional) representations of meaning. </a:t>
            </a:r>
          </a:p>
        </p:txBody>
      </p:sp>
      <p:pic>
        <p:nvPicPr>
          <p:cNvPr id="2050" name="Picture 2" descr="Learn Tensor Properties | Tensors">
            <a:extLst>
              <a:ext uri="{FF2B5EF4-FFF2-40B4-BE49-F238E27FC236}">
                <a16:creationId xmlns:a16="http://schemas.microsoft.com/office/drawing/2014/main" id="{33CFB115-672F-0AAC-9071-1673226A47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" t="626" r="3754"/>
          <a:stretch>
            <a:fillRect/>
          </a:stretch>
        </p:blipFill>
        <p:spPr bwMode="auto">
          <a:xfrm>
            <a:off x="0" y="2190419"/>
            <a:ext cx="562021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902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7FEFC1-63FF-5D48-3CBB-3B036344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1054-5AF2-A71E-83D7-61CEFD1CC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Tensors and Input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8F733-DC52-7F7C-3F5F-98E5D89C9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1913175"/>
          </a:xfrm>
        </p:spPr>
        <p:txBody>
          <a:bodyPr>
            <a:normAutofit/>
          </a:bodyPr>
          <a:lstStyle/>
          <a:p>
            <a:r>
              <a:rPr lang="en-US" dirty="0"/>
              <a:t>Data can be in multiple dimensions. </a:t>
            </a:r>
          </a:p>
          <a:p>
            <a:r>
              <a:rPr lang="en-US" dirty="0"/>
              <a:t>The input layer defines the shape to expect. </a:t>
            </a:r>
          </a:p>
          <a:p>
            <a:pPr lvl="1"/>
            <a:r>
              <a:rPr lang="en-US" dirty="0"/>
              <a:t>For now, we’ll use something like (18,) which means just flat 18 features. </a:t>
            </a:r>
          </a:p>
          <a:p>
            <a:pPr lvl="1"/>
            <a:r>
              <a:rPr lang="en-US" dirty="0"/>
              <a:t>Later, like with images, we’ll specify the shape of each image, and the batch size in here. </a:t>
            </a:r>
          </a:p>
        </p:txBody>
      </p:sp>
      <p:pic>
        <p:nvPicPr>
          <p:cNvPr id="4098" name="Picture 2" descr="Introduction to Scalars Vectors Matrices and Tensors using Python/Numpy  examples and drawings">
            <a:extLst>
              <a:ext uri="{FF2B5EF4-FFF2-40B4-BE49-F238E27FC236}">
                <a16:creationId xmlns:a16="http://schemas.microsoft.com/office/drawing/2014/main" id="{701AF22A-2D57-CA9E-B4A8-45D8C257F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260" y="3663263"/>
            <a:ext cx="6895339" cy="244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699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DA0B-2BA1-3C89-A9E7-8268F228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9A25-ECC4-0760-68CE-3716D9599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 Pipes and Neural Nets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65F87-B987-492E-3D76-868AA3CC5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2709"/>
            <a:ext cx="9603275" cy="4120771"/>
          </a:xfrm>
        </p:spPr>
        <p:txBody>
          <a:bodyPr/>
          <a:lstStyle/>
          <a:p>
            <a:r>
              <a:rPr lang="en-US" dirty="0"/>
              <a:t>We can theoretically use/make a layer for most things that a pipeline does. </a:t>
            </a:r>
          </a:p>
          <a:p>
            <a:pPr lvl="1"/>
            <a:r>
              <a:rPr lang="en-US" dirty="0"/>
              <a:t>Encode, normalize, scale,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Where and how this is actually done varies. </a:t>
            </a:r>
          </a:p>
          <a:p>
            <a:pPr lvl="1"/>
            <a:r>
              <a:rPr lang="en-US" dirty="0"/>
              <a:t>In simple examples, it is all over the place, often ad-hoc. </a:t>
            </a:r>
          </a:p>
          <a:p>
            <a:r>
              <a:rPr lang="en-US" dirty="0"/>
              <a:t>We can, later, create datasets that can manage large data and process steps. </a:t>
            </a:r>
          </a:p>
          <a:p>
            <a:pPr lvl="1"/>
            <a:r>
              <a:rPr lang="en-US" dirty="0"/>
              <a:t>These can handle large amounts of data easily – out of memory data. </a:t>
            </a:r>
          </a:p>
          <a:p>
            <a:pPr lvl="1"/>
            <a:r>
              <a:rPr lang="en-US" dirty="0"/>
              <a:t>We can plan for processing times to maximize resource utilization. </a:t>
            </a:r>
          </a:p>
          <a:p>
            <a:r>
              <a:rPr lang="en-US" dirty="0" err="1"/>
              <a:t>Tl;dr</a:t>
            </a:r>
            <a:r>
              <a:rPr lang="en-US" dirty="0"/>
              <a:t> – we don’t care much about preprocessing details now, it’ll change with datasets. </a:t>
            </a:r>
          </a:p>
          <a:p>
            <a:pPr lvl="1"/>
            <a:r>
              <a:rPr lang="en-US" dirty="0"/>
              <a:t>You need to do it, just pick a spot – usually just before the modelling part. </a:t>
            </a:r>
          </a:p>
        </p:txBody>
      </p:sp>
    </p:spTree>
    <p:extLst>
      <p:ext uri="{BB962C8B-B14F-4D97-AF65-F5344CB8AC3E}">
        <p14:creationId xmlns:p14="http://schemas.microsoft.com/office/powerpoint/2010/main" val="1053476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9EBC-89DE-C3CD-15BC-D1BD355CC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4853-4CC1-3704-93C7-B163F465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Validate my Validation!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6A6-5744-499E-D09C-82FAA1CEF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15" y="1924594"/>
            <a:ext cx="7235212" cy="4128887"/>
          </a:xfrm>
        </p:spPr>
        <p:txBody>
          <a:bodyPr>
            <a:normAutofit/>
          </a:bodyPr>
          <a:lstStyle/>
          <a:p>
            <a:r>
              <a:rPr lang="en-US" dirty="0"/>
              <a:t>With neural networks we use/refer to the validation set more. </a:t>
            </a:r>
          </a:p>
          <a:p>
            <a:r>
              <a:rPr lang="en-US" dirty="0"/>
              <a:t>The test set is held entirely aside, to evaluate performance. </a:t>
            </a:r>
          </a:p>
          <a:p>
            <a:pPr lvl="1"/>
            <a:r>
              <a:rPr lang="en-US" dirty="0"/>
              <a:t>This is the correct way to evaluate, tough usually should be similar.</a:t>
            </a:r>
          </a:p>
          <a:p>
            <a:r>
              <a:rPr lang="en-US" dirty="0"/>
              <a:t>Internally, the model uses the training data:</a:t>
            </a:r>
          </a:p>
          <a:p>
            <a:pPr lvl="1"/>
            <a:r>
              <a:rPr lang="en-US" dirty="0"/>
              <a:t>Split for cross validation similar to before. </a:t>
            </a:r>
          </a:p>
          <a:p>
            <a:pPr lvl="1"/>
            <a:r>
              <a:rPr lang="en-US" dirty="0"/>
              <a:t>We can specify that split, 20% is a reasonable start. </a:t>
            </a:r>
          </a:p>
          <a:p>
            <a:r>
              <a:rPr lang="en-US" dirty="0"/>
              <a:t>Small validation sets can lead to ’jumpy’ results. </a:t>
            </a:r>
          </a:p>
          <a:p>
            <a:r>
              <a:rPr lang="en-US" dirty="0"/>
              <a:t>As data gets bigger, percent needed for </a:t>
            </a:r>
            <a:r>
              <a:rPr lang="en-US" dirty="0" err="1"/>
              <a:t>val</a:t>
            </a:r>
            <a:r>
              <a:rPr lang="en-US" dirty="0"/>
              <a:t>/test shrinks. </a:t>
            </a:r>
          </a:p>
          <a:p>
            <a:r>
              <a:rPr lang="en-US" dirty="0"/>
              <a:t>We generally look to the validation whilst training. </a:t>
            </a:r>
          </a:p>
        </p:txBody>
      </p:sp>
      <p:pic>
        <p:nvPicPr>
          <p:cNvPr id="7170" name="Picture 2" descr="Train-test cross-validation split methodology used in this paper. The... |  Download Scientific Diagram">
            <a:extLst>
              <a:ext uri="{FF2B5EF4-FFF2-40B4-BE49-F238E27FC236}">
                <a16:creationId xmlns:a16="http://schemas.microsoft.com/office/drawing/2014/main" id="{68A643A8-3440-A661-551A-6E167C464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1254" y="1119272"/>
            <a:ext cx="6870018" cy="463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955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7326-EEDB-B4F6-BEC5-9B68CA0B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2676D-2F05-7351-ADEA-F67D38FEE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0719"/>
            <a:ext cx="9603275" cy="4102761"/>
          </a:xfrm>
        </p:spPr>
        <p:txBody>
          <a:bodyPr/>
          <a:lstStyle/>
          <a:p>
            <a:r>
              <a:rPr lang="en-US" dirty="0"/>
              <a:t>We’ll do more data details next week. </a:t>
            </a:r>
          </a:p>
          <a:p>
            <a:r>
              <a:rPr lang="en-US" dirty="0"/>
              <a:t>Data works with two types of objects: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Datasets – responsible for accessing data and providing an item on demand. </a:t>
            </a:r>
          </a:p>
          <a:p>
            <a:pPr lvl="1"/>
            <a:r>
              <a:rPr lang="en-US" dirty="0" err="1"/>
              <a:t>DataLoaders</a:t>
            </a:r>
            <a:r>
              <a:rPr lang="en-US" dirty="0"/>
              <a:t> – uses a dataset to provide model-ready data in batches. </a:t>
            </a:r>
          </a:p>
          <a:p>
            <a:r>
              <a:rPr lang="en-US" dirty="0"/>
              <a:t>Like most other things, these can be premade or custom. </a:t>
            </a:r>
          </a:p>
          <a:p>
            <a:r>
              <a:rPr lang="en-US" dirty="0"/>
              <a:t>NN data is often/usually big – we can’t load it in memory. </a:t>
            </a:r>
          </a:p>
          <a:p>
            <a:pPr lvl="1"/>
            <a:r>
              <a:rPr lang="en-US" dirty="0"/>
              <a:t>The Dataset needs to get one ‘chunk’ of data at a time and load it from disk. </a:t>
            </a:r>
          </a:p>
          <a:p>
            <a:r>
              <a:rPr lang="en-US" dirty="0"/>
              <a:t>There’s not a pipeline (though we could use it if we made one), prep steps are often provided in a transformation argument in the dataset. (more next week). </a:t>
            </a:r>
          </a:p>
        </p:txBody>
      </p:sp>
    </p:spTree>
    <p:extLst>
      <p:ext uri="{BB962C8B-B14F-4D97-AF65-F5344CB8AC3E}">
        <p14:creationId xmlns:p14="http://schemas.microsoft.com/office/powerpoint/2010/main" val="2209341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4404-DD77-9CA8-2C95-6E939EFB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2B7B1-FB91-F645-65B3-2ECBCC9DC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87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820A-4F7E-F607-F394-8AD87267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B49A-CAB4-B3B1-4A77-CFE7A394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2ACF3-DA9B-6237-5C53-4BC6C4834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Model Construction and Training — 简单粗暴 TensorFlow 2 0.4 beta 文档">
            <a:extLst>
              <a:ext uri="{FF2B5EF4-FFF2-40B4-BE49-F238E27FC236}">
                <a16:creationId xmlns:a16="http://schemas.microsoft.com/office/drawing/2014/main" id="{8007834A-4471-C717-9F4D-A267809D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650" y="1938681"/>
            <a:ext cx="71247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894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105CF-5AB6-7075-E0F5-62AB1AC1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CB91-F12E-B6BE-F97E-38D73FC1A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use a few different methods to create a model. </a:t>
            </a:r>
          </a:p>
          <a:p>
            <a:r>
              <a:rPr lang="en-US" dirty="0"/>
              <a:t>They are all equivalent, but offer different amounts of flexibility. </a:t>
            </a:r>
          </a:p>
          <a:p>
            <a:pPr lvl="1"/>
            <a:r>
              <a:rPr lang="en-US" dirty="0"/>
              <a:t>Sequential constructor – make a model as an object by providing layers. </a:t>
            </a:r>
          </a:p>
          <a:p>
            <a:pPr lvl="1"/>
            <a:r>
              <a:rPr lang="en-US" dirty="0"/>
              <a:t>Sequential class – use the sequential constructor, but wrap in a class. </a:t>
            </a:r>
          </a:p>
          <a:p>
            <a:pPr lvl="1"/>
            <a:r>
              <a:rPr lang="en-US" dirty="0"/>
              <a:t>Custom class – create a model directly from scratch. </a:t>
            </a:r>
          </a:p>
          <a:p>
            <a:pPr lvl="1"/>
            <a:r>
              <a:rPr lang="en-US" dirty="0"/>
              <a:t>In practice this isn’t too confusing. </a:t>
            </a:r>
          </a:p>
          <a:p>
            <a:r>
              <a:rPr lang="en-US" dirty="0"/>
              <a:t>We construct the model by adding layers in order*. </a:t>
            </a:r>
          </a:p>
          <a:p>
            <a:pPr lvl="1"/>
            <a:r>
              <a:rPr lang="en-US" dirty="0"/>
              <a:t>This step create the layers.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030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9DE2-5565-68A6-BDA2-FA4269C96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17" y="804519"/>
            <a:ext cx="6258739" cy="1049235"/>
          </a:xfrm>
        </p:spPr>
        <p:txBody>
          <a:bodyPr/>
          <a:lstStyle/>
          <a:p>
            <a:r>
              <a:rPr lang="en-US" dirty="0"/>
              <a:t>Adding and Connecting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5D043-EF72-9B5E-69FC-BEBA14D2F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117" y="1853754"/>
            <a:ext cx="6258739" cy="4199728"/>
          </a:xfrm>
        </p:spPr>
        <p:txBody>
          <a:bodyPr>
            <a:normAutofit/>
          </a:bodyPr>
          <a:lstStyle/>
          <a:p>
            <a:r>
              <a:rPr lang="en-US" dirty="0"/>
              <a:t>There are many layer types, each an object in the library. </a:t>
            </a:r>
          </a:p>
          <a:p>
            <a:pPr lvl="1"/>
            <a:r>
              <a:rPr lang="en-US" dirty="0"/>
              <a:t>Generally, specify things like number of neurons as arguments. </a:t>
            </a:r>
          </a:p>
          <a:p>
            <a:pPr lvl="1"/>
            <a:r>
              <a:rPr lang="en-US" dirty="0"/>
              <a:t>‘Normal’ dense layers, activation layers, tuning ones like normalization, special types for image, time series,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In sequential models, things flow top to bottom. </a:t>
            </a:r>
          </a:p>
          <a:p>
            <a:pPr lvl="1"/>
            <a:r>
              <a:rPr lang="en-US" dirty="0"/>
              <a:t>Connections are automatic. </a:t>
            </a:r>
          </a:p>
          <a:p>
            <a:r>
              <a:rPr lang="en-US" dirty="0"/>
              <a:t>In a custom model, we need to define ‘forward’:</a:t>
            </a:r>
          </a:p>
          <a:p>
            <a:pPr lvl="1"/>
            <a:r>
              <a:rPr lang="en-US" dirty="0"/>
              <a:t>Normally a chain of layers like the one shown. </a:t>
            </a:r>
          </a:p>
          <a:p>
            <a:pPr lvl="1"/>
            <a:r>
              <a:rPr lang="en-US" dirty="0"/>
              <a:t>Can add custom stuff, like that debug step.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08C33-33A9-2E1D-3F01-851A21BD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11" r="16447"/>
          <a:stretch>
            <a:fillRect/>
          </a:stretch>
        </p:blipFill>
        <p:spPr>
          <a:xfrm>
            <a:off x="6414856" y="402906"/>
            <a:ext cx="5777144" cy="64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783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EDD93-2CB0-B145-FC39-25E344313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5356-5423-A182-E094-47214EB7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Assorted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12C6-4689-D077-1CE1-C1E68CD47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many other layer types, we’ll look at some later. </a:t>
            </a:r>
          </a:p>
          <a:p>
            <a:r>
              <a:rPr lang="en-US" dirty="0"/>
              <a:t>There are different types of ’main’ layers for different model types. </a:t>
            </a:r>
          </a:p>
          <a:p>
            <a:pPr lvl="1"/>
            <a:r>
              <a:rPr lang="en-US" dirty="0"/>
              <a:t>E.g. layers that deal with data in 2D directly without flattening. </a:t>
            </a:r>
          </a:p>
          <a:p>
            <a:r>
              <a:rPr lang="en-US" dirty="0"/>
              <a:t>There’s layers for prep stuff – encode, normalize,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There’s layers for tuning stuff – dropouts, regularization….</a:t>
            </a:r>
          </a:p>
          <a:p>
            <a:r>
              <a:rPr lang="en-US" dirty="0"/>
              <a:t>There’s layers for activation functions. </a:t>
            </a:r>
          </a:p>
          <a:p>
            <a:r>
              <a:rPr lang="en-US" dirty="0"/>
              <a:t>You can make custom ones, if you want to. </a:t>
            </a:r>
          </a:p>
          <a:p>
            <a:pPr lvl="1"/>
            <a:r>
              <a:rPr lang="en-US" dirty="0"/>
              <a:t>We won’t really do this, but as long as your layer accepts/returns the right structure, it works.</a:t>
            </a:r>
          </a:p>
        </p:txBody>
      </p:sp>
    </p:spTree>
    <p:extLst>
      <p:ext uri="{BB962C8B-B14F-4D97-AF65-F5344CB8AC3E}">
        <p14:creationId xmlns:p14="http://schemas.microsoft.com/office/powerpoint/2010/main" val="232599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3A3A-7D00-6E95-309A-7EF03B1E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Layers, For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4070D-1D64-DF42-209C-1315628CA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8969"/>
            <a:ext cx="9603275" cy="4114511"/>
          </a:xfrm>
        </p:spPr>
        <p:txBody>
          <a:bodyPr/>
          <a:lstStyle/>
          <a:p>
            <a:r>
              <a:rPr lang="en-US" dirty="0"/>
              <a:t>Adding layers is one of the biggest things we can do to tune. </a:t>
            </a:r>
          </a:p>
          <a:p>
            <a:r>
              <a:rPr lang="en-US" dirty="0"/>
              <a:t>For now, don’t worry too much:</a:t>
            </a:r>
          </a:p>
          <a:p>
            <a:pPr lvl="1"/>
            <a:r>
              <a:rPr lang="en-US" dirty="0"/>
              <a:t>We need some first layer that can deal with the input shape. </a:t>
            </a:r>
          </a:p>
          <a:p>
            <a:pPr lvl="2"/>
            <a:r>
              <a:rPr lang="en-US" dirty="0"/>
              <a:t>May be something like flatten, or a regular layer with the size set. </a:t>
            </a:r>
          </a:p>
          <a:p>
            <a:pPr lvl="1"/>
            <a:r>
              <a:rPr lang="en-US" dirty="0"/>
              <a:t>We need an output layer that generates the predictions we want. </a:t>
            </a:r>
          </a:p>
          <a:p>
            <a:pPr lvl="1"/>
            <a:r>
              <a:rPr lang="en-US" dirty="0"/>
              <a:t>In between, we have hidden layers, where the magic happens. </a:t>
            </a:r>
          </a:p>
          <a:p>
            <a:r>
              <a:rPr lang="en-US" dirty="0"/>
              <a:t>A basic regression is 0 hidden layers, can’t do non-linear relationships. </a:t>
            </a:r>
          </a:p>
          <a:p>
            <a:pPr lvl="1"/>
            <a:r>
              <a:rPr lang="en-US" dirty="0"/>
              <a:t>Each layer adds “flexibility” in the relationships the model can handle. </a:t>
            </a:r>
          </a:p>
        </p:txBody>
      </p:sp>
    </p:spTree>
    <p:extLst>
      <p:ext uri="{BB962C8B-B14F-4D97-AF65-F5344CB8AC3E}">
        <p14:creationId xmlns:p14="http://schemas.microsoft.com/office/powerpoint/2010/main" val="2175168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E3A2-284D-BF14-5126-75B586CFB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pass at 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A7B2-F6BB-1ABA-E40F-DE48CA754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921" y="1853752"/>
            <a:ext cx="5507539" cy="41997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also need to define the forward pass. </a:t>
            </a:r>
          </a:p>
          <a:p>
            <a:pPr lvl="1"/>
            <a:r>
              <a:rPr lang="en-US" dirty="0"/>
              <a:t>Start with an input. </a:t>
            </a:r>
          </a:p>
          <a:p>
            <a:pPr lvl="1"/>
            <a:r>
              <a:rPr lang="en-US" dirty="0"/>
              <a:t>Pass that input through the entire model. </a:t>
            </a:r>
          </a:p>
          <a:p>
            <a:pPr lvl="1"/>
            <a:r>
              <a:rPr lang="en-US" dirty="0"/>
              <a:t>Capture the prediction (output) at the end. </a:t>
            </a:r>
          </a:p>
          <a:p>
            <a:r>
              <a:rPr lang="en-US" dirty="0"/>
              <a:t>In practice, this is just using the layers we made.</a:t>
            </a:r>
          </a:p>
          <a:p>
            <a:r>
              <a:rPr lang="en-US" dirty="0"/>
              <a:t>For us, this is simple, it isn’t always in other cases. </a:t>
            </a:r>
          </a:p>
          <a:p>
            <a:pPr lvl="1"/>
            <a:r>
              <a:rPr lang="en-US" dirty="0"/>
              <a:t>We use fully connected layers. </a:t>
            </a:r>
          </a:p>
          <a:p>
            <a:pPr lvl="1"/>
            <a:r>
              <a:rPr lang="en-US" dirty="0"/>
              <a:t>Other models can have different structure. </a:t>
            </a:r>
          </a:p>
          <a:p>
            <a:pPr lvl="1"/>
            <a:r>
              <a:rPr lang="en-US" dirty="0"/>
              <a:t>Layers can be skipped, looped,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 err="1"/>
              <a:t>PyTorch</a:t>
            </a:r>
            <a:r>
              <a:rPr lang="en-US" dirty="0"/>
              <a:t> will figure out the backwards pass.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C1BC4-2D30-6840-080F-238011E1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460" y="1853752"/>
            <a:ext cx="5415960" cy="3697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33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A98E-E34B-A310-1380-CC3E43FF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Layer(s)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654CB-E0AF-054F-1FD1-89D44266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initial layer of a neural network needs to ‘handle’ the data’s shape. </a:t>
            </a:r>
          </a:p>
          <a:p>
            <a:r>
              <a:rPr lang="en-US" dirty="0"/>
              <a:t>Depending on scenario, this may involve reshaping. </a:t>
            </a:r>
          </a:p>
          <a:p>
            <a:r>
              <a:rPr lang="en-US" dirty="0"/>
              <a:t>The first layer must take in the features in their shape.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74DC8-C435-57B0-04A5-D12759F4B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0" y="3595624"/>
            <a:ext cx="63500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92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8482-5E4B-4BCE-7A3A-FED1FC79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1F5A-C424-10FC-F4FD-23E0E2FF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1002"/>
            <a:ext cx="9603275" cy="4092479"/>
          </a:xfrm>
        </p:spPr>
        <p:txBody>
          <a:bodyPr/>
          <a:lstStyle/>
          <a:p>
            <a:r>
              <a:rPr lang="en-US" dirty="0"/>
              <a:t>The output layer translates from internal values to prediction. </a:t>
            </a:r>
          </a:p>
          <a:p>
            <a:pPr lvl="1"/>
            <a:r>
              <a:rPr lang="en-US" dirty="0"/>
              <a:t>Equivalent* to how a sigmoid translates logits to probability predictions. </a:t>
            </a:r>
          </a:p>
          <a:p>
            <a:r>
              <a:rPr lang="en-US" dirty="0"/>
              <a:t>Depending on what is being predicted, output layers vary. </a:t>
            </a:r>
          </a:p>
          <a:p>
            <a:pPr lvl="1"/>
            <a:r>
              <a:rPr lang="en-US" dirty="0"/>
              <a:t>Regression – none/linear. </a:t>
            </a:r>
          </a:p>
          <a:p>
            <a:pPr lvl="1"/>
            <a:r>
              <a:rPr lang="en-US" dirty="0"/>
              <a:t>Binary classification – sigmoid. </a:t>
            </a:r>
          </a:p>
          <a:p>
            <a:pPr lvl="1"/>
            <a:r>
              <a:rPr lang="en-US" dirty="0"/>
              <a:t>Multiway classification – </a:t>
            </a:r>
            <a:r>
              <a:rPr lang="en-US" dirty="0" err="1"/>
              <a:t>softmax</a:t>
            </a:r>
            <a:r>
              <a:rPr lang="en-US" dirty="0"/>
              <a:t>*. </a:t>
            </a:r>
          </a:p>
          <a:p>
            <a:r>
              <a:rPr lang="en-US" dirty="0"/>
              <a:t>This is defined by the type of prediction, the model attached doesn’t matter. </a:t>
            </a:r>
          </a:p>
          <a:p>
            <a:r>
              <a:rPr lang="en-US" dirty="0"/>
              <a:t>*In practice, we can usually use </a:t>
            </a:r>
            <a:r>
              <a:rPr lang="en-US" dirty="0" err="1"/>
              <a:t>CrossEntropyLoss</a:t>
            </a:r>
            <a:r>
              <a:rPr lang="en-US" dirty="0"/>
              <a:t>, which has built-in </a:t>
            </a:r>
            <a:r>
              <a:rPr lang="en-US" dirty="0" err="1"/>
              <a:t>softmax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40617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B926-33AA-61D8-DE99-3839ED72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ECD16-8C43-22B8-CF66-D6728E87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58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54B7-CDA7-6DF9-C040-DD5AF197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C68E-D95A-3E5F-3871-24BDAD2C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Hidden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75FDB-A369-D9D0-B083-5436F4025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3100"/>
            <a:ext cx="9490048" cy="411038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Hidden layers are those between input and output.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 can have any number of hidden layers, a</a:t>
            </a:r>
            <a:r>
              <a:rPr lang="en-US" dirty="0"/>
              <a:t> reasonable number to test is 2-3.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The number of neurons in the hidden layers is also very flexible: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Commonly see flat sizes until the output layer.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Also common to “funnel down” the sizes.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Exact setup is not deterministic, we’ll look at it more next week.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We’ll usually use “</a:t>
            </a:r>
            <a:r>
              <a:rPr lang="en-US" sz="1800" dirty="0" err="1"/>
              <a:t>relu</a:t>
            </a:r>
            <a:r>
              <a:rPr lang="en-US" sz="1800" dirty="0"/>
              <a:t>” for activation, we’ll look at these more later as well.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 Reasonable approaches: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Set # of neurons for all layers to input size. Start with 1 hidden layer, add until overfit.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Lean towards a larger model and use regularization techniques and early stopping. </a:t>
            </a:r>
          </a:p>
          <a:p>
            <a:pPr lvl="1">
              <a:lnSpc>
                <a:spcPct val="110000"/>
              </a:lnSpc>
            </a:pPr>
            <a:endParaRPr lang="en-US" dirty="0"/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22ECBA16-610C-0F6F-D7FA-31CCACF1C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2912" y="2277991"/>
            <a:ext cx="2926098" cy="29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304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00712-F546-E183-5E32-73A0B7DF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Deep!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6F79-4B29-6560-86BB-988B734C6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83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term deep learning refers to the number of layers. </a:t>
            </a:r>
          </a:p>
          <a:p>
            <a:pPr lvl="1"/>
            <a:r>
              <a:rPr lang="en-US" dirty="0"/>
              <a:t>Each layer effectively sees a different representation of data. </a:t>
            </a:r>
          </a:p>
          <a:p>
            <a:pPr lvl="1"/>
            <a:r>
              <a:rPr lang="en-US" dirty="0"/>
              <a:t>Each of those representations is learned, according to what helps most. </a:t>
            </a:r>
          </a:p>
          <a:p>
            <a:r>
              <a:rPr lang="en-US" dirty="0"/>
              <a:t>In unstructured problems (image, voice, NLP, </a:t>
            </a:r>
            <a:r>
              <a:rPr lang="en-US" dirty="0" err="1"/>
              <a:t>etc</a:t>
            </a:r>
            <a:r>
              <a:rPr lang="en-US" dirty="0"/>
              <a:t>…) this works very well. </a:t>
            </a:r>
          </a:p>
          <a:p>
            <a:r>
              <a:rPr lang="en-US" dirty="0"/>
              <a:t>Something like facial recognition is not the simplest problem. </a:t>
            </a:r>
          </a:p>
          <a:p>
            <a:pPr lvl="1"/>
            <a:r>
              <a:rPr lang="en-US" dirty="0"/>
              <a:t>Some layers may ‘capture’ head shape, some may ‘capture’ facial feature position,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Classical ML -&gt; features have direct-</a:t>
            </a:r>
            <a:r>
              <a:rPr lang="en-US" dirty="0" err="1"/>
              <a:t>ish</a:t>
            </a:r>
            <a:r>
              <a:rPr lang="en-US" dirty="0"/>
              <a:t> relationship to target. </a:t>
            </a:r>
          </a:p>
          <a:p>
            <a:r>
              <a:rPr lang="en-US" dirty="0"/>
              <a:t>Deep NN -&gt; features (can) have complex relationship to target. (Combinations of features, combinations of transformations, combinations of different levels…)</a:t>
            </a:r>
          </a:p>
          <a:p>
            <a:r>
              <a:rPr lang="en-US" dirty="0"/>
              <a:t>It is kind of similar (concept, not math) to a repeated series of PCAs, it keeps trying to extract the ‘information’ each time the data goes through a layer. </a:t>
            </a:r>
          </a:p>
        </p:txBody>
      </p:sp>
    </p:spTree>
    <p:extLst>
      <p:ext uri="{BB962C8B-B14F-4D97-AF65-F5344CB8AC3E}">
        <p14:creationId xmlns:p14="http://schemas.microsoft.com/office/powerpoint/2010/main" val="3336570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24A98-14F4-F473-AD6C-FDCB8235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HoW</a:t>
            </a:r>
            <a:r>
              <a:rPr lang="en-US" dirty="0"/>
              <a:t> models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BF0CF-1BC5-26C5-F041-34D379C96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961896" cy="4199727"/>
          </a:xfrm>
        </p:spPr>
        <p:txBody>
          <a:bodyPr/>
          <a:lstStyle/>
          <a:p>
            <a:r>
              <a:rPr lang="en-US" dirty="0"/>
              <a:t>The neural network is complex if we examine the math, but the idea is simpler. </a:t>
            </a:r>
          </a:p>
          <a:p>
            <a:r>
              <a:rPr lang="en-US" dirty="0"/>
              <a:t>Think about it backwards, from the output layer back to the inputs. </a:t>
            </a:r>
          </a:p>
          <a:p>
            <a:r>
              <a:rPr lang="en-US" dirty="0"/>
              <a:t>The output layer generates predictions, which gives error. </a:t>
            </a:r>
          </a:p>
          <a:p>
            <a:r>
              <a:rPr lang="en-US" dirty="0"/>
              <a:t>Backpropagation effectively says, “the error here comes from these nodes, adjust bad ones”. </a:t>
            </a:r>
          </a:p>
          <a:p>
            <a:pPr lvl="1"/>
            <a:r>
              <a:rPr lang="en-US" dirty="0"/>
              <a:t>This is the gradient bit, error is attributed to terms and the weights are adjusted to get better. </a:t>
            </a:r>
          </a:p>
          <a:p>
            <a:pPr lvl="1"/>
            <a:r>
              <a:rPr lang="en-US" dirty="0"/>
              <a:t>The output layer ‘teaches’ the previous layer what it needs to be accurate. </a:t>
            </a:r>
          </a:p>
          <a:p>
            <a:r>
              <a:rPr lang="en-US" dirty="0"/>
              <a:t>This process repeats layer by layer – what does it need to have a more accurate output. </a:t>
            </a:r>
          </a:p>
          <a:p>
            <a:r>
              <a:rPr lang="en-US" dirty="0"/>
              <a:t>We can have a massive number of weights, that gives NNs their capability. </a:t>
            </a:r>
          </a:p>
          <a:p>
            <a:pPr lvl="1"/>
            <a:r>
              <a:rPr lang="en-US" dirty="0"/>
              <a:t>The earlier layers can be thought of as smart feature constructors. </a:t>
            </a:r>
          </a:p>
        </p:txBody>
      </p:sp>
      <p:pic>
        <p:nvPicPr>
          <p:cNvPr id="1026" name="Picture 2" descr="Backpropagation in Neural Network - GeeksforGeeks">
            <a:extLst>
              <a:ext uri="{FF2B5EF4-FFF2-40B4-BE49-F238E27FC236}">
                <a16:creationId xmlns:a16="http://schemas.microsoft.com/office/drawing/2014/main" id="{45E2DCA7-F35E-9490-69FC-83E433F7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168" y="29816"/>
            <a:ext cx="2937831" cy="187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975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CDB1-3819-6D17-8BB6-B5A0E0C9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96457-6989-AE2B-0772-3792B250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Backpropagation in Neural Network - GeeksforGeeks">
            <a:extLst>
              <a:ext uri="{FF2B5EF4-FFF2-40B4-BE49-F238E27FC236}">
                <a16:creationId xmlns:a16="http://schemas.microsoft.com/office/drawing/2014/main" id="{62D4DFA9-0E4C-8F8C-3886-099B79CEE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177800"/>
            <a:ext cx="10172700" cy="65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740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C0D8-51FB-D137-EB43-B42E098B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Models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732D9-7A03-F881-F91B-F4CD1FD6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63" y="1853754"/>
            <a:ext cx="10811784" cy="4199727"/>
          </a:xfrm>
        </p:spPr>
        <p:txBody>
          <a:bodyPr>
            <a:normAutofit/>
          </a:bodyPr>
          <a:lstStyle/>
          <a:p>
            <a:r>
              <a:rPr lang="en-US" dirty="0"/>
              <a:t>Each layer is a different ‘view’ on the data, it gets transformed as it goes through. </a:t>
            </a:r>
          </a:p>
          <a:p>
            <a:r>
              <a:rPr lang="en-US" dirty="0"/>
              <a:t>At each layer, the useful stuff is kept, the useless stuff is ditched. </a:t>
            </a:r>
          </a:p>
          <a:p>
            <a:pPr lvl="1"/>
            <a:r>
              <a:rPr lang="en-US" dirty="0"/>
              <a:t>This is the weight adjustment part. </a:t>
            </a:r>
          </a:p>
          <a:p>
            <a:pPr lvl="1"/>
            <a:r>
              <a:rPr lang="en-US" dirty="0"/>
              <a:t>Parts of the model that pass data that results in errors gets changed. </a:t>
            </a:r>
          </a:p>
          <a:p>
            <a:pPr lvl="1"/>
            <a:r>
              <a:rPr lang="en-US" dirty="0"/>
              <a:t>Parts of the model that pass low-error stuff get kept as is. </a:t>
            </a:r>
          </a:p>
          <a:p>
            <a:r>
              <a:rPr lang="en-US" dirty="0"/>
              <a:t>The model (</a:t>
            </a:r>
            <a:r>
              <a:rPr lang="en-US" dirty="0" err="1"/>
              <a:t>kinda</a:t>
            </a:r>
            <a:r>
              <a:rPr lang="en-US" dirty="0"/>
              <a:t>) selects info from each representation (layer) to make a final prediction.</a:t>
            </a:r>
          </a:p>
          <a:p>
            <a:pPr lvl="1"/>
            <a:r>
              <a:rPr lang="en-US" dirty="0"/>
              <a:t>Terms with little error don’t get adjusted in the backpropagation. </a:t>
            </a:r>
          </a:p>
          <a:p>
            <a:r>
              <a:rPr lang="en-US" dirty="0"/>
              <a:t>This makes them so good at things like images – relationships that are complex can be captured. </a:t>
            </a:r>
          </a:p>
          <a:p>
            <a:r>
              <a:rPr lang="en-US" dirty="0"/>
              <a:t>The parts aren’t independent, so each change will impact other parts. </a:t>
            </a:r>
          </a:p>
        </p:txBody>
      </p:sp>
    </p:spTree>
    <p:extLst>
      <p:ext uri="{BB962C8B-B14F-4D97-AF65-F5344CB8AC3E}">
        <p14:creationId xmlns:p14="http://schemas.microsoft.com/office/powerpoint/2010/main" val="25506960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5AF0-6253-C0C1-DC80-D0859D98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Hide your Layers?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6DF2-D6D9-AF9A-EA5C-1067A78EF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0971" y="1853754"/>
            <a:ext cx="716103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Hidden layers allow (with activation) models to be adaptable. </a:t>
            </a:r>
          </a:p>
          <a:p>
            <a:r>
              <a:rPr lang="en-US" dirty="0"/>
              <a:t>A 0 hidden layer network is a logistic regression – linear only!</a:t>
            </a:r>
          </a:p>
          <a:p>
            <a:r>
              <a:rPr lang="en-US" dirty="0"/>
              <a:t>Adding hidden layers allows the model to ‘see’ different representations of the data. </a:t>
            </a:r>
          </a:p>
          <a:p>
            <a:pPr lvl="1"/>
            <a:r>
              <a:rPr lang="en-US" dirty="0"/>
              <a:t>Input of each layer is a transformation of the previous layer’s input. </a:t>
            </a:r>
          </a:p>
          <a:p>
            <a:pPr lvl="1"/>
            <a:r>
              <a:rPr lang="en-US" dirty="0"/>
              <a:t>That transformation is discovered as the weights are learned. </a:t>
            </a:r>
          </a:p>
          <a:p>
            <a:pPr lvl="1"/>
            <a:r>
              <a:rPr lang="en-US" dirty="0"/>
              <a:t>Each layer becomes roughly “if we look at the data like this, what helps us predict?”</a:t>
            </a:r>
          </a:p>
          <a:p>
            <a:pPr lvl="1"/>
            <a:r>
              <a:rPr lang="en-US" dirty="0"/>
              <a:t>Deep (lots of hidden) models tend to perform best for unstructured data. </a:t>
            </a:r>
          </a:p>
          <a:p>
            <a:pPr lvl="1"/>
            <a:r>
              <a:rPr lang="en-US" dirty="0"/>
              <a:t>The layers allow for models to learn very complex relationships. </a:t>
            </a:r>
          </a:p>
        </p:txBody>
      </p:sp>
      <p:pic>
        <p:nvPicPr>
          <p:cNvPr id="3074" name="Picture 2" descr="Applied Deep Learning - Part 4: Convolutional Neural Networks | by Arden  Dertat | TDS Archive | Medium">
            <a:extLst>
              <a:ext uri="{FF2B5EF4-FFF2-40B4-BE49-F238E27FC236}">
                <a16:creationId xmlns:a16="http://schemas.microsoft.com/office/drawing/2014/main" id="{A374EE4D-47A0-5B77-550E-BFE3BBCA9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3754"/>
            <a:ext cx="5030970" cy="443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561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989D-79A5-B463-6739-CAF4B5D1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and Testing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225A-00A8-5403-C3A5-4786AC073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0686"/>
            <a:ext cx="9603275" cy="4092796"/>
          </a:xfrm>
        </p:spPr>
        <p:txBody>
          <a:bodyPr/>
          <a:lstStyle/>
          <a:p>
            <a:r>
              <a:rPr lang="en-US" dirty="0"/>
              <a:t>We need to define the loop that will train (and test) our model. </a:t>
            </a:r>
          </a:p>
          <a:p>
            <a:r>
              <a:rPr lang="en-US" dirty="0"/>
              <a:t>The loop is largely boilerplate, walking the model through the steps:</a:t>
            </a:r>
          </a:p>
          <a:p>
            <a:pPr lvl="1"/>
            <a:r>
              <a:rPr lang="en-US" dirty="0"/>
              <a:t>Batch data, make predictions, get loss. </a:t>
            </a:r>
          </a:p>
          <a:p>
            <a:pPr lvl="1"/>
            <a:r>
              <a:rPr lang="en-US" dirty="0"/>
              <a:t>In testing – batch data, make predictions, calculate error. </a:t>
            </a:r>
          </a:p>
          <a:p>
            <a:r>
              <a:rPr lang="en-US" dirty="0"/>
              <a:t>We can define whatever monitoring we want or need. </a:t>
            </a:r>
          </a:p>
          <a:p>
            <a:pPr lvl="1"/>
            <a:r>
              <a:rPr lang="en-US" dirty="0"/>
              <a:t>Print results periodically in training/testing. </a:t>
            </a:r>
          </a:p>
          <a:p>
            <a:pPr lvl="1"/>
            <a:r>
              <a:rPr lang="en-US" dirty="0"/>
              <a:t>Send results to logging/monitoring location (later). </a:t>
            </a:r>
          </a:p>
          <a:p>
            <a:r>
              <a:rPr lang="en-US" dirty="0"/>
              <a:t>This part is kind of dumb, I think we should have a simple “fit()” option. </a:t>
            </a:r>
          </a:p>
          <a:p>
            <a:r>
              <a:rPr lang="en-US" dirty="0"/>
              <a:t>This ‘write a loop’ approach does allow you to log/report custom stuff more easily. </a:t>
            </a:r>
          </a:p>
        </p:txBody>
      </p:sp>
    </p:spTree>
    <p:extLst>
      <p:ext uri="{BB962C8B-B14F-4D97-AF65-F5344CB8AC3E}">
        <p14:creationId xmlns:p14="http://schemas.microsoft.com/office/powerpoint/2010/main" val="262743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E590-F367-7F52-5CDC-2CE59203D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58B7-DCAB-A27A-F611-577A251B5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3" y="1853754"/>
            <a:ext cx="6274154" cy="4199727"/>
          </a:xfrm>
        </p:spPr>
        <p:txBody>
          <a:bodyPr/>
          <a:lstStyle/>
          <a:p>
            <a:r>
              <a:rPr lang="en-US" dirty="0"/>
              <a:t>This is a simple set of loops. </a:t>
            </a:r>
          </a:p>
          <a:p>
            <a:r>
              <a:rPr lang="en-US" dirty="0"/>
              <a:t>Most of this can be copy/pasted with only a few adaptations for us. </a:t>
            </a:r>
          </a:p>
          <a:p>
            <a:r>
              <a:rPr lang="en-US" dirty="0"/>
              <a:t>Read through it, and try to make sense of it…</a:t>
            </a:r>
          </a:p>
          <a:p>
            <a:pPr lvl="1"/>
            <a:r>
              <a:rPr lang="en-US" dirty="0"/>
              <a:t>The ‘backpropagation’ bit does most of the work</a:t>
            </a:r>
          </a:p>
          <a:p>
            <a:r>
              <a:rPr lang="en-US" dirty="0"/>
              <a:t>The test function just measures loss. </a:t>
            </a:r>
          </a:p>
          <a:p>
            <a:pPr lvl="1"/>
            <a:r>
              <a:rPr lang="en-US" dirty="0" err="1"/>
              <a:t>No_grad</a:t>
            </a:r>
            <a:r>
              <a:rPr lang="en-US" dirty="0"/>
              <a:t> means it won’t do </a:t>
            </a:r>
            <a:r>
              <a:rPr lang="en-US" dirty="0" err="1"/>
              <a:t>g.d.</a:t>
            </a:r>
            <a:endParaRPr lang="en-US" dirty="0"/>
          </a:p>
          <a:p>
            <a:r>
              <a:rPr lang="en-US" dirty="0"/>
              <a:t>Loops can vary a lot, but they need the basics.</a:t>
            </a:r>
          </a:p>
          <a:p>
            <a:pPr lvl="1"/>
            <a:r>
              <a:rPr lang="en-US" dirty="0"/>
              <a:t>Can add more metrics, logging, printouts,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486B8-2AA8-E517-AF6C-41A9B334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43"/>
          <a:stretch>
            <a:fillRect/>
          </a:stretch>
        </p:blipFill>
        <p:spPr>
          <a:xfrm>
            <a:off x="6358237" y="0"/>
            <a:ext cx="5833763" cy="651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707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1FF8-1A58-1C80-8DF5-EF282F30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Steps in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7680-DCE0-DC37-F0F9-6F88FA540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Send models and data to the device (GPU) before calculating on them. </a:t>
            </a:r>
          </a:p>
          <a:p>
            <a:r>
              <a:rPr lang="en-US" dirty="0"/>
              <a:t>Set model to training mode. </a:t>
            </a:r>
          </a:p>
          <a:p>
            <a:r>
              <a:rPr lang="en-US" dirty="0"/>
              <a:t>Loop over desired number of epochs, in each epoch loop over each batch. </a:t>
            </a:r>
          </a:p>
          <a:p>
            <a:pPr lvl="1"/>
            <a:r>
              <a:rPr lang="en-US" dirty="0"/>
              <a:t>For each epoch, track the desired metrics. </a:t>
            </a:r>
          </a:p>
          <a:p>
            <a:pPr lvl="1"/>
            <a:r>
              <a:rPr lang="en-US" dirty="0"/>
              <a:t>For each batch:</a:t>
            </a:r>
          </a:p>
          <a:p>
            <a:pPr lvl="2"/>
            <a:r>
              <a:rPr lang="en-US" dirty="0"/>
              <a:t>Get predictions and calculate loss from them. </a:t>
            </a:r>
          </a:p>
          <a:p>
            <a:pPr lvl="2"/>
            <a:r>
              <a:rPr lang="en-US" dirty="0"/>
              <a:t>Use </a:t>
            </a:r>
            <a:r>
              <a:rPr lang="en-US" dirty="0" err="1"/>
              <a:t>zero_grad</a:t>
            </a:r>
            <a:r>
              <a:rPr lang="en-US" dirty="0"/>
              <a:t> to reset gradient </a:t>
            </a:r>
            <a:r>
              <a:rPr lang="en-US" dirty="0" err="1"/>
              <a:t>calculatiuons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Call .backward() on the loss to do backpropagation. </a:t>
            </a:r>
          </a:p>
          <a:p>
            <a:pPr lvl="2"/>
            <a:r>
              <a:rPr lang="en-US" dirty="0"/>
              <a:t>Call .step() on the optimizer to step (update optimizer settings). </a:t>
            </a:r>
          </a:p>
          <a:p>
            <a:pPr lvl="1"/>
            <a:r>
              <a:rPr lang="en-US" dirty="0"/>
              <a:t>When getting predictions (e.g. validation), run under “</a:t>
            </a:r>
            <a:r>
              <a:rPr lang="en-US" dirty="0" err="1"/>
              <a:t>no_grad</a:t>
            </a:r>
            <a:r>
              <a:rPr lang="en-US" dirty="0"/>
              <a:t>()” to stop calculations. </a:t>
            </a:r>
          </a:p>
        </p:txBody>
      </p:sp>
    </p:spTree>
    <p:extLst>
      <p:ext uri="{BB962C8B-B14F-4D97-AF65-F5344CB8AC3E}">
        <p14:creationId xmlns:p14="http://schemas.microsoft.com/office/powerpoint/2010/main" val="7370506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C980-41D5-E8B3-01CF-B4E356D40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4C192-7C81-0784-07D4-836E79F8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5516"/>
            <a:ext cx="9603275" cy="41279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Tuning a neural network is more variable than a statistical model. </a:t>
            </a:r>
          </a:p>
          <a:p>
            <a:r>
              <a:rPr lang="en-US" dirty="0"/>
              <a:t>There are many interconnected things to change:</a:t>
            </a:r>
          </a:p>
          <a:p>
            <a:pPr lvl="1"/>
            <a:r>
              <a:rPr lang="en-US" dirty="0"/>
              <a:t>Structure – depth, width, layer types. </a:t>
            </a:r>
          </a:p>
          <a:p>
            <a:pPr lvl="1"/>
            <a:r>
              <a:rPr lang="en-US" dirty="0"/>
              <a:t>Regularization, normalization, other stuff like dropouts. </a:t>
            </a:r>
          </a:p>
          <a:p>
            <a:pPr lvl="1"/>
            <a:r>
              <a:rPr lang="en-US" dirty="0"/>
              <a:t>GD related – optimizer, batches, learning rate,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Models can ‘learn around’ lots of settings and changes. </a:t>
            </a:r>
          </a:p>
          <a:p>
            <a:pPr lvl="1"/>
            <a:r>
              <a:rPr lang="en-US" dirty="0"/>
              <a:t>If we have enough data and enough model capacity, results will tend to converge. </a:t>
            </a:r>
          </a:p>
          <a:p>
            <a:pPr lvl="1"/>
            <a:r>
              <a:rPr lang="en-US" dirty="0"/>
              <a:t>Models are always adjusting to lower loss, lots of models can deliver similar results. </a:t>
            </a:r>
          </a:p>
          <a:p>
            <a:r>
              <a:rPr lang="en-US" dirty="0"/>
              <a:t>Trials can be a substantial cost – potentially literally. </a:t>
            </a:r>
          </a:p>
          <a:p>
            <a:pPr lvl="1"/>
            <a:r>
              <a:rPr lang="en-US" dirty="0"/>
              <a:t>Estimates of new LLMs are that they may take up to $1billion to train – trial runs are out! </a:t>
            </a:r>
          </a:p>
        </p:txBody>
      </p:sp>
    </p:spTree>
    <p:extLst>
      <p:ext uri="{BB962C8B-B14F-4D97-AF65-F5344CB8AC3E}">
        <p14:creationId xmlns:p14="http://schemas.microsoft.com/office/powerpoint/2010/main" val="2386132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EC95-562B-2E81-EA96-6585A2F6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114F-1762-0F11-0BD1-220D6E6E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Fighting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BBD9-44DB-6FA3-EDF7-F4ED7135A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8"/>
          </a:xfrm>
        </p:spPr>
        <p:txBody>
          <a:bodyPr/>
          <a:lstStyle/>
          <a:p>
            <a:r>
              <a:rPr lang="en-US" dirty="0"/>
              <a:t>Some techniques we can use to improve fit in a model are:</a:t>
            </a:r>
          </a:p>
          <a:p>
            <a:pPr lvl="1"/>
            <a:r>
              <a:rPr lang="en-US" dirty="0"/>
              <a:t>Regularization – we can enable L2/L1 regularization in layers. </a:t>
            </a:r>
          </a:p>
          <a:p>
            <a:pPr lvl="1"/>
            <a:r>
              <a:rPr lang="en-US" dirty="0"/>
              <a:t>Dropout – remove nodes on the fly. Similar in concept to bootstrapping in forests – parts of the model are removed each batch, preventing them from having excess influence. It forces the other parts of the model to learn. </a:t>
            </a:r>
          </a:p>
          <a:p>
            <a:pPr lvl="1"/>
            <a:r>
              <a:rPr lang="en-US" dirty="0"/>
              <a:t>Early stopping – stop the model’s training before it overfits. Also makes our lives easier, since our model will stop when done, even if we’re out at the club. </a:t>
            </a:r>
          </a:p>
          <a:p>
            <a:r>
              <a:rPr lang="en-US" dirty="0"/>
              <a:t>For now, make it 1-3 or so hidden layers, add regularization, use early stopping. </a:t>
            </a:r>
          </a:p>
          <a:p>
            <a:pPr lvl="1"/>
            <a:r>
              <a:rPr lang="en-US" dirty="0"/>
              <a:t>We’ll do more tuning soon, just ballpark it for now. </a:t>
            </a:r>
          </a:p>
          <a:p>
            <a:r>
              <a:rPr lang="en-US" dirty="0"/>
              <a:t>Neural networks will usually try to overfit </a:t>
            </a:r>
            <a:r>
              <a:rPr lang="en-US" b="1" dirty="0"/>
              <a:t>everything</a:t>
            </a:r>
            <a:r>
              <a:rPr lang="en-US" dirty="0"/>
              <a:t>, main concern is limiting that. </a:t>
            </a:r>
          </a:p>
        </p:txBody>
      </p:sp>
    </p:spTree>
    <p:extLst>
      <p:ext uri="{BB962C8B-B14F-4D97-AF65-F5344CB8AC3E}">
        <p14:creationId xmlns:p14="http://schemas.microsoft.com/office/powerpoint/2010/main" val="3430170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426E67-E9D2-72BF-096D-660C8E605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0D91-79A5-9BC4-D305-409FF8E25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Verbosity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BE106-DD8A-03D3-DC9D-FB06518E3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5"/>
            <a:ext cx="7783551" cy="1575246"/>
          </a:xfrm>
        </p:spPr>
        <p:txBody>
          <a:bodyPr>
            <a:normAutofit/>
          </a:bodyPr>
          <a:lstStyle/>
          <a:p>
            <a:r>
              <a:rPr lang="en-US" dirty="0"/>
              <a:t>We control the train/test loops, so we can define the output we want. </a:t>
            </a:r>
          </a:p>
          <a:p>
            <a:pPr lvl="1"/>
            <a:r>
              <a:rPr lang="en-US" dirty="0"/>
              <a:t>Normally want train/test loss printout every epoch or N epochs (if many). </a:t>
            </a:r>
          </a:p>
          <a:p>
            <a:r>
              <a:rPr lang="en-US" dirty="0"/>
              <a:t>Post training, we look at a training/validation loss plot. </a:t>
            </a:r>
          </a:p>
        </p:txBody>
      </p:sp>
      <p:pic>
        <p:nvPicPr>
          <p:cNvPr id="4098" name="Picture 2" descr="Saving and Loading the Best Model in PyTorch">
            <a:extLst>
              <a:ext uri="{FF2B5EF4-FFF2-40B4-BE49-F238E27FC236}">
                <a16:creationId xmlns:a16="http://schemas.microsoft.com/office/drawing/2014/main" id="{CF974937-FB96-9F59-E2F5-1529E751A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7" t="9594" r="8862" b="2927"/>
          <a:stretch>
            <a:fillRect/>
          </a:stretch>
        </p:blipFill>
        <p:spPr bwMode="auto">
          <a:xfrm>
            <a:off x="7664605" y="0"/>
            <a:ext cx="4527395" cy="328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1F6A2B-A348-A7FA-E1DA-36FAFF101E31}"/>
              </a:ext>
            </a:extLst>
          </p:cNvPr>
          <p:cNvSpPr txBox="1">
            <a:spLocks/>
          </p:cNvSpPr>
          <p:nvPr/>
        </p:nvSpPr>
        <p:spPr>
          <a:xfrm>
            <a:off x="1451579" y="3282666"/>
            <a:ext cx="9603276" cy="28742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can use the loss plot as the main initial tool to tune our models. </a:t>
            </a:r>
          </a:p>
          <a:p>
            <a:pPr lvl="1"/>
            <a:r>
              <a:rPr lang="en-US" dirty="0"/>
              <a:t>Want the point where validation loss is minimized. </a:t>
            </a:r>
          </a:p>
          <a:p>
            <a:pPr lvl="1"/>
            <a:r>
              <a:rPr lang="en-US" dirty="0"/>
              <a:t>Gap between lines is roughly the amount of overfit – reduce with regularization/less capacity. </a:t>
            </a:r>
          </a:p>
          <a:p>
            <a:pPr lvl="1"/>
            <a:r>
              <a:rPr lang="en-US" dirty="0"/>
              <a:t>Similar lines indicate we can probably add more capacity. </a:t>
            </a:r>
          </a:p>
          <a:p>
            <a:pPr lvl="1"/>
            <a:r>
              <a:rPr lang="en-US" dirty="0"/>
              <a:t>If things are still improving, keep training. </a:t>
            </a:r>
          </a:p>
          <a:p>
            <a:r>
              <a:rPr lang="en-US" dirty="0"/>
              <a:t>This is highly variable, performance literally may vary model to model (esp. w/ small data). </a:t>
            </a:r>
          </a:p>
        </p:txBody>
      </p:sp>
    </p:spTree>
    <p:extLst>
      <p:ext uri="{BB962C8B-B14F-4D97-AF65-F5344CB8AC3E}">
        <p14:creationId xmlns:p14="http://schemas.microsoft.com/office/powerpoint/2010/main" val="1712511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4C51-E547-90E2-CE60-3CCCD3FC9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 verses Reality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B045-1CD0-D9F8-25CB-856077EAA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885" y="1853754"/>
            <a:ext cx="10462846" cy="4199727"/>
          </a:xfrm>
        </p:spPr>
        <p:txBody>
          <a:bodyPr>
            <a:normAutofit/>
          </a:bodyPr>
          <a:lstStyle/>
          <a:p>
            <a:r>
              <a:rPr lang="en-US" dirty="0"/>
              <a:t>In our usage we’ll use notebooks, look at the output, and do interactive stuff.</a:t>
            </a:r>
          </a:p>
          <a:p>
            <a:pPr lvl="1"/>
            <a:r>
              <a:rPr lang="en-US" dirty="0"/>
              <a:t>The notebooks are for exploration and learning, they aren’t really infrastructure grade. </a:t>
            </a:r>
          </a:p>
          <a:p>
            <a:pPr lvl="1"/>
            <a:r>
              <a:rPr lang="en-US" dirty="0"/>
              <a:t>This doesn’t really matter to us, but I always found CS gave us little context to the theory….</a:t>
            </a:r>
          </a:p>
          <a:p>
            <a:r>
              <a:rPr lang="en-US" dirty="0"/>
              <a:t>In ‘real’ usage, we wouldn’t use the notebooks, we’d have a regular program.</a:t>
            </a:r>
          </a:p>
          <a:p>
            <a:pPr lvl="1"/>
            <a:r>
              <a:rPr lang="en-US" dirty="0"/>
              <a:t>We’d probably experiment on a notebook, decide an approach, then run that for real. </a:t>
            </a:r>
          </a:p>
          <a:p>
            <a:pPr lvl="1"/>
            <a:r>
              <a:rPr lang="en-US" dirty="0"/>
              <a:t>May be a desire to rewrite some in other language, but most time is inside optimized torch stuff.</a:t>
            </a:r>
          </a:p>
          <a:p>
            <a:r>
              <a:rPr lang="en-US" dirty="0"/>
              <a:t>It should usually be pretty easy to extract our code to a .</a:t>
            </a:r>
            <a:r>
              <a:rPr lang="en-US" dirty="0" err="1"/>
              <a:t>py</a:t>
            </a:r>
            <a:r>
              <a:rPr lang="en-US" dirty="0"/>
              <a:t> file we could run. </a:t>
            </a:r>
          </a:p>
          <a:p>
            <a:pPr lvl="1"/>
            <a:r>
              <a:rPr lang="en-US" dirty="0"/>
              <a:t>Some planning can make it very easy (manage output, wrap code into functions, parameterize, </a:t>
            </a:r>
            <a:r>
              <a:rPr lang="en-US" dirty="0" err="1"/>
              <a:t>etc</a:t>
            </a:r>
            <a:r>
              <a:rPr lang="en-US" dirty="0"/>
              <a:t>…). </a:t>
            </a:r>
          </a:p>
          <a:p>
            <a:pPr lvl="1"/>
            <a:r>
              <a:rPr lang="en-US" dirty="0"/>
              <a:t>Run the training, save the output logs, save weights/models.  Another file/</a:t>
            </a:r>
            <a:r>
              <a:rPr lang="en-US" dirty="0" err="1"/>
              <a:t>api</a:t>
            </a:r>
            <a:r>
              <a:rPr lang="en-US" dirty="0"/>
              <a:t> to predict,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This would be combined with some infrastructure code – grab data, schedule, feed prediction data…</a:t>
            </a:r>
          </a:p>
        </p:txBody>
      </p:sp>
    </p:spTree>
    <p:extLst>
      <p:ext uri="{BB962C8B-B14F-4D97-AF65-F5344CB8AC3E}">
        <p14:creationId xmlns:p14="http://schemas.microsoft.com/office/powerpoint/2010/main" val="2476387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194A-3406-D45B-86BB-1ACF072D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B1F2F-8264-1494-C79F-A5484F5B3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r>
              <a:rPr lang="en-US" dirty="0"/>
              <a:t>There’s a higher level wrapper for </a:t>
            </a:r>
            <a:r>
              <a:rPr lang="en-US" dirty="0" err="1"/>
              <a:t>PyTorch</a:t>
            </a:r>
            <a:r>
              <a:rPr lang="en-US" dirty="0"/>
              <a:t> called Lightning. </a:t>
            </a:r>
          </a:p>
          <a:p>
            <a:r>
              <a:rPr lang="en-US" dirty="0"/>
              <a:t>It basically simplifies/condenses some things and reduces boilerplate code. </a:t>
            </a:r>
          </a:p>
          <a:p>
            <a:pPr lvl="1"/>
            <a:r>
              <a:rPr lang="en-US" dirty="0"/>
              <a:t>It also aims to make things more modular and things like distributed training easier. </a:t>
            </a:r>
          </a:p>
          <a:p>
            <a:pPr lvl="1"/>
            <a:r>
              <a:rPr lang="en-US" dirty="0"/>
              <a:t>Many people use it, potentially with other tools, to make trials/tests more efficient. </a:t>
            </a:r>
          </a:p>
          <a:p>
            <a:r>
              <a:rPr lang="en-US" dirty="0"/>
              <a:t>It isn’t that different from standard </a:t>
            </a:r>
            <a:r>
              <a:rPr lang="en-US" dirty="0" err="1"/>
              <a:t>pytorch</a:t>
            </a:r>
            <a:r>
              <a:rPr lang="en-US" dirty="0"/>
              <a:t>, and it is pretty common. </a:t>
            </a:r>
          </a:p>
          <a:p>
            <a:pPr lvl="1"/>
            <a:r>
              <a:rPr lang="en-US" dirty="0"/>
              <a:t>Be aware if you’re looking at examples online to avoid confusion. </a:t>
            </a:r>
          </a:p>
          <a:p>
            <a:r>
              <a:rPr lang="en-US" dirty="0"/>
              <a:t>We </a:t>
            </a:r>
            <a:r>
              <a:rPr lang="en-US" i="1" dirty="0"/>
              <a:t>may</a:t>
            </a:r>
            <a:r>
              <a:rPr lang="en-US" dirty="0"/>
              <a:t> touch on it later, depending on time and how you all feel. </a:t>
            </a:r>
          </a:p>
          <a:p>
            <a:r>
              <a:rPr lang="en-US" dirty="0"/>
              <a:t>Note: </a:t>
            </a:r>
            <a:r>
              <a:rPr lang="en-US" dirty="0" err="1"/>
              <a:t>Keras</a:t>
            </a:r>
            <a:r>
              <a:rPr lang="en-US" dirty="0"/>
              <a:t> can also use </a:t>
            </a:r>
            <a:r>
              <a:rPr lang="en-US" dirty="0" err="1"/>
              <a:t>pytorch</a:t>
            </a:r>
            <a:r>
              <a:rPr lang="en-US" dirty="0"/>
              <a:t> to some degree, this is part of the mess mentioned. </a:t>
            </a:r>
          </a:p>
        </p:txBody>
      </p:sp>
      <p:pic>
        <p:nvPicPr>
          <p:cNvPr id="5122" name="Picture 2" descr="Grease Lightning GIFs | Tenor">
            <a:extLst>
              <a:ext uri="{FF2B5EF4-FFF2-40B4-BE49-F238E27FC236}">
                <a16:creationId xmlns:a16="http://schemas.microsoft.com/office/drawing/2014/main" id="{13251E26-4187-EFD4-3CC3-571C2CFB1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0" y="70855"/>
            <a:ext cx="27940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0826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C296-4A10-0C79-0DCF-BB41C212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95065-0CE6-1640-64FD-A7881C2A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Overall, using </a:t>
            </a:r>
            <a:r>
              <a:rPr lang="en-US" dirty="0" err="1"/>
              <a:t>pytorch</a:t>
            </a:r>
            <a:r>
              <a:rPr lang="en-US" dirty="0"/>
              <a:t> models isn’t conceptually different, just more manual. </a:t>
            </a:r>
          </a:p>
          <a:p>
            <a:pPr lvl="1"/>
            <a:r>
              <a:rPr lang="en-US" dirty="0"/>
              <a:t>Instead of loading a model object with HP we must create it. </a:t>
            </a:r>
          </a:p>
          <a:p>
            <a:pPr lvl="1"/>
            <a:r>
              <a:rPr lang="en-US" dirty="0"/>
              <a:t>Instead of simple </a:t>
            </a:r>
            <a:r>
              <a:rPr lang="en-US" dirty="0" err="1"/>
              <a:t>dataframe</a:t>
            </a:r>
            <a:r>
              <a:rPr lang="en-US" dirty="0"/>
              <a:t> data manipulation, we need to make datasets. </a:t>
            </a:r>
          </a:p>
          <a:p>
            <a:pPr lvl="1"/>
            <a:r>
              <a:rPr lang="en-US" dirty="0"/>
              <a:t>Instead of fit(), we need to define the training process. </a:t>
            </a:r>
          </a:p>
        </p:txBody>
      </p:sp>
    </p:spTree>
    <p:extLst>
      <p:ext uri="{BB962C8B-B14F-4D97-AF65-F5344CB8AC3E}">
        <p14:creationId xmlns:p14="http://schemas.microsoft.com/office/powerpoint/2010/main" val="2718086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B645-526E-2DC3-B6AF-E3C04175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Pytorch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0788-A356-C80E-7A75-DA20987FC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is not the most user-friendly interface to start with. </a:t>
            </a:r>
          </a:p>
          <a:p>
            <a:pPr lvl="1"/>
            <a:r>
              <a:rPr lang="en-US" dirty="0"/>
              <a:t>It isn’t awful, but </a:t>
            </a:r>
            <a:r>
              <a:rPr lang="en-US" dirty="0" err="1"/>
              <a:t>i</a:t>
            </a:r>
            <a:r>
              <a:rPr lang="en-US" dirty="0"/>
              <a:t> don’t think it is all that intuitive, personally – lots of boiler plate. </a:t>
            </a:r>
          </a:p>
          <a:p>
            <a:pPr lvl="1"/>
            <a:r>
              <a:rPr lang="en-US" dirty="0"/>
              <a:t>There’s boilerplate code, lots of stuff is manual/custom, we are ‘in the weeds’,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It does get much easier once you are comfortable with the theory. </a:t>
            </a:r>
          </a:p>
          <a:p>
            <a:pPr lvl="1"/>
            <a:r>
              <a:rPr lang="en-US" dirty="0"/>
              <a:t>Figuring out how NN work while figuring out the code is more challenging at first. </a:t>
            </a:r>
          </a:p>
          <a:p>
            <a:pPr lvl="1"/>
            <a:r>
              <a:rPr lang="en-US" dirty="0"/>
              <a:t>Print statements, example records, shapes, and counts are useful tools. </a:t>
            </a:r>
          </a:p>
          <a:p>
            <a:r>
              <a:rPr lang="en-US" dirty="0"/>
              <a:t>Once kind of comfortable, you have lots of flexibility to what you want to do. </a:t>
            </a:r>
          </a:p>
          <a:p>
            <a:pPr lvl="1"/>
            <a:r>
              <a:rPr lang="en-US" dirty="0"/>
              <a:t>Most changes are easy to do – we have all the details already in our existing code. </a:t>
            </a:r>
          </a:p>
        </p:txBody>
      </p:sp>
    </p:spTree>
    <p:extLst>
      <p:ext uri="{BB962C8B-B14F-4D97-AF65-F5344CB8AC3E}">
        <p14:creationId xmlns:p14="http://schemas.microsoft.com/office/powerpoint/2010/main" val="1168038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ECE5-415E-81DD-C5C5-531AC9FA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F17C5-08C0-1F5D-E612-66D02BEE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4484"/>
          </a:xfrm>
        </p:spPr>
        <p:txBody>
          <a:bodyPr/>
          <a:lstStyle/>
          <a:p>
            <a:r>
              <a:rPr lang="en-US" dirty="0"/>
              <a:t>At a high level, </a:t>
            </a:r>
            <a:r>
              <a:rPr lang="en-US" dirty="0" err="1"/>
              <a:t>pytorch</a:t>
            </a:r>
            <a:r>
              <a:rPr lang="en-US" dirty="0"/>
              <a:t> models are used just like any other model. </a:t>
            </a:r>
          </a:p>
          <a:p>
            <a:r>
              <a:rPr lang="en-US" dirty="0"/>
              <a:t>In practice, most of the details of those parts are changed a bit. </a:t>
            </a:r>
          </a:p>
          <a:p>
            <a:pPr lvl="1"/>
            <a:r>
              <a:rPr lang="en-US" dirty="0"/>
              <a:t>Data: from </a:t>
            </a:r>
            <a:r>
              <a:rPr lang="en-US" dirty="0" err="1"/>
              <a:t>dataframe</a:t>
            </a:r>
            <a:r>
              <a:rPr lang="en-US" dirty="0"/>
              <a:t> to data loader. </a:t>
            </a:r>
          </a:p>
          <a:p>
            <a:pPr lvl="1"/>
            <a:r>
              <a:rPr lang="en-US" dirty="0"/>
              <a:t>Preprocessing: from pipeline to transformations. </a:t>
            </a:r>
          </a:p>
          <a:p>
            <a:pPr lvl="1"/>
            <a:r>
              <a:rPr lang="en-US" dirty="0"/>
              <a:t>Model: from new object to defining new class. </a:t>
            </a:r>
          </a:p>
          <a:p>
            <a:pPr lvl="1"/>
            <a:r>
              <a:rPr lang="en-US" dirty="0"/>
              <a:t>Hyperparameters: from arguments to ‘separate arguments’. </a:t>
            </a:r>
          </a:p>
          <a:p>
            <a:pPr lvl="1"/>
            <a:r>
              <a:rPr lang="en-US" dirty="0"/>
              <a:t>Training: from fit() to a custom loop that fits. </a:t>
            </a:r>
          </a:p>
          <a:p>
            <a:r>
              <a:rPr lang="en-US" dirty="0"/>
              <a:t>This takes a bit of practice to get used to, try a few as needed. </a:t>
            </a:r>
          </a:p>
          <a:p>
            <a:pPr lvl="1"/>
            <a:r>
              <a:rPr lang="en-US" dirty="0"/>
              <a:t>Q+A and troubleshooting become much, much easier with a little familiarity. </a:t>
            </a:r>
          </a:p>
          <a:p>
            <a:pPr lvl="1"/>
            <a:r>
              <a:rPr lang="en-US" dirty="0"/>
              <a:t>Play with structure, layers, options, and observe – we’ll worry about tuning later, experiment. </a:t>
            </a:r>
          </a:p>
        </p:txBody>
      </p:sp>
    </p:spTree>
    <p:extLst>
      <p:ext uri="{BB962C8B-B14F-4D97-AF65-F5344CB8AC3E}">
        <p14:creationId xmlns:p14="http://schemas.microsoft.com/office/powerpoint/2010/main" val="299015824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17347</TotalTime>
  <Words>4724</Words>
  <Application>Microsoft Macintosh PowerPoint</Application>
  <PresentationFormat>Widescreen</PresentationFormat>
  <Paragraphs>386</Paragraphs>
  <Slides>49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Gill Sans MT</vt:lpstr>
      <vt:lpstr>Gallery</vt:lpstr>
      <vt:lpstr>Today – real Neural Networks!</vt:lpstr>
      <vt:lpstr>Some reading</vt:lpstr>
      <vt:lpstr>Neural Networks with PyTorch</vt:lpstr>
      <vt:lpstr>Where to run things</vt:lpstr>
      <vt:lpstr>Neural Network Libraries</vt:lpstr>
      <vt:lpstr>GPWho?</vt:lpstr>
      <vt:lpstr>PowerPoint Presentation</vt:lpstr>
      <vt:lpstr>If this is something you want to do, what Hardware do you want?</vt:lpstr>
      <vt:lpstr>Coding in Colab</vt:lpstr>
      <vt:lpstr>And in VS Code</vt:lpstr>
      <vt:lpstr>What is PyTorch?</vt:lpstr>
      <vt:lpstr>Neural Network Libraries</vt:lpstr>
      <vt:lpstr>PowerPoint Presentation</vt:lpstr>
      <vt:lpstr>Our Usage…</vt:lpstr>
      <vt:lpstr>Support and Resources</vt:lpstr>
      <vt:lpstr>Creating a PyTorch Model</vt:lpstr>
      <vt:lpstr>Pytorch Model Structure</vt:lpstr>
      <vt:lpstr>Dealing with Data</vt:lpstr>
      <vt:lpstr>Tensors and Input Layer</vt:lpstr>
      <vt:lpstr>Data Prep Pipes and Neural Nets</vt:lpstr>
      <vt:lpstr>Validate my Validation!</vt:lpstr>
      <vt:lpstr>Using Data</vt:lpstr>
      <vt:lpstr>PowerPoint Presentation</vt:lpstr>
      <vt:lpstr>Add Layers</vt:lpstr>
      <vt:lpstr>How to Create a Model</vt:lpstr>
      <vt:lpstr>Adding and Connecting Layers</vt:lpstr>
      <vt:lpstr>Assorted Layers</vt:lpstr>
      <vt:lpstr>Layers, For Now</vt:lpstr>
      <vt:lpstr>Make a pass at a Model</vt:lpstr>
      <vt:lpstr>Input Layer(s)</vt:lpstr>
      <vt:lpstr>Output Layer</vt:lpstr>
      <vt:lpstr>PowerPoint Presentation</vt:lpstr>
      <vt:lpstr>Hidden Layers</vt:lpstr>
      <vt:lpstr>Go Deep!</vt:lpstr>
      <vt:lpstr>HoW models Learn</vt:lpstr>
      <vt:lpstr>PowerPoint Presentation</vt:lpstr>
      <vt:lpstr>How Models Learn</vt:lpstr>
      <vt:lpstr>Why Hide your Layers?</vt:lpstr>
      <vt:lpstr>Training and Testing Loops</vt:lpstr>
      <vt:lpstr>Simple Loops</vt:lpstr>
      <vt:lpstr>Core Steps in Training</vt:lpstr>
      <vt:lpstr>Tuning Neural Networks</vt:lpstr>
      <vt:lpstr>Fighting Fit</vt:lpstr>
      <vt:lpstr>Verbosity and Outputs</vt:lpstr>
      <vt:lpstr>Us verses Reality</vt:lpstr>
      <vt:lpstr>Lightning</vt:lpstr>
      <vt:lpstr>Using Pytorch</vt:lpstr>
      <vt:lpstr>Using Pytorch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 with Keras and Tensorflow</dc:title>
  <dc:creator>Akeem Semper</dc:creator>
  <cp:lastModifiedBy>Akeem Semper</cp:lastModifiedBy>
  <cp:revision>66</cp:revision>
  <dcterms:created xsi:type="dcterms:W3CDTF">2022-03-14T23:52:40Z</dcterms:created>
  <dcterms:modified xsi:type="dcterms:W3CDTF">2026-03-13T14:23:30Z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2025-02-12T02:33:16Z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b4c6173a-6131-4612-a9bc-7d485b12d465</vt:lpwstr>
  </property>
  <property fmtid="{D5CDD505-2E9C-101B-9397-08002B2CF9AE}" pid="8" name="MSIP_Label_10877899-02b0-462c-b2a9-b7d15c4f96fe_ContentBits">
    <vt:lpwstr>0</vt:lpwstr>
  </property>
</Properties>
</file>