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0" r:id="rId2"/>
    <p:sldId id="297" r:id="rId3"/>
    <p:sldId id="292" r:id="rId4"/>
    <p:sldId id="278" r:id="rId5"/>
    <p:sldId id="277" r:id="rId6"/>
    <p:sldId id="256" r:id="rId7"/>
    <p:sldId id="344" r:id="rId8"/>
    <p:sldId id="257" r:id="rId9"/>
    <p:sldId id="287" r:id="rId10"/>
    <p:sldId id="343" r:id="rId11"/>
    <p:sldId id="258" r:id="rId12"/>
    <p:sldId id="259" r:id="rId13"/>
    <p:sldId id="266" r:id="rId14"/>
    <p:sldId id="264" r:id="rId15"/>
    <p:sldId id="265" r:id="rId16"/>
    <p:sldId id="279" r:id="rId17"/>
    <p:sldId id="281" r:id="rId18"/>
    <p:sldId id="293" r:id="rId19"/>
    <p:sldId id="260" r:id="rId20"/>
    <p:sldId id="289" r:id="rId21"/>
    <p:sldId id="261" r:id="rId22"/>
    <p:sldId id="262" r:id="rId23"/>
    <p:sldId id="338" r:id="rId24"/>
    <p:sldId id="282" r:id="rId25"/>
    <p:sldId id="263" r:id="rId26"/>
    <p:sldId id="339" r:id="rId27"/>
    <p:sldId id="271" r:id="rId28"/>
    <p:sldId id="274" r:id="rId29"/>
    <p:sldId id="272" r:id="rId30"/>
    <p:sldId id="267" r:id="rId31"/>
    <p:sldId id="273" r:id="rId32"/>
    <p:sldId id="275" r:id="rId33"/>
    <p:sldId id="295" r:id="rId34"/>
    <p:sldId id="268" r:id="rId35"/>
    <p:sldId id="294" r:id="rId36"/>
    <p:sldId id="276" r:id="rId37"/>
    <p:sldId id="283" r:id="rId38"/>
    <p:sldId id="284" r:id="rId39"/>
    <p:sldId id="286" r:id="rId40"/>
    <p:sldId id="285" r:id="rId41"/>
    <p:sldId id="288" r:id="rId42"/>
    <p:sldId id="296" r:id="rId43"/>
    <p:sldId id="269" r:id="rId44"/>
    <p:sldId id="340" r:id="rId45"/>
    <p:sldId id="341" r:id="rId46"/>
    <p:sldId id="342" r:id="rId47"/>
    <p:sldId id="270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ified" id="{27F79257-205E-024E-8C20-D903515E0BFB}">
          <p14:sldIdLst>
            <p14:sldId id="280"/>
            <p14:sldId id="297"/>
            <p14:sldId id="292"/>
            <p14:sldId id="278"/>
            <p14:sldId id="277"/>
            <p14:sldId id="256"/>
            <p14:sldId id="344"/>
            <p14:sldId id="257"/>
            <p14:sldId id="287"/>
            <p14:sldId id="343"/>
            <p14:sldId id="258"/>
            <p14:sldId id="259"/>
            <p14:sldId id="266"/>
            <p14:sldId id="264"/>
            <p14:sldId id="265"/>
            <p14:sldId id="279"/>
            <p14:sldId id="281"/>
            <p14:sldId id="293"/>
            <p14:sldId id="260"/>
            <p14:sldId id="289"/>
            <p14:sldId id="261"/>
            <p14:sldId id="262"/>
            <p14:sldId id="338"/>
            <p14:sldId id="282"/>
            <p14:sldId id="263"/>
            <p14:sldId id="339"/>
            <p14:sldId id="271"/>
            <p14:sldId id="274"/>
            <p14:sldId id="272"/>
            <p14:sldId id="267"/>
            <p14:sldId id="273"/>
            <p14:sldId id="275"/>
            <p14:sldId id="295"/>
            <p14:sldId id="268"/>
            <p14:sldId id="294"/>
            <p14:sldId id="276"/>
            <p14:sldId id="283"/>
            <p14:sldId id="284"/>
            <p14:sldId id="286"/>
            <p14:sldId id="285"/>
            <p14:sldId id="288"/>
            <p14:sldId id="296"/>
            <p14:sldId id="269"/>
            <p14:sldId id="340"/>
            <p14:sldId id="341"/>
            <p14:sldId id="342"/>
            <p14:sldId id="270"/>
          </p14:sldIdLst>
        </p14:section>
        <p14:section name="Old" id="{658C3F08-30F7-4B40-AE69-63013B85E85C}">
          <p14:sldIdLst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168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1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eem Semper" userId="f946a067da346415" providerId="LiveId" clId="{F36375CB-2B35-4E2C-BB79-BD9A71F0AD77}"/>
    <pc:docChg chg="custSel addSld modSld">
      <pc:chgData name="Akeem Semper" userId="f946a067da346415" providerId="LiveId" clId="{F36375CB-2B35-4E2C-BB79-BD9A71F0AD77}" dt="2022-03-20T15:54:40.781" v="561" actId="20577"/>
      <pc:docMkLst>
        <pc:docMk/>
      </pc:docMkLst>
      <pc:sldChg chg="modSp new mod">
        <pc:chgData name="Akeem Semper" userId="f946a067da346415" providerId="LiveId" clId="{F36375CB-2B35-4E2C-BB79-BD9A71F0AD77}" dt="2022-03-20T15:53:52.699" v="389" actId="20577"/>
        <pc:sldMkLst>
          <pc:docMk/>
          <pc:sldMk cId="1375585324" sldId="262"/>
        </pc:sldMkLst>
        <pc:spChg chg="mod">
          <ac:chgData name="Akeem Semper" userId="f946a067da346415" providerId="LiveId" clId="{F36375CB-2B35-4E2C-BB79-BD9A71F0AD77}" dt="2022-03-20T15:51:52.853" v="9" actId="20577"/>
          <ac:spMkLst>
            <pc:docMk/>
            <pc:sldMk cId="1375585324" sldId="262"/>
            <ac:spMk id="2" creationId="{34986ED5-DCBC-44E8-A70B-39E557577940}"/>
          </ac:spMkLst>
        </pc:spChg>
        <pc:spChg chg="mod">
          <ac:chgData name="Akeem Semper" userId="f946a067da346415" providerId="LiveId" clId="{F36375CB-2B35-4E2C-BB79-BD9A71F0AD77}" dt="2022-03-20T15:53:52.699" v="389" actId="20577"/>
          <ac:spMkLst>
            <pc:docMk/>
            <pc:sldMk cId="1375585324" sldId="262"/>
            <ac:spMk id="3" creationId="{4B2CD011-BB37-4394-B021-0011F0FE5371}"/>
          </ac:spMkLst>
        </pc:spChg>
      </pc:sldChg>
      <pc:sldChg chg="modSp new mod">
        <pc:chgData name="Akeem Semper" userId="f946a067da346415" providerId="LiveId" clId="{F36375CB-2B35-4E2C-BB79-BD9A71F0AD77}" dt="2022-03-20T15:54:40.781" v="561" actId="20577"/>
        <pc:sldMkLst>
          <pc:docMk/>
          <pc:sldMk cId="1393217473" sldId="263"/>
        </pc:sldMkLst>
        <pc:spChg chg="mod">
          <ac:chgData name="Akeem Semper" userId="f946a067da346415" providerId="LiveId" clId="{F36375CB-2B35-4E2C-BB79-BD9A71F0AD77}" dt="2022-03-20T15:54:02.498" v="410" actId="20577"/>
          <ac:spMkLst>
            <pc:docMk/>
            <pc:sldMk cId="1393217473" sldId="263"/>
            <ac:spMk id="2" creationId="{0082CAF9-B4E1-4729-88E5-0D11190C387F}"/>
          </ac:spMkLst>
        </pc:spChg>
        <pc:spChg chg="mod">
          <ac:chgData name="Akeem Semper" userId="f946a067da346415" providerId="LiveId" clId="{F36375CB-2B35-4E2C-BB79-BD9A71F0AD77}" dt="2022-03-20T15:54:40.781" v="561" actId="20577"/>
          <ac:spMkLst>
            <pc:docMk/>
            <pc:sldMk cId="1393217473" sldId="263"/>
            <ac:spMk id="3" creationId="{28019EF6-C3D4-4F7E-9535-A7B288B5931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04D2-159E-4A89-9D41-8FD3B2B47560}" type="datetimeFigureOut">
              <a:rPr lang="LID4096" smtClean="0"/>
              <a:t>3/8/26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2F9729E2-28B8-4062-9281-836F51D7D887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3022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04D2-159E-4A89-9D41-8FD3B2B47560}" type="datetimeFigureOut">
              <a:rPr lang="LID4096" smtClean="0"/>
              <a:t>3/8/26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729E2-28B8-4062-9281-836F51D7D887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5024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04D2-159E-4A89-9D41-8FD3B2B47560}" type="datetimeFigureOut">
              <a:rPr lang="LID4096" smtClean="0"/>
              <a:t>3/8/26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729E2-28B8-4062-9281-836F51D7D887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017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04D2-159E-4A89-9D41-8FD3B2B47560}" type="datetimeFigureOut">
              <a:rPr lang="LID4096" smtClean="0"/>
              <a:t>3/8/26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729E2-28B8-4062-9281-836F51D7D887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2975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04D2-159E-4A89-9D41-8FD3B2B47560}" type="datetimeFigureOut">
              <a:rPr lang="LID4096" smtClean="0"/>
              <a:t>3/8/26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729E2-28B8-4062-9281-836F51D7D887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6985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04D2-159E-4A89-9D41-8FD3B2B47560}" type="datetimeFigureOut">
              <a:rPr lang="LID4096" smtClean="0"/>
              <a:t>3/8/26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729E2-28B8-4062-9281-836F51D7D887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7563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04D2-159E-4A89-9D41-8FD3B2B47560}" type="datetimeFigureOut">
              <a:rPr lang="LID4096" smtClean="0"/>
              <a:t>3/8/26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729E2-28B8-4062-9281-836F51D7D88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80158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04D2-159E-4A89-9D41-8FD3B2B47560}" type="datetimeFigureOut">
              <a:rPr lang="LID4096" smtClean="0"/>
              <a:t>3/8/26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729E2-28B8-4062-9281-836F51D7D887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114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4AB04D2-159E-4A89-9D41-8FD3B2B47560}" type="datetimeFigureOut">
              <a:rPr lang="LID4096" smtClean="0"/>
              <a:t>3/8/26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729E2-28B8-4062-9281-836F51D7D887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595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04D2-159E-4A89-9D41-8FD3B2B47560}" type="datetimeFigureOut">
              <a:rPr lang="LID4096" smtClean="0"/>
              <a:t>3/8/26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729E2-28B8-4062-9281-836F51D7D887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2639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04D2-159E-4A89-9D41-8FD3B2B47560}" type="datetimeFigureOut">
              <a:rPr lang="LID4096" smtClean="0"/>
              <a:t>3/8/26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729E2-28B8-4062-9281-836F51D7D887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9270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AB04D2-159E-4A89-9D41-8FD3B2B47560}" type="datetimeFigureOut">
              <a:rPr lang="LID4096" smtClean="0"/>
              <a:t>3/8/26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2F9729E2-28B8-4062-9281-836F51D7D887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0346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sa=i&amp;url=https%3A%2F%2Fwww.researchgate.net%2Ffigure%2Fshows-the-convergence-of-loss-function-over-training-and-validation-data_fig2_319478265&amp;psig=AOvVaw036uYPpa_Go2Ded4gf1Kwe&amp;ust=1742516243878000&amp;source=images&amp;cd=vfe&amp;opi=89978449&amp;ved=0CBUQjRxqFwoTCIDLv4ixl4wDFQAAAAAdAAAAABAb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sa=i&amp;url=https%3A%2F%2Fwww.researchgate.net%2Ffigure%2Fshows-the-convergence-of-loss-function-over-training-and-validation-data_fig2_319478265&amp;psig=AOvVaw036uYPpa_Go2Ded4gf1Kwe&amp;ust=1742516243878000&amp;source=images&amp;cd=vfe&amp;opi=89978449&amp;ved=0CBUQjRxqFwoTCIDLv4ixl4wDFQAAAAAdAAAAABAb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03AD8-F1B0-6D53-4432-144E33881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057B2-188C-3118-D5F8-7092692F4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rmAutofit/>
          </a:bodyPr>
          <a:lstStyle/>
          <a:p>
            <a:r>
              <a:rPr lang="en-US" dirty="0"/>
              <a:t>Today – tuning, </a:t>
            </a:r>
            <a:r>
              <a:rPr lang="en-US" dirty="0" err="1"/>
              <a:t>tensorboard</a:t>
            </a:r>
            <a:r>
              <a:rPr lang="en-US" dirty="0"/>
              <a:t>, </a:t>
            </a:r>
            <a:r>
              <a:rPr lang="en-US" dirty="0" err="1"/>
              <a:t>raytune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First – outline of </a:t>
            </a:r>
            <a:r>
              <a:rPr lang="en-US" dirty="0" err="1"/>
              <a:t>tensorboard</a:t>
            </a:r>
            <a:r>
              <a:rPr lang="en-US" dirty="0"/>
              <a:t> and </a:t>
            </a:r>
            <a:r>
              <a:rPr lang="en-US" dirty="0" err="1"/>
              <a:t>raytune</a:t>
            </a:r>
            <a:r>
              <a:rPr lang="en-US" dirty="0"/>
              <a:t> tools. </a:t>
            </a:r>
          </a:p>
          <a:p>
            <a:pPr lvl="1"/>
            <a:r>
              <a:rPr lang="en-US" dirty="0"/>
              <a:t>Next – common tuning options. </a:t>
            </a:r>
          </a:p>
          <a:p>
            <a:pPr lvl="1"/>
            <a:r>
              <a:rPr lang="en-US" dirty="0"/>
              <a:t>Finally – try to log some of those tuning options with </a:t>
            </a:r>
            <a:r>
              <a:rPr lang="en-US" dirty="0" err="1"/>
              <a:t>tensorboard</a:t>
            </a:r>
            <a:r>
              <a:rPr lang="en-US" dirty="0"/>
              <a:t> or automate with R.T.</a:t>
            </a:r>
          </a:p>
          <a:p>
            <a:r>
              <a:rPr lang="en-US" dirty="0"/>
              <a:t>There’s a new, simple, neural network assignment up.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55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4FB5A-6E0D-A1AF-776E-4D2C15A55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52AE0-822E-A3B2-AEF2-CD9580AA2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8D3341-C9AD-F059-B8C6-00D1B0500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51" y="804519"/>
            <a:ext cx="11987098" cy="5248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332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4B66D-AFB2-A3EE-5997-4D1F0B95F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(Other Class) Stuff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41979-88C3-CEA4-3B52-F2E898F29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663" y="1853754"/>
            <a:ext cx="11058525" cy="4199727"/>
          </a:xfrm>
        </p:spPr>
        <p:txBody>
          <a:bodyPr>
            <a:normAutofit/>
          </a:bodyPr>
          <a:lstStyle/>
          <a:p>
            <a:r>
              <a:rPr lang="en-US" dirty="0"/>
              <a:t>If you are still doing real estate, think about large scale feature construction. </a:t>
            </a:r>
          </a:p>
          <a:p>
            <a:r>
              <a:rPr lang="en-US" dirty="0"/>
              <a:t>You can make many features from latitude and longitude that may matter. </a:t>
            </a:r>
          </a:p>
          <a:p>
            <a:pPr lvl="1"/>
            <a:r>
              <a:rPr lang="en-US" dirty="0"/>
              <a:t>I’d make a lot of them, since you have a lot of data, and let the model sort it out. </a:t>
            </a:r>
          </a:p>
          <a:p>
            <a:r>
              <a:rPr lang="en-US" dirty="0"/>
              <a:t>Directly calculable via spatial joins and spatial files you can find online (Google mapping/spatial/</a:t>
            </a:r>
            <a:r>
              <a:rPr lang="en-US" dirty="0" err="1"/>
              <a:t>gis</a:t>
            </a:r>
            <a:r>
              <a:rPr lang="en-US" dirty="0"/>
              <a:t>):</a:t>
            </a:r>
          </a:p>
          <a:p>
            <a:pPr lvl="1"/>
            <a:r>
              <a:rPr lang="en-US" dirty="0"/>
              <a:t>Distance from almost anything – roads, schools, water, commerce, neighbors, etc.</a:t>
            </a:r>
          </a:p>
          <a:p>
            <a:pPr lvl="1"/>
            <a:r>
              <a:rPr lang="en-US" dirty="0"/>
              <a:t>Stats – density, comparison to neighbors, trends, crime, construction, census data (wealth, education, etc.)</a:t>
            </a:r>
          </a:p>
          <a:p>
            <a:r>
              <a:rPr lang="en-US" dirty="0"/>
              <a:t>Calculable with potentially free services online – time to get places, real estate stuff, sun. </a:t>
            </a:r>
          </a:p>
          <a:p>
            <a:r>
              <a:rPr lang="en-US" dirty="0"/>
              <a:t>Possible with large scale scraping – real estate data, all kinds of other stuff. </a:t>
            </a:r>
          </a:p>
          <a:p>
            <a:r>
              <a:rPr lang="en-US" dirty="0"/>
              <a:t>I’d try to cast as wide a net as possible and get almost anything I could automate as a start. </a:t>
            </a:r>
          </a:p>
        </p:txBody>
      </p:sp>
    </p:spTree>
    <p:extLst>
      <p:ext uri="{BB962C8B-B14F-4D97-AF65-F5344CB8AC3E}">
        <p14:creationId xmlns:p14="http://schemas.microsoft.com/office/powerpoint/2010/main" val="3300512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1ADD2-D653-17DD-BCB3-0E44EAE7B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 Assignment -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8B9B4-BDA8-12EB-F5CF-5A987E111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The basic steps needed are:</a:t>
            </a:r>
          </a:p>
          <a:p>
            <a:pPr lvl="1"/>
            <a:r>
              <a:rPr lang="en-US" dirty="0"/>
              <a:t>Cluster the original data to break the numbers into similar groups. (k-means, other…)</a:t>
            </a:r>
          </a:p>
          <a:p>
            <a:pPr lvl="1"/>
            <a:r>
              <a:rPr lang="en-US" dirty="0"/>
              <a:t>Manually add a label – each group is similar, but we don’t know what it is a group of. </a:t>
            </a:r>
          </a:p>
          <a:p>
            <a:pPr lvl="1"/>
            <a:r>
              <a:rPr lang="en-US" dirty="0"/>
              <a:t>Now you have labeled groups of digit images. </a:t>
            </a:r>
          </a:p>
          <a:p>
            <a:pPr lvl="1"/>
            <a:r>
              <a:rPr lang="en-US" dirty="0"/>
              <a:t>Train 10 (or more) GMMs, one that ‘knows’ each number from the data used to train it. </a:t>
            </a:r>
          </a:p>
          <a:p>
            <a:pPr lvl="1"/>
            <a:r>
              <a:rPr lang="en-US" dirty="0"/>
              <a:t>When asked for a printout, ask the right GMMs for a digit each, assemble. </a:t>
            </a:r>
          </a:p>
          <a:p>
            <a:r>
              <a:rPr lang="en-US" dirty="0"/>
              <a:t>Overall, the images tend to be OK at best, some improvements:</a:t>
            </a:r>
          </a:p>
          <a:p>
            <a:pPr lvl="1"/>
            <a:r>
              <a:rPr lang="en-US" dirty="0"/>
              <a:t>Number of clusters can be &gt;10, to capture different digit variations. GMMs can as well. </a:t>
            </a:r>
          </a:p>
          <a:p>
            <a:pPr lvl="1"/>
            <a:r>
              <a:rPr lang="en-US" dirty="0"/>
              <a:t>Some cleaning/processing (PCA, feature selection, etc..) may help, requires much tuning. </a:t>
            </a:r>
          </a:p>
        </p:txBody>
      </p:sp>
    </p:spTree>
    <p:extLst>
      <p:ext uri="{BB962C8B-B14F-4D97-AF65-F5344CB8AC3E}">
        <p14:creationId xmlns:p14="http://schemas.microsoft.com/office/powerpoint/2010/main" val="136210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B2C87-4BE3-F68C-4EE7-7009E745A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7D62E-779C-86FC-A8CB-FC13358BC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Common issues:</a:t>
            </a:r>
          </a:p>
          <a:p>
            <a:pPr lvl="1"/>
            <a:r>
              <a:rPr lang="en-US" dirty="0"/>
              <a:t>Assorted mix-ups applying labels to clusters. </a:t>
            </a:r>
          </a:p>
          <a:p>
            <a:pPr lvl="1"/>
            <a:r>
              <a:rPr lang="en-US" dirty="0"/>
              <a:t>Training GMM timing/location. </a:t>
            </a:r>
          </a:p>
          <a:p>
            <a:r>
              <a:rPr lang="en-US" dirty="0"/>
              <a:t>Adding labeling:</a:t>
            </a:r>
          </a:p>
          <a:p>
            <a:pPr lvl="1"/>
            <a:r>
              <a:rPr lang="en-US" dirty="0"/>
              <a:t>This feels weird to lots of people, but it isn’t really all that rare. (LLMs and gen models). </a:t>
            </a:r>
          </a:p>
          <a:p>
            <a:pPr lvl="1"/>
            <a:r>
              <a:rPr lang="en-US" dirty="0"/>
              <a:t>The clusters are able to be ‘pure’ on their own, but we need to add the label info ourselves. </a:t>
            </a:r>
          </a:p>
          <a:p>
            <a:pPr lvl="1"/>
            <a:r>
              <a:rPr lang="en-US" dirty="0"/>
              <a:t>This could be supplemented by other models – e.g. manually label enough, then use classifier.</a:t>
            </a:r>
          </a:p>
        </p:txBody>
      </p:sp>
    </p:spTree>
    <p:extLst>
      <p:ext uri="{BB962C8B-B14F-4D97-AF65-F5344CB8AC3E}">
        <p14:creationId xmlns:p14="http://schemas.microsoft.com/office/powerpoint/2010/main" val="885412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B6258-E5B7-46B2-B0C0-74D17CB326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Neural Network </a:t>
            </a:r>
            <a:r>
              <a:rPr lang="en-CA"/>
              <a:t>tuning and Optimization</a:t>
            </a:r>
            <a:endParaRPr lang="LID4096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A17104-0772-4130-BC10-20A91C36DB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3059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DC659-6159-C0C9-F9E3-8A5A1EA88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First – Get 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B4EFE-4776-DF7E-F9DA-6D3E00372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Tensorboard</a:t>
            </a:r>
            <a:r>
              <a:rPr lang="en-US" dirty="0"/>
              <a:t> is a tool we can use to monitor training. </a:t>
            </a:r>
          </a:p>
        </p:txBody>
      </p:sp>
    </p:spTree>
    <p:extLst>
      <p:ext uri="{BB962C8B-B14F-4D97-AF65-F5344CB8AC3E}">
        <p14:creationId xmlns:p14="http://schemas.microsoft.com/office/powerpoint/2010/main" val="3862673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E4FFC-2F49-449F-85F4-087043D3C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Neural Network Configuration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B43FE-383C-4ADB-B9D1-04FC82506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rmAutofit lnSpcReduction="10000"/>
          </a:bodyPr>
          <a:lstStyle/>
          <a:p>
            <a:r>
              <a:rPr lang="en-CA" dirty="0"/>
              <a:t>We’ve seen that neural networks offer a large amount of flexibility in their configuration.</a:t>
            </a:r>
          </a:p>
          <a:p>
            <a:r>
              <a:rPr lang="en-CA" dirty="0"/>
              <a:t>How do we determine the optimal structure?</a:t>
            </a:r>
          </a:p>
          <a:p>
            <a:r>
              <a:rPr lang="en-CA" dirty="0"/>
              <a:t>Generally, the true answer is to grid search it. </a:t>
            </a:r>
          </a:p>
          <a:p>
            <a:pPr lvl="1"/>
            <a:r>
              <a:rPr lang="en-CA" dirty="0"/>
              <a:t>Neural networks are very flexible, and can ‘learn around’ lots of changes. </a:t>
            </a:r>
          </a:p>
          <a:p>
            <a:r>
              <a:rPr lang="en-CA" dirty="0"/>
              <a:t>We can use some guidelines to get started in a reasonable and smart way. </a:t>
            </a:r>
          </a:p>
          <a:p>
            <a:pPr lvl="1"/>
            <a:r>
              <a:rPr lang="en-CA" dirty="0"/>
              <a:t>Problem types (image class, NLP, </a:t>
            </a:r>
            <a:r>
              <a:rPr lang="en-CA" dirty="0" err="1"/>
              <a:t>etc</a:t>
            </a:r>
            <a:r>
              <a:rPr lang="en-CA" dirty="0"/>
              <a:t>…) have architectures that work well, and most things (except innovations) are based on what worked before. </a:t>
            </a:r>
          </a:p>
          <a:p>
            <a:r>
              <a:rPr lang="en-CA" dirty="0"/>
              <a:t>This is largely getting used to </a:t>
            </a:r>
            <a:r>
              <a:rPr lang="en-CA" dirty="0" err="1"/>
              <a:t>pytorch</a:t>
            </a:r>
            <a:r>
              <a:rPr lang="en-CA" dirty="0"/>
              <a:t> and making adjustments there. </a:t>
            </a:r>
          </a:p>
          <a:p>
            <a:pPr lvl="1"/>
            <a:r>
              <a:rPr lang="en-CA" dirty="0"/>
              <a:t>Play around with some models, get used to syntax, try some different models. </a:t>
            </a:r>
          </a:p>
          <a:p>
            <a:r>
              <a:rPr lang="en-CA" dirty="0"/>
              <a:t>More of our focus is now on speed – the faster we converge, the more we can test. </a:t>
            </a:r>
          </a:p>
        </p:txBody>
      </p:sp>
    </p:spTree>
    <p:extLst>
      <p:ext uri="{BB962C8B-B14F-4D97-AF65-F5344CB8AC3E}">
        <p14:creationId xmlns:p14="http://schemas.microsoft.com/office/powerpoint/2010/main" val="2495634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9DA24-AFDB-91EC-071C-BF0F9957F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428" y="804519"/>
            <a:ext cx="6556426" cy="1049235"/>
          </a:xfrm>
        </p:spPr>
        <p:txBody>
          <a:bodyPr/>
          <a:lstStyle/>
          <a:p>
            <a:r>
              <a:rPr lang="en-US" dirty="0"/>
              <a:t>Converging Loss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3E00D-8DE0-1D03-19D1-D0D541C15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3735" y="1853754"/>
            <a:ext cx="7666061" cy="41997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Our main tool for monitoring training is the loss plot. </a:t>
            </a:r>
          </a:p>
          <a:p>
            <a:r>
              <a:rPr lang="en-US" dirty="0"/>
              <a:t>We are looking for, ideally, where the validation loss flattens, or minimizes and starts to increase again. </a:t>
            </a:r>
          </a:p>
          <a:p>
            <a:pPr lvl="1"/>
            <a:r>
              <a:rPr lang="en-US" dirty="0"/>
              <a:t>The more stable, the more reliable, but it won’t always get this smooth. </a:t>
            </a:r>
          </a:p>
          <a:p>
            <a:r>
              <a:rPr lang="en-US" dirty="0"/>
              <a:t>These show an accurate small and large model – small is more jumpy. </a:t>
            </a:r>
          </a:p>
          <a:p>
            <a:pPr lvl="1"/>
            <a:r>
              <a:rPr lang="en-US" dirty="0"/>
              <a:t>Error scale on Y are very small on both. </a:t>
            </a:r>
          </a:p>
          <a:p>
            <a:r>
              <a:rPr lang="en-US" dirty="0"/>
              <a:t>Training loss seems to be flattening as well – convergence. </a:t>
            </a:r>
          </a:p>
          <a:p>
            <a:pPr lvl="1"/>
            <a:r>
              <a:rPr lang="en-US" dirty="0"/>
              <a:t>The ball has found the low point of the gradient curve. </a:t>
            </a:r>
          </a:p>
          <a:p>
            <a:pPr lvl="1"/>
            <a:r>
              <a:rPr lang="en-US" dirty="0"/>
              <a:t>It may bump around a little, but we’ve found the bottom of loss. </a:t>
            </a:r>
          </a:p>
          <a:p>
            <a:r>
              <a:rPr lang="en-US" dirty="0"/>
              <a:t>The smaller the gap, the less overfitting – small and stable is ideal. </a:t>
            </a:r>
          </a:p>
        </p:txBody>
      </p:sp>
      <p:pic>
        <p:nvPicPr>
          <p:cNvPr id="6146" name="Picture 2" descr="enter image description here">
            <a:extLst>
              <a:ext uri="{FF2B5EF4-FFF2-40B4-BE49-F238E27FC236}">
                <a16:creationId xmlns:a16="http://schemas.microsoft.com/office/drawing/2014/main" id="{7A3E84A7-7C2E-A8AD-FF45-4094130373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44264"/>
            <a:ext cx="4313736" cy="431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1" name="Picture 7" descr="shows the convergence of loss function over training and validation data |  Download Scientific Diagram">
            <a:hlinkClick r:id="rId3"/>
            <a:extLst>
              <a:ext uri="{FF2B5EF4-FFF2-40B4-BE49-F238E27FC236}">
                <a16:creationId xmlns:a16="http://schemas.microsoft.com/office/drawing/2014/main" id="{076B6416-0FE9-90B5-7369-107524A7E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313737" cy="2872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6695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9DD2E-27DB-9B00-4D59-7FFF0EF55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E50F1-2F18-D0EB-441C-35773AA85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56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CF152-59D1-43C2-9435-C78A52076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Network Size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90C32-B7B4-4D00-AA34-E379414D8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first thing to look at is the network size, or capacity.</a:t>
            </a:r>
          </a:p>
          <a:p>
            <a:r>
              <a:rPr lang="en-CA" dirty="0"/>
              <a:t>The more neurons a network had, the higher the capacity. </a:t>
            </a:r>
          </a:p>
          <a:p>
            <a:r>
              <a:rPr lang="en-CA" dirty="0"/>
              <a:t>In general, larger networks need larger amounts of data, to find more complex relationships.  </a:t>
            </a:r>
          </a:p>
          <a:p>
            <a:r>
              <a:rPr lang="en-CA" dirty="0"/>
              <a:t>We can examine the two metrics of size:</a:t>
            </a:r>
          </a:p>
          <a:p>
            <a:pPr lvl="1"/>
            <a:r>
              <a:rPr lang="en-CA" dirty="0"/>
              <a:t>Neurons per layer (width)</a:t>
            </a:r>
          </a:p>
          <a:p>
            <a:pPr lvl="1"/>
            <a:r>
              <a:rPr lang="en-CA" dirty="0"/>
              <a:t>Number of layers (depth)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949275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B01E8-D08A-4763-AF4C-320DC895D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Width vs Depth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F86B8-C25D-452D-84CF-B6190DEDA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288629"/>
          </a:xfrm>
        </p:spPr>
        <p:txBody>
          <a:bodyPr>
            <a:normAutofit/>
          </a:bodyPr>
          <a:lstStyle/>
          <a:p>
            <a:r>
              <a:rPr lang="en-CA" dirty="0"/>
              <a:t>When we make a neural network, should we favor width or depth?</a:t>
            </a:r>
          </a:p>
          <a:p>
            <a:r>
              <a:rPr lang="en-CA" dirty="0"/>
              <a:t>In theory one hidden layer can approximate any function. </a:t>
            </a:r>
          </a:p>
          <a:p>
            <a:pPr lvl="1"/>
            <a:r>
              <a:rPr lang="en-CA" dirty="0"/>
              <a:t>Universal approximation theorem – one layer can in principle learn anything. </a:t>
            </a:r>
          </a:p>
          <a:p>
            <a:r>
              <a:rPr lang="en-CA" dirty="0"/>
              <a:t>In general, depth is preferred more often. Why?</a:t>
            </a:r>
          </a:p>
          <a:p>
            <a:pPr lvl="1"/>
            <a:r>
              <a:rPr lang="en-CA" dirty="0"/>
              <a:t>Wider networks are more prone to overfitting. </a:t>
            </a:r>
          </a:p>
          <a:p>
            <a:pPr lvl="1"/>
            <a:r>
              <a:rPr lang="en-CA" dirty="0"/>
              <a:t>Deep networks can find representations of data with each transformation (see in CNNs next)</a:t>
            </a:r>
          </a:p>
          <a:p>
            <a:pPr lvl="1"/>
            <a:r>
              <a:rPr lang="en-CA" dirty="0"/>
              <a:t>We can apply regularization or normalization between layers to counter overfitting. </a:t>
            </a:r>
          </a:p>
          <a:p>
            <a:pPr lvl="1"/>
            <a:r>
              <a:rPr lang="en-CA" dirty="0"/>
              <a:t>We can make models with more complex structure – layer types and connections. </a:t>
            </a:r>
          </a:p>
          <a:p>
            <a:pPr lvl="1"/>
            <a:r>
              <a:rPr lang="en-CA" dirty="0"/>
              <a:t>Deep networks can kind of feature select as less significant features are minimized. </a:t>
            </a:r>
          </a:p>
          <a:p>
            <a:pPr lvl="1"/>
            <a:r>
              <a:rPr lang="en-CA" dirty="0"/>
              <a:t>Data with complex relationships (’natural’ stuff) tends to do well with deep models.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095230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7AFE0-199D-7B45-8484-224ED259D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Deep Learning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351FF83-CEFF-9A4C-873C-CFDE88AD2D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0" t="8581" r="4835" b="13200"/>
          <a:stretch/>
        </p:blipFill>
        <p:spPr bwMode="auto">
          <a:xfrm>
            <a:off x="114299" y="2015734"/>
            <a:ext cx="6578597" cy="3584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46EC3-4DD2-2244-9A22-FBE07B35C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2897" y="2015734"/>
            <a:ext cx="5283204" cy="4231062"/>
          </a:xfrm>
        </p:spPr>
        <p:txBody>
          <a:bodyPr>
            <a:normAutofit/>
          </a:bodyPr>
          <a:lstStyle/>
          <a:p>
            <a:r>
              <a:rPr lang="en-US" dirty="0"/>
              <a:t>For modern usage most/all of the “cool things” that AI can do is due to deep networks. </a:t>
            </a:r>
          </a:p>
          <a:p>
            <a:r>
              <a:rPr lang="en-US" dirty="0"/>
              <a:t>Reasons:</a:t>
            </a:r>
          </a:p>
          <a:p>
            <a:pPr lvl="1"/>
            <a:r>
              <a:rPr lang="en-US" dirty="0"/>
              <a:t>Layers can extract different representations of data. (More on this next time). </a:t>
            </a:r>
          </a:p>
          <a:p>
            <a:pPr lvl="1"/>
            <a:r>
              <a:rPr lang="en-US" dirty="0"/>
              <a:t>Opportunities to regularize. </a:t>
            </a:r>
          </a:p>
          <a:p>
            <a:pPr lvl="1"/>
            <a:r>
              <a:rPr lang="en-US" dirty="0"/>
              <a:t>Less overfit prone than wide models. </a:t>
            </a:r>
          </a:p>
          <a:p>
            <a:r>
              <a:rPr lang="en-US" dirty="0"/>
              <a:t>Practical evidence is that deep models are generally better.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184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01725-9E0C-C94C-A904-0AD2C6AAE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ImageNet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E703D-820A-C645-952F-C87CDE2DF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Imagenet</a:t>
            </a:r>
            <a:r>
              <a:rPr lang="en-US" dirty="0"/>
              <a:t> is a dataset developed in the late 2000s to help computer vision. </a:t>
            </a:r>
          </a:p>
          <a:p>
            <a:pPr lvl="1"/>
            <a:r>
              <a:rPr lang="en-US" dirty="0"/>
              <a:t>Thought – better dataset leads to better models. </a:t>
            </a:r>
          </a:p>
          <a:p>
            <a:r>
              <a:rPr lang="en-US" dirty="0"/>
              <a:t>Nested set of 3.2 million (initially) to over 13 million (now) images with labels. </a:t>
            </a:r>
          </a:p>
          <a:p>
            <a:pPr lvl="1"/>
            <a:r>
              <a:rPr lang="en-US" dirty="0"/>
              <a:t>Labeled largely through Mechanical Turk service. </a:t>
            </a:r>
          </a:p>
          <a:p>
            <a:pPr lvl="1"/>
            <a:r>
              <a:rPr lang="en-US" dirty="0"/>
              <a:t>Hierarchical labels – e.g. a chair is a type of furniture, a dog is an animal. </a:t>
            </a:r>
          </a:p>
          <a:p>
            <a:r>
              <a:rPr lang="en-US" dirty="0"/>
              <a:t>Became benchmark of image recognition accuracy.</a:t>
            </a:r>
          </a:p>
          <a:p>
            <a:r>
              <a:rPr lang="en-US" dirty="0"/>
              <a:t>From ~2012-2013 to ~2015-2016 networks got deeper and losses fell. </a:t>
            </a:r>
          </a:p>
          <a:p>
            <a:pPr lvl="1"/>
            <a:r>
              <a:rPr lang="en-US" dirty="0"/>
              <a:t>In addition to use of CNN architecture – next time. </a:t>
            </a:r>
          </a:p>
          <a:p>
            <a:pPr lvl="1"/>
            <a:r>
              <a:rPr lang="en-US" dirty="0"/>
              <a:t>Improved GPU speed and utilization drove success. </a:t>
            </a:r>
          </a:p>
          <a:p>
            <a:pPr lvl="1"/>
            <a:r>
              <a:rPr lang="en-US" dirty="0"/>
              <a:t>Why GPU? The multidimensional tensor operations are similar calculations to 3D space. </a:t>
            </a:r>
          </a:p>
        </p:txBody>
      </p:sp>
    </p:spTree>
    <p:extLst>
      <p:ext uri="{BB962C8B-B14F-4D97-AF65-F5344CB8AC3E}">
        <p14:creationId xmlns:p14="http://schemas.microsoft.com/office/powerpoint/2010/main" val="3015852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7A118-4046-1549-A491-E41BAA57F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98167-5640-AE4B-85EC-F441A191A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Recent ConvNets proposed in ILSVRC. | Download Scientific Diagram">
            <a:extLst>
              <a:ext uri="{FF2B5EF4-FFF2-40B4-BE49-F238E27FC236}">
                <a16:creationId xmlns:a16="http://schemas.microsoft.com/office/drawing/2014/main" id="{7539817F-65DB-2342-AE57-926325560A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20417"/>
            <a:ext cx="12179576" cy="4585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58081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CD803-CC62-F82C-DCCB-D4B18E994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A8CDE-3AA4-5187-A9F0-6AC5AF8B6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The world through the eyes of CNN. | by Shiv Vignesh | Analytics Vidhya |  Medium">
            <a:extLst>
              <a:ext uri="{FF2B5EF4-FFF2-40B4-BE49-F238E27FC236}">
                <a16:creationId xmlns:a16="http://schemas.microsoft.com/office/drawing/2014/main" id="{6F305339-947B-9C75-0668-34D955E97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250" y="869950"/>
            <a:ext cx="10223500" cy="511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714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E3FC1-569B-3833-FD06-2BEFF806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205" y="804519"/>
            <a:ext cx="11462794" cy="1049235"/>
          </a:xfrm>
        </p:spPr>
        <p:txBody>
          <a:bodyPr/>
          <a:lstStyle/>
          <a:p>
            <a:r>
              <a:rPr lang="en-US" dirty="0"/>
              <a:t>Neural Nets as Feature Constructors (extractors)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8D692-56D5-5C55-3B26-019B75730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5"/>
            <a:ext cx="9603275" cy="1887284"/>
          </a:xfrm>
        </p:spPr>
        <p:txBody>
          <a:bodyPr/>
          <a:lstStyle/>
          <a:p>
            <a:r>
              <a:rPr lang="en-US" dirty="0"/>
              <a:t>We can also think of a deep neural network split into two pieces:</a:t>
            </a:r>
          </a:p>
          <a:p>
            <a:pPr lvl="1"/>
            <a:r>
              <a:rPr lang="en-US" dirty="0"/>
              <a:t>The final layer to do the classification (or regression), normally called the ‘classifier’. </a:t>
            </a:r>
          </a:p>
          <a:p>
            <a:pPr lvl="1"/>
            <a:r>
              <a:rPr lang="en-US" dirty="0"/>
              <a:t>The initial layers to construct the best features that allow the classifier to be accurate. </a:t>
            </a:r>
          </a:p>
          <a:p>
            <a:r>
              <a:rPr lang="en-US" dirty="0"/>
              <a:t>Final layer is a logistic regression, other layers are a smart feature constructor. </a:t>
            </a:r>
          </a:p>
        </p:txBody>
      </p:sp>
      <p:pic>
        <p:nvPicPr>
          <p:cNvPr id="1026" name="Picture 2" descr="Deep Transfer Learning With Self-Attention for Industry Sensor Fusion Tasks  - IEEE Sensors Alert">
            <a:extLst>
              <a:ext uri="{FF2B5EF4-FFF2-40B4-BE49-F238E27FC236}">
                <a16:creationId xmlns:a16="http://schemas.microsoft.com/office/drawing/2014/main" id="{E3E98562-D6B3-9FBA-FBE7-866E717C95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7031" y="3741038"/>
            <a:ext cx="8897937" cy="2943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38058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B583C-8EA5-39BD-D4B2-19B2A8DEB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497712"/>
            <a:ext cx="9603275" cy="833378"/>
          </a:xfrm>
        </p:spPr>
        <p:txBody>
          <a:bodyPr>
            <a:normAutofit/>
          </a:bodyPr>
          <a:lstStyle/>
          <a:p>
            <a:r>
              <a:rPr lang="en-US" dirty="0"/>
              <a:t>NN Feature Construction Vs </a:t>
            </a:r>
            <a:r>
              <a:rPr lang="en-US" dirty="0" err="1"/>
              <a:t>Pca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23B30-C183-0BB9-85C8-6CFE946AA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9100" y="1853754"/>
            <a:ext cx="5422900" cy="4199727"/>
          </a:xfrm>
        </p:spPr>
        <p:txBody>
          <a:bodyPr>
            <a:normAutofit/>
          </a:bodyPr>
          <a:lstStyle/>
          <a:p>
            <a:r>
              <a:rPr lang="en-US" dirty="0"/>
              <a:t>We can also picture this compared to PCA. </a:t>
            </a:r>
          </a:p>
          <a:p>
            <a:r>
              <a:rPr lang="en-US" dirty="0"/>
              <a:t>PCA does a simple linear transformation on features to generate new features that are better predictors. </a:t>
            </a:r>
          </a:p>
          <a:p>
            <a:pPr lvl="1"/>
            <a:r>
              <a:rPr lang="en-US" dirty="0"/>
              <a:t>PCA is a specific calc – it does what it does. </a:t>
            </a:r>
          </a:p>
          <a:p>
            <a:r>
              <a:rPr lang="en-US" dirty="0"/>
              <a:t>NN layers do a non-linear transformation on features to get new features that are better predictors. </a:t>
            </a:r>
          </a:p>
          <a:p>
            <a:pPr lvl="1"/>
            <a:r>
              <a:rPr lang="en-US" dirty="0"/>
              <a:t>NN training is smart, it’ll adapt each batch based on the results – the potential is far higher. </a:t>
            </a:r>
          </a:p>
        </p:txBody>
      </p:sp>
      <p:pic>
        <p:nvPicPr>
          <p:cNvPr id="10242" name="Picture 2" descr="PCA - Principal Component Analysis">
            <a:extLst>
              <a:ext uri="{FF2B5EF4-FFF2-40B4-BE49-F238E27FC236}">
                <a16:creationId xmlns:a16="http://schemas.microsoft.com/office/drawing/2014/main" id="{A2185C94-7D7E-383B-66D5-A3A8A249C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76661"/>
            <a:ext cx="635000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Feature Extraction Network - an overview | ScienceDirect Topics">
            <a:extLst>
              <a:ext uri="{FF2B5EF4-FFF2-40B4-BE49-F238E27FC236}">
                <a16:creationId xmlns:a16="http://schemas.microsoft.com/office/drawing/2014/main" id="{5AE38923-E19A-AAE6-49F4-B2481DAD63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72285"/>
            <a:ext cx="6769100" cy="288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05169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F4E92-B91C-4411-9AE6-F65251C2E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So how big do I make it?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F324C-0304-4D50-9E1F-5D00ACFC9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rmAutofit/>
          </a:bodyPr>
          <a:lstStyle/>
          <a:p>
            <a:r>
              <a:rPr lang="en-CA" dirty="0"/>
              <a:t>Big enough to be capable of overfitting – don’t obsess too much on details unless bored.</a:t>
            </a:r>
          </a:p>
          <a:p>
            <a:r>
              <a:rPr lang="en-CA" dirty="0"/>
              <a:t>See more specific guidelines in workbook. </a:t>
            </a:r>
          </a:p>
          <a:p>
            <a:pPr lvl="1"/>
            <a:r>
              <a:rPr lang="en-CA" dirty="0"/>
              <a:t>Start with 1 to 3 layers the same size as the input (or ~512-768 if input is big). </a:t>
            </a:r>
          </a:p>
          <a:p>
            <a:pPr lvl="1"/>
            <a:r>
              <a:rPr lang="en-CA" dirty="0"/>
              <a:t>Add layers to overfit that are about the same size. </a:t>
            </a:r>
          </a:p>
          <a:p>
            <a:pPr lvl="1"/>
            <a:r>
              <a:rPr lang="en-CA" dirty="0"/>
              <a:t>Try with layer size “funneled” down layer by layer. </a:t>
            </a:r>
          </a:p>
          <a:p>
            <a:pPr lvl="1"/>
            <a:r>
              <a:rPr lang="en-CA" dirty="0"/>
              <a:t>Add regularization and normalization to cut overfitting. </a:t>
            </a:r>
          </a:p>
          <a:p>
            <a:pPr lvl="1"/>
            <a:r>
              <a:rPr lang="en-CA" dirty="0"/>
              <a:t>Prune network back in size, if still overfitting. </a:t>
            </a:r>
          </a:p>
          <a:p>
            <a:r>
              <a:rPr lang="en-CA" dirty="0"/>
              <a:t>A real answer is grid search, this should get us close enough to start with. </a:t>
            </a:r>
          </a:p>
          <a:p>
            <a:r>
              <a:rPr lang="en-CA" dirty="0"/>
              <a:t>If doing something big, base it off something that works and adjust as best you can.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9556679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3B760-7189-15BB-AB43-4B1816F40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F3FBF-3046-3E73-935C-A21DD147D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Improving and increasing the data size is the best possible optimization. </a:t>
            </a:r>
          </a:p>
          <a:p>
            <a:r>
              <a:rPr lang="en-US" dirty="0"/>
              <a:t>Scaling numerical data can often have large impacts:</a:t>
            </a:r>
          </a:p>
          <a:p>
            <a:pPr lvl="1"/>
            <a:r>
              <a:rPr lang="en-US" dirty="0"/>
              <a:t>Ensure outliers are handled and data is scaled. </a:t>
            </a:r>
          </a:p>
          <a:p>
            <a:r>
              <a:rPr lang="en-US" dirty="0"/>
              <a:t>If practical, increase data size – real or by augmentation (later). </a:t>
            </a:r>
          </a:p>
          <a:p>
            <a:r>
              <a:rPr lang="en-US" dirty="0"/>
              <a:t>If we have high dimension categories, that can lead to very sparse data:</a:t>
            </a:r>
          </a:p>
          <a:p>
            <a:pPr lvl="1"/>
            <a:r>
              <a:rPr lang="en-US" dirty="0"/>
              <a:t>Many high dimension categories will add lots of features to the data once encoded. </a:t>
            </a:r>
          </a:p>
          <a:p>
            <a:pPr lvl="1"/>
            <a:r>
              <a:rPr lang="en-US" dirty="0"/>
              <a:t>This will make lots of sparse data – many features with nearly zero information. </a:t>
            </a:r>
          </a:p>
          <a:p>
            <a:pPr lvl="1"/>
            <a:r>
              <a:rPr lang="en-US" dirty="0"/>
              <a:t>This isn’t </a:t>
            </a:r>
            <a:r>
              <a:rPr lang="en-US" i="1" dirty="0"/>
              <a:t>wrong</a:t>
            </a:r>
            <a:r>
              <a:rPr lang="en-US" dirty="0"/>
              <a:t> but may lead to poor and slow results, especially without many records. </a:t>
            </a:r>
          </a:p>
          <a:p>
            <a:pPr lvl="1"/>
            <a:r>
              <a:rPr lang="en-US" dirty="0"/>
              <a:t>Consider feature engineering (‘other’ group, consolidation, selection) these first.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4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6D07A-F89C-4648-8C5C-62C367F69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Epochs and Batches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4D315-C411-40F9-A088-3BE0DD999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3907" y="1853753"/>
            <a:ext cx="10222030" cy="4199727"/>
          </a:xfrm>
        </p:spPr>
        <p:txBody>
          <a:bodyPr>
            <a:normAutofit/>
          </a:bodyPr>
          <a:lstStyle/>
          <a:p>
            <a:r>
              <a:rPr lang="en-CA" dirty="0"/>
              <a:t>Each epoch is an execution of one </a:t>
            </a:r>
            <a:r>
              <a:rPr lang="en-CA" dirty="0" err="1"/>
              <a:t>fp</a:t>
            </a:r>
            <a:r>
              <a:rPr lang="en-CA" dirty="0"/>
              <a:t>/bp through all of the data. </a:t>
            </a:r>
          </a:p>
          <a:p>
            <a:pPr lvl="1"/>
            <a:r>
              <a:rPr lang="en-CA" dirty="0"/>
              <a:t>Easiest method is to set early stopping and let the computer figure it out. </a:t>
            </a:r>
          </a:p>
          <a:p>
            <a:pPr lvl="1"/>
            <a:r>
              <a:rPr lang="en-CA" dirty="0"/>
              <a:t>Really big models might only have one epoch through the data total. </a:t>
            </a:r>
          </a:p>
          <a:p>
            <a:r>
              <a:rPr lang="en-CA" dirty="0"/>
              <a:t>Batches are how many records to process before updating weights. </a:t>
            </a:r>
          </a:p>
          <a:p>
            <a:pPr lvl="1"/>
            <a:r>
              <a:rPr lang="en-CA" dirty="0"/>
              <a:t>Just like regular gradient descent – higher is more stable, smaller more erratic. </a:t>
            </a:r>
          </a:p>
          <a:p>
            <a:pPr lvl="1"/>
            <a:r>
              <a:rPr lang="en-CA" dirty="0"/>
              <a:t>Limited at the top end by memory capacity. </a:t>
            </a:r>
          </a:p>
          <a:p>
            <a:pPr lvl="1"/>
            <a:r>
              <a:rPr lang="en-CA" dirty="0"/>
              <a:t>Large vs small is still a matter of debate and varies by data. </a:t>
            </a:r>
          </a:p>
          <a:p>
            <a:pPr lvl="1"/>
            <a:r>
              <a:rPr lang="en-CA" dirty="0"/>
              <a:t>Recently, smaller batches (as small as 2 -32) seems to offer better generalizable models. </a:t>
            </a:r>
          </a:p>
          <a:p>
            <a:pPr lvl="1"/>
            <a:r>
              <a:rPr lang="en-CA" dirty="0"/>
              <a:t>Big batches may process </a:t>
            </a:r>
            <a:r>
              <a:rPr lang="en-CA" i="1" dirty="0"/>
              <a:t>far</a:t>
            </a:r>
            <a:r>
              <a:rPr lang="en-CA" dirty="0"/>
              <a:t> faster – better HW utilization and fewer weight updates. </a:t>
            </a:r>
          </a:p>
          <a:p>
            <a:pPr lvl="2"/>
            <a:r>
              <a:rPr lang="en-CA" dirty="0"/>
              <a:t>Think – weight matrix per layer is </a:t>
            </a:r>
            <a:r>
              <a:rPr lang="en-CA" dirty="0" err="1"/>
              <a:t>input_size</a:t>
            </a:r>
            <a:r>
              <a:rPr lang="en-CA" dirty="0"/>
              <a:t> * </a:t>
            </a:r>
            <a:r>
              <a:rPr lang="en-CA" dirty="0" err="1"/>
              <a:t>output_size</a:t>
            </a:r>
            <a:r>
              <a:rPr lang="en-CA" dirty="0"/>
              <a:t>. 512 * 512 = ~250k updates</a:t>
            </a:r>
          </a:p>
        </p:txBody>
      </p:sp>
    </p:spTree>
    <p:extLst>
      <p:ext uri="{BB962C8B-B14F-4D97-AF65-F5344CB8AC3E}">
        <p14:creationId xmlns:p14="http://schemas.microsoft.com/office/powerpoint/2010/main" val="15899372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86ED5-DCBC-44E8-A70B-39E557577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Optimizer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CD011-BB37-4394-B021-0011F0FE5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4871" y="1853754"/>
            <a:ext cx="10637134" cy="4199727"/>
          </a:xfrm>
        </p:spPr>
        <p:txBody>
          <a:bodyPr>
            <a:normAutofit/>
          </a:bodyPr>
          <a:lstStyle/>
          <a:p>
            <a:r>
              <a:rPr lang="en-CA" dirty="0"/>
              <a:t>The optimizer is the algorithm used for gradient descent. </a:t>
            </a:r>
          </a:p>
          <a:p>
            <a:r>
              <a:rPr lang="en-CA" dirty="0"/>
              <a:t>The internal details aren’t super important for us, at least for now. </a:t>
            </a:r>
          </a:p>
          <a:p>
            <a:r>
              <a:rPr lang="en-CA" dirty="0"/>
              <a:t>Adam is the most common and is a good choice for most scenarios:</a:t>
            </a:r>
          </a:p>
          <a:p>
            <a:pPr lvl="1"/>
            <a:r>
              <a:rPr lang="en-CA" dirty="0"/>
              <a:t>Converges efficiently – manages different rates for each gradient. </a:t>
            </a:r>
          </a:p>
          <a:p>
            <a:pPr lvl="1"/>
            <a:r>
              <a:rPr lang="en-CA" dirty="0"/>
              <a:t>Computation and memory efficient. </a:t>
            </a:r>
          </a:p>
          <a:p>
            <a:pPr lvl="1"/>
            <a:r>
              <a:rPr lang="en-CA" dirty="0"/>
              <a:t>Adapts separate learning rates for each parameter using moving averages of several moments. </a:t>
            </a:r>
          </a:p>
          <a:p>
            <a:pPr lvl="1"/>
            <a:r>
              <a:rPr lang="en-CA" dirty="0"/>
              <a:t>Tends to not be too negatively impacted by parameters or different data – defaults work well. </a:t>
            </a:r>
          </a:p>
          <a:p>
            <a:r>
              <a:rPr lang="en-CA" dirty="0"/>
              <a:t>The actual best performer depends on model complexity, data, and the shape of the gradient curve. </a:t>
            </a:r>
          </a:p>
          <a:p>
            <a:r>
              <a:rPr lang="en-CA" dirty="0"/>
              <a:t>There’s several variants similar-</a:t>
            </a:r>
            <a:r>
              <a:rPr lang="en-CA" dirty="0" err="1"/>
              <a:t>ish</a:t>
            </a:r>
            <a:r>
              <a:rPr lang="en-CA" dirty="0"/>
              <a:t> to Adam, simpler SGD may perform better on ‘simple’ NN.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3755853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C1114-4D16-EF61-1F14-4A567F098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78321-D7FF-270A-04A9-698E12B15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 logistic regression the ‘descent’ part of </a:t>
            </a:r>
            <a:r>
              <a:rPr lang="en-US" dirty="0" err="1"/>
              <a:t>g.d.</a:t>
            </a:r>
            <a:r>
              <a:rPr lang="en-US" dirty="0"/>
              <a:t> is pretty simple. </a:t>
            </a:r>
          </a:p>
          <a:p>
            <a:r>
              <a:rPr lang="en-US" dirty="0"/>
              <a:t>In a 20 million dimension plane, it is much less simple. </a:t>
            </a:r>
          </a:p>
          <a:p>
            <a:r>
              <a:rPr lang="en-US" dirty="0"/>
              <a:t>We are (potentially) in a real time crunch, processing can be measured in weeks. </a:t>
            </a:r>
          </a:p>
          <a:p>
            <a:r>
              <a:rPr lang="en-US" dirty="0"/>
              <a:t>We need something that is efficient, even if every process will result in the same answer. </a:t>
            </a:r>
          </a:p>
          <a:p>
            <a:r>
              <a:rPr lang="en-US" dirty="0"/>
              <a:t>Not converging fast enough to be usable is a real concern with NN. </a:t>
            </a:r>
          </a:p>
        </p:txBody>
      </p:sp>
    </p:spTree>
    <p:extLst>
      <p:ext uri="{BB962C8B-B14F-4D97-AF65-F5344CB8AC3E}">
        <p14:creationId xmlns:p14="http://schemas.microsoft.com/office/powerpoint/2010/main" val="540150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9B189-F7E1-5E56-B2FD-E49380FAA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Activation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F3FC8-DD48-1402-F862-D5BE1775B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Activation Functions in Neural Networks | by Faseeh Ur Rehman | Medium">
            <a:extLst>
              <a:ext uri="{FF2B5EF4-FFF2-40B4-BE49-F238E27FC236}">
                <a16:creationId xmlns:a16="http://schemas.microsoft.com/office/drawing/2014/main" id="{0E6D0D26-280A-271E-0388-76218952B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3221" y="1853754"/>
            <a:ext cx="8399990" cy="4842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04378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2CAF9-B4E1-4729-88E5-0D11190C3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CA" dirty="0"/>
              <a:t>Activation Functions (Hidden Layers)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19EF6-C3D4-4F7E-9535-A7B288B59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853754"/>
            <a:ext cx="7380663" cy="4331146"/>
          </a:xfrm>
        </p:spPr>
        <p:txBody>
          <a:bodyPr>
            <a:normAutofit/>
          </a:bodyPr>
          <a:lstStyle/>
          <a:p>
            <a:r>
              <a:rPr lang="en-CA" sz="2400" dirty="0"/>
              <a:t>Activation functions “squish” the linear combination in a neuron into an output. </a:t>
            </a:r>
          </a:p>
          <a:p>
            <a:r>
              <a:rPr lang="en-CA" sz="2400" dirty="0"/>
              <a:t>Typically use defaults/variants per layer/model type. </a:t>
            </a:r>
          </a:p>
          <a:p>
            <a:r>
              <a:rPr lang="en-CA" sz="2400" dirty="0"/>
              <a:t>They provide non-linearity that neural networks need. </a:t>
            </a:r>
          </a:p>
          <a:p>
            <a:pPr lvl="1"/>
            <a:r>
              <a:rPr lang="en-CA" sz="2000" dirty="0"/>
              <a:t>No activation function = giant, complex, linear regression. </a:t>
            </a:r>
          </a:p>
          <a:p>
            <a:r>
              <a:rPr lang="en-CA" sz="2400" dirty="0" err="1"/>
              <a:t>ReLU</a:t>
            </a:r>
            <a:r>
              <a:rPr lang="en-CA" sz="2400" dirty="0"/>
              <a:t> – Rectified Linear Unit has been our default. </a:t>
            </a:r>
          </a:p>
          <a:p>
            <a:pPr lvl="1"/>
            <a:r>
              <a:rPr lang="en-CA" sz="2000" dirty="0"/>
              <a:t>Efficient computations, converges quickly in most cases.  </a:t>
            </a:r>
          </a:p>
          <a:p>
            <a:pPr lvl="1"/>
            <a:r>
              <a:rPr lang="en-CA" sz="2000" dirty="0"/>
              <a:t>Acts as a trigger – suppresses negative inputs, passes positive.</a:t>
            </a:r>
          </a:p>
          <a:p>
            <a:pPr lvl="1"/>
            <a:endParaRPr lang="LID4096" sz="2000"/>
          </a:p>
        </p:txBody>
      </p:sp>
      <p:pic>
        <p:nvPicPr>
          <p:cNvPr id="3074" name="Picture 2" descr="ReLU activation function | Download Scientific Diagram">
            <a:extLst>
              <a:ext uri="{FF2B5EF4-FFF2-40B4-BE49-F238E27FC236}">
                <a16:creationId xmlns:a16="http://schemas.microsoft.com/office/drawing/2014/main" id="{E7C9D5E8-0E5D-8E4F-A19A-AEB80452F3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28756" y="2237191"/>
            <a:ext cx="4063244" cy="3532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32174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A3034-5991-1529-6F29-8F3B63495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Activation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EEFCC-F71B-3CFB-602F-68CC82543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0372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EE14E-690A-82ED-BE86-623C5E683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Vanishing Gradients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86E47-D960-F541-FC0B-79C8E2401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53752"/>
            <a:ext cx="6792685" cy="419972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Recall – gradient descent attributes error to different weights using the gradient (slope of the cost cure </a:t>
            </a:r>
            <a:r>
              <a:rPr lang="en-US" dirty="0" err="1"/>
              <a:t>w.r.t.</a:t>
            </a:r>
            <a:r>
              <a:rPr lang="en-US" dirty="0"/>
              <a:t> that weight). </a:t>
            </a:r>
          </a:p>
          <a:p>
            <a:pPr>
              <a:lnSpc>
                <a:spcPct val="110000"/>
              </a:lnSpc>
            </a:pPr>
            <a:r>
              <a:rPr lang="en-US" dirty="0"/>
              <a:t>Recall some neural network training facts: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They have many weights.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Propagate loss back through all layers, and there can be many.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Often train over many rounds, and get very accurate. </a:t>
            </a:r>
          </a:p>
          <a:p>
            <a:pPr>
              <a:lnSpc>
                <a:spcPct val="110000"/>
              </a:lnSpc>
            </a:pPr>
            <a:r>
              <a:rPr lang="en-US" dirty="0"/>
              <a:t>We can encounter a problem that small changes to small numbers from small error split many ways yields tiny values.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The gradient can “vanish” if it is too small for the GD to work.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This can lead to ‘dead’ models, that can’t keep learning. </a:t>
            </a:r>
          </a:p>
          <a:p>
            <a:pPr>
              <a:lnSpc>
                <a:spcPct val="110000"/>
              </a:lnSpc>
            </a:pPr>
            <a:r>
              <a:rPr lang="en-US" dirty="0"/>
              <a:t>Exploding gradient is opposite, more common with tanh and deep networks – things grow multiplicatively. </a:t>
            </a:r>
          </a:p>
        </p:txBody>
      </p:sp>
      <p:pic>
        <p:nvPicPr>
          <p:cNvPr id="1026" name="Picture 2" descr="Vanishing and Exploding Gradients in Neural Network Models: Debugging,  Monitoring, and Fixing">
            <a:extLst>
              <a:ext uri="{FF2B5EF4-FFF2-40B4-BE49-F238E27FC236}">
                <a16:creationId xmlns:a16="http://schemas.microsoft.com/office/drawing/2014/main" id="{0B1C0D94-352B-B9A4-3AB7-311DD11AC9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5" t="3291" r="5732" b="-1"/>
          <a:stretch/>
        </p:blipFill>
        <p:spPr bwMode="auto">
          <a:xfrm>
            <a:off x="8704533" y="37570"/>
            <a:ext cx="3487467" cy="2873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6" name="Picture 2" descr="Neural Network - Exponent">
            <a:extLst>
              <a:ext uri="{FF2B5EF4-FFF2-40B4-BE49-F238E27FC236}">
                <a16:creationId xmlns:a16="http://schemas.microsoft.com/office/drawing/2014/main" id="{A5279CCD-97AE-28B3-1AAA-70AFF10ABB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4501" y="2911032"/>
            <a:ext cx="5837499" cy="3417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41961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7414F-7377-6242-8523-2FD9689DA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Dying </a:t>
            </a:r>
            <a:r>
              <a:rPr lang="en-US" dirty="0" err="1"/>
              <a:t>relu</a:t>
            </a:r>
            <a:r>
              <a:rPr lang="en-US" dirty="0"/>
              <a:t> - Weight Updates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77A05-C767-02A8-870B-D9A484944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0" y="2129742"/>
            <a:ext cx="4419600" cy="3923739"/>
          </a:xfrm>
        </p:spPr>
        <p:txBody>
          <a:bodyPr>
            <a:normAutofit/>
          </a:bodyPr>
          <a:lstStyle/>
          <a:p>
            <a:r>
              <a:rPr lang="en-US" dirty="0" err="1"/>
              <a:t>Relu</a:t>
            </a:r>
            <a:r>
              <a:rPr lang="en-US" dirty="0"/>
              <a:t> can suffer from ‘dying </a:t>
            </a:r>
            <a:r>
              <a:rPr lang="en-US" dirty="0" err="1"/>
              <a:t>relu</a:t>
            </a:r>
            <a:r>
              <a:rPr lang="en-US" dirty="0"/>
              <a:t>’. </a:t>
            </a:r>
          </a:p>
          <a:p>
            <a:r>
              <a:rPr lang="en-US" dirty="0"/>
              <a:t>It is less prone to this than others, that’s a strength. </a:t>
            </a:r>
          </a:p>
          <a:p>
            <a:r>
              <a:rPr lang="en-US" dirty="0"/>
              <a:t>Negative inputs yield 0 gradient</a:t>
            </a:r>
          </a:p>
          <a:p>
            <a:r>
              <a:rPr lang="en-US" dirty="0"/>
              <a:t>0 times anything is always 0. </a:t>
            </a:r>
          </a:p>
          <a:p>
            <a:r>
              <a:rPr lang="en-US" dirty="0"/>
              <a:t>If this happens for all inputs, the neuron may ‘die’, or become unable to ever ‘escape’.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5DD798-256E-60B2-E874-5AF3DAC6E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45917"/>
            <a:ext cx="7772400" cy="321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8010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B606A-6EBE-34A0-F1C2-6B3112E64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Keeping Gradients Graded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4A8BE-5490-F52E-ADC1-D81B54680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issues would be seen in loss as the model stopping learning. </a:t>
            </a:r>
          </a:p>
          <a:p>
            <a:pPr lvl="1"/>
            <a:r>
              <a:rPr lang="en-US" dirty="0"/>
              <a:t>This definitely isn’t the only reason!</a:t>
            </a:r>
          </a:p>
          <a:p>
            <a:r>
              <a:rPr lang="en-US" dirty="0"/>
              <a:t>There are several things that can combat this problem. </a:t>
            </a:r>
          </a:p>
          <a:p>
            <a:pPr lvl="1"/>
            <a:r>
              <a:rPr lang="en-US" dirty="0"/>
              <a:t>Activation functions – the sigmoid gradients can flatten more than others, tanh can explode, </a:t>
            </a:r>
            <a:r>
              <a:rPr lang="en-US" dirty="0" err="1"/>
              <a:t>relu</a:t>
            </a:r>
            <a:r>
              <a:rPr lang="en-US" dirty="0"/>
              <a:t> can die. </a:t>
            </a:r>
          </a:p>
          <a:p>
            <a:pPr lvl="1"/>
            <a:r>
              <a:rPr lang="en-US" dirty="0"/>
              <a:t>Batch normalization. </a:t>
            </a:r>
          </a:p>
          <a:p>
            <a:pPr lvl="2"/>
            <a:r>
              <a:rPr lang="en-US" dirty="0"/>
              <a:t>Recenter each batch, to prevent being stuck in saturated areas. </a:t>
            </a:r>
          </a:p>
        </p:txBody>
      </p:sp>
    </p:spTree>
    <p:extLst>
      <p:ext uri="{BB962C8B-B14F-4D97-AF65-F5344CB8AC3E}">
        <p14:creationId xmlns:p14="http://schemas.microsoft.com/office/powerpoint/2010/main" val="40242982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C478D-17F9-E44C-A19C-72ECD4713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Activation Functions – </a:t>
            </a:r>
            <a:r>
              <a:rPr lang="en-US" dirty="0" err="1"/>
              <a:t>Relu</a:t>
            </a:r>
            <a:r>
              <a:rPr lang="en-US" dirty="0"/>
              <a:t> Variations</a:t>
            </a:r>
          </a:p>
        </p:txBody>
      </p:sp>
      <p:pic>
        <p:nvPicPr>
          <p:cNvPr id="4098" name="Picture 2" descr="8: Illustration of output of ELU vs ReLU vs Leaky ReLU function with... |  Download Scientific Diagram">
            <a:extLst>
              <a:ext uri="{FF2B5EF4-FFF2-40B4-BE49-F238E27FC236}">
                <a16:creationId xmlns:a16="http://schemas.microsoft.com/office/drawing/2014/main" id="{28167D23-766C-0F49-9CF6-84F2EA8D7E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58" r="6709"/>
          <a:stretch/>
        </p:blipFill>
        <p:spPr bwMode="auto">
          <a:xfrm>
            <a:off x="0" y="1853754"/>
            <a:ext cx="4610638" cy="4199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CABA0-1113-1546-ABF6-995CA6EE2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6746" y="1853754"/>
            <a:ext cx="7585254" cy="4280828"/>
          </a:xfrm>
        </p:spPr>
        <p:txBody>
          <a:bodyPr>
            <a:normAutofit/>
          </a:bodyPr>
          <a:lstStyle/>
          <a:p>
            <a:r>
              <a:rPr lang="en-US" dirty="0"/>
              <a:t>To address those issues with </a:t>
            </a:r>
            <a:r>
              <a:rPr lang="en-US" dirty="0" err="1"/>
              <a:t>ReLU</a:t>
            </a:r>
            <a:r>
              <a:rPr lang="en-US" dirty="0"/>
              <a:t>, alternatives were created:</a:t>
            </a:r>
          </a:p>
          <a:p>
            <a:pPr lvl="1"/>
            <a:r>
              <a:rPr lang="en-US" dirty="0"/>
              <a:t>Notably – Leaky </a:t>
            </a:r>
            <a:r>
              <a:rPr lang="en-US" dirty="0" err="1"/>
              <a:t>ReLU</a:t>
            </a:r>
            <a:r>
              <a:rPr lang="en-US" dirty="0"/>
              <a:t> and ELU (exponential linear). </a:t>
            </a:r>
          </a:p>
          <a:p>
            <a:r>
              <a:rPr lang="en-US" dirty="0"/>
              <a:t>Each removes that 0-value range of the derivative. </a:t>
            </a:r>
          </a:p>
          <a:p>
            <a:pPr lvl="1"/>
            <a:r>
              <a:rPr lang="en-US" dirty="0"/>
              <a:t>Removes the Dying </a:t>
            </a:r>
            <a:r>
              <a:rPr lang="en-US" dirty="0" err="1"/>
              <a:t>ReLU</a:t>
            </a:r>
            <a:r>
              <a:rPr lang="en-US" dirty="0"/>
              <a:t> issue, so gradients don’t vanish as much. </a:t>
            </a:r>
          </a:p>
          <a:p>
            <a:pPr lvl="1"/>
            <a:r>
              <a:rPr lang="en-US" dirty="0"/>
              <a:t>Can help speed training, or even allow convergence at all. </a:t>
            </a:r>
          </a:p>
          <a:p>
            <a:r>
              <a:rPr lang="en-US" dirty="0" err="1"/>
              <a:t>ReLU</a:t>
            </a:r>
            <a:r>
              <a:rPr lang="en-US" dirty="0"/>
              <a:t> or a variation on it are our defaults, and normally good. </a:t>
            </a:r>
          </a:p>
          <a:p>
            <a:r>
              <a:rPr lang="en-US" dirty="0"/>
              <a:t>If using </a:t>
            </a:r>
            <a:r>
              <a:rPr lang="en-US" dirty="0" err="1"/>
              <a:t>ReLU</a:t>
            </a:r>
            <a:r>
              <a:rPr lang="en-US" dirty="0"/>
              <a:t> – reducing LR can also combat the dying issue. </a:t>
            </a:r>
          </a:p>
          <a:p>
            <a:r>
              <a:rPr lang="en-US" dirty="0"/>
              <a:t>Note – this isn’t the most likely thing to be a massive issue, the case specific defaults tend to perform well most of the type. </a:t>
            </a:r>
          </a:p>
        </p:txBody>
      </p:sp>
    </p:spTree>
    <p:extLst>
      <p:ext uri="{BB962C8B-B14F-4D97-AF65-F5344CB8AC3E}">
        <p14:creationId xmlns:p14="http://schemas.microsoft.com/office/powerpoint/2010/main" val="5875570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07B04-F2DB-98A4-D942-BFC77170B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Batch Normalization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ACB7CF9-B17A-78F0-88AC-6F1FA8C4D4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22"/>
          <a:stretch/>
        </p:blipFill>
        <p:spPr bwMode="auto">
          <a:xfrm>
            <a:off x="1" y="1853754"/>
            <a:ext cx="4902678" cy="2695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7B768-B788-7A3C-3953-7744E3C3F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8609" y="1853754"/>
            <a:ext cx="6983392" cy="4199727"/>
          </a:xfrm>
        </p:spPr>
        <p:txBody>
          <a:bodyPr>
            <a:normAutofit/>
          </a:bodyPr>
          <a:lstStyle/>
          <a:p>
            <a:r>
              <a:rPr lang="en-US" dirty="0"/>
              <a:t>Another gradient maintaining technique is batch normalization. </a:t>
            </a:r>
          </a:p>
          <a:p>
            <a:r>
              <a:rPr lang="en-US" dirty="0"/>
              <a:t>Batch normalization will shift the distribution back to “the middle”, where gradients exist. </a:t>
            </a:r>
          </a:p>
          <a:p>
            <a:pPr lvl="1"/>
            <a:r>
              <a:rPr lang="en-US" dirty="0"/>
              <a:t>“Flat” gradients may vanish – near 0/1 with sigmoid. </a:t>
            </a:r>
          </a:p>
          <a:p>
            <a:pPr lvl="1"/>
            <a:r>
              <a:rPr lang="en-US" dirty="0"/>
              <a:t>In </a:t>
            </a:r>
            <a:r>
              <a:rPr lang="en-US" dirty="0" err="1"/>
              <a:t>relu</a:t>
            </a:r>
            <a:r>
              <a:rPr lang="en-US" dirty="0"/>
              <a:t>, may die and go negative where there’s no gradient. </a:t>
            </a:r>
          </a:p>
          <a:p>
            <a:r>
              <a:rPr lang="en-US" dirty="0"/>
              <a:t>Usually applied after dense layer, but can vary. </a:t>
            </a:r>
          </a:p>
          <a:p>
            <a:r>
              <a:rPr lang="en-US" dirty="0"/>
              <a:t>Can often allow higher learning rates to work.</a:t>
            </a:r>
          </a:p>
          <a:p>
            <a:r>
              <a:rPr lang="en-US" dirty="0"/>
              <a:t>Note: we should normalize normally still.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5C0691-8F19-F627-1CEB-290C78CF3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49198"/>
            <a:ext cx="4317357" cy="230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4371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B02ED-4B2D-A4D0-9A1B-F5D886A1D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62A70-7FB5-F2DE-F3DF-7165887D4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C2DDD5C-391D-91D2-A435-8110CC3318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00175"/>
            <a:ext cx="12192000" cy="405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19997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01F95-B618-A7AB-FF6B-7AF73C219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Refresher - 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56C3E-5CAF-F8A6-E7F0-120D8C6CA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5"/>
            <a:ext cx="9603275" cy="2265242"/>
          </a:xfrm>
        </p:spPr>
        <p:txBody>
          <a:bodyPr/>
          <a:lstStyle/>
          <a:p>
            <a:r>
              <a:rPr lang="en-US" dirty="0"/>
              <a:t>We frequently/typically use some regularization in our models. </a:t>
            </a:r>
          </a:p>
          <a:p>
            <a:pPr lvl="1"/>
            <a:r>
              <a:rPr lang="en-US" dirty="0"/>
              <a:t>Semi-standard as neural networks are large and flexible, and this constrains overfit. </a:t>
            </a:r>
          </a:p>
          <a:p>
            <a:pPr lvl="1"/>
            <a:r>
              <a:rPr lang="en-US" dirty="0"/>
              <a:t>L1/L2 – works just as in regression, can be applied in layer as a hyperparameter. </a:t>
            </a:r>
          </a:p>
          <a:p>
            <a:pPr lvl="1"/>
            <a:r>
              <a:rPr lang="en-US" dirty="0"/>
              <a:t>Dropout – removes some percentage of neurons randomly each batch of </a:t>
            </a:r>
            <a:r>
              <a:rPr lang="en-US" b="1" dirty="0"/>
              <a:t>training</a:t>
            </a:r>
            <a:r>
              <a:rPr lang="en-US" dirty="0"/>
              <a:t>, forcing learning to occur on the remainder. Applied as a layer, typically round 20—40% to start. </a:t>
            </a:r>
          </a:p>
        </p:txBody>
      </p:sp>
      <p:pic>
        <p:nvPicPr>
          <p:cNvPr id="12290" name="Picture 2" descr="An illustration of the dropout mechanism within a multi-layer neural... |  Download Scientific Diagram">
            <a:extLst>
              <a:ext uri="{FF2B5EF4-FFF2-40B4-BE49-F238E27FC236}">
                <a16:creationId xmlns:a16="http://schemas.microsoft.com/office/drawing/2014/main" id="{2AB7688B-0AD0-F5E0-0253-193C85677D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1461" y="3838427"/>
            <a:ext cx="8949078" cy="2905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6472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3D8A8-1279-C44F-AB18-28BCD74E0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32690-B733-C245-A962-ECCC4BCA3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Initialization controls how the weight and bias values start. </a:t>
            </a:r>
          </a:p>
          <a:p>
            <a:r>
              <a:rPr lang="en-US" dirty="0"/>
              <a:t>Can be controlled via a parameter for each layer:</a:t>
            </a:r>
          </a:p>
          <a:p>
            <a:pPr lvl="1"/>
            <a:r>
              <a:rPr lang="en-US" dirty="0"/>
              <a:t>Weight initialization is by default is “</a:t>
            </a:r>
            <a:r>
              <a:rPr lang="en-US" dirty="0" err="1"/>
              <a:t>glorot_uniform</a:t>
            </a:r>
            <a:r>
              <a:rPr lang="en-US" dirty="0"/>
              <a:t>” – a variety of random. </a:t>
            </a:r>
          </a:p>
          <a:p>
            <a:pPr lvl="1"/>
            <a:r>
              <a:rPr lang="en-US" dirty="0"/>
              <a:t>Bias initialization defaults to 0. </a:t>
            </a:r>
          </a:p>
          <a:p>
            <a:pPr lvl="1"/>
            <a:r>
              <a:rPr lang="en-US" dirty="0"/>
              <a:t>We can preset the output layer with the log of the expectation (for logit). </a:t>
            </a:r>
          </a:p>
          <a:p>
            <a:r>
              <a:rPr lang="en-US" dirty="0"/>
              <a:t>This can help the model train – both in speed and potential for convergence. </a:t>
            </a:r>
          </a:p>
          <a:p>
            <a:r>
              <a:rPr lang="en-US" dirty="0"/>
              <a:t>Imbalanced data – the data has a “bias” to start with. </a:t>
            </a:r>
          </a:p>
          <a:p>
            <a:pPr lvl="1"/>
            <a:r>
              <a:rPr lang="en-US" dirty="0"/>
              <a:t>Set bias on output layer to the bias in the data. </a:t>
            </a:r>
          </a:p>
          <a:p>
            <a:pPr lvl="1"/>
            <a:r>
              <a:rPr lang="en-US" dirty="0"/>
              <a:t>Network doesn’t need to learn the massive shift in bias. </a:t>
            </a:r>
          </a:p>
          <a:p>
            <a:pPr lvl="1"/>
            <a:r>
              <a:rPr lang="en-US" dirty="0"/>
              <a:t>Faster convergence and more accuracy.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4448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811FD-FB04-14C3-51B0-20806479A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Networks are Flexible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F93CB-38CB-BCDC-EB9C-1D1A84E32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This isn’t near all of the things that we can change in a neural network. </a:t>
            </a:r>
          </a:p>
          <a:p>
            <a:r>
              <a:rPr lang="en-US" dirty="0"/>
              <a:t>The flexibility in their learning as they grow means that a wide range of models that are ‘good enough’ will converge on a good solution. </a:t>
            </a:r>
          </a:p>
          <a:p>
            <a:pPr lvl="1"/>
            <a:r>
              <a:rPr lang="en-US" dirty="0"/>
              <a:t>E.g. the image competition has models with widely different structures fighting for fractions of a percentage of accuracy in a task. </a:t>
            </a:r>
          </a:p>
          <a:p>
            <a:r>
              <a:rPr lang="en-US" dirty="0"/>
              <a:t>Mirror something that is known to work, unless experimenting (which is good). </a:t>
            </a:r>
          </a:p>
          <a:p>
            <a:r>
              <a:rPr lang="en-US" dirty="0"/>
              <a:t>Make reasonable choices, add some excess, regularization, and early stopping, let train. </a:t>
            </a:r>
          </a:p>
          <a:p>
            <a:pPr lvl="1"/>
            <a:r>
              <a:rPr lang="en-US" dirty="0"/>
              <a:t>Adjust from here based on what you see. </a:t>
            </a:r>
          </a:p>
          <a:p>
            <a:r>
              <a:rPr lang="en-US" dirty="0"/>
              <a:t>Finding the perfect configuration as we did with a grid becomes time impractical quickly. </a:t>
            </a:r>
          </a:p>
        </p:txBody>
      </p:sp>
    </p:spTree>
    <p:extLst>
      <p:ext uri="{BB962C8B-B14F-4D97-AF65-F5344CB8AC3E}">
        <p14:creationId xmlns:p14="http://schemas.microsoft.com/office/powerpoint/2010/main" val="29106679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056FD-E697-5353-97FE-84FF67ABB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Tuning -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4C5EC-E837-8A77-86C7-0C127E9A7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There are a huge number of things that can be changed to tune a neural network model. </a:t>
            </a:r>
          </a:p>
          <a:p>
            <a:r>
              <a:rPr lang="en-US" dirty="0"/>
              <a:t>We are focusing mainly on the ‘structure’ type of things. </a:t>
            </a:r>
          </a:p>
          <a:p>
            <a:pPr lvl="1"/>
            <a:r>
              <a:rPr lang="en-US" dirty="0"/>
              <a:t>Network size, layers, type, hyperparameters, regularizing (and similar) layers like normalization.</a:t>
            </a:r>
          </a:p>
          <a:p>
            <a:r>
              <a:rPr lang="en-US" dirty="0"/>
              <a:t>We are not really focusing on the optimization part - loss/gradient descent specific things. </a:t>
            </a:r>
          </a:p>
          <a:p>
            <a:pPr lvl="1"/>
            <a:r>
              <a:rPr lang="en-US" dirty="0"/>
              <a:t>Learning rates, momentum, optimizers. </a:t>
            </a:r>
          </a:p>
          <a:p>
            <a:pPr lvl="1"/>
            <a:r>
              <a:rPr lang="en-US" dirty="0"/>
              <a:t>This matters, but is more theoretical in theory, and scenario dependent in practice. </a:t>
            </a:r>
          </a:p>
          <a:p>
            <a:pPr lvl="1"/>
            <a:r>
              <a:rPr lang="en-US" dirty="0"/>
              <a:t>Optimization is critical as problems get larger – converging quickly, or at all, can be hard. </a:t>
            </a:r>
          </a:p>
          <a:p>
            <a:r>
              <a:rPr lang="en-US" dirty="0"/>
              <a:t>For our usage, we can mainly try different learning rates, if needed. </a:t>
            </a:r>
          </a:p>
        </p:txBody>
      </p:sp>
    </p:spTree>
    <p:extLst>
      <p:ext uri="{BB962C8B-B14F-4D97-AF65-F5344CB8AC3E}">
        <p14:creationId xmlns:p14="http://schemas.microsoft.com/office/powerpoint/2010/main" val="11490880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6F3B6-86DB-FFF0-6350-C1AA19E15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Tuning From A Loss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E008A-9A08-A25F-5145-ECD1F6B21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The loss plot is our main, but not only, tool to help tune a model. </a:t>
            </a:r>
          </a:p>
          <a:p>
            <a:r>
              <a:rPr lang="en-US" dirty="0"/>
              <a:t>None of these things are definitive, but there are things that happen often that we can look at first for a possible solution. </a:t>
            </a:r>
          </a:p>
          <a:p>
            <a:r>
              <a:rPr lang="en-US" dirty="0"/>
              <a:t>In neural networks, we must weigh against computation time – defaults are usually fast.</a:t>
            </a:r>
          </a:p>
          <a:p>
            <a:r>
              <a:rPr lang="en-US" dirty="0"/>
              <a:t>Some general things:</a:t>
            </a:r>
          </a:p>
          <a:p>
            <a:pPr lvl="1"/>
            <a:r>
              <a:rPr lang="en-US" dirty="0"/>
              <a:t>Make sure that data is scaled. </a:t>
            </a:r>
          </a:p>
          <a:p>
            <a:pPr lvl="1"/>
            <a:r>
              <a:rPr lang="en-US" dirty="0"/>
              <a:t>More complex relationships perform better with more layers. </a:t>
            </a:r>
          </a:p>
          <a:p>
            <a:pPr lvl="1"/>
            <a:r>
              <a:rPr lang="en-US" dirty="0"/>
              <a:t>The more data you have, the larger a model you’ll be able to train well. </a:t>
            </a:r>
          </a:p>
          <a:p>
            <a:pPr lvl="1"/>
            <a:r>
              <a:rPr lang="en-US" dirty="0"/>
              <a:t>Unless there’s a time constraint, let things go for lots of epochs and use early stopping. </a:t>
            </a:r>
          </a:p>
        </p:txBody>
      </p:sp>
    </p:spTree>
    <p:extLst>
      <p:ext uri="{BB962C8B-B14F-4D97-AF65-F5344CB8AC3E}">
        <p14:creationId xmlns:p14="http://schemas.microsoft.com/office/powerpoint/2010/main" val="5459483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3C63F-9FB5-15B8-6A4B-1E81EE54D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1" y="804519"/>
            <a:ext cx="7332967" cy="1049235"/>
          </a:xfrm>
        </p:spPr>
        <p:txBody>
          <a:bodyPr>
            <a:normAutofit/>
          </a:bodyPr>
          <a:lstStyle/>
          <a:p>
            <a:r>
              <a:rPr lang="en-US" dirty="0"/>
              <a:t>Training and Validation Diverge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BAF1F-B81E-7807-4D2B-D1471708A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" y="1853754"/>
            <a:ext cx="7491800" cy="4199727"/>
          </a:xfrm>
        </p:spPr>
        <p:txBody>
          <a:bodyPr>
            <a:normAutofit/>
          </a:bodyPr>
          <a:lstStyle/>
          <a:p>
            <a:r>
              <a:rPr lang="en-US" dirty="0"/>
              <a:t>Probably the most common issue is overfitting. </a:t>
            </a:r>
          </a:p>
          <a:p>
            <a:pPr lvl="1"/>
            <a:r>
              <a:rPr lang="en-US" dirty="0"/>
              <a:t>Training gets really accurate, validation is far behind. </a:t>
            </a:r>
          </a:p>
          <a:p>
            <a:pPr lvl="1"/>
            <a:r>
              <a:rPr lang="en-US" dirty="0"/>
              <a:t>Validation hits a low point, then gets worse as training improves. </a:t>
            </a:r>
          </a:p>
          <a:p>
            <a:r>
              <a:rPr lang="en-US" dirty="0"/>
              <a:t>Learns everything in training, generalizes poorly. </a:t>
            </a:r>
          </a:p>
          <a:p>
            <a:pPr lvl="1"/>
            <a:r>
              <a:rPr lang="en-US" dirty="0"/>
              <a:t>Reduce model capacity. </a:t>
            </a:r>
          </a:p>
          <a:p>
            <a:pPr lvl="1"/>
            <a:r>
              <a:rPr lang="en-US" dirty="0"/>
              <a:t>Add regularization. </a:t>
            </a:r>
          </a:p>
          <a:p>
            <a:pPr lvl="1"/>
            <a:r>
              <a:rPr lang="en-US" dirty="0"/>
              <a:t>Add dropout layers. </a:t>
            </a:r>
          </a:p>
          <a:p>
            <a:pPr lvl="1"/>
            <a:r>
              <a:rPr lang="en-US" dirty="0"/>
              <a:t>Early stopping – careful with tolerance settings. </a:t>
            </a:r>
          </a:p>
          <a:p>
            <a:pPr lvl="1"/>
            <a:r>
              <a:rPr lang="en-US" dirty="0"/>
              <a:t>Learning rate (or </a:t>
            </a:r>
            <a:r>
              <a:rPr lang="en-US" dirty="0" err="1"/>
              <a:t>lr</a:t>
            </a:r>
            <a:r>
              <a:rPr lang="en-US" dirty="0"/>
              <a:t> stuff) change – may be stuck in local minima. </a:t>
            </a:r>
          </a:p>
          <a:p>
            <a:r>
              <a:rPr lang="en-US" dirty="0"/>
              <a:t>Pattern’s quite normal – gap </a:t>
            </a:r>
            <a:r>
              <a:rPr lang="en-US" dirty="0" err="1"/>
              <a:t>btwn</a:t>
            </a:r>
            <a:r>
              <a:rPr lang="en-US" dirty="0"/>
              <a:t> curves is potential improvement.</a:t>
            </a:r>
          </a:p>
          <a:p>
            <a:pPr lvl="1"/>
            <a:endParaRPr lang="en-US" dirty="0"/>
          </a:p>
        </p:txBody>
      </p:sp>
      <p:pic>
        <p:nvPicPr>
          <p:cNvPr id="3078" name="Picture 6" descr="loss_plot2">
            <a:extLst>
              <a:ext uri="{FF2B5EF4-FFF2-40B4-BE49-F238E27FC236}">
                <a16:creationId xmlns:a16="http://schemas.microsoft.com/office/drawing/2014/main" id="{92286DBD-2A5C-7407-71CB-CE4E72635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9668" y="-5209"/>
            <a:ext cx="4669714" cy="371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convolutional neural network - Not smooth validation accuracy vs test  accuracy. When to stop - Cross Validated">
            <a:extLst>
              <a:ext uri="{FF2B5EF4-FFF2-40B4-BE49-F238E27FC236}">
                <a16:creationId xmlns:a16="http://schemas.microsoft.com/office/drawing/2014/main" id="{96EF1CF0-3803-E2D6-331A-7ACD852A67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 bwMode="auto">
          <a:xfrm>
            <a:off x="7504418" y="3565556"/>
            <a:ext cx="4674964" cy="3292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67051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E85F9-9ED0-4691-4FC2-91DA448CA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062" y="804519"/>
            <a:ext cx="5982791" cy="1049235"/>
          </a:xfrm>
        </p:spPr>
        <p:txBody>
          <a:bodyPr/>
          <a:lstStyle/>
          <a:p>
            <a:r>
              <a:rPr lang="en-US" dirty="0"/>
              <a:t>Unstable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08040-CDB1-E57F-C6A9-C3F839E24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4990" y="1853754"/>
            <a:ext cx="7607011" cy="419972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Unstable results can have several causes. </a:t>
            </a:r>
          </a:p>
          <a:p>
            <a:r>
              <a:rPr lang="en-US" dirty="0"/>
              <a:t>Model’s accuracy swings wildly between tests. </a:t>
            </a:r>
          </a:p>
          <a:p>
            <a:pPr lvl="1"/>
            <a:r>
              <a:rPr lang="en-US" dirty="0"/>
              <a:t>Data processing – outliers, scaling. </a:t>
            </a:r>
          </a:p>
          <a:p>
            <a:pPr lvl="1"/>
            <a:r>
              <a:rPr lang="en-US" dirty="0"/>
              <a:t>Data size – overall and validation set size. </a:t>
            </a:r>
          </a:p>
          <a:p>
            <a:pPr lvl="1"/>
            <a:r>
              <a:rPr lang="en-US" dirty="0"/>
              <a:t>Is the data representative, and are train/test splits balanced*. </a:t>
            </a:r>
          </a:p>
          <a:p>
            <a:pPr lvl="1"/>
            <a:r>
              <a:rPr lang="en-US" dirty="0"/>
              <a:t>Increase batch size. </a:t>
            </a:r>
          </a:p>
          <a:p>
            <a:pPr lvl="1"/>
            <a:r>
              <a:rPr lang="en-US" dirty="0"/>
              <a:t>Learning rate things – may be ‘jumping around’ instead of converging. </a:t>
            </a:r>
          </a:p>
          <a:p>
            <a:pPr lvl="1"/>
            <a:r>
              <a:rPr lang="en-US" dirty="0"/>
              <a:t>Initialization (potentially bottom picture). </a:t>
            </a:r>
          </a:p>
          <a:p>
            <a:r>
              <a:rPr lang="en-US" dirty="0"/>
              <a:t>This can be hard to stop in small data sets – don’t worry too much. </a:t>
            </a:r>
          </a:p>
          <a:p>
            <a:r>
              <a:rPr lang="en-US" dirty="0"/>
              <a:t>Some instability can happen, if it flattens then it’s probably ok. </a:t>
            </a:r>
          </a:p>
          <a:p>
            <a:pPr lvl="1"/>
            <a:r>
              <a:rPr lang="en-US" dirty="0"/>
              <a:t>Be aware of scale – if loss difference is small, you might just be zoomed. 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44F4A06-1C99-2509-308A-618ADE2751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25858"/>
            <a:ext cx="4576190" cy="3432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Example of Train and Validation Learning Curves Showing a Validation Dataset That May Be too Small Relative to the Training Dataset">
            <a:extLst>
              <a:ext uri="{FF2B5EF4-FFF2-40B4-BE49-F238E27FC236}">
                <a16:creationId xmlns:a16="http://schemas.microsoft.com/office/drawing/2014/main" id="{42542716-1765-F8CE-D0F9-D468DA8489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0" y="-3143"/>
            <a:ext cx="4576190" cy="3432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77266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70620-C2D9-9998-496E-8ED595B5A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04519"/>
            <a:ext cx="11054854" cy="1049235"/>
          </a:xfrm>
        </p:spPr>
        <p:txBody>
          <a:bodyPr/>
          <a:lstStyle/>
          <a:p>
            <a:r>
              <a:rPr lang="en-US" dirty="0"/>
              <a:t>Close/Inverted lines or still Falling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A53F0-A930-C013-D6B5-C9331328C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13" y="1853754"/>
            <a:ext cx="7689749" cy="4199727"/>
          </a:xfrm>
        </p:spPr>
        <p:txBody>
          <a:bodyPr>
            <a:normAutofit/>
          </a:bodyPr>
          <a:lstStyle/>
          <a:p>
            <a:r>
              <a:rPr lang="en-US" sz="2400" dirty="0"/>
              <a:t>Plots still improving are still learning - underfit. </a:t>
            </a:r>
          </a:p>
          <a:p>
            <a:pPr lvl="1"/>
            <a:r>
              <a:rPr lang="en-US" sz="2200" dirty="0"/>
              <a:t>Train/</a:t>
            </a:r>
            <a:r>
              <a:rPr lang="en-US" sz="2200" dirty="0" err="1"/>
              <a:t>val</a:t>
            </a:r>
            <a:r>
              <a:rPr lang="en-US" sz="2200" dirty="0"/>
              <a:t> performance is similar/inverted</a:t>
            </a:r>
          </a:p>
          <a:p>
            <a:pPr lvl="1"/>
            <a:r>
              <a:rPr lang="en-US" sz="2200" dirty="0"/>
              <a:t>Still improving at the end of training</a:t>
            </a:r>
          </a:p>
          <a:p>
            <a:r>
              <a:rPr lang="en-US" sz="2400" dirty="0"/>
              <a:t>The model could learn more, may be underfit:</a:t>
            </a:r>
          </a:p>
          <a:p>
            <a:pPr lvl="1"/>
            <a:r>
              <a:rPr lang="en-US" sz="2000" dirty="0"/>
              <a:t>More capacity and more training, higher LR if improvement stays.</a:t>
            </a:r>
          </a:p>
          <a:p>
            <a:pPr lvl="1"/>
            <a:r>
              <a:rPr lang="en-US" sz="2000" dirty="0"/>
              <a:t>Reduce regularization strength if it is high. </a:t>
            </a:r>
          </a:p>
          <a:p>
            <a:pPr lvl="1"/>
            <a:r>
              <a:rPr lang="en-US" sz="2000" dirty="0"/>
              <a:t>Easy speed-up (if needed) – bigger batches. </a:t>
            </a:r>
          </a:p>
          <a:p>
            <a:pPr lvl="1"/>
            <a:r>
              <a:rPr lang="en-US" sz="2000" dirty="0"/>
              <a:t>*The absolute loss in the bottom one is too low to be a great example, picture that shape, with more loss. </a:t>
            </a:r>
          </a:p>
        </p:txBody>
      </p:sp>
      <p:pic>
        <p:nvPicPr>
          <p:cNvPr id="5122" name="Picture 2" descr="Example of Training Learning Curve Showing an Underfit Model That Does Not Have Sufficient Capacity">
            <a:extLst>
              <a:ext uri="{FF2B5EF4-FFF2-40B4-BE49-F238E27FC236}">
                <a16:creationId xmlns:a16="http://schemas.microsoft.com/office/drawing/2014/main" id="{09369800-036B-26A2-4895-F337E887DD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67"/>
          <a:stretch/>
        </p:blipFill>
        <p:spPr bwMode="auto">
          <a:xfrm>
            <a:off x="7933954" y="0"/>
            <a:ext cx="425804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986565FD-87F0-6D30-D038-1432E00FD0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7933954" y="3617115"/>
            <a:ext cx="4258046" cy="3240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65250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A2BB7-9D25-881C-AB2D-03DB837BC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Plot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B7535-1BA6-A6AB-5A93-A8F89E81A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5"/>
            <a:ext cx="9603275" cy="2471738"/>
          </a:xfrm>
        </p:spPr>
        <p:txBody>
          <a:bodyPr/>
          <a:lstStyle/>
          <a:p>
            <a:r>
              <a:rPr lang="en-US" dirty="0"/>
              <a:t>We always generate loss plots and they’re the starting point for tuning. </a:t>
            </a:r>
          </a:p>
          <a:p>
            <a:r>
              <a:rPr lang="en-US" dirty="0"/>
              <a:t>The patterns and suggestions aren’t definitive – things are still highly variable per model. </a:t>
            </a:r>
          </a:p>
          <a:p>
            <a:r>
              <a:rPr lang="en-US" dirty="0"/>
              <a:t>All of these changes will impact each other, so they’re hard to predict if done in concert. </a:t>
            </a:r>
          </a:p>
          <a:p>
            <a:r>
              <a:rPr lang="en-US" dirty="0"/>
              <a:t>You want to do this on the loss plot – not accuracy plot.</a:t>
            </a:r>
          </a:p>
          <a:p>
            <a:pPr lvl="1"/>
            <a:r>
              <a:rPr lang="en-US" dirty="0"/>
              <a:t>Remember 51%/49% and 99%/1% confidence have the same accuracy score.</a:t>
            </a:r>
          </a:p>
        </p:txBody>
      </p:sp>
      <p:pic>
        <p:nvPicPr>
          <p:cNvPr id="7170" name="Picture 2" descr="neural network - Loss &amp; accuracy - Are these reasonable learning curves? -  Stack Overflow">
            <a:extLst>
              <a:ext uri="{FF2B5EF4-FFF2-40B4-BE49-F238E27FC236}">
                <a16:creationId xmlns:a16="http://schemas.microsoft.com/office/drawing/2014/main" id="{95BF78F0-D5D1-2624-C8BD-28D3181287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27" t="7340" r="8125" b="5221"/>
          <a:stretch/>
        </p:blipFill>
        <p:spPr bwMode="auto">
          <a:xfrm>
            <a:off x="3498972" y="4213148"/>
            <a:ext cx="5194055" cy="2644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90735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821FD-BAD1-3761-0267-ABFECE7EB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Training is Unpredictable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EC68A-6E10-A3D4-AB8A-E82B47107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4319" y="1853754"/>
            <a:ext cx="5787181" cy="4199727"/>
          </a:xfrm>
        </p:spPr>
        <p:txBody>
          <a:bodyPr/>
          <a:lstStyle/>
          <a:p>
            <a:r>
              <a:rPr lang="en-US" dirty="0"/>
              <a:t>The training of these models can be unpredictable, especially with complex ones. </a:t>
            </a:r>
          </a:p>
          <a:p>
            <a:pPr lvl="1"/>
            <a:r>
              <a:rPr lang="en-US" dirty="0"/>
              <a:t>There are many variables that impact the model. </a:t>
            </a:r>
          </a:p>
          <a:p>
            <a:pPr lvl="1"/>
            <a:r>
              <a:rPr lang="en-US" dirty="0"/>
              <a:t>There’s randomness. </a:t>
            </a:r>
          </a:p>
          <a:p>
            <a:r>
              <a:rPr lang="en-US" dirty="0"/>
              <a:t>I got one execution that looked like that. </a:t>
            </a:r>
          </a:p>
          <a:p>
            <a:pPr lvl="1"/>
            <a:r>
              <a:rPr lang="en-US" dirty="0"/>
              <a:t>Validation accuracy went from 93% to 23% to 93%. </a:t>
            </a:r>
          </a:p>
          <a:p>
            <a:r>
              <a:rPr lang="en-US" dirty="0"/>
              <a:t>The loss curve is not convex and simple. </a:t>
            </a:r>
          </a:p>
          <a:p>
            <a:pPr lvl="1"/>
            <a:r>
              <a:rPr lang="en-US" dirty="0"/>
              <a:t>Sometimes the results wander quite a lot. </a:t>
            </a:r>
          </a:p>
          <a:p>
            <a:pPr lvl="1"/>
            <a:r>
              <a:rPr lang="en-US" dirty="0"/>
              <a:t>This is where having the optimizer stuff right shows.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A53C01-06F5-4B31-5423-712113C1A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500" y="1510702"/>
            <a:ext cx="5270500" cy="3035300"/>
          </a:xfrm>
          <a:prstGeom prst="rect">
            <a:avLst/>
          </a:prstGeom>
        </p:spPr>
      </p:pic>
      <p:pic>
        <p:nvPicPr>
          <p:cNvPr id="13314" name="Picture 2" descr="Why is my validation loss lower than my training loss? - PyImageSearch">
            <a:extLst>
              <a:ext uri="{FF2B5EF4-FFF2-40B4-BE49-F238E27FC236}">
                <a16:creationId xmlns:a16="http://schemas.microsoft.com/office/drawing/2014/main" id="{FA9E7573-3F3F-1D17-199E-4DC1C9F07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4881" y="4543385"/>
            <a:ext cx="4037119" cy="2314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08087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B9964-3340-F14A-ACF7-EC8ED9BC8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0AA7B-21C6-0E42-874B-B074C1D1E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10593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Neural networks can get very large!</a:t>
            </a:r>
          </a:p>
          <a:p>
            <a:r>
              <a:rPr lang="en-US" dirty="0"/>
              <a:t>Like a tree, a trained network may contain parts that aren’t super critical in making predictions. </a:t>
            </a:r>
          </a:p>
          <a:p>
            <a:pPr lvl="1"/>
            <a:r>
              <a:rPr lang="en-US" dirty="0"/>
              <a:t>As an example, think of “dying </a:t>
            </a:r>
            <a:r>
              <a:rPr lang="en-US" dirty="0" err="1"/>
              <a:t>relu</a:t>
            </a:r>
            <a:r>
              <a:rPr lang="en-US" dirty="0"/>
              <a:t>” neurons. </a:t>
            </a:r>
          </a:p>
          <a:p>
            <a:r>
              <a:rPr lang="en-US" dirty="0"/>
              <a:t>Pruning can trim a network back by making it more sparse. </a:t>
            </a:r>
          </a:p>
          <a:p>
            <a:r>
              <a:rPr lang="en-US" dirty="0"/>
              <a:t>Can potentially improve generalization – just as tree pruning does. </a:t>
            </a:r>
          </a:p>
          <a:p>
            <a:r>
              <a:rPr lang="en-US" dirty="0"/>
              <a:t>Allows networks to be used for prediction with fewer computations. </a:t>
            </a:r>
          </a:p>
          <a:p>
            <a:pPr lvl="1"/>
            <a:r>
              <a:rPr lang="en-US" dirty="0"/>
              <a:t>Predictions on a computer: one forward propagation, relatively simple. </a:t>
            </a:r>
          </a:p>
          <a:p>
            <a:pPr lvl="1"/>
            <a:r>
              <a:rPr lang="en-US" dirty="0"/>
              <a:t>Predictions on a phone/raspberry pi/Roomba/drone, can be challenging. </a:t>
            </a:r>
          </a:p>
          <a:p>
            <a:pPr lvl="1"/>
            <a:r>
              <a:rPr lang="en-US" dirty="0"/>
              <a:t>Pruned models require less processing and less memory, can be used on more devices. </a:t>
            </a:r>
          </a:p>
        </p:txBody>
      </p:sp>
    </p:spTree>
    <p:extLst>
      <p:ext uri="{BB962C8B-B14F-4D97-AF65-F5344CB8AC3E}">
        <p14:creationId xmlns:p14="http://schemas.microsoft.com/office/powerpoint/2010/main" val="17732652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815EB-83BE-8102-1A7B-F685E8645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RayTune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33832-984D-A311-6777-FBB08A772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53754"/>
            <a:ext cx="6791089" cy="4199727"/>
          </a:xfrm>
        </p:spPr>
        <p:txBody>
          <a:bodyPr/>
          <a:lstStyle/>
          <a:p>
            <a:r>
              <a:rPr lang="en-US" dirty="0"/>
              <a:t>Hyperparameter tuning is more involved than a grid search. </a:t>
            </a:r>
          </a:p>
          <a:p>
            <a:pPr lvl="1"/>
            <a:r>
              <a:rPr lang="en-US" dirty="0"/>
              <a:t>The concept is the same, the tools are different. </a:t>
            </a:r>
          </a:p>
          <a:p>
            <a:r>
              <a:rPr lang="en-US" dirty="0" err="1"/>
              <a:t>RayTune</a:t>
            </a:r>
            <a:r>
              <a:rPr lang="en-US" dirty="0"/>
              <a:t> allows us to setup </a:t>
            </a:r>
            <a:r>
              <a:rPr lang="en-US" dirty="0" err="1"/>
              <a:t>gridsearch</a:t>
            </a:r>
            <a:r>
              <a:rPr lang="en-US" dirty="0"/>
              <a:t>-y tuning. </a:t>
            </a:r>
          </a:p>
          <a:p>
            <a:pPr lvl="1"/>
            <a:r>
              <a:rPr lang="en-US" dirty="0"/>
              <a:t>We can control basically anything if we want. </a:t>
            </a:r>
          </a:p>
          <a:p>
            <a:r>
              <a:rPr lang="en-US" dirty="0" err="1"/>
              <a:t>RayTune</a:t>
            </a:r>
            <a:r>
              <a:rPr lang="en-US" dirty="0"/>
              <a:t> also allows for distributed tuning. </a:t>
            </a:r>
          </a:p>
          <a:p>
            <a:pPr lvl="1"/>
            <a:r>
              <a:rPr lang="en-US" dirty="0"/>
              <a:t>Train models on several systems. </a:t>
            </a:r>
          </a:p>
          <a:p>
            <a:pPr lvl="1"/>
            <a:r>
              <a:rPr lang="en-US" dirty="0"/>
              <a:t>This adds some complexity, unfortunately. </a:t>
            </a:r>
          </a:p>
          <a:p>
            <a:r>
              <a:rPr lang="en-US" dirty="0"/>
              <a:t>The idea is relatively simple, implementation may not be. </a:t>
            </a:r>
          </a:p>
          <a:p>
            <a:r>
              <a:rPr lang="en-US" dirty="0"/>
              <a:t>Provides </a:t>
            </a:r>
            <a:r>
              <a:rPr lang="en-US" dirty="0" err="1"/>
              <a:t>tensorboard</a:t>
            </a:r>
            <a:r>
              <a:rPr lang="en-US" dirty="0"/>
              <a:t> logs by default. </a:t>
            </a:r>
          </a:p>
        </p:txBody>
      </p:sp>
      <p:pic>
        <p:nvPicPr>
          <p:cNvPr id="4" name="Picture 3" descr="Ray Tune FAQ — Ray 2.54.0">
            <a:extLst>
              <a:ext uri="{FF2B5EF4-FFF2-40B4-BE49-F238E27FC236}">
                <a16:creationId xmlns:a16="http://schemas.microsoft.com/office/drawing/2014/main" id="{72FAD165-79E1-D9D9-B2B7-BF3F253425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27" r="3719"/>
          <a:stretch>
            <a:fillRect/>
          </a:stretch>
        </p:blipFill>
        <p:spPr>
          <a:xfrm>
            <a:off x="6791089" y="2037345"/>
            <a:ext cx="5386039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9254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AA7E2-974D-BF5B-D830-D1067C493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RayTune</a:t>
            </a:r>
            <a:r>
              <a:rPr lang="en-US" dirty="0"/>
              <a:t>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94532-C744-DBCF-365D-9581E52BC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0683" y="1853754"/>
            <a:ext cx="6481317" cy="4335173"/>
          </a:xfrm>
        </p:spPr>
        <p:txBody>
          <a:bodyPr/>
          <a:lstStyle/>
          <a:p>
            <a:r>
              <a:rPr lang="en-US" dirty="0"/>
              <a:t>We setup a ‘tunable’, usually* a loop. </a:t>
            </a:r>
          </a:p>
          <a:p>
            <a:pPr lvl="1"/>
            <a:r>
              <a:rPr lang="en-US" dirty="0"/>
              <a:t>This loop ‘does’ all the model stuff – create, </a:t>
            </a:r>
            <a:r>
              <a:rPr lang="en-US" dirty="0" err="1"/>
              <a:t>dataloaders</a:t>
            </a:r>
            <a:r>
              <a:rPr lang="en-US" dirty="0"/>
              <a:t>, optimizer,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The all-in-a-loop thing allows for dist. training.</a:t>
            </a:r>
          </a:p>
          <a:p>
            <a:r>
              <a:rPr lang="en-US" dirty="0"/>
              <a:t>We add variables and a </a:t>
            </a:r>
            <a:r>
              <a:rPr lang="en-US" dirty="0" err="1"/>
              <a:t>gridsearch</a:t>
            </a:r>
            <a:r>
              <a:rPr lang="en-US" dirty="0"/>
              <a:t>-y space. </a:t>
            </a:r>
          </a:p>
          <a:p>
            <a:pPr lvl="1"/>
            <a:r>
              <a:rPr lang="en-US" dirty="0"/>
              <a:t>E.g. config - </a:t>
            </a:r>
            <a:r>
              <a:rPr lang="en-US" dirty="0" err="1"/>
              <a:t>num_filters</a:t>
            </a:r>
            <a:r>
              <a:rPr lang="en-US" dirty="0"/>
              <a:t>, </a:t>
            </a:r>
            <a:r>
              <a:rPr lang="en-US" dirty="0" err="1"/>
              <a:t>dropout_rate</a:t>
            </a:r>
            <a:r>
              <a:rPr lang="en-US" dirty="0"/>
              <a:t>, </a:t>
            </a:r>
            <a:r>
              <a:rPr lang="en-US" dirty="0" err="1"/>
              <a:t>fc_size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Each run selects a value from the search space provided. </a:t>
            </a:r>
          </a:p>
          <a:p>
            <a:pPr lvl="1"/>
            <a:r>
              <a:rPr lang="en-US" dirty="0"/>
              <a:t>Select from list, number within range, random,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Can add schedulers to manage the training – e.g. cutoff bad trials early. There’s lots more, we only use a bit.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468D9F-1FCF-F023-9ECE-2B2298977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9830"/>
            <a:ext cx="5710684" cy="53081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B37C52-FF28-6620-D280-94DD179D2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6401" y="0"/>
            <a:ext cx="4395599" cy="179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4403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D06E3-E747-D735-F22D-0975BCAF2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Raytune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45783-8E67-E1C8-9D34-633455F1E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40312"/>
            <a:ext cx="10023026" cy="411316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Using </a:t>
            </a:r>
            <a:r>
              <a:rPr lang="en-US" dirty="0" err="1"/>
              <a:t>raytune</a:t>
            </a:r>
            <a:r>
              <a:rPr lang="en-US" dirty="0"/>
              <a:t> is kind of annoying at first, the capability adds some complexity. </a:t>
            </a:r>
          </a:p>
          <a:p>
            <a:pPr lvl="1"/>
            <a:r>
              <a:rPr lang="en-US" dirty="0"/>
              <a:t>Memory management and serializable errors are easy to make*. </a:t>
            </a:r>
          </a:p>
          <a:p>
            <a:pPr lvl="1"/>
            <a:r>
              <a:rPr lang="en-US" dirty="0"/>
              <a:t>There’s several ways to do things. </a:t>
            </a:r>
          </a:p>
          <a:p>
            <a:pPr lvl="1"/>
            <a:r>
              <a:rPr lang="en-US" dirty="0"/>
              <a:t>Need to allow everything to be split to different systems makes it more complex. </a:t>
            </a:r>
          </a:p>
          <a:p>
            <a:r>
              <a:rPr lang="en-US" dirty="0"/>
              <a:t>The time demands are often large, so make the search space as smart as possible. </a:t>
            </a:r>
          </a:p>
          <a:p>
            <a:pPr lvl="1"/>
            <a:r>
              <a:rPr lang="en-US" dirty="0"/>
              <a:t>Ensure GPU if on </a:t>
            </a:r>
            <a:r>
              <a:rPr lang="en-US" dirty="0" err="1"/>
              <a:t>colab</a:t>
            </a:r>
            <a:r>
              <a:rPr lang="en-US" dirty="0"/>
              <a:t>, not automatically enabled. </a:t>
            </a:r>
          </a:p>
          <a:p>
            <a:r>
              <a:rPr lang="en-US" dirty="0"/>
              <a:t>Don’t tell anyone I said this, but the infrastructure code around </a:t>
            </a:r>
            <a:r>
              <a:rPr lang="en-US" dirty="0" err="1"/>
              <a:t>raytune</a:t>
            </a:r>
            <a:r>
              <a:rPr lang="en-US" dirty="0"/>
              <a:t> is a good LLM use. </a:t>
            </a:r>
          </a:p>
          <a:p>
            <a:pPr lvl="1"/>
            <a:r>
              <a:rPr lang="en-US" dirty="0"/>
              <a:t>Along with crawling file systems, regular expressions, and UI things you rarely need. </a:t>
            </a:r>
          </a:p>
          <a:p>
            <a:pPr lvl="1"/>
            <a:r>
              <a:rPr lang="en-US" dirty="0"/>
              <a:t>You still want to define the model, search space, and datasets at a minimum. </a:t>
            </a:r>
          </a:p>
          <a:p>
            <a:pPr lvl="1"/>
            <a:r>
              <a:rPr lang="en-US" dirty="0"/>
              <a:t>The stuff around tuner, scheduler, etc... Isn’t insanely complex, but it is finicky. </a:t>
            </a:r>
          </a:p>
          <a:p>
            <a:pPr lvl="1"/>
            <a:r>
              <a:rPr lang="en-US" dirty="0"/>
              <a:t>If you understand the concept, and can adjust code, that stuff is AI-OK™ </a:t>
            </a:r>
          </a:p>
        </p:txBody>
      </p:sp>
    </p:spTree>
    <p:extLst>
      <p:ext uri="{BB962C8B-B14F-4D97-AF65-F5344CB8AC3E}">
        <p14:creationId xmlns:p14="http://schemas.microsoft.com/office/powerpoint/2010/main" val="18305153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11902-F058-D543-A654-EBFA8DD91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FE9E9-25F7-5040-BB55-69E72FC98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There are many variables in making a good neural network model. </a:t>
            </a:r>
          </a:p>
          <a:p>
            <a:pPr lvl="1"/>
            <a:r>
              <a:rPr lang="en-US" dirty="0"/>
              <a:t>Size – we need to make the model big enough to learn the data. </a:t>
            </a:r>
          </a:p>
          <a:p>
            <a:pPr lvl="1"/>
            <a:r>
              <a:rPr lang="en-US" dirty="0"/>
              <a:t>Structure – different model structures may perform better (we’ll see this next, more). </a:t>
            </a:r>
          </a:p>
          <a:p>
            <a:pPr lvl="1"/>
            <a:r>
              <a:rPr lang="en-US" dirty="0"/>
              <a:t>Regularization – L1/L2, dropout, batch normalization. </a:t>
            </a:r>
          </a:p>
          <a:p>
            <a:pPr lvl="1"/>
            <a:r>
              <a:rPr lang="en-US" dirty="0"/>
              <a:t>Training Parameters – learning rate, optimizer,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For us, we can settle on getting close, then letting things train. </a:t>
            </a:r>
          </a:p>
          <a:p>
            <a:pPr lvl="1"/>
            <a:r>
              <a:rPr lang="en-US" dirty="0"/>
              <a:t>Real model tuning like this becomes impractical at a larger scale, we don’t need to obsess. </a:t>
            </a:r>
          </a:p>
          <a:p>
            <a:pPr lvl="1"/>
            <a:r>
              <a:rPr lang="en-US" dirty="0"/>
              <a:t>There’s not one solution for what model will work. </a:t>
            </a:r>
          </a:p>
          <a:p>
            <a:pPr lvl="1"/>
            <a:r>
              <a:rPr lang="en-US" dirty="0"/>
              <a:t>We’ll later use some other tools to do grid-searches and monitor training. </a:t>
            </a:r>
          </a:p>
          <a:p>
            <a:r>
              <a:rPr lang="en-US" dirty="0"/>
              <a:t>This is less deterministic than we’d like, </a:t>
            </a:r>
            <a:r>
              <a:rPr lang="en-US"/>
              <a:t>we generally just </a:t>
            </a:r>
            <a:r>
              <a:rPr lang="en-US" dirty="0"/>
              <a:t>need to get ‘in the ballpark’. </a:t>
            </a:r>
          </a:p>
        </p:txBody>
      </p:sp>
    </p:spTree>
    <p:extLst>
      <p:ext uri="{BB962C8B-B14F-4D97-AF65-F5344CB8AC3E}">
        <p14:creationId xmlns:p14="http://schemas.microsoft.com/office/powerpoint/2010/main" val="21237463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5729CFB-13C5-7A21-4064-A5C642168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A4E9B-DE8B-9915-12E7-3361EF66F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6BFEE-90C8-13D5-BE81-E43BDE851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rmAutofit/>
          </a:bodyPr>
          <a:lstStyle/>
          <a:p>
            <a:r>
              <a:rPr lang="en-US" dirty="0"/>
              <a:t>Today (roughly chapter 4):</a:t>
            </a:r>
          </a:p>
          <a:p>
            <a:pPr lvl="1"/>
            <a:r>
              <a:rPr lang="en-US" dirty="0" err="1"/>
              <a:t>Tensorflow</a:t>
            </a:r>
            <a:r>
              <a:rPr lang="en-US" dirty="0"/>
              <a:t> and </a:t>
            </a:r>
            <a:r>
              <a:rPr lang="en-US" dirty="0" err="1"/>
              <a:t>keras</a:t>
            </a:r>
            <a:r>
              <a:rPr lang="en-US" dirty="0"/>
              <a:t> part 2. </a:t>
            </a:r>
          </a:p>
          <a:p>
            <a:pPr lvl="1"/>
            <a:r>
              <a:rPr lang="en-US" dirty="0"/>
              <a:t>Making and basic tuning of models - callbacks, results, evaluation. </a:t>
            </a:r>
          </a:p>
          <a:p>
            <a:pPr lvl="1"/>
            <a:r>
              <a:rPr lang="en-US" dirty="0"/>
              <a:t>Some things that we can change in tuning a model. </a:t>
            </a:r>
          </a:p>
          <a:p>
            <a:pPr lvl="1"/>
            <a:r>
              <a:rPr lang="en-US" dirty="0"/>
              <a:t>Using a loss plot to tune the model. </a:t>
            </a:r>
          </a:p>
          <a:p>
            <a:pPr lvl="1"/>
            <a:r>
              <a:rPr lang="en-US" dirty="0"/>
              <a:t>Assignment on neural network regression should be doable after this – it isn’t too complex.</a:t>
            </a:r>
          </a:p>
          <a:p>
            <a:pPr lvl="1"/>
            <a:r>
              <a:rPr lang="en-US" dirty="0"/>
              <a:t>Please read </a:t>
            </a:r>
            <a:r>
              <a:rPr lang="en-US" dirty="0" err="1"/>
              <a:t>recipe_tuning_neural_networks.pdf</a:t>
            </a:r>
            <a:r>
              <a:rPr lang="en-US" dirty="0"/>
              <a:t> in docs folder, it’s a version of this.  </a:t>
            </a:r>
          </a:p>
          <a:p>
            <a:r>
              <a:rPr lang="en-US" dirty="0"/>
              <a:t>Next time(s):</a:t>
            </a:r>
          </a:p>
          <a:p>
            <a:pPr lvl="1"/>
            <a:r>
              <a:rPr lang="en-US" dirty="0"/>
              <a:t>Images in 2+ dimensions in neural networks – CNNs. </a:t>
            </a:r>
          </a:p>
          <a:p>
            <a:pPr lvl="1"/>
            <a:r>
              <a:rPr lang="en-US" dirty="0"/>
              <a:t>Processing image data in a smart way – managing out of memory data and smarter datasets.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1802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6610DC4-014B-C510-988B-8F9F0029F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B4C1B-257D-0AA8-551A-861885336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BCD99-5488-769B-F278-7B6A19A74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CF0353-D3EF-4CF0-9F3D-7CBC6FE0C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51" y="804519"/>
            <a:ext cx="11987098" cy="5248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7171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E4A0CFE-631D-5CBA-BFFA-1CF9316D2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DFA70-A782-ACEA-372E-C9ECFEDC6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(Other Class) Stuff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4798C-3464-BAFA-98C1-2CBA96620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663" y="1853754"/>
            <a:ext cx="11058525" cy="4199727"/>
          </a:xfrm>
        </p:spPr>
        <p:txBody>
          <a:bodyPr>
            <a:normAutofit/>
          </a:bodyPr>
          <a:lstStyle/>
          <a:p>
            <a:r>
              <a:rPr lang="en-US" dirty="0"/>
              <a:t>If you are still doing real estate, think about large scale feature construction. </a:t>
            </a:r>
          </a:p>
          <a:p>
            <a:r>
              <a:rPr lang="en-US" dirty="0"/>
              <a:t>You can make many features from latitude and longitude that may matter. </a:t>
            </a:r>
          </a:p>
          <a:p>
            <a:pPr lvl="1"/>
            <a:r>
              <a:rPr lang="en-US" dirty="0"/>
              <a:t>I’d make a lot of them, since you have a lot of data, and let the model sort it out. </a:t>
            </a:r>
          </a:p>
          <a:p>
            <a:r>
              <a:rPr lang="en-US" dirty="0"/>
              <a:t>Directly calculable via spatial joins and spatial files you can find online (Google mapping/spatial/</a:t>
            </a:r>
            <a:r>
              <a:rPr lang="en-US" dirty="0" err="1"/>
              <a:t>gis</a:t>
            </a:r>
            <a:r>
              <a:rPr lang="en-US" dirty="0"/>
              <a:t>):</a:t>
            </a:r>
          </a:p>
          <a:p>
            <a:pPr lvl="1"/>
            <a:r>
              <a:rPr lang="en-US" dirty="0"/>
              <a:t>Distance from almost anything – roads, schools, water, commerce, neighbors, etc.</a:t>
            </a:r>
          </a:p>
          <a:p>
            <a:pPr lvl="1"/>
            <a:r>
              <a:rPr lang="en-US" dirty="0"/>
              <a:t>Stats – density, comparison to neighbors, trends, crime, construction, census data (wealth, education, etc.)</a:t>
            </a:r>
          </a:p>
          <a:p>
            <a:r>
              <a:rPr lang="en-US" dirty="0"/>
              <a:t>Calculable with potentially free services online – time to get places, real estate stuff, sun. </a:t>
            </a:r>
          </a:p>
          <a:p>
            <a:r>
              <a:rPr lang="en-US" dirty="0"/>
              <a:t>Possible with large scale scraping – real estate data, all kinds of other stuff. </a:t>
            </a:r>
          </a:p>
          <a:p>
            <a:r>
              <a:rPr lang="en-US" dirty="0"/>
              <a:t>I’d try to cast as wide a net as possible and get almost anything I could automate as a start. </a:t>
            </a:r>
          </a:p>
        </p:txBody>
      </p:sp>
    </p:spTree>
    <p:extLst>
      <p:ext uri="{BB962C8B-B14F-4D97-AF65-F5344CB8AC3E}">
        <p14:creationId xmlns:p14="http://schemas.microsoft.com/office/powerpoint/2010/main" val="42721313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1F8E4C1-0799-63B7-A5FC-37F9E76FD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D2531-2136-55D2-EB64-391DF3A37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 Assignment -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5A646-F72B-CA7B-C434-FC907E68E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The basic steps needed are:</a:t>
            </a:r>
          </a:p>
          <a:p>
            <a:pPr lvl="1"/>
            <a:r>
              <a:rPr lang="en-US" dirty="0"/>
              <a:t>Cluster the original data to break the numbers into similar groups. (k-means, other…)</a:t>
            </a:r>
          </a:p>
          <a:p>
            <a:pPr lvl="1"/>
            <a:r>
              <a:rPr lang="en-US" dirty="0"/>
              <a:t>Manually add a label – each group is similar, but we don’t know what it is a group of. </a:t>
            </a:r>
          </a:p>
          <a:p>
            <a:pPr lvl="1"/>
            <a:r>
              <a:rPr lang="en-US" dirty="0"/>
              <a:t>Now you have labeled groups of digit images. </a:t>
            </a:r>
          </a:p>
          <a:p>
            <a:pPr lvl="1"/>
            <a:r>
              <a:rPr lang="en-US" dirty="0"/>
              <a:t>Train 10 (or more) GMMs, one that ‘knows’ each number from the data used to train it. </a:t>
            </a:r>
          </a:p>
          <a:p>
            <a:pPr lvl="1"/>
            <a:r>
              <a:rPr lang="en-US" dirty="0"/>
              <a:t>When asked for a printout, ask the right GMMs for a digit each, assemble. </a:t>
            </a:r>
          </a:p>
          <a:p>
            <a:r>
              <a:rPr lang="en-US" dirty="0"/>
              <a:t>Overall, the images tend to be OK at best, some improvements:</a:t>
            </a:r>
          </a:p>
          <a:p>
            <a:pPr lvl="1"/>
            <a:r>
              <a:rPr lang="en-US" dirty="0"/>
              <a:t>Number of clusters can be &gt;10, to capture different digit variations. GMMs can as well. </a:t>
            </a:r>
          </a:p>
          <a:p>
            <a:pPr lvl="1"/>
            <a:r>
              <a:rPr lang="en-US" dirty="0"/>
              <a:t>Some cleaning/processing (PCA, feature selection, etc..) may help, requires much tuning. </a:t>
            </a:r>
          </a:p>
        </p:txBody>
      </p:sp>
    </p:spTree>
    <p:extLst>
      <p:ext uri="{BB962C8B-B14F-4D97-AF65-F5344CB8AC3E}">
        <p14:creationId xmlns:p14="http://schemas.microsoft.com/office/powerpoint/2010/main" val="350282025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D32F987-2B16-6449-8438-9D25ECBE0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206F3-0426-9D1F-04B3-9FA9A2CAD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CD6F0-30F5-5682-8151-F38CC5802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Common issues:</a:t>
            </a:r>
          </a:p>
          <a:p>
            <a:pPr lvl="1"/>
            <a:r>
              <a:rPr lang="en-US" dirty="0"/>
              <a:t>Assorted mix-ups applying labels to clusters. </a:t>
            </a:r>
          </a:p>
          <a:p>
            <a:pPr lvl="1"/>
            <a:r>
              <a:rPr lang="en-US" dirty="0"/>
              <a:t>Training GMM timing/location. </a:t>
            </a:r>
          </a:p>
          <a:p>
            <a:r>
              <a:rPr lang="en-US" dirty="0"/>
              <a:t>Adding labeling:</a:t>
            </a:r>
          </a:p>
          <a:p>
            <a:pPr lvl="1"/>
            <a:r>
              <a:rPr lang="en-US" dirty="0"/>
              <a:t>This feels weird to lots of people, but it isn’t really all that rare. (LLMs and gen models). </a:t>
            </a:r>
          </a:p>
          <a:p>
            <a:pPr lvl="1"/>
            <a:r>
              <a:rPr lang="en-US" dirty="0"/>
              <a:t>The clusters are able to be ‘pure’ on their own, but we need to add the label info ourselves. </a:t>
            </a:r>
          </a:p>
          <a:p>
            <a:pPr lvl="1"/>
            <a:r>
              <a:rPr lang="en-US" dirty="0"/>
              <a:t>This could be supplemented by other models – e.g. manually label enough, then use classifier.</a:t>
            </a:r>
          </a:p>
        </p:txBody>
      </p:sp>
    </p:spTree>
    <p:extLst>
      <p:ext uri="{BB962C8B-B14F-4D97-AF65-F5344CB8AC3E}">
        <p14:creationId xmlns:p14="http://schemas.microsoft.com/office/powerpoint/2010/main" val="36144686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83EB561-22B7-0C19-A6D1-E1FF00FBA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B67BD-6EDE-2615-1650-6EC836B683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CA" dirty="0" err="1"/>
              <a:t>Tensorflow</a:t>
            </a:r>
            <a:r>
              <a:rPr lang="en-CA" dirty="0"/>
              <a:t> and </a:t>
            </a:r>
            <a:r>
              <a:rPr lang="en-CA" dirty="0" err="1"/>
              <a:t>Keras</a:t>
            </a:r>
            <a:r>
              <a:rPr lang="en-CA" dirty="0"/>
              <a:t> Optimizations</a:t>
            </a:r>
            <a:endParaRPr lang="LID4096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B24694-2BEE-A852-4AE0-15EBE54D64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181726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F6D90A4-75ED-4559-238B-129C863AF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79189-C59C-0BB2-6D4B-304158474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Neural Network Configuration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F485D-AC1D-E276-33A0-4E5020025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CA" dirty="0"/>
              <a:t>We’ve seen that neural networks offer a large amount of flexibility in their configuration.</a:t>
            </a:r>
          </a:p>
          <a:p>
            <a:r>
              <a:rPr lang="en-CA" dirty="0"/>
              <a:t>How do we determine the optimal structure?</a:t>
            </a:r>
          </a:p>
          <a:p>
            <a:r>
              <a:rPr lang="en-CA" dirty="0"/>
              <a:t>Generally, the true answer is to grid search it. </a:t>
            </a:r>
          </a:p>
          <a:p>
            <a:r>
              <a:rPr lang="en-CA" dirty="0"/>
              <a:t>We can use some guidelines to get started in a reasonable and smart way. </a:t>
            </a:r>
          </a:p>
          <a:p>
            <a:pPr lvl="1"/>
            <a:r>
              <a:rPr lang="en-CA" dirty="0"/>
              <a:t>Problem types (image class, NLP, </a:t>
            </a:r>
            <a:r>
              <a:rPr lang="en-CA" dirty="0" err="1"/>
              <a:t>etc</a:t>
            </a:r>
            <a:r>
              <a:rPr lang="en-CA" dirty="0"/>
              <a:t>…) have architectures that work well, and most things (except innovations) are based on what worked before. </a:t>
            </a:r>
          </a:p>
          <a:p>
            <a:r>
              <a:rPr lang="en-CA" dirty="0"/>
              <a:t>This is largely getting used to </a:t>
            </a:r>
            <a:r>
              <a:rPr lang="en-CA" dirty="0" err="1"/>
              <a:t>keras</a:t>
            </a:r>
            <a:r>
              <a:rPr lang="en-CA" dirty="0"/>
              <a:t> and making adjustments there. </a:t>
            </a:r>
          </a:p>
          <a:p>
            <a:pPr lvl="1"/>
            <a:r>
              <a:rPr lang="en-CA" dirty="0"/>
              <a:t>Play around with some models, get used to syntax, try some different models. </a:t>
            </a:r>
          </a:p>
        </p:txBody>
      </p:sp>
    </p:spTree>
    <p:extLst>
      <p:ext uri="{BB962C8B-B14F-4D97-AF65-F5344CB8AC3E}">
        <p14:creationId xmlns:p14="http://schemas.microsoft.com/office/powerpoint/2010/main" val="9505961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3D5F3AB-DE40-E08A-BD61-6E79E7BD2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9C2EC-5005-E08C-3042-374615C86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428" y="804519"/>
            <a:ext cx="6556426" cy="1049235"/>
          </a:xfrm>
        </p:spPr>
        <p:txBody>
          <a:bodyPr/>
          <a:lstStyle/>
          <a:p>
            <a:r>
              <a:rPr lang="en-US" dirty="0"/>
              <a:t>Converging Loss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37980-588B-876F-F1CA-ADC8EB7A1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3735" y="1853754"/>
            <a:ext cx="7666061" cy="41997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Our main tool for monitoring training is the loss plot. </a:t>
            </a:r>
          </a:p>
          <a:p>
            <a:r>
              <a:rPr lang="en-US" dirty="0"/>
              <a:t>We are looking for, ideally, where the validation loss flattens, or minimizes and starts to increase again. </a:t>
            </a:r>
          </a:p>
          <a:p>
            <a:pPr lvl="1"/>
            <a:r>
              <a:rPr lang="en-US" dirty="0"/>
              <a:t>The more stable, the more reliable, but it won’t always get this smooth. </a:t>
            </a:r>
          </a:p>
          <a:p>
            <a:r>
              <a:rPr lang="en-US" dirty="0"/>
              <a:t>These show an accurate small and large model – small is more jumpy. </a:t>
            </a:r>
          </a:p>
          <a:p>
            <a:pPr lvl="1"/>
            <a:r>
              <a:rPr lang="en-US" dirty="0"/>
              <a:t>Error scale on Y are very small on both. </a:t>
            </a:r>
          </a:p>
          <a:p>
            <a:r>
              <a:rPr lang="en-US" dirty="0"/>
              <a:t>Training loss seems to be flattening as well – convergence. </a:t>
            </a:r>
          </a:p>
          <a:p>
            <a:pPr lvl="1"/>
            <a:r>
              <a:rPr lang="en-US" dirty="0"/>
              <a:t>The ball has found the low point of the gradient curve. </a:t>
            </a:r>
          </a:p>
          <a:p>
            <a:pPr lvl="1"/>
            <a:r>
              <a:rPr lang="en-US" dirty="0"/>
              <a:t>It may bump around a little, but we’ve found the bottom of loss. </a:t>
            </a:r>
          </a:p>
          <a:p>
            <a:r>
              <a:rPr lang="en-US" dirty="0"/>
              <a:t>The smaller the gap, the less overfitting – small and stable is ideal. </a:t>
            </a:r>
          </a:p>
        </p:txBody>
      </p:sp>
      <p:pic>
        <p:nvPicPr>
          <p:cNvPr id="6146" name="Picture 2" descr="enter image description here">
            <a:extLst>
              <a:ext uri="{FF2B5EF4-FFF2-40B4-BE49-F238E27FC236}">
                <a16:creationId xmlns:a16="http://schemas.microsoft.com/office/drawing/2014/main" id="{1BA6D63D-20A9-A1F7-35B7-B8BFCAE94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44264"/>
            <a:ext cx="4313736" cy="431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1" name="Picture 7" descr="shows the convergence of loss function over training and validation data |  Download Scientific Diagram">
            <a:hlinkClick r:id="rId3"/>
            <a:extLst>
              <a:ext uri="{FF2B5EF4-FFF2-40B4-BE49-F238E27FC236}">
                <a16:creationId xmlns:a16="http://schemas.microsoft.com/office/drawing/2014/main" id="{7CCF7220-CB88-03B2-83C9-9B5AA7DD1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313737" cy="2872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43259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CAC9B08-0F7F-624D-A637-338537BDA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5B748-ECA4-58BA-E36E-7C205A288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Network Size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262BF-EFB0-3811-01E0-011C2C943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first thing to look at is the network size, or capacity.</a:t>
            </a:r>
          </a:p>
          <a:p>
            <a:r>
              <a:rPr lang="en-CA" dirty="0"/>
              <a:t>The more neurons a network had, the higher the capacity. </a:t>
            </a:r>
          </a:p>
          <a:p>
            <a:r>
              <a:rPr lang="en-CA" dirty="0"/>
              <a:t>In general, larger networks need larger amounts of data, to find more complex relationships.  </a:t>
            </a:r>
          </a:p>
          <a:p>
            <a:r>
              <a:rPr lang="en-CA" dirty="0"/>
              <a:t>We can examine the two metrics of size:</a:t>
            </a:r>
          </a:p>
          <a:p>
            <a:pPr lvl="1"/>
            <a:r>
              <a:rPr lang="en-CA" dirty="0"/>
              <a:t>Neurons per layer (width)</a:t>
            </a:r>
          </a:p>
          <a:p>
            <a:pPr lvl="1"/>
            <a:r>
              <a:rPr lang="en-CA" dirty="0"/>
              <a:t>Number of layers (depth)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84211589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8DD7AA2-BD31-C655-2BB0-36CC6C267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DAE0E-14CB-F6AE-28D7-0932820AC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Width vs Depth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BC783-56F8-41C2-253F-D95EA2677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288629"/>
          </a:xfrm>
        </p:spPr>
        <p:txBody>
          <a:bodyPr>
            <a:normAutofit/>
          </a:bodyPr>
          <a:lstStyle/>
          <a:p>
            <a:r>
              <a:rPr lang="en-CA" dirty="0"/>
              <a:t>When we make a neural network, should we favor width or depth?</a:t>
            </a:r>
          </a:p>
          <a:p>
            <a:r>
              <a:rPr lang="en-CA" dirty="0"/>
              <a:t>In theory one hidden layer can approximate any function. </a:t>
            </a:r>
          </a:p>
          <a:p>
            <a:pPr lvl="1"/>
            <a:r>
              <a:rPr lang="en-CA" dirty="0"/>
              <a:t>Universal approximation theorem – one layer can in principle learn anything. </a:t>
            </a:r>
          </a:p>
          <a:p>
            <a:r>
              <a:rPr lang="en-CA" dirty="0"/>
              <a:t>In general, depth is preferred more often. Why?</a:t>
            </a:r>
          </a:p>
          <a:p>
            <a:pPr lvl="1"/>
            <a:r>
              <a:rPr lang="en-CA" dirty="0"/>
              <a:t>Wider networks are more prone to overfitting. </a:t>
            </a:r>
          </a:p>
          <a:p>
            <a:pPr lvl="1"/>
            <a:r>
              <a:rPr lang="en-CA" dirty="0"/>
              <a:t>Deep networks can find representations of data with each transformation (see in CNNs next)</a:t>
            </a:r>
          </a:p>
          <a:p>
            <a:pPr lvl="1"/>
            <a:r>
              <a:rPr lang="en-CA" dirty="0"/>
              <a:t>We can apply regularization or normalization between layers to counter overfitting. </a:t>
            </a:r>
          </a:p>
          <a:p>
            <a:pPr lvl="1"/>
            <a:r>
              <a:rPr lang="en-CA" dirty="0"/>
              <a:t>We can make models with more complex structure – layer types and connections. </a:t>
            </a:r>
          </a:p>
          <a:p>
            <a:pPr lvl="1"/>
            <a:r>
              <a:rPr lang="en-CA" dirty="0"/>
              <a:t>Deep networks can kind of feature select as less significant features are minimized. </a:t>
            </a:r>
          </a:p>
          <a:p>
            <a:pPr lvl="1"/>
            <a:r>
              <a:rPr lang="en-CA" dirty="0"/>
              <a:t>Data with complex relationships (’natural’ stuff) tends to do well with deep models.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90723889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9777C82-0AF8-C936-4257-E4377D4F7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93C71-3CDD-68B6-7A67-2CF77DC7F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Deep Learning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A63E4A3-08AE-EDE2-9BE1-1AF7CB276C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0" t="8581" r="4835" b="13200"/>
          <a:stretch/>
        </p:blipFill>
        <p:spPr bwMode="auto">
          <a:xfrm>
            <a:off x="114299" y="2015734"/>
            <a:ext cx="6578597" cy="3584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11B4F-7275-FFB7-931C-6AD25DCC2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2897" y="2015734"/>
            <a:ext cx="5283204" cy="4231062"/>
          </a:xfrm>
        </p:spPr>
        <p:txBody>
          <a:bodyPr>
            <a:normAutofit/>
          </a:bodyPr>
          <a:lstStyle/>
          <a:p>
            <a:r>
              <a:rPr lang="en-US" dirty="0"/>
              <a:t>For modern usage most/all of the “cool things” that AI can do is due to deep networks. </a:t>
            </a:r>
          </a:p>
          <a:p>
            <a:r>
              <a:rPr lang="en-US" dirty="0"/>
              <a:t>Reasons:</a:t>
            </a:r>
          </a:p>
          <a:p>
            <a:pPr lvl="1"/>
            <a:r>
              <a:rPr lang="en-US" dirty="0"/>
              <a:t>Layers can extract different representations of data. (More on this next time). </a:t>
            </a:r>
          </a:p>
          <a:p>
            <a:pPr lvl="1"/>
            <a:r>
              <a:rPr lang="en-US" dirty="0"/>
              <a:t>Opportunities to regularize. </a:t>
            </a:r>
          </a:p>
          <a:p>
            <a:pPr lvl="1"/>
            <a:r>
              <a:rPr lang="en-US" dirty="0"/>
              <a:t>Less overfit prone than wide models. </a:t>
            </a:r>
          </a:p>
          <a:p>
            <a:r>
              <a:rPr lang="en-US" dirty="0"/>
              <a:t>Practical evidence is that deep models are generally better.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68959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138E5A9-F0FE-0E8D-1BBD-6C5EB7CCC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F91F5-5ACF-BA4B-FE57-9AC3DD001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ImageNet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EA769-C8E0-DB01-767E-8A643B4D2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Imagenet</a:t>
            </a:r>
            <a:r>
              <a:rPr lang="en-US" dirty="0"/>
              <a:t> is a dataset developed in the late 2000s to help computer vision. </a:t>
            </a:r>
          </a:p>
          <a:p>
            <a:pPr lvl="1"/>
            <a:r>
              <a:rPr lang="en-US" dirty="0"/>
              <a:t>Thought – better dataset leads to better models. </a:t>
            </a:r>
          </a:p>
          <a:p>
            <a:r>
              <a:rPr lang="en-US" dirty="0"/>
              <a:t>Nested set of 3.2 million (initially) to over 13 million (now) images with labels. </a:t>
            </a:r>
          </a:p>
          <a:p>
            <a:pPr lvl="1"/>
            <a:r>
              <a:rPr lang="en-US" dirty="0"/>
              <a:t>Labeled largely through Mechanical Turk service. </a:t>
            </a:r>
          </a:p>
          <a:p>
            <a:pPr lvl="1"/>
            <a:r>
              <a:rPr lang="en-US" dirty="0"/>
              <a:t>Hierarchical labels – e.g. a chair is a type of furniture, a dog is an animal. </a:t>
            </a:r>
          </a:p>
          <a:p>
            <a:r>
              <a:rPr lang="en-US" dirty="0"/>
              <a:t>Became benchmark of image recognition accuracy.</a:t>
            </a:r>
          </a:p>
          <a:p>
            <a:r>
              <a:rPr lang="en-US" dirty="0"/>
              <a:t>From ~2012-2013 to ~2015-2016 networks got deeper and losses fell. </a:t>
            </a:r>
          </a:p>
          <a:p>
            <a:pPr lvl="1"/>
            <a:r>
              <a:rPr lang="en-US" dirty="0"/>
              <a:t>In addition to use of CNN architecture – next time. </a:t>
            </a:r>
          </a:p>
          <a:p>
            <a:pPr lvl="1"/>
            <a:r>
              <a:rPr lang="en-US" dirty="0"/>
              <a:t>Improved GPU speed and utilization drove success. </a:t>
            </a:r>
          </a:p>
          <a:p>
            <a:pPr lvl="1"/>
            <a:r>
              <a:rPr lang="en-US" dirty="0"/>
              <a:t>Why GPU? The multidimensional tensor operations are similar calculations to 3D space. </a:t>
            </a:r>
          </a:p>
        </p:txBody>
      </p:sp>
    </p:spTree>
    <p:extLst>
      <p:ext uri="{BB962C8B-B14F-4D97-AF65-F5344CB8AC3E}">
        <p14:creationId xmlns:p14="http://schemas.microsoft.com/office/powerpoint/2010/main" val="42538527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BED52A8-7BED-1216-CC27-EAB934AFD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ADF1B-FCB8-C7FA-2051-82ECE1A04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B429F-81A4-D839-E6DF-E7BAEC486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Recent ConvNets proposed in ILSVRC. | Download Scientific Diagram">
            <a:extLst>
              <a:ext uri="{FF2B5EF4-FFF2-40B4-BE49-F238E27FC236}">
                <a16:creationId xmlns:a16="http://schemas.microsoft.com/office/drawing/2014/main" id="{43352C13-9208-1BFC-AA67-5BFA7A71E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20417"/>
            <a:ext cx="12179576" cy="4585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514089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D30C5F3-98A3-02BC-9046-D7E3B50AB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B76C7-36BD-6A2D-C4A8-40C591769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68164-C55E-17B3-A5CD-BA68AB136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The world through the eyes of CNN. | by Shiv Vignesh | Analytics Vidhya |  Medium">
            <a:extLst>
              <a:ext uri="{FF2B5EF4-FFF2-40B4-BE49-F238E27FC236}">
                <a16:creationId xmlns:a16="http://schemas.microsoft.com/office/drawing/2014/main" id="{58F89772-AC9E-52BD-B5CC-4DCB269FD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250" y="869950"/>
            <a:ext cx="10223500" cy="511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857993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B36BCC6-611E-E37A-A99B-19A63C489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F6469-9A16-32EE-B5C4-1FD4D6B0B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205" y="804519"/>
            <a:ext cx="11462794" cy="1049235"/>
          </a:xfrm>
        </p:spPr>
        <p:txBody>
          <a:bodyPr/>
          <a:lstStyle/>
          <a:p>
            <a:r>
              <a:rPr lang="en-US" dirty="0"/>
              <a:t>Neural Nets as Feature Constructors (extractors)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433D9-9B2B-34F5-5747-C3C6786B8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5"/>
            <a:ext cx="9603275" cy="1887284"/>
          </a:xfrm>
        </p:spPr>
        <p:txBody>
          <a:bodyPr/>
          <a:lstStyle/>
          <a:p>
            <a:r>
              <a:rPr lang="en-US" dirty="0"/>
              <a:t>We can also think of a deep neural network split into two pieces:</a:t>
            </a:r>
          </a:p>
          <a:p>
            <a:pPr lvl="1"/>
            <a:r>
              <a:rPr lang="en-US" dirty="0"/>
              <a:t>The final layer to do the classification (or regression), normally called the ‘classifier’. </a:t>
            </a:r>
          </a:p>
          <a:p>
            <a:pPr lvl="1"/>
            <a:r>
              <a:rPr lang="en-US" dirty="0"/>
              <a:t>The initial layers to construct the best features that allow the classifier to be accurate. </a:t>
            </a:r>
          </a:p>
          <a:p>
            <a:r>
              <a:rPr lang="en-US" dirty="0"/>
              <a:t>Final layer is a logistic regression, other layers are a smart feature constructor. </a:t>
            </a:r>
          </a:p>
        </p:txBody>
      </p:sp>
      <p:pic>
        <p:nvPicPr>
          <p:cNvPr id="1026" name="Picture 2" descr="Deep Transfer Learning With Self-Attention for Industry Sensor Fusion Tasks  - IEEE Sensors Alert">
            <a:extLst>
              <a:ext uri="{FF2B5EF4-FFF2-40B4-BE49-F238E27FC236}">
                <a16:creationId xmlns:a16="http://schemas.microsoft.com/office/drawing/2014/main" id="{3A9A53E0-3802-183D-FE49-7D2C748E6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7031" y="3741038"/>
            <a:ext cx="8897937" cy="2943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795098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51E77E2-E3B4-7899-68BC-0AA18B410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52652-A661-93FD-760C-BAE47939B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497712"/>
            <a:ext cx="9603275" cy="833378"/>
          </a:xfrm>
        </p:spPr>
        <p:txBody>
          <a:bodyPr>
            <a:normAutofit/>
          </a:bodyPr>
          <a:lstStyle/>
          <a:p>
            <a:r>
              <a:rPr lang="en-US" dirty="0"/>
              <a:t>NN Feature Construction Vs </a:t>
            </a:r>
            <a:r>
              <a:rPr lang="en-US" dirty="0" err="1"/>
              <a:t>Pca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A7939-D16A-5DD3-250C-F6F056340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9100" y="1853754"/>
            <a:ext cx="5422900" cy="4199727"/>
          </a:xfrm>
        </p:spPr>
        <p:txBody>
          <a:bodyPr>
            <a:normAutofit/>
          </a:bodyPr>
          <a:lstStyle/>
          <a:p>
            <a:r>
              <a:rPr lang="en-US" dirty="0"/>
              <a:t>We can also picture this compared to PCA. </a:t>
            </a:r>
          </a:p>
          <a:p>
            <a:r>
              <a:rPr lang="en-US" dirty="0"/>
              <a:t>PCA does a simple linear transformation on features to generate new features that are better predictors. </a:t>
            </a:r>
          </a:p>
          <a:p>
            <a:pPr lvl="1"/>
            <a:r>
              <a:rPr lang="en-US" dirty="0"/>
              <a:t>PCA is a specific calc – it does what it does. </a:t>
            </a:r>
          </a:p>
          <a:p>
            <a:r>
              <a:rPr lang="en-US" dirty="0"/>
              <a:t>NN layers do a non-linear transformation on features to get new features that are better predictors. </a:t>
            </a:r>
          </a:p>
          <a:p>
            <a:pPr lvl="1"/>
            <a:r>
              <a:rPr lang="en-US" dirty="0"/>
              <a:t>NN training is smart, it’ll adapt each batch based on the results – the potential is far higher. </a:t>
            </a:r>
          </a:p>
        </p:txBody>
      </p:sp>
      <p:pic>
        <p:nvPicPr>
          <p:cNvPr id="10242" name="Picture 2" descr="PCA - Principal Component Analysis">
            <a:extLst>
              <a:ext uri="{FF2B5EF4-FFF2-40B4-BE49-F238E27FC236}">
                <a16:creationId xmlns:a16="http://schemas.microsoft.com/office/drawing/2014/main" id="{BBB80FD8-20B1-E44E-15CA-123BA9F28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76661"/>
            <a:ext cx="635000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Feature Extraction Network - an overview | ScienceDirect Topics">
            <a:extLst>
              <a:ext uri="{FF2B5EF4-FFF2-40B4-BE49-F238E27FC236}">
                <a16:creationId xmlns:a16="http://schemas.microsoft.com/office/drawing/2014/main" id="{48C3E897-3DAA-ABED-9AA8-D6812E5BF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72285"/>
            <a:ext cx="6769100" cy="288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409982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5292369-95D3-62F0-E43B-898E17224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BFB7E-AE61-6001-00A5-88E5D1767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So how big do I make it?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0A3F3-BC67-00ED-23D6-04B39EF07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rmAutofit/>
          </a:bodyPr>
          <a:lstStyle/>
          <a:p>
            <a:r>
              <a:rPr lang="en-CA" dirty="0"/>
              <a:t>Big enough to be capable of overfitting – don’t obsess too much on details unless bored.</a:t>
            </a:r>
          </a:p>
          <a:p>
            <a:r>
              <a:rPr lang="en-CA" dirty="0"/>
              <a:t>See more specific guidelines in workbook. </a:t>
            </a:r>
          </a:p>
          <a:p>
            <a:pPr lvl="1"/>
            <a:r>
              <a:rPr lang="en-CA" dirty="0"/>
              <a:t>Start with 1 to 3 layers the same size as the input (or ~512-768 if input is big). </a:t>
            </a:r>
          </a:p>
          <a:p>
            <a:pPr lvl="1"/>
            <a:r>
              <a:rPr lang="en-CA" dirty="0"/>
              <a:t>Add layers to overfit that are about the same size. </a:t>
            </a:r>
          </a:p>
          <a:p>
            <a:pPr lvl="1"/>
            <a:r>
              <a:rPr lang="en-CA" dirty="0"/>
              <a:t>Try with layer size “funneled” down layer by layer. </a:t>
            </a:r>
          </a:p>
          <a:p>
            <a:pPr lvl="1"/>
            <a:r>
              <a:rPr lang="en-CA" dirty="0"/>
              <a:t>Add regularization and normalization to cut overfitting. </a:t>
            </a:r>
          </a:p>
          <a:p>
            <a:pPr lvl="1"/>
            <a:r>
              <a:rPr lang="en-CA" dirty="0"/>
              <a:t>Prune network back in size, if still overfitting. </a:t>
            </a:r>
          </a:p>
          <a:p>
            <a:r>
              <a:rPr lang="en-CA" dirty="0"/>
              <a:t>A real answer is grid search, this should get us close enough to start with. </a:t>
            </a:r>
          </a:p>
          <a:p>
            <a:r>
              <a:rPr lang="en-CA" dirty="0"/>
              <a:t>If doing something big, base it off something that works and adjust as best you can.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76715863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AE73B53-A48E-5B18-ADEB-090C029CC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5BE8A-FF06-FE32-406D-64A5EF315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5B42F-618E-C8C8-69E1-77007B4A3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Improving and increasing the data size is the best possible optimization. </a:t>
            </a:r>
          </a:p>
          <a:p>
            <a:r>
              <a:rPr lang="en-US" dirty="0"/>
              <a:t>Scaling can often have large impacts:</a:t>
            </a:r>
          </a:p>
          <a:p>
            <a:pPr lvl="1"/>
            <a:r>
              <a:rPr lang="en-US" dirty="0"/>
              <a:t>Ensure outliers are handled and data is scaled. </a:t>
            </a:r>
          </a:p>
          <a:p>
            <a:r>
              <a:rPr lang="en-US" dirty="0"/>
              <a:t>If practical, increase data size – real or by augmentation (later). </a:t>
            </a:r>
          </a:p>
          <a:p>
            <a:r>
              <a:rPr lang="en-US" dirty="0"/>
              <a:t>If we have high dimension categories, that can lead to very sparse data:</a:t>
            </a:r>
          </a:p>
          <a:p>
            <a:pPr lvl="1"/>
            <a:r>
              <a:rPr lang="en-US" dirty="0"/>
              <a:t>Many high dimension categories will add lots of features to the data once encoded. </a:t>
            </a:r>
          </a:p>
          <a:p>
            <a:pPr lvl="1"/>
            <a:r>
              <a:rPr lang="en-US" dirty="0"/>
              <a:t>This will make lots of sparse data – many features with nearly zero information. </a:t>
            </a:r>
          </a:p>
          <a:p>
            <a:pPr lvl="1"/>
            <a:r>
              <a:rPr lang="en-US" dirty="0"/>
              <a:t>This isn’t </a:t>
            </a:r>
            <a:r>
              <a:rPr lang="en-US" i="1" dirty="0"/>
              <a:t>wrong</a:t>
            </a:r>
            <a:r>
              <a:rPr lang="en-US" dirty="0"/>
              <a:t> but may lead to poor and slow results, especially without many records. </a:t>
            </a:r>
          </a:p>
          <a:p>
            <a:pPr lvl="1"/>
            <a:r>
              <a:rPr lang="en-US" dirty="0"/>
              <a:t>Consider feature engineering (‘other’ group, consolidation, selection) these first.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83899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1AF9E4C-7612-E7A2-17EF-71D009388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5EB07-A840-3E3D-4FFC-013CC78A6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Epochs and Batches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683EF-FC78-724F-0EB1-2EBB85128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3907" y="1853753"/>
            <a:ext cx="10222030" cy="4199727"/>
          </a:xfrm>
        </p:spPr>
        <p:txBody>
          <a:bodyPr>
            <a:normAutofit/>
          </a:bodyPr>
          <a:lstStyle/>
          <a:p>
            <a:r>
              <a:rPr lang="en-CA" dirty="0"/>
              <a:t>Each epoch is an execution of one </a:t>
            </a:r>
            <a:r>
              <a:rPr lang="en-CA" dirty="0" err="1"/>
              <a:t>fp</a:t>
            </a:r>
            <a:r>
              <a:rPr lang="en-CA" dirty="0"/>
              <a:t>/bp through all of the data. </a:t>
            </a:r>
          </a:p>
          <a:p>
            <a:pPr lvl="1"/>
            <a:r>
              <a:rPr lang="en-CA" dirty="0"/>
              <a:t>Easiest method is to set early stopping and let the computer figure it out. </a:t>
            </a:r>
          </a:p>
          <a:p>
            <a:pPr lvl="1"/>
            <a:r>
              <a:rPr lang="en-CA" dirty="0"/>
              <a:t>Really big models might only have one epoch through the data total. </a:t>
            </a:r>
          </a:p>
          <a:p>
            <a:r>
              <a:rPr lang="en-CA" dirty="0"/>
              <a:t>Batches are how many records to process before updating weights. </a:t>
            </a:r>
          </a:p>
          <a:p>
            <a:pPr lvl="1"/>
            <a:r>
              <a:rPr lang="en-CA" dirty="0"/>
              <a:t>Just like regular gradient descent – higher is more stable, smaller more erratic. </a:t>
            </a:r>
          </a:p>
          <a:p>
            <a:pPr lvl="1"/>
            <a:r>
              <a:rPr lang="en-CA" dirty="0"/>
              <a:t>Limited at the top end by memory capacity. </a:t>
            </a:r>
          </a:p>
          <a:p>
            <a:pPr lvl="1"/>
            <a:r>
              <a:rPr lang="en-CA" dirty="0"/>
              <a:t>Large vs small is still a matter of debate and varies by data. </a:t>
            </a:r>
          </a:p>
          <a:p>
            <a:pPr lvl="1"/>
            <a:r>
              <a:rPr lang="en-CA" dirty="0"/>
              <a:t>Recently, smaller batches (as small as 2 -32) seems to offer better generalizable models. </a:t>
            </a:r>
          </a:p>
          <a:p>
            <a:pPr lvl="1"/>
            <a:r>
              <a:rPr lang="en-CA" dirty="0"/>
              <a:t>Big batches may process </a:t>
            </a:r>
            <a:r>
              <a:rPr lang="en-CA" i="1" dirty="0"/>
              <a:t>far</a:t>
            </a:r>
            <a:r>
              <a:rPr lang="en-CA" dirty="0"/>
              <a:t> faster – better HW utilization and fewer weight updates. </a:t>
            </a:r>
          </a:p>
          <a:p>
            <a:pPr lvl="2"/>
            <a:r>
              <a:rPr lang="en-CA" dirty="0"/>
              <a:t>Think – weight matrix per layer is </a:t>
            </a:r>
            <a:r>
              <a:rPr lang="en-CA" dirty="0" err="1"/>
              <a:t>input_size</a:t>
            </a:r>
            <a:r>
              <a:rPr lang="en-CA" dirty="0"/>
              <a:t> * </a:t>
            </a:r>
            <a:r>
              <a:rPr lang="en-CA" dirty="0" err="1"/>
              <a:t>output_size</a:t>
            </a:r>
            <a:r>
              <a:rPr lang="en-CA" dirty="0"/>
              <a:t>. 512 * 512 = ~250k updates</a:t>
            </a:r>
          </a:p>
        </p:txBody>
      </p:sp>
    </p:spTree>
    <p:extLst>
      <p:ext uri="{BB962C8B-B14F-4D97-AF65-F5344CB8AC3E}">
        <p14:creationId xmlns:p14="http://schemas.microsoft.com/office/powerpoint/2010/main" val="129578361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9828729-2D41-35E3-2611-3489C0500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75E10-31A2-7DAF-85A5-26040BF2B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Optimizer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AB75E-65BA-1C28-2E0C-F38796EEC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4871" y="1853754"/>
            <a:ext cx="10637134" cy="4199727"/>
          </a:xfrm>
        </p:spPr>
        <p:txBody>
          <a:bodyPr>
            <a:normAutofit/>
          </a:bodyPr>
          <a:lstStyle/>
          <a:p>
            <a:r>
              <a:rPr lang="en-CA" dirty="0"/>
              <a:t>The optimizer is the algorithm used for gradient descent. </a:t>
            </a:r>
          </a:p>
          <a:p>
            <a:r>
              <a:rPr lang="en-CA" dirty="0"/>
              <a:t>The internal details aren’t super important for us, at least for now. </a:t>
            </a:r>
          </a:p>
          <a:p>
            <a:r>
              <a:rPr lang="en-CA" dirty="0"/>
              <a:t>Adam is the most common and is a good choice for most scenarios:</a:t>
            </a:r>
          </a:p>
          <a:p>
            <a:pPr lvl="1"/>
            <a:r>
              <a:rPr lang="en-CA" dirty="0"/>
              <a:t>Converges efficiently – manages different rates for each gradient. </a:t>
            </a:r>
          </a:p>
          <a:p>
            <a:pPr lvl="1"/>
            <a:r>
              <a:rPr lang="en-CA" dirty="0"/>
              <a:t>Computation and memory efficient. </a:t>
            </a:r>
          </a:p>
          <a:p>
            <a:pPr lvl="1"/>
            <a:r>
              <a:rPr lang="en-CA" dirty="0"/>
              <a:t>Adapts separate learning rates for each parameter using moving averages of several moments. </a:t>
            </a:r>
          </a:p>
          <a:p>
            <a:pPr lvl="1"/>
            <a:r>
              <a:rPr lang="en-CA" dirty="0"/>
              <a:t>Tends to not be too negatively impacted by parameters or different data – defaults work well. </a:t>
            </a:r>
          </a:p>
          <a:p>
            <a:r>
              <a:rPr lang="en-CA" dirty="0"/>
              <a:t>The actual best performer depends on model complexity, data, and the shape of the gradient curve. </a:t>
            </a:r>
          </a:p>
          <a:p>
            <a:r>
              <a:rPr lang="en-CA" dirty="0"/>
              <a:t>There’s several variants similar-</a:t>
            </a:r>
            <a:r>
              <a:rPr lang="en-CA" dirty="0" err="1"/>
              <a:t>ish</a:t>
            </a:r>
            <a:r>
              <a:rPr lang="en-CA" dirty="0"/>
              <a:t> to Adam, simpler SGD may perform better on ‘simple’ NN.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67869384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AF5FCC6-4DCD-6EC2-C2B0-52F7A1631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B4736-B9DE-472A-BD52-1B56AFD3B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Activation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47197-965F-E923-559D-C6993801B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Activation Functions in Neural Networks | by Faseeh Ur Rehman | Medium">
            <a:extLst>
              <a:ext uri="{FF2B5EF4-FFF2-40B4-BE49-F238E27FC236}">
                <a16:creationId xmlns:a16="http://schemas.microsoft.com/office/drawing/2014/main" id="{A26D5057-2AB5-14BB-BB33-E86C6B157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3221" y="1853754"/>
            <a:ext cx="8399990" cy="4842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5218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4983D1F-E3D8-B4ED-8799-6AE31F495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C2635-BA68-10C0-9891-E8F7CAEDE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CA" dirty="0"/>
              <a:t>Activation Functions (Hidden Layers)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672AA-3423-55FC-109C-DF0305EC7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853754"/>
            <a:ext cx="7380663" cy="4331146"/>
          </a:xfrm>
        </p:spPr>
        <p:txBody>
          <a:bodyPr>
            <a:normAutofit lnSpcReduction="10000"/>
          </a:bodyPr>
          <a:lstStyle/>
          <a:p>
            <a:r>
              <a:rPr lang="en-CA" sz="2400" dirty="0"/>
              <a:t>Activation functions “squish” the linear combination in a neuron into an output. </a:t>
            </a:r>
          </a:p>
          <a:p>
            <a:r>
              <a:rPr lang="en-CA" sz="2400" dirty="0"/>
              <a:t>Assign per layer in a a parameter in </a:t>
            </a:r>
            <a:r>
              <a:rPr lang="en-CA" sz="2400" dirty="0" err="1"/>
              <a:t>keras</a:t>
            </a:r>
            <a:r>
              <a:rPr lang="en-CA" sz="2400" dirty="0"/>
              <a:t>. </a:t>
            </a:r>
          </a:p>
          <a:p>
            <a:r>
              <a:rPr lang="en-CA" sz="2400" dirty="0"/>
              <a:t>Typically use defaults/variants per layer/model type. </a:t>
            </a:r>
          </a:p>
          <a:p>
            <a:r>
              <a:rPr lang="en-CA" sz="2400" dirty="0"/>
              <a:t>They provide non-linearity that neural networks need. </a:t>
            </a:r>
          </a:p>
          <a:p>
            <a:pPr lvl="1"/>
            <a:r>
              <a:rPr lang="en-CA" sz="2000" dirty="0"/>
              <a:t>No activation function = giant, complex, linear regression. </a:t>
            </a:r>
          </a:p>
          <a:p>
            <a:r>
              <a:rPr lang="en-CA" sz="2400" dirty="0" err="1"/>
              <a:t>ReLU</a:t>
            </a:r>
            <a:r>
              <a:rPr lang="en-CA" sz="2400" dirty="0"/>
              <a:t> – Rectified Linear Unit has been our default. </a:t>
            </a:r>
          </a:p>
          <a:p>
            <a:pPr lvl="1"/>
            <a:r>
              <a:rPr lang="en-CA" sz="2000" dirty="0"/>
              <a:t>Efficient computations, converges quickly in most cases.  </a:t>
            </a:r>
          </a:p>
          <a:p>
            <a:pPr lvl="1"/>
            <a:r>
              <a:rPr lang="en-CA" sz="2000" dirty="0"/>
              <a:t>Acts as a trigger – suppresses negative inputs, passes positive.</a:t>
            </a:r>
          </a:p>
          <a:p>
            <a:pPr lvl="1"/>
            <a:endParaRPr lang="LID4096" sz="2000"/>
          </a:p>
        </p:txBody>
      </p:sp>
      <p:pic>
        <p:nvPicPr>
          <p:cNvPr id="3074" name="Picture 2" descr="ReLU activation function | Download Scientific Diagram">
            <a:extLst>
              <a:ext uri="{FF2B5EF4-FFF2-40B4-BE49-F238E27FC236}">
                <a16:creationId xmlns:a16="http://schemas.microsoft.com/office/drawing/2014/main" id="{66D2E573-6E1E-C706-BB20-7117A3409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28756" y="2237191"/>
            <a:ext cx="4063244" cy="3532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633241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837CEC5-66E3-A78D-832A-4694A78C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B041B-CE1C-EBBE-0765-69AFD0D5B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Vanishing Gradients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79AF9-F5BF-1A5B-8C3F-4F527439B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53752"/>
            <a:ext cx="6792685" cy="419972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Recall – gradient descent attributes error to different weights using the gradient (slope of the cost cure </a:t>
            </a:r>
            <a:r>
              <a:rPr lang="en-US" dirty="0" err="1"/>
              <a:t>w.r.t.</a:t>
            </a:r>
            <a:r>
              <a:rPr lang="en-US" dirty="0"/>
              <a:t> that weight). </a:t>
            </a:r>
          </a:p>
          <a:p>
            <a:pPr>
              <a:lnSpc>
                <a:spcPct val="110000"/>
              </a:lnSpc>
            </a:pPr>
            <a:r>
              <a:rPr lang="en-US" dirty="0"/>
              <a:t>Recall some neural network training facts: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They have many weights.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Propagate loss back through all layers, and there can be many.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Often train over many rounds, and get very accurate. </a:t>
            </a:r>
          </a:p>
          <a:p>
            <a:pPr>
              <a:lnSpc>
                <a:spcPct val="110000"/>
              </a:lnSpc>
            </a:pPr>
            <a:r>
              <a:rPr lang="en-US" dirty="0"/>
              <a:t>We can encounter a problem that small changes to small numbers from small error split many ways yields tiny values.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The gradient can “vanish” if it is too small for the GD to work.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This can lead to ‘dead’ models, that can’t keep learning. </a:t>
            </a:r>
          </a:p>
          <a:p>
            <a:pPr>
              <a:lnSpc>
                <a:spcPct val="110000"/>
              </a:lnSpc>
            </a:pPr>
            <a:r>
              <a:rPr lang="en-US" dirty="0"/>
              <a:t>Exploding gradient is opposite, more common with tanh and deep networks – things grow multiplicatively. </a:t>
            </a:r>
          </a:p>
        </p:txBody>
      </p:sp>
      <p:pic>
        <p:nvPicPr>
          <p:cNvPr id="1026" name="Picture 2" descr="Vanishing and Exploding Gradients in Neural Network Models: Debugging,  Monitoring, and Fixing">
            <a:extLst>
              <a:ext uri="{FF2B5EF4-FFF2-40B4-BE49-F238E27FC236}">
                <a16:creationId xmlns:a16="http://schemas.microsoft.com/office/drawing/2014/main" id="{6291DDF2-30E8-63F8-D4DA-B877D8DFDA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5" t="3291" r="5732" b="-1"/>
          <a:stretch/>
        </p:blipFill>
        <p:spPr bwMode="auto">
          <a:xfrm>
            <a:off x="8704533" y="37570"/>
            <a:ext cx="3487467" cy="2873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6" name="Picture 2" descr="Neural Network - Exponent">
            <a:extLst>
              <a:ext uri="{FF2B5EF4-FFF2-40B4-BE49-F238E27FC236}">
                <a16:creationId xmlns:a16="http://schemas.microsoft.com/office/drawing/2014/main" id="{E6692E7E-8244-D9D6-B2B4-D457776D26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4501" y="2911032"/>
            <a:ext cx="5837499" cy="3417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470031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CEE4DBE-9588-C3CB-795D-F6B1C2EF7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45FE1-B91C-0CA9-CE95-69E28E67F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Dying </a:t>
            </a:r>
            <a:r>
              <a:rPr lang="en-US" dirty="0" err="1"/>
              <a:t>relu</a:t>
            </a:r>
            <a:r>
              <a:rPr lang="en-US" dirty="0"/>
              <a:t> - Weight Updates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ACDD4-EA44-E9BE-A4B7-E95358F39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0" y="2129742"/>
            <a:ext cx="4419600" cy="3923739"/>
          </a:xfrm>
        </p:spPr>
        <p:txBody>
          <a:bodyPr>
            <a:normAutofit/>
          </a:bodyPr>
          <a:lstStyle/>
          <a:p>
            <a:r>
              <a:rPr lang="en-US" dirty="0" err="1"/>
              <a:t>Relu</a:t>
            </a:r>
            <a:r>
              <a:rPr lang="en-US" dirty="0"/>
              <a:t> can suffer from ‘dying </a:t>
            </a:r>
            <a:r>
              <a:rPr lang="en-US" dirty="0" err="1"/>
              <a:t>relu</a:t>
            </a:r>
            <a:r>
              <a:rPr lang="en-US" dirty="0"/>
              <a:t>’. </a:t>
            </a:r>
          </a:p>
          <a:p>
            <a:r>
              <a:rPr lang="en-US" dirty="0"/>
              <a:t>It is less prone to this than others, that’s a strength. </a:t>
            </a:r>
          </a:p>
          <a:p>
            <a:r>
              <a:rPr lang="en-US" dirty="0"/>
              <a:t>Negative inputs yield 0 gradient</a:t>
            </a:r>
          </a:p>
          <a:p>
            <a:r>
              <a:rPr lang="en-US" dirty="0"/>
              <a:t>0 times anything is always 0. </a:t>
            </a:r>
          </a:p>
          <a:p>
            <a:r>
              <a:rPr lang="en-US" dirty="0"/>
              <a:t>If this happens for all inputs, the neuron may ‘die’, or become unable to ever ‘escape’.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6DAD9D-4667-4B11-ED75-A52CC06F1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45917"/>
            <a:ext cx="7772400" cy="321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46411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124682C-F2C6-1A99-3D48-FB287F2A4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6E726-B3F3-18FD-59AA-FABB0962E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Keeping Gradients Graded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1CD9C-8FC8-32C7-4687-BCEE88F70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issues would be seen in loss as the model stopping learning. </a:t>
            </a:r>
          </a:p>
          <a:p>
            <a:pPr lvl="1"/>
            <a:r>
              <a:rPr lang="en-US" dirty="0"/>
              <a:t>This definitely isn’t the only reason!</a:t>
            </a:r>
          </a:p>
          <a:p>
            <a:r>
              <a:rPr lang="en-US" dirty="0"/>
              <a:t>There are several things that can combat this problem. </a:t>
            </a:r>
          </a:p>
          <a:p>
            <a:pPr lvl="1"/>
            <a:r>
              <a:rPr lang="en-US" dirty="0"/>
              <a:t>Activation functions – the sigmoid gradients can flatten more than others, tanh can explode, </a:t>
            </a:r>
            <a:r>
              <a:rPr lang="en-US" dirty="0" err="1"/>
              <a:t>relu</a:t>
            </a:r>
            <a:r>
              <a:rPr lang="en-US" dirty="0"/>
              <a:t> can die. </a:t>
            </a:r>
          </a:p>
          <a:p>
            <a:pPr lvl="1"/>
            <a:r>
              <a:rPr lang="en-US" dirty="0"/>
              <a:t>Batch normalization. </a:t>
            </a:r>
          </a:p>
        </p:txBody>
      </p:sp>
    </p:spTree>
    <p:extLst>
      <p:ext uri="{BB962C8B-B14F-4D97-AF65-F5344CB8AC3E}">
        <p14:creationId xmlns:p14="http://schemas.microsoft.com/office/powerpoint/2010/main" val="269742208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BAC7D7D-AD5B-278B-A5C0-8E3A8562D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AA6CA-908D-14FC-F730-50CF5D628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Activation Functions – </a:t>
            </a:r>
            <a:r>
              <a:rPr lang="en-US" dirty="0" err="1"/>
              <a:t>Relu</a:t>
            </a:r>
            <a:r>
              <a:rPr lang="en-US" dirty="0"/>
              <a:t> Variations</a:t>
            </a:r>
          </a:p>
        </p:txBody>
      </p:sp>
      <p:pic>
        <p:nvPicPr>
          <p:cNvPr id="4098" name="Picture 2" descr="8: Illustration of output of ELU vs ReLU vs Leaky ReLU function with... |  Download Scientific Diagram">
            <a:extLst>
              <a:ext uri="{FF2B5EF4-FFF2-40B4-BE49-F238E27FC236}">
                <a16:creationId xmlns:a16="http://schemas.microsoft.com/office/drawing/2014/main" id="{D2FFF009-9ECD-0A81-15B9-28A829D63A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58" r="6709"/>
          <a:stretch/>
        </p:blipFill>
        <p:spPr bwMode="auto">
          <a:xfrm>
            <a:off x="0" y="1853754"/>
            <a:ext cx="4610638" cy="4199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93BE9-8222-289E-EA7A-C7CE1CA1F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6746" y="1853754"/>
            <a:ext cx="7585254" cy="4280828"/>
          </a:xfrm>
        </p:spPr>
        <p:txBody>
          <a:bodyPr>
            <a:normAutofit/>
          </a:bodyPr>
          <a:lstStyle/>
          <a:p>
            <a:r>
              <a:rPr lang="en-US" dirty="0"/>
              <a:t>To address those issues with </a:t>
            </a:r>
            <a:r>
              <a:rPr lang="en-US" dirty="0" err="1"/>
              <a:t>ReLU</a:t>
            </a:r>
            <a:r>
              <a:rPr lang="en-US" dirty="0"/>
              <a:t>, alternatives were created:</a:t>
            </a:r>
          </a:p>
          <a:p>
            <a:pPr lvl="1"/>
            <a:r>
              <a:rPr lang="en-US" dirty="0"/>
              <a:t>Notably – Leaky </a:t>
            </a:r>
            <a:r>
              <a:rPr lang="en-US" dirty="0" err="1"/>
              <a:t>ReLU</a:t>
            </a:r>
            <a:r>
              <a:rPr lang="en-US" dirty="0"/>
              <a:t> and ELU (exponential linear). </a:t>
            </a:r>
          </a:p>
          <a:p>
            <a:r>
              <a:rPr lang="en-US" dirty="0"/>
              <a:t>Each removes that 0-value range of the derivative. </a:t>
            </a:r>
          </a:p>
          <a:p>
            <a:pPr lvl="1"/>
            <a:r>
              <a:rPr lang="en-US" dirty="0"/>
              <a:t>Removes the Dying </a:t>
            </a:r>
            <a:r>
              <a:rPr lang="en-US" dirty="0" err="1"/>
              <a:t>ReLU</a:t>
            </a:r>
            <a:r>
              <a:rPr lang="en-US" dirty="0"/>
              <a:t> issue, so gradients don’t vanish as much. </a:t>
            </a:r>
          </a:p>
          <a:p>
            <a:pPr lvl="1"/>
            <a:r>
              <a:rPr lang="en-US" dirty="0"/>
              <a:t>Can help speed training, or even allow convergence at all. </a:t>
            </a:r>
          </a:p>
          <a:p>
            <a:r>
              <a:rPr lang="en-US" dirty="0" err="1"/>
              <a:t>ReLU</a:t>
            </a:r>
            <a:r>
              <a:rPr lang="en-US" dirty="0"/>
              <a:t> or a variation on it are our defaults, and normally good. </a:t>
            </a:r>
          </a:p>
          <a:p>
            <a:r>
              <a:rPr lang="en-US" dirty="0"/>
              <a:t>If using </a:t>
            </a:r>
            <a:r>
              <a:rPr lang="en-US" dirty="0" err="1"/>
              <a:t>ReLU</a:t>
            </a:r>
            <a:r>
              <a:rPr lang="en-US" dirty="0"/>
              <a:t> – reducing LR can also combat the dying issue. </a:t>
            </a:r>
          </a:p>
          <a:p>
            <a:r>
              <a:rPr lang="en-US" dirty="0"/>
              <a:t>Note – this isn’t the most likely thing to be a massive issue, the case specific defaults tend to perform well most of the type. </a:t>
            </a:r>
          </a:p>
        </p:txBody>
      </p:sp>
    </p:spTree>
    <p:extLst>
      <p:ext uri="{BB962C8B-B14F-4D97-AF65-F5344CB8AC3E}">
        <p14:creationId xmlns:p14="http://schemas.microsoft.com/office/powerpoint/2010/main" val="280983001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27EBE8F-B197-0FD9-ADCB-416CF48B4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EED63-1FBE-71E4-CD2F-C07144ABA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Batch Normalization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2C967C6-A1C7-135E-7A75-C1AED2ED3C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22"/>
          <a:stretch/>
        </p:blipFill>
        <p:spPr bwMode="auto">
          <a:xfrm>
            <a:off x="1" y="1853754"/>
            <a:ext cx="4902678" cy="2695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6847F-385F-0D65-55CF-D5B225DDD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8609" y="1853754"/>
            <a:ext cx="6983392" cy="4199727"/>
          </a:xfrm>
        </p:spPr>
        <p:txBody>
          <a:bodyPr>
            <a:normAutofit/>
          </a:bodyPr>
          <a:lstStyle/>
          <a:p>
            <a:r>
              <a:rPr lang="en-US" dirty="0"/>
              <a:t>Another gradient maintaining technique is batch normalization. </a:t>
            </a:r>
          </a:p>
          <a:p>
            <a:r>
              <a:rPr lang="en-US" dirty="0"/>
              <a:t>Batch normalization will shift the distribution back to “the middle”, where gradients exist. </a:t>
            </a:r>
          </a:p>
          <a:p>
            <a:pPr lvl="1"/>
            <a:r>
              <a:rPr lang="en-US" dirty="0"/>
              <a:t>“Flat” gradients may vanish – near 0/1 with sigmoid. </a:t>
            </a:r>
          </a:p>
          <a:p>
            <a:pPr lvl="1"/>
            <a:r>
              <a:rPr lang="en-US" dirty="0"/>
              <a:t>In </a:t>
            </a:r>
            <a:r>
              <a:rPr lang="en-US" dirty="0" err="1"/>
              <a:t>relu</a:t>
            </a:r>
            <a:r>
              <a:rPr lang="en-US" dirty="0"/>
              <a:t>, may die and go negative where there’s no gradient. </a:t>
            </a:r>
          </a:p>
          <a:p>
            <a:r>
              <a:rPr lang="en-US" dirty="0"/>
              <a:t>Usually applied after dense layer, but can vary. </a:t>
            </a:r>
          </a:p>
          <a:p>
            <a:r>
              <a:rPr lang="en-US" dirty="0"/>
              <a:t>Can often allow higher learning rates to work.</a:t>
            </a:r>
          </a:p>
          <a:p>
            <a:r>
              <a:rPr lang="en-US" dirty="0"/>
              <a:t>Note: we should normalize normally still.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11D079-7864-DEAF-800B-40F874EE9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49198"/>
            <a:ext cx="4317357" cy="230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87843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30BCFB1-93A3-D992-10CC-E65DFA9AC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10EC4-7E17-4029-B9E5-0B452627F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749A9-41B2-15B2-E5FF-83E733D65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7288F0E-F332-9FD3-3451-81D0E9E12B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00175"/>
            <a:ext cx="12192000" cy="405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472193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43D5ABF-5657-35BE-B4A5-283A35486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1A7CF-C1D5-460A-1352-82FF4EF66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5BE92-8161-B87C-739D-531C8E2ED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Initialization controls how the weight and bias values start. </a:t>
            </a:r>
          </a:p>
          <a:p>
            <a:r>
              <a:rPr lang="en-US" dirty="0"/>
              <a:t>Can be controlled via a parameter for each layer:</a:t>
            </a:r>
          </a:p>
          <a:p>
            <a:pPr lvl="1"/>
            <a:r>
              <a:rPr lang="en-US" dirty="0"/>
              <a:t>Weight initialization is by default is “</a:t>
            </a:r>
            <a:r>
              <a:rPr lang="en-US" dirty="0" err="1"/>
              <a:t>glorot_uniform</a:t>
            </a:r>
            <a:r>
              <a:rPr lang="en-US" dirty="0"/>
              <a:t>” – a variety of random. </a:t>
            </a:r>
          </a:p>
          <a:p>
            <a:pPr lvl="1"/>
            <a:r>
              <a:rPr lang="en-US" dirty="0"/>
              <a:t>Bias initialization defaults to 0. </a:t>
            </a:r>
          </a:p>
          <a:p>
            <a:pPr lvl="1"/>
            <a:r>
              <a:rPr lang="en-US" dirty="0"/>
              <a:t>We can preset the output layer with the log of the expectation (for logit). </a:t>
            </a:r>
          </a:p>
          <a:p>
            <a:r>
              <a:rPr lang="en-US" dirty="0"/>
              <a:t>This can help the model train – both in speed and potential for convergence. </a:t>
            </a:r>
          </a:p>
          <a:p>
            <a:r>
              <a:rPr lang="en-US" dirty="0"/>
              <a:t>Imbalanced data – the data has a “bias” to start with. </a:t>
            </a:r>
          </a:p>
          <a:p>
            <a:pPr lvl="1"/>
            <a:r>
              <a:rPr lang="en-US" dirty="0"/>
              <a:t>Set bias on output layer to the bias in the data. </a:t>
            </a:r>
          </a:p>
          <a:p>
            <a:pPr lvl="1"/>
            <a:r>
              <a:rPr lang="en-US" dirty="0"/>
              <a:t>Network doesn’t need to learn the massive shift in bias. </a:t>
            </a:r>
          </a:p>
          <a:p>
            <a:pPr lvl="1"/>
            <a:r>
              <a:rPr lang="en-US" dirty="0"/>
              <a:t>Faster convergence and more accuracy.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13533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657C393-5107-A66F-2F57-F8BDFB34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CE419-EAE4-C6F5-E9CF-6ED285C45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Refresher - 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96A47-F2D8-BAAA-8619-B29ABDA54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5"/>
            <a:ext cx="9603275" cy="2265242"/>
          </a:xfrm>
        </p:spPr>
        <p:txBody>
          <a:bodyPr/>
          <a:lstStyle/>
          <a:p>
            <a:r>
              <a:rPr lang="en-US" dirty="0"/>
              <a:t>We typically use some regularization in our models. </a:t>
            </a:r>
          </a:p>
          <a:p>
            <a:pPr lvl="1"/>
            <a:r>
              <a:rPr lang="en-US" dirty="0"/>
              <a:t>Semi-standard as neural networks are large and flexible, and this constrains overfit. </a:t>
            </a:r>
          </a:p>
          <a:p>
            <a:pPr lvl="1"/>
            <a:r>
              <a:rPr lang="en-US" dirty="0"/>
              <a:t>L1/L2 – works just as in regression, can be applied in layer as a hyperparameter. </a:t>
            </a:r>
          </a:p>
          <a:p>
            <a:pPr lvl="1"/>
            <a:r>
              <a:rPr lang="en-US" dirty="0"/>
              <a:t>Dropout – removes some percentage of neurons randomly each batch of </a:t>
            </a:r>
            <a:r>
              <a:rPr lang="en-US" b="1" dirty="0"/>
              <a:t>training</a:t>
            </a:r>
            <a:r>
              <a:rPr lang="en-US" dirty="0"/>
              <a:t>, forcing learning to occur on the remainder. Applied as a layer, typically round 20—40% to start. </a:t>
            </a:r>
          </a:p>
        </p:txBody>
      </p:sp>
      <p:pic>
        <p:nvPicPr>
          <p:cNvPr id="12290" name="Picture 2" descr="An illustration of the dropout mechanism within a multi-layer neural... |  Download Scientific Diagram">
            <a:extLst>
              <a:ext uri="{FF2B5EF4-FFF2-40B4-BE49-F238E27FC236}">
                <a16:creationId xmlns:a16="http://schemas.microsoft.com/office/drawing/2014/main" id="{FF757BBE-E37E-3B60-4449-928234E4B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1461" y="3838427"/>
            <a:ext cx="8949078" cy="2905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386406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FB234F1-BB8F-49D0-C692-AFBB8F102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3446A-8957-1380-AC64-4F7779D0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Networks are Flexible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DF57D-5784-FF0D-ACBA-8FE5350A3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This isn’t near all of the things that we can change in a neural network. </a:t>
            </a:r>
          </a:p>
          <a:p>
            <a:r>
              <a:rPr lang="en-US" dirty="0"/>
              <a:t>The flexibility in their learning as they grow means that a wide range of models that are ‘good enough’ will converge on a good solution. </a:t>
            </a:r>
          </a:p>
          <a:p>
            <a:pPr lvl="1"/>
            <a:r>
              <a:rPr lang="en-US" dirty="0"/>
              <a:t>E.g. the image competition has models with widely different structures fighting for fractions of a percentage of accuracy in a task. </a:t>
            </a:r>
          </a:p>
          <a:p>
            <a:r>
              <a:rPr lang="en-US" dirty="0"/>
              <a:t>Mirror something that is known to work, unless experimenting (which is good). </a:t>
            </a:r>
          </a:p>
          <a:p>
            <a:r>
              <a:rPr lang="en-US" dirty="0"/>
              <a:t>Make reasonable choices, add some excess, regularization, and early stopping, let train. </a:t>
            </a:r>
          </a:p>
          <a:p>
            <a:pPr lvl="1"/>
            <a:r>
              <a:rPr lang="en-US" dirty="0"/>
              <a:t>Adjust from here based on what you see. </a:t>
            </a:r>
          </a:p>
          <a:p>
            <a:r>
              <a:rPr lang="en-US" dirty="0"/>
              <a:t>Finding the perfect configuration as we did with a grid becomes time impractical quickly. </a:t>
            </a:r>
          </a:p>
        </p:txBody>
      </p:sp>
    </p:spTree>
    <p:extLst>
      <p:ext uri="{BB962C8B-B14F-4D97-AF65-F5344CB8AC3E}">
        <p14:creationId xmlns:p14="http://schemas.microsoft.com/office/powerpoint/2010/main" val="395270153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7D3BDB8-6A20-6877-2948-8A9A92B63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2C833-933C-17CC-979D-0878BF183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Tuning -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7F546-3595-D6E0-212E-B4177ADF5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There are a huge number of things that can be changed to tune a neural network model. </a:t>
            </a:r>
          </a:p>
          <a:p>
            <a:r>
              <a:rPr lang="en-US" dirty="0"/>
              <a:t>We are focusing mainly on the ‘structure’ type of things. </a:t>
            </a:r>
          </a:p>
          <a:p>
            <a:pPr lvl="1"/>
            <a:r>
              <a:rPr lang="en-US" dirty="0"/>
              <a:t>Network size, layers, type, hyperparameters, regularizing (and similar) layers like normalization.</a:t>
            </a:r>
          </a:p>
          <a:p>
            <a:r>
              <a:rPr lang="en-US" dirty="0"/>
              <a:t>We are not really focusing on the optimization part - loss/gradient descent specific things. </a:t>
            </a:r>
          </a:p>
          <a:p>
            <a:pPr lvl="1"/>
            <a:r>
              <a:rPr lang="en-US" dirty="0"/>
              <a:t>Learning rates, momentum, optimizers. </a:t>
            </a:r>
          </a:p>
          <a:p>
            <a:pPr lvl="1"/>
            <a:r>
              <a:rPr lang="en-US" dirty="0"/>
              <a:t>This matters, but is more theoretical in theory, and scenario dependent in practice. </a:t>
            </a:r>
          </a:p>
          <a:p>
            <a:pPr lvl="1"/>
            <a:r>
              <a:rPr lang="en-US" dirty="0"/>
              <a:t>Optimization is critical as problems get larger – converging quickly, or at all, can be hard. </a:t>
            </a:r>
          </a:p>
          <a:p>
            <a:r>
              <a:rPr lang="en-US" dirty="0"/>
              <a:t>For our usage, we can mainly try different learning rates, if needed. </a:t>
            </a:r>
          </a:p>
        </p:txBody>
      </p:sp>
    </p:spTree>
    <p:extLst>
      <p:ext uri="{BB962C8B-B14F-4D97-AF65-F5344CB8AC3E}">
        <p14:creationId xmlns:p14="http://schemas.microsoft.com/office/powerpoint/2010/main" val="104878833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0593B75-AC3B-E050-71FB-21636DF5D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A7AF7-59F4-72EC-D32B-621890221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Tuning From A Loss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CCA94-98D7-3A7F-7B25-ED9F05C93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The loss plot is our main, but not only, tool to help tune a model. </a:t>
            </a:r>
          </a:p>
          <a:p>
            <a:r>
              <a:rPr lang="en-US" dirty="0"/>
              <a:t>None of these things are definitive, but there are things that happen often that we can look at first for a possible solution. </a:t>
            </a:r>
          </a:p>
          <a:p>
            <a:r>
              <a:rPr lang="en-US" dirty="0"/>
              <a:t>In neural networks, we must weigh against computation time – defaults are usually fast.</a:t>
            </a:r>
          </a:p>
          <a:p>
            <a:r>
              <a:rPr lang="en-US" dirty="0"/>
              <a:t>Some general things:</a:t>
            </a:r>
          </a:p>
          <a:p>
            <a:pPr lvl="1"/>
            <a:r>
              <a:rPr lang="en-US" dirty="0"/>
              <a:t>Make sure that data is scaled. </a:t>
            </a:r>
          </a:p>
          <a:p>
            <a:pPr lvl="1"/>
            <a:r>
              <a:rPr lang="en-US" dirty="0"/>
              <a:t>More complex relationships perform better with more layers. </a:t>
            </a:r>
          </a:p>
          <a:p>
            <a:pPr lvl="1"/>
            <a:r>
              <a:rPr lang="en-US" dirty="0"/>
              <a:t>The more data you have, the larger a model you’ll be able to train well. </a:t>
            </a:r>
          </a:p>
          <a:p>
            <a:pPr lvl="1"/>
            <a:r>
              <a:rPr lang="en-US" dirty="0"/>
              <a:t>Unless there’s a time constraint, let things go for lots of epochs and use early stopping. </a:t>
            </a:r>
          </a:p>
        </p:txBody>
      </p:sp>
    </p:spTree>
    <p:extLst>
      <p:ext uri="{BB962C8B-B14F-4D97-AF65-F5344CB8AC3E}">
        <p14:creationId xmlns:p14="http://schemas.microsoft.com/office/powerpoint/2010/main" val="75757211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0AB4CD3-F504-10E7-883B-2FBDFD88A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081E1-A7C1-504E-65DA-6CCD28BED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1" y="804519"/>
            <a:ext cx="7332967" cy="1049235"/>
          </a:xfrm>
        </p:spPr>
        <p:txBody>
          <a:bodyPr>
            <a:normAutofit/>
          </a:bodyPr>
          <a:lstStyle/>
          <a:p>
            <a:r>
              <a:rPr lang="en-US" dirty="0"/>
              <a:t>Training and Validation Diverge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78041-BD47-0D3A-86ED-288D5543D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" y="1853754"/>
            <a:ext cx="7491800" cy="4199727"/>
          </a:xfrm>
        </p:spPr>
        <p:txBody>
          <a:bodyPr>
            <a:normAutofit/>
          </a:bodyPr>
          <a:lstStyle/>
          <a:p>
            <a:r>
              <a:rPr lang="en-US" dirty="0"/>
              <a:t>Probably the most common issue is overfitting. </a:t>
            </a:r>
          </a:p>
          <a:p>
            <a:pPr lvl="1"/>
            <a:r>
              <a:rPr lang="en-US" dirty="0"/>
              <a:t>Training gets really accurate, validation is far behind. </a:t>
            </a:r>
          </a:p>
          <a:p>
            <a:pPr lvl="1"/>
            <a:r>
              <a:rPr lang="en-US" dirty="0"/>
              <a:t>Validation hits a low point, then gets worse as training improves. </a:t>
            </a:r>
          </a:p>
          <a:p>
            <a:r>
              <a:rPr lang="en-US" dirty="0"/>
              <a:t>Learns everything in training, generalizes poorly. </a:t>
            </a:r>
          </a:p>
          <a:p>
            <a:pPr lvl="1"/>
            <a:r>
              <a:rPr lang="en-US" dirty="0"/>
              <a:t>Reduce model capacity. </a:t>
            </a:r>
          </a:p>
          <a:p>
            <a:pPr lvl="1"/>
            <a:r>
              <a:rPr lang="en-US" dirty="0"/>
              <a:t>Add regularization. </a:t>
            </a:r>
          </a:p>
          <a:p>
            <a:pPr lvl="1"/>
            <a:r>
              <a:rPr lang="en-US" dirty="0"/>
              <a:t>Add dropout layers. </a:t>
            </a:r>
          </a:p>
          <a:p>
            <a:pPr lvl="1"/>
            <a:r>
              <a:rPr lang="en-US" dirty="0"/>
              <a:t>Early stopping – careful with tolerance settings. </a:t>
            </a:r>
          </a:p>
          <a:p>
            <a:pPr lvl="1"/>
            <a:r>
              <a:rPr lang="en-US" dirty="0"/>
              <a:t>Learning rate (or </a:t>
            </a:r>
            <a:r>
              <a:rPr lang="en-US" dirty="0" err="1"/>
              <a:t>lr</a:t>
            </a:r>
            <a:r>
              <a:rPr lang="en-US" dirty="0"/>
              <a:t> stuff) change – may be stuck in local minima. </a:t>
            </a:r>
          </a:p>
          <a:p>
            <a:r>
              <a:rPr lang="en-US" dirty="0"/>
              <a:t>Pattern’s quite normal – gap </a:t>
            </a:r>
            <a:r>
              <a:rPr lang="en-US" dirty="0" err="1"/>
              <a:t>btwn</a:t>
            </a:r>
            <a:r>
              <a:rPr lang="en-US" dirty="0"/>
              <a:t> curves is potential improvement.</a:t>
            </a:r>
          </a:p>
          <a:p>
            <a:pPr lvl="1"/>
            <a:endParaRPr lang="en-US" dirty="0"/>
          </a:p>
        </p:txBody>
      </p:sp>
      <p:pic>
        <p:nvPicPr>
          <p:cNvPr id="3078" name="Picture 6" descr="loss_plot2">
            <a:extLst>
              <a:ext uri="{FF2B5EF4-FFF2-40B4-BE49-F238E27FC236}">
                <a16:creationId xmlns:a16="http://schemas.microsoft.com/office/drawing/2014/main" id="{8C301FCC-B1F4-6BD7-A95A-D4112FC0BF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9668" y="-5209"/>
            <a:ext cx="4669714" cy="371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convolutional neural network - Not smooth validation accuracy vs test  accuracy. When to stop - Cross Validated">
            <a:extLst>
              <a:ext uri="{FF2B5EF4-FFF2-40B4-BE49-F238E27FC236}">
                <a16:creationId xmlns:a16="http://schemas.microsoft.com/office/drawing/2014/main" id="{4F1D7A9A-0DF6-8E04-827A-DD96761FF0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 bwMode="auto">
          <a:xfrm>
            <a:off x="7504418" y="3565556"/>
            <a:ext cx="4674964" cy="3292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757399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94EB361-1546-347C-8CA5-446A82CB9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88299-12D1-7878-7070-01809571F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062" y="804519"/>
            <a:ext cx="5982791" cy="1049235"/>
          </a:xfrm>
        </p:spPr>
        <p:txBody>
          <a:bodyPr/>
          <a:lstStyle/>
          <a:p>
            <a:r>
              <a:rPr lang="en-US" dirty="0"/>
              <a:t>Unstable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3BD81-7B12-889D-8C00-00E06A1C7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4990" y="1853754"/>
            <a:ext cx="7607011" cy="419972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Unstable results can have several causes. </a:t>
            </a:r>
          </a:p>
          <a:p>
            <a:r>
              <a:rPr lang="en-US" dirty="0"/>
              <a:t>Model’s accuracy swings wildly between tests. </a:t>
            </a:r>
          </a:p>
          <a:p>
            <a:pPr lvl="1"/>
            <a:r>
              <a:rPr lang="en-US" dirty="0"/>
              <a:t>Data processing – outliers, scaling. </a:t>
            </a:r>
          </a:p>
          <a:p>
            <a:pPr lvl="1"/>
            <a:r>
              <a:rPr lang="en-US" dirty="0"/>
              <a:t>Data size – overall and validation set size. </a:t>
            </a:r>
          </a:p>
          <a:p>
            <a:pPr lvl="1"/>
            <a:r>
              <a:rPr lang="en-US" dirty="0"/>
              <a:t>Is the data representative, and are train/test splits balanced*. </a:t>
            </a:r>
          </a:p>
          <a:p>
            <a:pPr lvl="1"/>
            <a:r>
              <a:rPr lang="en-US" dirty="0"/>
              <a:t>Increase batch size. </a:t>
            </a:r>
          </a:p>
          <a:p>
            <a:pPr lvl="1"/>
            <a:r>
              <a:rPr lang="en-US" dirty="0"/>
              <a:t>Learning rate things – may be ‘jumping around’ instead of converging. </a:t>
            </a:r>
          </a:p>
          <a:p>
            <a:pPr lvl="1"/>
            <a:r>
              <a:rPr lang="en-US" dirty="0"/>
              <a:t>Initialization (potentially bottom picture). </a:t>
            </a:r>
          </a:p>
          <a:p>
            <a:r>
              <a:rPr lang="en-US" dirty="0"/>
              <a:t>This can be hard to stop in small data sets – don’t worry too much. </a:t>
            </a:r>
          </a:p>
          <a:p>
            <a:r>
              <a:rPr lang="en-US" dirty="0"/>
              <a:t>Some instability can happen, if it flattens then it’s probably ok. </a:t>
            </a:r>
          </a:p>
          <a:p>
            <a:pPr lvl="1"/>
            <a:r>
              <a:rPr lang="en-US" dirty="0"/>
              <a:t>Be aware of scale – if loss difference is small, you might just be zoomed. 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154F7A5-4743-C55A-6FD0-44AA8E34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25858"/>
            <a:ext cx="4576190" cy="3432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Example of Train and Validation Learning Curves Showing a Validation Dataset That May Be too Small Relative to the Training Dataset">
            <a:extLst>
              <a:ext uri="{FF2B5EF4-FFF2-40B4-BE49-F238E27FC236}">
                <a16:creationId xmlns:a16="http://schemas.microsoft.com/office/drawing/2014/main" id="{4CAB3030-C9EB-DF65-7B29-CC545531A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0" y="-3143"/>
            <a:ext cx="4576190" cy="3432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373858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819D6DD-7C68-5E3C-5CB2-390B3720A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5E844-2BD4-C1BE-0995-B87C6B843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04519"/>
            <a:ext cx="11054854" cy="1049235"/>
          </a:xfrm>
        </p:spPr>
        <p:txBody>
          <a:bodyPr/>
          <a:lstStyle/>
          <a:p>
            <a:r>
              <a:rPr lang="en-US" dirty="0"/>
              <a:t>Close/Inverted lines or still Falling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9060F-C61F-708F-7A99-991E1889F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13" y="1853754"/>
            <a:ext cx="7689749" cy="4199727"/>
          </a:xfrm>
        </p:spPr>
        <p:txBody>
          <a:bodyPr>
            <a:normAutofit/>
          </a:bodyPr>
          <a:lstStyle/>
          <a:p>
            <a:r>
              <a:rPr lang="en-US" sz="2400" dirty="0"/>
              <a:t>Plots still improving are still learning - underfit. </a:t>
            </a:r>
          </a:p>
          <a:p>
            <a:pPr lvl="1"/>
            <a:r>
              <a:rPr lang="en-US" sz="2200" dirty="0"/>
              <a:t>Train/</a:t>
            </a:r>
            <a:r>
              <a:rPr lang="en-US" sz="2200" dirty="0" err="1"/>
              <a:t>val</a:t>
            </a:r>
            <a:r>
              <a:rPr lang="en-US" sz="2200" dirty="0"/>
              <a:t> performance is similar/inverted</a:t>
            </a:r>
          </a:p>
          <a:p>
            <a:pPr lvl="1"/>
            <a:r>
              <a:rPr lang="en-US" sz="2200" dirty="0"/>
              <a:t>Still improving at the end of training</a:t>
            </a:r>
          </a:p>
          <a:p>
            <a:r>
              <a:rPr lang="en-US" sz="2400" dirty="0"/>
              <a:t>The model could learn more, may be underfit:</a:t>
            </a:r>
          </a:p>
          <a:p>
            <a:pPr lvl="1"/>
            <a:r>
              <a:rPr lang="en-US" sz="2000" dirty="0"/>
              <a:t>More capacity and more training, higher LR if improvement stays.</a:t>
            </a:r>
          </a:p>
          <a:p>
            <a:pPr lvl="1"/>
            <a:r>
              <a:rPr lang="en-US" sz="2000" dirty="0"/>
              <a:t>Reduce regularization strength if it is high. </a:t>
            </a:r>
          </a:p>
          <a:p>
            <a:pPr lvl="1"/>
            <a:r>
              <a:rPr lang="en-US" sz="2000" dirty="0"/>
              <a:t>Easy speed-up (if needed) – bigger batches. </a:t>
            </a:r>
          </a:p>
          <a:p>
            <a:pPr lvl="1"/>
            <a:r>
              <a:rPr lang="en-US" sz="2000" dirty="0"/>
              <a:t>*The absolute loss in the bottom one is too low to be a great example, picture that shape, with more loss. </a:t>
            </a:r>
          </a:p>
        </p:txBody>
      </p:sp>
      <p:pic>
        <p:nvPicPr>
          <p:cNvPr id="5122" name="Picture 2" descr="Example of Training Learning Curve Showing an Underfit Model That Does Not Have Sufficient Capacity">
            <a:extLst>
              <a:ext uri="{FF2B5EF4-FFF2-40B4-BE49-F238E27FC236}">
                <a16:creationId xmlns:a16="http://schemas.microsoft.com/office/drawing/2014/main" id="{03478AA1-FCF6-1817-2AF1-DBFAD1B1B7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67"/>
          <a:stretch/>
        </p:blipFill>
        <p:spPr bwMode="auto">
          <a:xfrm>
            <a:off x="7933954" y="0"/>
            <a:ext cx="425804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750350A4-CEBF-466A-68F9-8564EBCF05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7933954" y="3617115"/>
            <a:ext cx="4258046" cy="3240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250777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D842968-E212-96CE-F17D-84BD77290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48A7A-ECB9-95C0-F708-DBED8AC96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Plot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B4F88-7E93-D8AB-1F4F-071853240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5"/>
            <a:ext cx="9603275" cy="2471738"/>
          </a:xfrm>
        </p:spPr>
        <p:txBody>
          <a:bodyPr/>
          <a:lstStyle/>
          <a:p>
            <a:r>
              <a:rPr lang="en-US" dirty="0"/>
              <a:t>We always generate loss plots and they’re the starting point for tuning. </a:t>
            </a:r>
          </a:p>
          <a:p>
            <a:r>
              <a:rPr lang="en-US" dirty="0"/>
              <a:t>The patterns and suggestions aren’t definitive – things are still highly variable per model. </a:t>
            </a:r>
          </a:p>
          <a:p>
            <a:r>
              <a:rPr lang="en-US" dirty="0"/>
              <a:t>All of these changes will impact each other, so they’re hard to predict. </a:t>
            </a:r>
          </a:p>
          <a:p>
            <a:r>
              <a:rPr lang="en-US" dirty="0"/>
              <a:t>You want to do this on the loss plot – not accuracy plot.</a:t>
            </a:r>
          </a:p>
          <a:p>
            <a:pPr lvl="1"/>
            <a:r>
              <a:rPr lang="en-US" dirty="0"/>
              <a:t>Remember 51%/49% and 99%/1% confidence have the same accuracy score.</a:t>
            </a:r>
          </a:p>
        </p:txBody>
      </p:sp>
      <p:pic>
        <p:nvPicPr>
          <p:cNvPr id="7170" name="Picture 2" descr="neural network - Loss &amp; accuracy - Are these reasonable learning curves? -  Stack Overflow">
            <a:extLst>
              <a:ext uri="{FF2B5EF4-FFF2-40B4-BE49-F238E27FC236}">
                <a16:creationId xmlns:a16="http://schemas.microsoft.com/office/drawing/2014/main" id="{33A92118-95AF-3767-8013-5404DD4DAD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27" t="7340" r="8125" b="5221"/>
          <a:stretch/>
        </p:blipFill>
        <p:spPr bwMode="auto">
          <a:xfrm>
            <a:off x="3498972" y="4213148"/>
            <a:ext cx="5194055" cy="2644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509018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9FB4B24-97CD-5F03-2D2E-FD0A39E7C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4B28F-B30C-CF50-4726-2B6E8AAA1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Training is Unpredictable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0F518-398C-71B1-266C-885802F1F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4319" y="1853754"/>
            <a:ext cx="5787181" cy="4199727"/>
          </a:xfrm>
        </p:spPr>
        <p:txBody>
          <a:bodyPr/>
          <a:lstStyle/>
          <a:p>
            <a:r>
              <a:rPr lang="en-US" dirty="0"/>
              <a:t>The training of these models can be unpredictable, especially with complex ones. </a:t>
            </a:r>
          </a:p>
          <a:p>
            <a:pPr lvl="1"/>
            <a:r>
              <a:rPr lang="en-US" dirty="0"/>
              <a:t>There are many variables that impact the model. </a:t>
            </a:r>
          </a:p>
          <a:p>
            <a:pPr lvl="1"/>
            <a:r>
              <a:rPr lang="en-US" dirty="0"/>
              <a:t>There’s randomness. </a:t>
            </a:r>
          </a:p>
          <a:p>
            <a:r>
              <a:rPr lang="en-US" dirty="0"/>
              <a:t>I got one execution that looked like that. </a:t>
            </a:r>
          </a:p>
          <a:p>
            <a:pPr lvl="1"/>
            <a:r>
              <a:rPr lang="en-US" dirty="0"/>
              <a:t>Validation accuracy went from 93% to 23% to 93%. </a:t>
            </a:r>
          </a:p>
          <a:p>
            <a:r>
              <a:rPr lang="en-US" dirty="0"/>
              <a:t>The loss curve is not convex and simple. </a:t>
            </a:r>
          </a:p>
          <a:p>
            <a:pPr lvl="1"/>
            <a:r>
              <a:rPr lang="en-US" dirty="0"/>
              <a:t>Sometimes the results wander quite a lot. </a:t>
            </a:r>
          </a:p>
          <a:p>
            <a:pPr lvl="1"/>
            <a:r>
              <a:rPr lang="en-US" dirty="0"/>
              <a:t>This is where having the optimizer stuff right shows.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F57AFD-A7E2-6D5B-5395-59F2D06AE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500" y="1510702"/>
            <a:ext cx="5270500" cy="3035300"/>
          </a:xfrm>
          <a:prstGeom prst="rect">
            <a:avLst/>
          </a:prstGeom>
        </p:spPr>
      </p:pic>
      <p:pic>
        <p:nvPicPr>
          <p:cNvPr id="13314" name="Picture 2" descr="Why is my validation loss lower than my training loss? - PyImageSearch">
            <a:extLst>
              <a:ext uri="{FF2B5EF4-FFF2-40B4-BE49-F238E27FC236}">
                <a16:creationId xmlns:a16="http://schemas.microsoft.com/office/drawing/2014/main" id="{24E11F2D-5D7D-6DC3-55AE-6092D15E5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4881" y="4543385"/>
            <a:ext cx="4037119" cy="2314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175820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CE24E92-8BE8-FF5D-A1C6-7E359D556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D3040-3387-3142-D016-4373BF2AC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D2175-5539-903C-95AE-C4E12C999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10593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Neural networks can get very large!</a:t>
            </a:r>
          </a:p>
          <a:p>
            <a:r>
              <a:rPr lang="en-US" dirty="0"/>
              <a:t>Like a tree, a trained network may contain parts that aren’t super critical in making predictions. </a:t>
            </a:r>
          </a:p>
          <a:p>
            <a:pPr lvl="1"/>
            <a:r>
              <a:rPr lang="en-US" dirty="0"/>
              <a:t>As an example, think of “dying </a:t>
            </a:r>
            <a:r>
              <a:rPr lang="en-US" dirty="0" err="1"/>
              <a:t>relu</a:t>
            </a:r>
            <a:r>
              <a:rPr lang="en-US" dirty="0"/>
              <a:t>” neurons. </a:t>
            </a:r>
          </a:p>
          <a:p>
            <a:r>
              <a:rPr lang="en-US" dirty="0"/>
              <a:t>Pruning can trim a network back by making it more sparse. </a:t>
            </a:r>
          </a:p>
          <a:p>
            <a:r>
              <a:rPr lang="en-US" dirty="0"/>
              <a:t>Can potentially improve generalization – just as tree pruning does. </a:t>
            </a:r>
          </a:p>
          <a:p>
            <a:r>
              <a:rPr lang="en-US" dirty="0"/>
              <a:t>Allows networks to be used for prediction with fewer computations. </a:t>
            </a:r>
          </a:p>
          <a:p>
            <a:pPr lvl="1"/>
            <a:r>
              <a:rPr lang="en-US" dirty="0"/>
              <a:t>Predictions on a computer: one forward propagation, relatively simple. </a:t>
            </a:r>
          </a:p>
          <a:p>
            <a:pPr lvl="1"/>
            <a:r>
              <a:rPr lang="en-US" dirty="0"/>
              <a:t>Predictions on a phone/raspberry pi/Roomba/drone, can be challenging. </a:t>
            </a:r>
          </a:p>
          <a:p>
            <a:pPr lvl="1"/>
            <a:r>
              <a:rPr lang="en-US" dirty="0"/>
              <a:t>Pruned models require less processing and less memory, can be used on more devices. </a:t>
            </a:r>
          </a:p>
        </p:txBody>
      </p:sp>
    </p:spTree>
    <p:extLst>
      <p:ext uri="{BB962C8B-B14F-4D97-AF65-F5344CB8AC3E}">
        <p14:creationId xmlns:p14="http://schemas.microsoft.com/office/powerpoint/2010/main" val="342758652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0B10321-4C4A-B36A-C659-09EB193AB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E0EFA-EF65-DF21-1A87-B995BFB30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63F7C-F624-30EE-42E2-D93DEDE98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There are many variables in making a good neural network model. </a:t>
            </a:r>
          </a:p>
          <a:p>
            <a:pPr lvl="1"/>
            <a:r>
              <a:rPr lang="en-US" dirty="0"/>
              <a:t>Size – we need to make the model big enough to learn the data. </a:t>
            </a:r>
          </a:p>
          <a:p>
            <a:pPr lvl="1"/>
            <a:r>
              <a:rPr lang="en-US" dirty="0"/>
              <a:t>Structure – different model structures may perform better (we’ll see this next, more). </a:t>
            </a:r>
          </a:p>
          <a:p>
            <a:pPr lvl="1"/>
            <a:r>
              <a:rPr lang="en-US" dirty="0"/>
              <a:t>Regularization – L1/L2, dropout, batch normalization. </a:t>
            </a:r>
          </a:p>
          <a:p>
            <a:pPr lvl="1"/>
            <a:r>
              <a:rPr lang="en-US" dirty="0"/>
              <a:t>Training Parameters – learning rate, optimizer,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For us, we can settle on getting close, then letting things train. </a:t>
            </a:r>
          </a:p>
          <a:p>
            <a:pPr lvl="1"/>
            <a:r>
              <a:rPr lang="en-US" dirty="0"/>
              <a:t>Real model tuning like this becomes impractical at a larger scale, we don’t need to obsess. </a:t>
            </a:r>
          </a:p>
          <a:p>
            <a:pPr lvl="1"/>
            <a:r>
              <a:rPr lang="en-US" dirty="0"/>
              <a:t>There’s not one solution for what model will work. </a:t>
            </a:r>
          </a:p>
          <a:p>
            <a:pPr lvl="1"/>
            <a:r>
              <a:rPr lang="en-US" dirty="0"/>
              <a:t>We’ll later use some other tools to do grid-searches and monitor training with </a:t>
            </a:r>
            <a:r>
              <a:rPr lang="en-US" dirty="0" err="1"/>
              <a:t>Tensorboard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50651340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30845</TotalTime>
  <Words>7705</Words>
  <Application>Microsoft Macintosh PowerPoint</Application>
  <PresentationFormat>Widescreen</PresentationFormat>
  <Paragraphs>647</Paragraphs>
  <Slides>87</Slides>
  <Notes>0</Notes>
  <HiddenSlides>46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0" baseType="lpstr">
      <vt:lpstr>Arial</vt:lpstr>
      <vt:lpstr>Gill Sans MT</vt:lpstr>
      <vt:lpstr>Gallery</vt:lpstr>
      <vt:lpstr>Housekeeping</vt:lpstr>
      <vt:lpstr>PowerPoint Presentation</vt:lpstr>
      <vt:lpstr>Project (Other Class) Stuff</vt:lpstr>
      <vt:lpstr>Cluster Assignment - Results</vt:lpstr>
      <vt:lpstr>Cluster Assignment</vt:lpstr>
      <vt:lpstr>Neural Network tuning and Optimization</vt:lpstr>
      <vt:lpstr>But First – Get Board</vt:lpstr>
      <vt:lpstr>Neural Network Configuration</vt:lpstr>
      <vt:lpstr>Converging Loss Plots</vt:lpstr>
      <vt:lpstr>Tensor</vt:lpstr>
      <vt:lpstr>Network Size</vt:lpstr>
      <vt:lpstr>Width vs Depth</vt:lpstr>
      <vt:lpstr>Deep Learning</vt:lpstr>
      <vt:lpstr>Example: ImageNet</vt:lpstr>
      <vt:lpstr>PowerPoint Presentation</vt:lpstr>
      <vt:lpstr>PowerPoint Presentation</vt:lpstr>
      <vt:lpstr>Neural Nets as Feature Constructors (extractors)</vt:lpstr>
      <vt:lpstr>NN Feature Construction Vs Pca</vt:lpstr>
      <vt:lpstr>So how big do I make it?</vt:lpstr>
      <vt:lpstr>Data</vt:lpstr>
      <vt:lpstr>Epochs and Batches</vt:lpstr>
      <vt:lpstr>Optimizer</vt:lpstr>
      <vt:lpstr>Optimizer</vt:lpstr>
      <vt:lpstr>Activation Functions</vt:lpstr>
      <vt:lpstr>Activation Functions (Hidden Layers)</vt:lpstr>
      <vt:lpstr>Activation Issues</vt:lpstr>
      <vt:lpstr>Vanishing Gradients</vt:lpstr>
      <vt:lpstr>Dying relu - Weight Updates</vt:lpstr>
      <vt:lpstr>Keeping Gradients Graded</vt:lpstr>
      <vt:lpstr>Activation Functions – Relu Variations</vt:lpstr>
      <vt:lpstr>Batch Normalization</vt:lpstr>
      <vt:lpstr>PowerPoint Presentation</vt:lpstr>
      <vt:lpstr>Refresher - regularization</vt:lpstr>
      <vt:lpstr>Initialization </vt:lpstr>
      <vt:lpstr>Neural Networks are Flexible</vt:lpstr>
      <vt:lpstr>Other Tuning - Optimization</vt:lpstr>
      <vt:lpstr>Tuning From A Loss Plot</vt:lpstr>
      <vt:lpstr>Training and Validation Diverge</vt:lpstr>
      <vt:lpstr>Unstable Plots</vt:lpstr>
      <vt:lpstr>Close/Inverted lines or still Falling</vt:lpstr>
      <vt:lpstr>Loss Plot Tuning</vt:lpstr>
      <vt:lpstr>Example – Training is Unpredictable</vt:lpstr>
      <vt:lpstr>Pruning</vt:lpstr>
      <vt:lpstr>RayTune</vt:lpstr>
      <vt:lpstr>RayTune Setup</vt:lpstr>
      <vt:lpstr>Using Raytune</vt:lpstr>
      <vt:lpstr>Conclusion</vt:lpstr>
      <vt:lpstr>Housekeeping</vt:lpstr>
      <vt:lpstr>PowerPoint Presentation</vt:lpstr>
      <vt:lpstr>Project (Other Class) Stuff</vt:lpstr>
      <vt:lpstr>Cluster Assignment - Results</vt:lpstr>
      <vt:lpstr>Cluster Assignment</vt:lpstr>
      <vt:lpstr>Tensorflow and Keras Optimizations</vt:lpstr>
      <vt:lpstr>Neural Network Configuration</vt:lpstr>
      <vt:lpstr>Converging Loss Plots</vt:lpstr>
      <vt:lpstr>Network Size</vt:lpstr>
      <vt:lpstr>Width vs Depth</vt:lpstr>
      <vt:lpstr>Deep Learning</vt:lpstr>
      <vt:lpstr>Example: ImageNet</vt:lpstr>
      <vt:lpstr>PowerPoint Presentation</vt:lpstr>
      <vt:lpstr>PowerPoint Presentation</vt:lpstr>
      <vt:lpstr>Neural Nets as Feature Constructors (extractors)</vt:lpstr>
      <vt:lpstr>NN Feature Construction Vs Pca</vt:lpstr>
      <vt:lpstr>So how big do I make it?</vt:lpstr>
      <vt:lpstr>Data</vt:lpstr>
      <vt:lpstr>Epochs and Batches</vt:lpstr>
      <vt:lpstr>Optimizer</vt:lpstr>
      <vt:lpstr>Activation Functions</vt:lpstr>
      <vt:lpstr>Activation Functions (Hidden Layers)</vt:lpstr>
      <vt:lpstr>Vanishing Gradients</vt:lpstr>
      <vt:lpstr>Dying relu - Weight Updates</vt:lpstr>
      <vt:lpstr>Keeping Gradients Graded</vt:lpstr>
      <vt:lpstr>Activation Functions – Relu Variations</vt:lpstr>
      <vt:lpstr>Batch Normalization</vt:lpstr>
      <vt:lpstr>PowerPoint Presentation</vt:lpstr>
      <vt:lpstr>Initialization </vt:lpstr>
      <vt:lpstr>Refresher - regularization</vt:lpstr>
      <vt:lpstr>Neural Networks are Flexible</vt:lpstr>
      <vt:lpstr>Other Tuning - Optimization</vt:lpstr>
      <vt:lpstr>Tuning From A Loss Plot</vt:lpstr>
      <vt:lpstr>Training and Validation Diverge</vt:lpstr>
      <vt:lpstr>Unstable Plots</vt:lpstr>
      <vt:lpstr>Close/Inverted lines or still Falling</vt:lpstr>
      <vt:lpstr>Loss Plot Tuning</vt:lpstr>
      <vt:lpstr>Example – Training is Unpredictable</vt:lpstr>
      <vt:lpstr>Pruning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Tensorflow and Keras Optimizations</dc:title>
  <dc:creator>Akeem Semper</dc:creator>
  <cp:lastModifiedBy>Akeem Semper</cp:lastModifiedBy>
  <cp:revision>66</cp:revision>
  <dcterms:created xsi:type="dcterms:W3CDTF">2022-03-20T15:31:24Z</dcterms:created>
  <dcterms:modified xsi:type="dcterms:W3CDTF">2026-03-24T19:21:38Z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2025-03-20T00:06:01Z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fe61d1fa-f1e1-4860-a2ab-fd906a17c110</vt:lpwstr>
  </property>
  <property fmtid="{D5CDD505-2E9C-101B-9397-08002B2CF9AE}" pid="8" name="MSIP_Label_10877899-02b0-462c-b2a9-b7d15c4f96fe_ContentBits">
    <vt:lpwstr>0</vt:lpwstr>
  </property>
</Properties>
</file>