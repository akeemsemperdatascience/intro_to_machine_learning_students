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92" r:id="rId2"/>
    <p:sldId id="256" r:id="rId3"/>
    <p:sldId id="257" r:id="rId4"/>
    <p:sldId id="287" r:id="rId5"/>
    <p:sldId id="267" r:id="rId6"/>
    <p:sldId id="269" r:id="rId7"/>
    <p:sldId id="293" r:id="rId8"/>
    <p:sldId id="270" r:id="rId9"/>
    <p:sldId id="284" r:id="rId10"/>
    <p:sldId id="271" r:id="rId11"/>
    <p:sldId id="268" r:id="rId12"/>
    <p:sldId id="288" r:id="rId13"/>
    <p:sldId id="259" r:id="rId14"/>
    <p:sldId id="294" r:id="rId15"/>
    <p:sldId id="295" r:id="rId16"/>
    <p:sldId id="258" r:id="rId17"/>
    <p:sldId id="285" r:id="rId18"/>
    <p:sldId id="262" r:id="rId19"/>
    <p:sldId id="264" r:id="rId20"/>
    <p:sldId id="263" r:id="rId21"/>
    <p:sldId id="265" r:id="rId22"/>
    <p:sldId id="283" r:id="rId23"/>
    <p:sldId id="286" r:id="rId24"/>
    <p:sldId id="296" r:id="rId25"/>
    <p:sldId id="282" r:id="rId26"/>
    <p:sldId id="266" r:id="rId27"/>
    <p:sldId id="261" r:id="rId28"/>
    <p:sldId id="290" r:id="rId29"/>
    <p:sldId id="291" r:id="rId30"/>
    <p:sldId id="297" r:id="rId31"/>
    <p:sldId id="280" r:id="rId32"/>
    <p:sldId id="278" r:id="rId33"/>
    <p:sldId id="279" r:id="rId34"/>
    <p:sldId id="289" r:id="rId35"/>
    <p:sldId id="272" r:id="rId36"/>
    <p:sldId id="281" r:id="rId37"/>
    <p:sldId id="298" r:id="rId38"/>
    <p:sldId id="276" r:id="rId39"/>
    <p:sldId id="273" r:id="rId40"/>
    <p:sldId id="274" r:id="rId41"/>
    <p:sldId id="275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82"/>
    <p:restoredTop sz="96327"/>
  </p:normalViewPr>
  <p:slideViewPr>
    <p:cSldViewPr snapToGrid="0" snapToObjects="1">
      <p:cViewPr varScale="1">
        <p:scale>
          <a:sx n="128" d="100"/>
          <a:sy n="128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C3DFC-3056-E54F-8D32-DF1A3495E67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D32EA75F-D815-AA41-9749-A971473153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8637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C3DFC-3056-E54F-8D32-DF1A3495E67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EA75F-D815-AA41-9749-A971473153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7043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C3DFC-3056-E54F-8D32-DF1A3495E67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EA75F-D815-AA41-9749-A971473153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4271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C3DFC-3056-E54F-8D32-DF1A3495E67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EA75F-D815-AA41-9749-A971473153BF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5617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C3DFC-3056-E54F-8D32-DF1A3495E67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EA75F-D815-AA41-9749-A971473153BF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1759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C3DFC-3056-E54F-8D32-DF1A3495E67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EA75F-D815-AA41-9749-A971473153BF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5191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C3DFC-3056-E54F-8D32-DF1A3495E67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EA75F-D815-AA41-9749-A97147315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993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C3DFC-3056-E54F-8D32-DF1A3495E67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EA75F-D815-AA41-9749-A971473153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8840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7CC3DFC-3056-E54F-8D32-DF1A3495E67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EA75F-D815-AA41-9749-A971473153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950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C3DFC-3056-E54F-8D32-DF1A3495E67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EA75F-D815-AA41-9749-A971473153BF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4357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C3DFC-3056-E54F-8D32-DF1A3495E67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EA75F-D815-AA41-9749-A971473153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359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CC3DFC-3056-E54F-8D32-DF1A3495E67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D32EA75F-D815-AA41-9749-A971473153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1113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39A1A-75E2-CE0C-6988-8AC0C64B5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Keep The House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75663-8087-4B60-758E-1386D45B9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Today – Recurrent Neural Networks (ch5). </a:t>
            </a:r>
          </a:p>
          <a:p>
            <a:pPr lvl="1"/>
            <a:r>
              <a:rPr lang="en-US" dirty="0"/>
              <a:t>Recurrence</a:t>
            </a:r>
          </a:p>
          <a:p>
            <a:pPr lvl="1"/>
            <a:r>
              <a:rPr lang="en-US" dirty="0"/>
              <a:t>Long-short term memory models. </a:t>
            </a:r>
          </a:p>
          <a:p>
            <a:pPr lvl="1"/>
            <a:r>
              <a:rPr lang="en-US" dirty="0"/>
              <a:t>Time-series like datasets. </a:t>
            </a:r>
          </a:p>
          <a:p>
            <a:pPr lvl="1"/>
            <a:r>
              <a:rPr lang="en-US" dirty="0"/>
              <a:t>Bidirectional layers. </a:t>
            </a:r>
          </a:p>
          <a:p>
            <a:r>
              <a:rPr lang="en-US" dirty="0"/>
              <a:t>There’s a test next time, yay!</a:t>
            </a:r>
          </a:p>
          <a:p>
            <a:r>
              <a:rPr lang="en-US" dirty="0"/>
              <a:t>Generative models next week, then school’s out forever!</a:t>
            </a:r>
          </a:p>
        </p:txBody>
      </p:sp>
    </p:spTree>
    <p:extLst>
      <p:ext uri="{BB962C8B-B14F-4D97-AF65-F5344CB8AC3E}">
        <p14:creationId xmlns:p14="http://schemas.microsoft.com/office/powerpoint/2010/main" val="91974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E0CB6-4E0D-924D-878F-60C02915AA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Recurrent Neural Networks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CA9C71-8502-7843-90AB-E74B66C545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46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381DF-717A-5C44-9DCE-7C657A272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RNN Basics</a:t>
            </a:r>
          </a:p>
        </p:txBody>
      </p:sp>
      <p:pic>
        <p:nvPicPr>
          <p:cNvPr id="6146" name="Picture 2" descr="An unrolled recurrent neural network.">
            <a:extLst>
              <a:ext uri="{FF2B5EF4-FFF2-40B4-BE49-F238E27FC236}">
                <a16:creationId xmlns:a16="http://schemas.microsoft.com/office/drawing/2014/main" id="{C15FF1CC-DF05-7241-99BC-153BCF7E1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3473" y="2708031"/>
            <a:ext cx="6415495" cy="1684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E162C-59E8-E448-98A2-CE217074E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2299" y="2015734"/>
            <a:ext cx="5299701" cy="3450613"/>
          </a:xfrm>
        </p:spPr>
        <p:txBody>
          <a:bodyPr>
            <a:normAutofit/>
          </a:bodyPr>
          <a:lstStyle/>
          <a:p>
            <a:r>
              <a:rPr lang="en-US" dirty="0"/>
              <a:t>In looking at a CNN we saw a neural network that can deal with spatial relationships.</a:t>
            </a:r>
          </a:p>
          <a:p>
            <a:r>
              <a:rPr lang="en-US" dirty="0"/>
              <a:t>RNNs can handle temporal relationships – looking through time. </a:t>
            </a:r>
          </a:p>
          <a:p>
            <a:r>
              <a:rPr lang="en-US" dirty="0"/>
              <a:t>Time-series and text are well suited to this structure of model.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745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3931F-9C4A-AFE4-7478-31F67C6C5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Difference – ‘Looping’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742A1-98DB-F6EB-45D2-0FDD21969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0" y="2015732"/>
            <a:ext cx="3810000" cy="3937807"/>
          </a:xfrm>
        </p:spPr>
        <p:txBody>
          <a:bodyPr/>
          <a:lstStyle/>
          <a:p>
            <a:r>
              <a:rPr lang="en-US" dirty="0"/>
              <a:t>RNN models have some looping in their structure. </a:t>
            </a:r>
          </a:p>
          <a:p>
            <a:r>
              <a:rPr lang="en-US" dirty="0"/>
              <a:t>Allows the model to ‘know’ something about previous records. </a:t>
            </a:r>
          </a:p>
          <a:p>
            <a:r>
              <a:rPr lang="en-US" dirty="0"/>
              <a:t>Regular models are 1 at a time.</a:t>
            </a:r>
          </a:p>
          <a:p>
            <a:r>
              <a:rPr lang="en-US" dirty="0"/>
              <a:t>We often refer to this as memory. </a:t>
            </a:r>
          </a:p>
          <a:p>
            <a:endParaRPr lang="en-US" dirty="0"/>
          </a:p>
        </p:txBody>
      </p:sp>
      <p:pic>
        <p:nvPicPr>
          <p:cNvPr id="1026" name="Picture 2" descr="Introduction to Recurrent Neural Networks | GeeksforGeeks">
            <a:extLst>
              <a:ext uri="{FF2B5EF4-FFF2-40B4-BE49-F238E27FC236}">
                <a16:creationId xmlns:a16="http://schemas.microsoft.com/office/drawing/2014/main" id="{F0BE6436-70E5-F1AF-A8CA-2A3BB3B0E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62481"/>
            <a:ext cx="8382000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3451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88EDF-CB56-BDF6-5933-5D721D6A8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Recurrent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20857-04E5-D88B-4F26-C499BC4A2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433" y="1853755"/>
            <a:ext cx="7822743" cy="4199726"/>
          </a:xfrm>
        </p:spPr>
        <p:txBody>
          <a:bodyPr>
            <a:normAutofit/>
          </a:bodyPr>
          <a:lstStyle/>
          <a:p>
            <a:r>
              <a:rPr lang="en-US" dirty="0"/>
              <a:t>RNNs are able to ”save” some information from earlier steps. </a:t>
            </a:r>
          </a:p>
          <a:p>
            <a:r>
              <a:rPr lang="en-US" dirty="0"/>
              <a:t>There are several different varieties of RNN models. (Which we’ll mostly ignore). </a:t>
            </a:r>
          </a:p>
          <a:p>
            <a:r>
              <a:rPr lang="en-US" dirty="0"/>
              <a:t>RNNs maintain a memory by keeping the output of one step as part of the input to another. </a:t>
            </a:r>
          </a:p>
          <a:p>
            <a:pPr lvl="1"/>
            <a:r>
              <a:rPr lang="en-US" dirty="0"/>
              <a:t>This allows things at different time steps to be considered at once. </a:t>
            </a:r>
          </a:p>
          <a:p>
            <a:pPr lvl="1"/>
            <a:r>
              <a:rPr lang="en-US" dirty="0"/>
              <a:t>A ‘regular’ model would have each time step as independent rows. 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84ED17B-56FF-613B-DDF6-5C58B22E9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7176" y="1853754"/>
            <a:ext cx="4054824" cy="5004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0038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EED2B910-B28F-4A54-B17C-8B7E5893A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83" name="Straight Connector 3082">
            <a:extLst>
              <a:ext uri="{FF2B5EF4-FFF2-40B4-BE49-F238E27FC236}">
                <a16:creationId xmlns:a16="http://schemas.microsoft.com/office/drawing/2014/main" id="{C545F118-1DF8-46A9-8A77-B3D9422CE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98775" y="1847088"/>
            <a:ext cx="554803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DAA0E26-FD0D-563D-15FE-A8EE0FE08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2643" y="804519"/>
            <a:ext cx="6399053" cy="1049235"/>
          </a:xfrm>
        </p:spPr>
        <p:txBody>
          <a:bodyPr>
            <a:normAutofit/>
          </a:bodyPr>
          <a:lstStyle/>
          <a:p>
            <a:r>
              <a:rPr lang="en-US" dirty="0"/>
              <a:t>RNN Depiction</a:t>
            </a:r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7CAB7D27-148D-4082-B160-72FAD580D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3074" name="Picture 2" descr="Recurring Neural Networks">
            <a:extLst>
              <a:ext uri="{FF2B5EF4-FFF2-40B4-BE49-F238E27FC236}">
                <a16:creationId xmlns:a16="http://schemas.microsoft.com/office/drawing/2014/main" id="{831397B1-1719-10EA-12AD-EAAD59E61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301" y="0"/>
            <a:ext cx="5792945" cy="3301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916E6-3F3F-5EE8-E460-7F755E45D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2643" y="2015731"/>
            <a:ext cx="6399053" cy="4037749"/>
          </a:xfrm>
        </p:spPr>
        <p:txBody>
          <a:bodyPr>
            <a:normAutofit/>
          </a:bodyPr>
          <a:lstStyle/>
          <a:p>
            <a:r>
              <a:rPr lang="en-US" dirty="0"/>
              <a:t>We can picture this by contrasting to a regular (feed forward) network. </a:t>
            </a:r>
          </a:p>
          <a:p>
            <a:r>
              <a:rPr lang="en-US" dirty="0"/>
              <a:t>In a normal network, each prediction is independent. </a:t>
            </a:r>
          </a:p>
          <a:p>
            <a:r>
              <a:rPr lang="en-US" dirty="0"/>
              <a:t>In a RNN, each informs the next. </a:t>
            </a:r>
          </a:p>
          <a:p>
            <a:pPr lvl="1"/>
            <a:r>
              <a:rPr lang="en-US" dirty="0"/>
              <a:t>If dealing with time series data, this makes sense. </a:t>
            </a:r>
          </a:p>
          <a:p>
            <a:r>
              <a:rPr lang="en-US" dirty="0"/>
              <a:t>We have the concept of ‘state’. </a:t>
            </a:r>
          </a:p>
          <a:p>
            <a:pPr lvl="1"/>
            <a:r>
              <a:rPr lang="en-US" dirty="0"/>
              <a:t>The model has an understanding of current status. </a:t>
            </a:r>
          </a:p>
          <a:p>
            <a:pPr lvl="1"/>
            <a:r>
              <a:rPr lang="en-US" dirty="0"/>
              <a:t>Predictions aren’t just made based on the current record.</a:t>
            </a:r>
          </a:p>
        </p:txBody>
      </p:sp>
      <p:pic>
        <p:nvPicPr>
          <p:cNvPr id="3087" name="Picture 3086">
            <a:extLst>
              <a:ext uri="{FF2B5EF4-FFF2-40B4-BE49-F238E27FC236}">
                <a16:creationId xmlns:a16="http://schemas.microsoft.com/office/drawing/2014/main" id="{CD88FC76-F691-462A-BCF9-0BA4F5DE6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089" name="Straight Connector 3088">
            <a:extLst>
              <a:ext uri="{FF2B5EF4-FFF2-40B4-BE49-F238E27FC236}">
                <a16:creationId xmlns:a16="http://schemas.microsoft.com/office/drawing/2014/main" id="{33204A7E-B7E9-42D0-9DC4-B82FDC8C4B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6" name="Picture 4" descr="Recurring Neural Networks">
            <a:extLst>
              <a:ext uri="{FF2B5EF4-FFF2-40B4-BE49-F238E27FC236}">
                <a16:creationId xmlns:a16="http://schemas.microsoft.com/office/drawing/2014/main" id="{CCE630F0-3D51-0115-FB94-662F73513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3301978"/>
            <a:ext cx="5792945" cy="3388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4270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0E9B5-0AB6-3438-6E6C-1F80C25D9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RNN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BE144-E375-9A28-329B-2F3144C6A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3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22455-46CE-5A8C-5703-50EE067F2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RNN Basic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B6C79-10D5-1913-8ECF-5C4D925D9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04" y="1853754"/>
            <a:ext cx="8821841" cy="4199727"/>
          </a:xfrm>
        </p:spPr>
        <p:txBody>
          <a:bodyPr>
            <a:normAutofit/>
          </a:bodyPr>
          <a:lstStyle/>
          <a:p>
            <a:r>
              <a:rPr lang="en-US" dirty="0"/>
              <a:t>The basic idea of an RNN is that there is some sort of State that holds memory. </a:t>
            </a:r>
          </a:p>
          <a:p>
            <a:pPr lvl="1"/>
            <a:r>
              <a:rPr lang="en-US" dirty="0"/>
              <a:t>The network can have information from earlier held in its state. </a:t>
            </a:r>
          </a:p>
          <a:p>
            <a:pPr lvl="1"/>
            <a:r>
              <a:rPr lang="en-US" dirty="0"/>
              <a:t>The new record can bring in its features (as normal). </a:t>
            </a:r>
          </a:p>
          <a:p>
            <a:pPr lvl="1"/>
            <a:r>
              <a:rPr lang="en-US" dirty="0"/>
              <a:t>The model can use both to make a prediction. </a:t>
            </a:r>
          </a:p>
          <a:p>
            <a:r>
              <a:rPr lang="en-US" dirty="0"/>
              <a:t>We refer to this as a ‘unit’ in a RNN layer. </a:t>
            </a:r>
          </a:p>
          <a:p>
            <a:pPr lvl="1"/>
            <a:r>
              <a:rPr lang="en-US" dirty="0"/>
              <a:t>Roughly equivalent to a neuron, though more complex and we have fewer.</a:t>
            </a:r>
          </a:p>
          <a:p>
            <a:r>
              <a:rPr lang="en-US" dirty="0"/>
              <a:t>The top line is the state, that is what is passed on from before. </a:t>
            </a:r>
          </a:p>
          <a:p>
            <a:r>
              <a:rPr lang="en-US" dirty="0"/>
              <a:t>The bottom line is the feature set for this record. </a:t>
            </a:r>
          </a:p>
          <a:p>
            <a:r>
              <a:rPr lang="en-US" dirty="0"/>
              <a:t>Each prediction is based on </a:t>
            </a:r>
            <a:r>
              <a:rPr lang="en-US" b="1" dirty="0"/>
              <a:t>“X + memory of previous predictions”. </a:t>
            </a:r>
          </a:p>
        </p:txBody>
      </p:sp>
      <p:pic>
        <p:nvPicPr>
          <p:cNvPr id="10242" name="Picture 2" descr="Compare the different Sequence models (RNN, LSTM, GRU, and Transformers) -  AIML.com">
            <a:extLst>
              <a:ext uri="{FF2B5EF4-FFF2-40B4-BE49-F238E27FC236}">
                <a16:creationId xmlns:a16="http://schemas.microsoft.com/office/drawing/2014/main" id="{EF21BFE3-E2E4-D530-BC92-85B021C014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700"/>
          <a:stretch/>
        </p:blipFill>
        <p:spPr bwMode="auto">
          <a:xfrm>
            <a:off x="9229344" y="1853754"/>
            <a:ext cx="2962656" cy="4919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3414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1CBB8-AAF2-A049-EDE6-A21D9BD71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"/>
            <a:ext cx="9603275" cy="489519"/>
          </a:xfrm>
        </p:spPr>
        <p:txBody>
          <a:bodyPr>
            <a:normAutofit fontScale="90000"/>
          </a:bodyPr>
          <a:lstStyle/>
          <a:p>
            <a:r>
              <a:rPr lang="en-US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90937-1AFD-18B7-0CF4-714B567F1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489521"/>
            <a:ext cx="9603275" cy="1339280"/>
          </a:xfrm>
        </p:spPr>
        <p:txBody>
          <a:bodyPr/>
          <a:lstStyle/>
          <a:p>
            <a:r>
              <a:rPr lang="en-US" dirty="0"/>
              <a:t>The ability to keep state allows for RNNs to excel any time we have a sequence. </a:t>
            </a:r>
          </a:p>
          <a:p>
            <a:r>
              <a:rPr lang="en-US" dirty="0"/>
              <a:t>We can have arbitrary number of input and output lengths. </a:t>
            </a:r>
          </a:p>
        </p:txBody>
      </p:sp>
      <p:pic>
        <p:nvPicPr>
          <p:cNvPr id="11266" name="Picture 2" descr="TensorFlow Types Of RNN Javatpoint, 46% OFF">
            <a:extLst>
              <a:ext uri="{FF2B5EF4-FFF2-40B4-BE49-F238E27FC236}">
                <a16:creationId xmlns:a16="http://schemas.microsoft.com/office/drawing/2014/main" id="{B862FCF1-01C6-300D-1F54-1F5B34DD7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301" y="1828801"/>
            <a:ext cx="10835398" cy="5100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0763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6D637-0104-B464-1650-69AA9AA62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6F81-4B62-E27C-4D46-2C0AFA3D7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922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84981-B975-3959-EF48-AB4698A47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EF2D2-AE1F-6E09-0AA8-B474F31C7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A7239A8-F06F-41F7-CE66-3E158DE4E3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366" y="3340100"/>
            <a:ext cx="9537700" cy="351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2610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06E2-D116-F612-5C6F-63FD62192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Rnn</a:t>
            </a:r>
            <a:r>
              <a:rPr lang="en-US" dirty="0"/>
              <a:t> Basic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7CDC6-F87E-1003-C4AF-C2FDF7B84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RNN models keep a memory of past action. </a:t>
            </a:r>
          </a:p>
          <a:p>
            <a:r>
              <a:rPr lang="en-US" dirty="0"/>
              <a:t>These predictions combine with a record to make a new prediction. </a:t>
            </a:r>
          </a:p>
          <a:p>
            <a:r>
              <a:rPr lang="en-US" dirty="0"/>
              <a:t>This means RNN models make predictions based on now and ‘the past’. </a:t>
            </a:r>
          </a:p>
          <a:p>
            <a:pPr lvl="1"/>
            <a:r>
              <a:rPr lang="en-US" dirty="0"/>
              <a:t>Often better suited for anything sequential – time series, audio, NLP…</a:t>
            </a:r>
          </a:p>
          <a:p>
            <a:r>
              <a:rPr lang="en-US" dirty="0"/>
              <a:t>Note: transformer based models (another NN structure) have surpassed RNNs for most text stuff. ChatGPT et al are transformers. We’ll see a bit of it next week.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996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6F1AD-ECEB-F449-A419-8BA73DD83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Mo’ Gradients, Mo’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D6153-EC68-1444-9B24-FFC5B827E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13" y="1928192"/>
            <a:ext cx="6941021" cy="412529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RNNs can run into issues with the gradients getting too large or too small. </a:t>
            </a:r>
          </a:p>
          <a:p>
            <a:pPr lvl="1">
              <a:lnSpc>
                <a:spcPct val="110000"/>
              </a:lnSpc>
            </a:pPr>
            <a:r>
              <a:rPr lang="en-US" sz="2000" dirty="0"/>
              <a:t>Exploding or vanishing gradients. </a:t>
            </a:r>
          </a:p>
          <a:p>
            <a:pPr>
              <a:lnSpc>
                <a:spcPct val="110000"/>
              </a:lnSpc>
            </a:pPr>
            <a:r>
              <a:rPr lang="en-US" dirty="0"/>
              <a:t>Vanishing gradients commonly occur with deeper models. </a:t>
            </a:r>
          </a:p>
          <a:p>
            <a:pPr>
              <a:lnSpc>
                <a:spcPct val="110000"/>
              </a:lnSpc>
            </a:pPr>
            <a:r>
              <a:rPr lang="en-US" dirty="0"/>
              <a:t>The longer the memory, the more risk of vanishing.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How much of an impact can the memory of 20 steps ago be?</a:t>
            </a:r>
          </a:p>
          <a:p>
            <a:pPr>
              <a:lnSpc>
                <a:spcPct val="110000"/>
              </a:lnSpc>
            </a:pPr>
            <a:r>
              <a:rPr lang="en-US" dirty="0"/>
              <a:t>As gradients get extremely small, learning updates stop.</a:t>
            </a:r>
          </a:p>
          <a:p>
            <a:pPr>
              <a:lnSpc>
                <a:spcPct val="110000"/>
              </a:lnSpc>
            </a:pPr>
            <a:r>
              <a:rPr lang="en-US" dirty="0"/>
              <a:t>Solution – Long Short-Term Memory</a:t>
            </a:r>
          </a:p>
        </p:txBody>
      </p:sp>
      <p:pic>
        <p:nvPicPr>
          <p:cNvPr id="7170" name="Picture 2" descr="Neural networks struggle with long term dependencies.">
            <a:extLst>
              <a:ext uri="{FF2B5EF4-FFF2-40B4-BE49-F238E27FC236}">
                <a16:creationId xmlns:a16="http://schemas.microsoft.com/office/drawing/2014/main" id="{89B504F7-AEAD-A649-B254-B3DB81A0B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20534" y="3159684"/>
            <a:ext cx="4960443" cy="1711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3991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DCD09-F3A5-C7C1-A2D0-EA6894CC9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a RNN and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FF088-7185-BEA8-1D77-080F69468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9700" y="1950720"/>
            <a:ext cx="7052300" cy="4102761"/>
          </a:xfrm>
        </p:spPr>
        <p:txBody>
          <a:bodyPr>
            <a:normAutofit/>
          </a:bodyPr>
          <a:lstStyle/>
          <a:p>
            <a:r>
              <a:rPr lang="en-US" sz="2400" dirty="0"/>
              <a:t>RNNs are trained using an algorithm called BPTT – back propagation through time. </a:t>
            </a:r>
          </a:p>
          <a:p>
            <a:pPr lvl="1"/>
            <a:r>
              <a:rPr lang="en-US" sz="2000" dirty="0"/>
              <a:t>Mathematically this is the same as ‘normal’, but with transformations on the model structure. </a:t>
            </a:r>
          </a:p>
          <a:p>
            <a:r>
              <a:rPr lang="en-US" sz="2400" dirty="0"/>
              <a:t>Image shows gradient calculations at step 3. </a:t>
            </a:r>
          </a:p>
          <a:p>
            <a:pPr lvl="1"/>
            <a:r>
              <a:rPr lang="en-US" sz="2000" dirty="0"/>
              <a:t>Adjustment for this step depends on steps 1 and 2. </a:t>
            </a:r>
          </a:p>
          <a:p>
            <a:pPr lvl="1"/>
            <a:r>
              <a:rPr lang="en-US" sz="2000" dirty="0"/>
              <a:t>As steps grow, this equation grows, and values can get minute. </a:t>
            </a:r>
          </a:p>
          <a:p>
            <a:pPr lvl="1"/>
            <a:r>
              <a:rPr lang="en-US" sz="2000" dirty="0"/>
              <a:t>We lose the gradient, or indication of how to adjust weight.</a:t>
            </a:r>
          </a:p>
        </p:txBody>
      </p:sp>
      <p:pic>
        <p:nvPicPr>
          <p:cNvPr id="4098" name="Picture 2" descr="complete equation | Problems Recurrent neural networks">
            <a:extLst>
              <a:ext uri="{FF2B5EF4-FFF2-40B4-BE49-F238E27FC236}">
                <a16:creationId xmlns:a16="http://schemas.microsoft.com/office/drawing/2014/main" id="{56E45314-038D-F692-7A83-F67D11A05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70746"/>
            <a:ext cx="5139700" cy="3742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1966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49323-0E8E-1B0F-946B-589533774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 Long-Short Term Memory…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DDE58-3E57-96C9-3802-F68B404CE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9107E74-CB59-A316-B6A0-DBA5F3C6C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0" y="2126245"/>
            <a:ext cx="8890000" cy="334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0248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A25D7-B275-8C46-BDC5-225748645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Short-Term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E9C63-4627-0143-8679-7D0454698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10411236" cy="419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LSTM models are a commonly used type of RNN. </a:t>
            </a:r>
          </a:p>
          <a:p>
            <a:r>
              <a:rPr lang="en-US" dirty="0"/>
              <a:t>LSTMs can avoid/mitigate the gradient issues. </a:t>
            </a:r>
          </a:p>
          <a:p>
            <a:r>
              <a:rPr lang="en-US" dirty="0"/>
              <a:t>LSTMs retain a bunch of data – their long memory. </a:t>
            </a:r>
          </a:p>
          <a:p>
            <a:pPr lvl="1"/>
            <a:r>
              <a:rPr lang="en-US" dirty="0"/>
              <a:t>“Look back” period of N previous records. </a:t>
            </a:r>
          </a:p>
          <a:p>
            <a:r>
              <a:rPr lang="en-US" dirty="0"/>
              <a:t>At a basic level, the output of an LSTM at a particular point in time is dependent on three things:</a:t>
            </a:r>
          </a:p>
          <a:p>
            <a:pPr lvl="1"/>
            <a:r>
              <a:rPr lang="en-US" dirty="0"/>
              <a:t>The current long-term memory of the network — known as the cell state.</a:t>
            </a:r>
          </a:p>
          <a:p>
            <a:pPr lvl="1"/>
            <a:r>
              <a:rPr lang="en-US" dirty="0"/>
              <a:t>The output at the previous point in time — known as the previous hidden state.</a:t>
            </a:r>
          </a:p>
          <a:p>
            <a:pPr lvl="1"/>
            <a:r>
              <a:rPr lang="en-US" dirty="0"/>
              <a:t>The input data at the current time step.</a:t>
            </a:r>
          </a:p>
          <a:p>
            <a:r>
              <a:rPr lang="en-US" dirty="0"/>
              <a:t>https://</a:t>
            </a:r>
            <a:r>
              <a:rPr lang="en-US" dirty="0" err="1"/>
              <a:t>towardsdatascience.com</a:t>
            </a:r>
            <a:r>
              <a:rPr lang="en-US" dirty="0"/>
              <a:t>/illustrated-guide-to-lstms-and-gru-s-a-step-by-step-explanation-44e9eb85bf21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4983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9659F-D188-7A07-E5A5-6F7E12C51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9790D-277B-BCAC-2D27-667531192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5625" y="1853754"/>
            <a:ext cx="4016375" cy="4199727"/>
          </a:xfrm>
        </p:spPr>
        <p:txBody>
          <a:bodyPr/>
          <a:lstStyle/>
          <a:p>
            <a:r>
              <a:rPr lang="en-US" dirty="0"/>
              <a:t>It’s simpler than it looks…</a:t>
            </a:r>
          </a:p>
          <a:p>
            <a:r>
              <a:rPr lang="en-US" dirty="0"/>
              <a:t>The activation functions are referred to as ‘gates’. </a:t>
            </a:r>
          </a:p>
          <a:p>
            <a:pPr lvl="1"/>
            <a:r>
              <a:rPr lang="en-US" dirty="0"/>
              <a:t>Each gate ‘decides’ what to keep and what to discard.</a:t>
            </a:r>
          </a:p>
          <a:p>
            <a:r>
              <a:rPr lang="en-US" dirty="0"/>
              <a:t>The node (roughly):</a:t>
            </a:r>
          </a:p>
          <a:p>
            <a:pPr lvl="1"/>
            <a:r>
              <a:rPr lang="en-US" dirty="0"/>
              <a:t>Takes in X, hidden, and cell states. </a:t>
            </a:r>
          </a:p>
          <a:p>
            <a:pPr lvl="1"/>
            <a:r>
              <a:rPr lang="en-US" dirty="0"/>
              <a:t>Weighs what parts to keep/ditch.</a:t>
            </a:r>
          </a:p>
          <a:p>
            <a:pPr lvl="1"/>
            <a:r>
              <a:rPr lang="en-US" dirty="0"/>
              <a:t>Creates a prediction. </a:t>
            </a:r>
          </a:p>
          <a:p>
            <a:pPr lvl="1"/>
            <a:r>
              <a:rPr lang="en-US" dirty="0"/>
              <a:t>Passes pred and state forward. </a:t>
            </a:r>
          </a:p>
        </p:txBody>
      </p:sp>
      <p:pic>
        <p:nvPicPr>
          <p:cNvPr id="12290" name="Picture 2" descr="The structure of the Long Short-Term Memory (LSTM) neural network.... |  Download Scientific Diagram">
            <a:extLst>
              <a:ext uri="{FF2B5EF4-FFF2-40B4-BE49-F238E27FC236}">
                <a16:creationId xmlns:a16="http://schemas.microsoft.com/office/drawing/2014/main" id="{779DEFB7-8151-3462-C1B1-F0FCB621E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1756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94186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4CA1C-6EBF-724B-93C9-5E0C06985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Forget Gate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4C8BD-8C07-B44A-9A03-1CA3D3379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231" y="2015734"/>
            <a:ext cx="4407877" cy="4037747"/>
          </a:xfrm>
        </p:spPr>
        <p:txBody>
          <a:bodyPr>
            <a:normAutofit/>
          </a:bodyPr>
          <a:lstStyle/>
          <a:p>
            <a:r>
              <a:rPr lang="en-CA" dirty="0"/>
              <a:t>The forget gate decides what information should be thrown away or kept. </a:t>
            </a:r>
          </a:p>
          <a:p>
            <a:r>
              <a:rPr lang="en-CA" dirty="0"/>
              <a:t>Information from the previous hidden state and information from the current input is passed through the sigmoid function. </a:t>
            </a:r>
          </a:p>
          <a:p>
            <a:r>
              <a:rPr lang="en-CA" dirty="0"/>
              <a:t>Values come out between 0 and 1. The closer to 0 means to forget, and the closer to 1 means to keep.</a:t>
            </a:r>
            <a:endParaRPr lang="en-US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15A7B40F-4591-5443-9487-CBE07A075C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25108" y="2823301"/>
            <a:ext cx="7671721" cy="4037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82E359EA-2EBF-790C-0382-2B4C61515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8976" y="0"/>
            <a:ext cx="4848075" cy="2645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89380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187E4-6EAD-3C43-9C40-A4867D0E1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Cell State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8A75F62-F7BE-A047-B162-71F63AC63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671672"/>
            <a:ext cx="8940795" cy="470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F97F2-AA9A-014A-B011-591F3E23D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2277" y="2015734"/>
            <a:ext cx="2965938" cy="3450613"/>
          </a:xfrm>
        </p:spPr>
        <p:txBody>
          <a:bodyPr>
            <a:normAutofit/>
          </a:bodyPr>
          <a:lstStyle/>
          <a:p>
            <a:r>
              <a:rPr lang="en-US" dirty="0"/>
              <a:t>The forget and input results are combined to generate a current state. 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BAF7E007-562B-33B3-6CB0-A7EF64283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7344" y="-118911"/>
            <a:ext cx="3384296" cy="1846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45527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F3B22-99AD-6C4F-9831-5CF3512BB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Input Gate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379EDC6-315D-0C4F-83EF-48C2210ACD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52472" y="1853754"/>
            <a:ext cx="6727591" cy="3186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5F14A-379D-F143-9FD2-E0F412820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5119" y="2015734"/>
            <a:ext cx="5516881" cy="4220474"/>
          </a:xfrm>
        </p:spPr>
        <p:txBody>
          <a:bodyPr>
            <a:normAutofit fontScale="92500" lnSpcReduction="10000"/>
          </a:bodyPr>
          <a:lstStyle/>
          <a:p>
            <a:r>
              <a:rPr lang="en-CA" dirty="0"/>
              <a:t>To update the cell state, we have the input gate.</a:t>
            </a:r>
          </a:p>
          <a:p>
            <a:r>
              <a:rPr lang="en-CA" dirty="0"/>
              <a:t>We pass the previous hidden state and current input into a sigmoid function. </a:t>
            </a:r>
          </a:p>
          <a:p>
            <a:pPr lvl="1"/>
            <a:r>
              <a:rPr lang="en-CA" dirty="0"/>
              <a:t>Decides which values will be updated by transforming the values to be between 0 and 1.</a:t>
            </a:r>
          </a:p>
          <a:p>
            <a:r>
              <a:rPr lang="en-CA" dirty="0"/>
              <a:t>Also pass the hidden state and current input into the tanh function to squish values between -1 and 1 to help regulate the network. </a:t>
            </a:r>
          </a:p>
          <a:p>
            <a:r>
              <a:rPr lang="en-CA" dirty="0"/>
              <a:t>Multiply the tanh output with the sigmoid output. The sigmoid output will decide which information is important to keep from the tanh output.</a:t>
            </a:r>
            <a:endParaRPr 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D7C52022-390D-E03E-E513-9DBAB021C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0687" y="54644"/>
            <a:ext cx="3296799" cy="1799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43512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C7BC2-D536-0D49-B4FE-051A551FE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Output Gate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8E57864-9357-F44B-9C4D-E53505FB4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52472" y="1853754"/>
            <a:ext cx="7767913" cy="3679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0AFC8-D06B-9B45-8BCA-F6AA1773F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84123" y="1853755"/>
            <a:ext cx="4407877" cy="4406368"/>
          </a:xfrm>
        </p:spPr>
        <p:txBody>
          <a:bodyPr>
            <a:normAutofit lnSpcReduction="10000"/>
          </a:bodyPr>
          <a:lstStyle/>
          <a:p>
            <a:r>
              <a:rPr lang="en-CA" dirty="0"/>
              <a:t>Output gate decides what the next hidden state should be. </a:t>
            </a:r>
          </a:p>
          <a:p>
            <a:r>
              <a:rPr lang="en-CA" dirty="0"/>
              <a:t>Pass the previous hidden state and the current input into a sigmoid function.</a:t>
            </a:r>
          </a:p>
          <a:p>
            <a:r>
              <a:rPr lang="en-CA" dirty="0"/>
              <a:t>Pass the newly modified cell state to the tanh function.</a:t>
            </a:r>
          </a:p>
          <a:p>
            <a:r>
              <a:rPr lang="en-CA" dirty="0"/>
              <a:t>Multiply the tanh output with the sigmoid output to decide what information the hidden state should carry. </a:t>
            </a:r>
          </a:p>
          <a:p>
            <a:r>
              <a:rPr lang="en-CA" dirty="0"/>
              <a:t>The output is the hidden state. 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A80CAAEE-22F5-2266-A33A-9114C1AA2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9552" y="7597"/>
            <a:ext cx="3408680" cy="1860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58630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BE953-B1C2-63C0-43E4-D9E9A2F0B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it Clearly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4BA69-C55D-4F9C-65D8-F9A369434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2632515"/>
          </a:xfrm>
        </p:spPr>
        <p:txBody>
          <a:bodyPr/>
          <a:lstStyle/>
          <a:p>
            <a:r>
              <a:rPr lang="en-US" dirty="0"/>
              <a:t>The LSTM units have two different lanes for state – cell and hidden. </a:t>
            </a:r>
          </a:p>
          <a:p>
            <a:pPr lvl="1"/>
            <a:r>
              <a:rPr lang="en-US" dirty="0"/>
              <a:t>The hidden state acts as a short-term memory – more impacted by recent events. </a:t>
            </a:r>
          </a:p>
          <a:p>
            <a:pPr lvl="1"/>
            <a:r>
              <a:rPr lang="en-US" dirty="0"/>
              <a:t>The cell state acts as long-term memory – more able to hold things from earlier. </a:t>
            </a:r>
          </a:p>
          <a:p>
            <a:r>
              <a:rPr lang="en-US" dirty="0"/>
              <a:t>The cell state flows from itself, and new stuff is only added after passing a gate. </a:t>
            </a:r>
          </a:p>
          <a:p>
            <a:r>
              <a:rPr lang="en-US" dirty="0"/>
              <a:t>The hidden state flows from the last prediction and the new input. </a:t>
            </a:r>
          </a:p>
        </p:txBody>
      </p:sp>
      <p:pic>
        <p:nvPicPr>
          <p:cNvPr id="13314" name="Picture 2" descr="Exploring the Potential of Long Short-Term Memory (LSTM) Networks in Time  Series Analysis">
            <a:extLst>
              <a:ext uri="{FF2B5EF4-FFF2-40B4-BE49-F238E27FC236}">
                <a16:creationId xmlns:a16="http://schemas.microsoft.com/office/drawing/2014/main" id="{35EE4206-9152-AB45-61F4-EAA8D80B7A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048" y="4130808"/>
            <a:ext cx="5327904" cy="2727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22804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D022F-6D28-0BAF-B661-834F0879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flows through, in order…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73401-406D-4BFB-ABCE-9FD2C5A1F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338" name="Picture 2" descr="An Overview on Long Short Term Memory (LSTM) - Analytics Vidhya">
            <a:extLst>
              <a:ext uri="{FF2B5EF4-FFF2-40B4-BE49-F238E27FC236}">
                <a16:creationId xmlns:a16="http://schemas.microsoft.com/office/drawing/2014/main" id="{D7DC8E18-073E-9573-1D4B-690CDCC875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68" b="8622"/>
          <a:stretch/>
        </p:blipFill>
        <p:spPr bwMode="auto">
          <a:xfrm>
            <a:off x="877941" y="1329136"/>
            <a:ext cx="10750550" cy="5754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18922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BCB24-40E5-885D-F792-E323A360C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and Activation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87D48-157B-BB15-0A3E-31097429D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783" y="2021522"/>
            <a:ext cx="6519010" cy="3922077"/>
          </a:xfrm>
        </p:spPr>
        <p:txBody>
          <a:bodyPr/>
          <a:lstStyle/>
          <a:p>
            <a:r>
              <a:rPr lang="en-US" dirty="0"/>
              <a:t>LSTM models us 2 activations – sigmoid and tanh.</a:t>
            </a:r>
          </a:p>
          <a:p>
            <a:r>
              <a:rPr lang="en-US" dirty="0"/>
              <a:t>Sigmoid is bounded [0,1] – keep/forget here. </a:t>
            </a:r>
          </a:p>
          <a:p>
            <a:r>
              <a:rPr lang="en-US" dirty="0"/>
              <a:t>Tanh is bounded [-1,1] – emphasize/deemphasize.</a:t>
            </a:r>
          </a:p>
          <a:p>
            <a:pPr lvl="1"/>
            <a:r>
              <a:rPr lang="en-US" dirty="0"/>
              <a:t>Tanh has a steeper gradient, it helps to not vanish.</a:t>
            </a:r>
          </a:p>
          <a:p>
            <a:r>
              <a:rPr lang="en-US" dirty="0"/>
              <a:t>As the weights are set in training, they learn this. </a:t>
            </a:r>
          </a:p>
          <a:p>
            <a:pPr lvl="1"/>
            <a:r>
              <a:rPr lang="en-US" dirty="0"/>
              <a:t>What to keep in each subset of data/states. </a:t>
            </a:r>
          </a:p>
          <a:p>
            <a:pPr lvl="1"/>
            <a:r>
              <a:rPr lang="en-US" dirty="0"/>
              <a:t>What to ditch. </a:t>
            </a:r>
          </a:p>
          <a:p>
            <a:pPr lvl="1"/>
            <a:r>
              <a:rPr lang="en-US" dirty="0"/>
              <a:t>These can differ because of the ‘multiple memories’.</a:t>
            </a:r>
          </a:p>
        </p:txBody>
      </p:sp>
      <p:pic>
        <p:nvPicPr>
          <p:cNvPr id="6146" name="Picture 2" descr="Ronny Restrepo">
            <a:extLst>
              <a:ext uri="{FF2B5EF4-FFF2-40B4-BE49-F238E27FC236}">
                <a16:creationId xmlns:a16="http://schemas.microsoft.com/office/drawing/2014/main" id="{4F6E8541-C113-2997-12CF-3162C1756A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75" r="6937"/>
          <a:stretch/>
        </p:blipFill>
        <p:spPr bwMode="auto">
          <a:xfrm>
            <a:off x="6717792" y="2021523"/>
            <a:ext cx="5474208" cy="360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03903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F66E0-D8F4-AD47-CBB4-9F3416614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 in Parts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992F3-8C06-5127-7620-D0BBD55D5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The LSTM layers use this design to better deal with sequential data. </a:t>
            </a:r>
          </a:p>
          <a:p>
            <a:r>
              <a:rPr lang="en-US" dirty="0"/>
              <a:t>The state (top) part of the model remembers information from previously. </a:t>
            </a:r>
          </a:p>
          <a:p>
            <a:pPr lvl="1"/>
            <a:r>
              <a:rPr lang="en-US" dirty="0"/>
              <a:t>The forget/memory gates try to keep the important stuff in the memory. </a:t>
            </a:r>
          </a:p>
          <a:p>
            <a:r>
              <a:rPr lang="en-US" dirty="0"/>
              <a:t>The output provides a prediction, as normal. </a:t>
            </a:r>
          </a:p>
          <a:p>
            <a:r>
              <a:rPr lang="en-US" dirty="0"/>
              <a:t>Each of those predictions depends on two things:</a:t>
            </a:r>
          </a:p>
          <a:p>
            <a:pPr lvl="1"/>
            <a:r>
              <a:rPr lang="en-US" dirty="0"/>
              <a:t>The new data in this record - this is exactly what we are used to. </a:t>
            </a:r>
          </a:p>
          <a:p>
            <a:pPr lvl="1"/>
            <a:r>
              <a:rPr lang="en-US" dirty="0"/>
              <a:t>The data from the state, what the model remembers – this is the new part. </a:t>
            </a:r>
          </a:p>
          <a:p>
            <a:r>
              <a:rPr lang="en-US" dirty="0"/>
              <a:t>The ‘features’ extracted in the top layers are made by combining info from different steps. </a:t>
            </a:r>
          </a:p>
          <a:p>
            <a:pPr lvl="1"/>
            <a:r>
              <a:rPr lang="en-US" dirty="0"/>
              <a:t>Just as the ‘features’ extracted in a CNN are made by combining different pixels. </a:t>
            </a:r>
          </a:p>
        </p:txBody>
      </p:sp>
    </p:spTree>
    <p:extLst>
      <p:ext uri="{BB962C8B-B14F-4D97-AF65-F5344CB8AC3E}">
        <p14:creationId xmlns:p14="http://schemas.microsoft.com/office/powerpoint/2010/main" val="35802080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ABFA1-2A4F-9A43-A921-78EECCCD6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 In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44EED-8FB4-5443-A418-B1008BC39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9744" y="1853754"/>
            <a:ext cx="10667999" cy="4272726"/>
          </a:xfrm>
        </p:spPr>
        <p:txBody>
          <a:bodyPr/>
          <a:lstStyle/>
          <a:p>
            <a:r>
              <a:rPr lang="en-US" dirty="0"/>
              <a:t>LSTM can “hold” information from the past. </a:t>
            </a:r>
          </a:p>
          <a:p>
            <a:r>
              <a:rPr lang="en-US" dirty="0"/>
              <a:t>During training, the model keeps things that are useful and forgets things less useful. </a:t>
            </a:r>
          </a:p>
          <a:p>
            <a:pPr lvl="1"/>
            <a:r>
              <a:rPr lang="en-US" dirty="0"/>
              <a:t>Important previous information is held. </a:t>
            </a:r>
          </a:p>
          <a:p>
            <a:pPr lvl="1"/>
            <a:r>
              <a:rPr lang="en-US" dirty="0"/>
              <a:t>Temporal awareness!</a:t>
            </a:r>
          </a:p>
          <a:p>
            <a:r>
              <a:rPr lang="en-US" dirty="0"/>
              <a:t>LSTMs are very good at many scenarios:</a:t>
            </a:r>
          </a:p>
          <a:p>
            <a:pPr lvl="1"/>
            <a:r>
              <a:rPr lang="en-US" dirty="0"/>
              <a:t>Time series applications. </a:t>
            </a:r>
          </a:p>
          <a:p>
            <a:pPr lvl="1"/>
            <a:r>
              <a:rPr lang="en-US" dirty="0"/>
              <a:t>Speech and NLP applications – e.g. translation, Google’s phone answer AI, chatbots. </a:t>
            </a:r>
          </a:p>
          <a:p>
            <a:pPr lvl="1"/>
            <a:r>
              <a:rPr lang="en-US" dirty="0"/>
              <a:t>Generative models (think GMM) – creating text from a model. </a:t>
            </a:r>
          </a:p>
          <a:p>
            <a:r>
              <a:rPr lang="en-US" dirty="0"/>
              <a:t>Transformers have often surpassed these in practice – better able to manage state over time. </a:t>
            </a:r>
          </a:p>
        </p:txBody>
      </p:sp>
    </p:spTree>
    <p:extLst>
      <p:ext uri="{BB962C8B-B14F-4D97-AF65-F5344CB8AC3E}">
        <p14:creationId xmlns:p14="http://schemas.microsoft.com/office/powerpoint/2010/main" val="26640095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15EB7-5B70-6544-9207-05FB14CC5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C7172-3AFD-B844-8099-EC85CE0F9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Long Short Term Memory: Deep Dive | by Anantech.ai | FAUN Publication">
            <a:extLst>
              <a:ext uri="{FF2B5EF4-FFF2-40B4-BE49-F238E27FC236}">
                <a16:creationId xmlns:a16="http://schemas.microsoft.com/office/drawing/2014/main" id="{5AA00350-0C4E-614B-8A9D-755017020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146" y="-7531"/>
            <a:ext cx="9917708" cy="6873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23997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498BA-8ED5-FE94-206B-485412178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Go Bi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87BD-514D-318E-25CF-CC020DF0E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7349" y="2015732"/>
            <a:ext cx="5534651" cy="4037749"/>
          </a:xfrm>
        </p:spPr>
        <p:txBody>
          <a:bodyPr/>
          <a:lstStyle/>
          <a:p>
            <a:r>
              <a:rPr lang="en-US" dirty="0"/>
              <a:t>There are LSTM variations like bidirectional. </a:t>
            </a:r>
          </a:p>
          <a:p>
            <a:r>
              <a:rPr lang="en-US" dirty="0"/>
              <a:t>Bidirectional models have a ‘backwards’ layer. </a:t>
            </a:r>
          </a:p>
          <a:p>
            <a:pPr lvl="1"/>
            <a:r>
              <a:rPr lang="en-US" dirty="0"/>
              <a:t>Data is fed through here in reverse. </a:t>
            </a:r>
          </a:p>
          <a:p>
            <a:r>
              <a:rPr lang="en-US" dirty="0"/>
              <a:t>Helps capture longer dependencies. </a:t>
            </a:r>
          </a:p>
          <a:p>
            <a:r>
              <a:rPr lang="en-US" dirty="0"/>
              <a:t>For/back are merged with some math (option). </a:t>
            </a:r>
          </a:p>
          <a:p>
            <a:r>
              <a:rPr lang="en-US" dirty="0"/>
              <a:t>Can help performance in many cases. </a:t>
            </a:r>
          </a:p>
          <a:p>
            <a:pPr lvl="1"/>
            <a:r>
              <a:rPr lang="en-US" dirty="0"/>
              <a:t>Can be much slower. </a:t>
            </a:r>
          </a:p>
          <a:p>
            <a:pPr lvl="1"/>
            <a:r>
              <a:rPr lang="en-US" dirty="0"/>
              <a:t>Data requirements increase. 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CB02BDA-9379-1452-F23C-AE98AAE68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53754"/>
            <a:ext cx="6657349" cy="3612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81404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5C77A-E8E2-9246-9369-F3FC32C19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Word2Vec…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8D46B-96D5-7A72-A5AF-9E1A51321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087" y="1853754"/>
            <a:ext cx="4308614" cy="4199727"/>
          </a:xfrm>
        </p:spPr>
        <p:txBody>
          <a:bodyPr/>
          <a:lstStyle/>
          <a:p>
            <a:r>
              <a:rPr lang="en-US" dirty="0"/>
              <a:t>In the top example, the model has no idea what happens after Teddy. </a:t>
            </a:r>
          </a:p>
          <a:p>
            <a:r>
              <a:rPr lang="en-US" dirty="0"/>
              <a:t>In the bottom example, the backwards part of the model sees Roosevelt, so it can capture that relationship. </a:t>
            </a:r>
          </a:p>
          <a:p>
            <a:r>
              <a:rPr lang="en-US" dirty="0"/>
              <a:t>Parts of speech are often not one word after another. </a:t>
            </a:r>
          </a:p>
          <a:p>
            <a:r>
              <a:rPr lang="en-US" dirty="0"/>
              <a:t>Can understand the sequence in both directions. 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3633685-81B0-DCE4-D0A2-F7468B84E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7700" y="2184847"/>
            <a:ext cx="7734300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CA7BF79-2477-E353-AF46-29ECA41CF282}"/>
              </a:ext>
            </a:extLst>
          </p:cNvPr>
          <p:cNvSpPr txBox="1">
            <a:spLocks/>
          </p:cNvSpPr>
          <p:nvPr/>
        </p:nvSpPr>
        <p:spPr>
          <a:xfrm>
            <a:off x="4457698" y="5004248"/>
            <a:ext cx="7734299" cy="104923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“If I know this thing is coming, what do I expect to see before it” vs. ”If I know what happened before, what do I expect next.”</a:t>
            </a:r>
          </a:p>
        </p:txBody>
      </p:sp>
    </p:spTree>
    <p:extLst>
      <p:ext uri="{BB962C8B-B14F-4D97-AF65-F5344CB8AC3E}">
        <p14:creationId xmlns:p14="http://schemas.microsoft.com/office/powerpoint/2010/main" val="2599554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04F4-7D39-6904-6E1C-6D5A6B2F4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LSTM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DA7B0-F84E-F375-4A2A-0FD38E416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 descr="A schematic diagram of a 3D array for LSTM | Download Scientific Diagram">
            <a:extLst>
              <a:ext uri="{FF2B5EF4-FFF2-40B4-BE49-F238E27FC236}">
                <a16:creationId xmlns:a16="http://schemas.microsoft.com/office/drawing/2014/main" id="{E58B50F4-628D-C125-C37D-2E52F0EE7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" y="2015732"/>
            <a:ext cx="10795000" cy="473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24648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0476E-305A-DD3F-E0F9-DE354438E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3367A-475E-EF51-2887-DB0E81070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853754"/>
            <a:ext cx="10908550" cy="4199728"/>
          </a:xfrm>
        </p:spPr>
        <p:txBody>
          <a:bodyPr/>
          <a:lstStyle/>
          <a:p>
            <a:r>
              <a:rPr lang="en-US" dirty="0"/>
              <a:t>Using an LSTM model requires that we deal with some complex shapes in our data. </a:t>
            </a:r>
          </a:p>
          <a:p>
            <a:pPr lvl="1"/>
            <a:r>
              <a:rPr lang="en-US" dirty="0"/>
              <a:t>Using “normal models”, each instance is one row of data. </a:t>
            </a:r>
          </a:p>
          <a:p>
            <a:pPr lvl="1"/>
            <a:r>
              <a:rPr lang="en-US" dirty="0"/>
              <a:t>In an LSTM, each instance contains several past features and several future inputs. </a:t>
            </a:r>
          </a:p>
          <a:p>
            <a:r>
              <a:rPr lang="en-US" dirty="0"/>
              <a:t>The shape of the data going into the model will generally be:</a:t>
            </a:r>
          </a:p>
          <a:p>
            <a:pPr lvl="1"/>
            <a:r>
              <a:rPr lang="en-US" dirty="0"/>
              <a:t>X data - (</a:t>
            </a:r>
            <a:r>
              <a:rPr lang="en-US" dirty="0" err="1"/>
              <a:t>Batch_size</a:t>
            </a:r>
            <a:r>
              <a:rPr lang="en-US" dirty="0"/>
              <a:t>, </a:t>
            </a:r>
            <a:r>
              <a:rPr lang="en-US" dirty="0" err="1"/>
              <a:t>length_of_lookback</a:t>
            </a:r>
            <a:r>
              <a:rPr lang="en-US" dirty="0"/>
              <a:t>, </a:t>
            </a:r>
            <a:r>
              <a:rPr lang="en-US" dirty="0" err="1"/>
              <a:t>number_of_features</a:t>
            </a:r>
            <a:r>
              <a:rPr lang="en-US" dirty="0"/>
              <a:t>). </a:t>
            </a:r>
          </a:p>
          <a:p>
            <a:pPr lvl="1"/>
            <a:r>
              <a:rPr lang="en-US" dirty="0"/>
              <a:t>Y data – number of predictions ahead. </a:t>
            </a:r>
          </a:p>
          <a:p>
            <a:r>
              <a:rPr lang="en-US" dirty="0"/>
              <a:t>For most data, we’ll need to construct a dataset to look like this. </a:t>
            </a:r>
          </a:p>
          <a:p>
            <a:pPr lvl="1"/>
            <a:r>
              <a:rPr lang="en-US" dirty="0"/>
              <a:t>We’ll probably need a function to take our data, loop through the rows, and assemble all values from different rows into multi-dimensional data for us. </a:t>
            </a:r>
          </a:p>
          <a:p>
            <a:r>
              <a:rPr lang="en-US" dirty="0"/>
              <a:t>This can be a bit annoying and easy to make a mistake on – be careful.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AAD8F2-03BE-BF7E-01CB-747D95560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5628" y="2450592"/>
            <a:ext cx="3606372" cy="238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6054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27187-82E3-75C6-62F7-C45EE7E59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BAB4C-C3A4-7859-C9BE-F7DA0B3EB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Using Recurrent Neural Networks in DL4J - Deeplearning4j: Open-source,  Distributed Deep Learning for the JVM">
            <a:extLst>
              <a:ext uri="{FF2B5EF4-FFF2-40B4-BE49-F238E27FC236}">
                <a16:creationId xmlns:a16="http://schemas.microsoft.com/office/drawing/2014/main" id="{95D2A691-A70A-5847-D5CE-88AA544C4E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19" y="417443"/>
            <a:ext cx="12146718" cy="6042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93240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2A7A8-F413-FD2C-185E-9B0663671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F4518-83BA-3072-0EDD-B7EC0EAC7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LSTM 의 Input Shape정리 | HK Playground">
            <a:extLst>
              <a:ext uri="{FF2B5EF4-FFF2-40B4-BE49-F238E27FC236}">
                <a16:creationId xmlns:a16="http://schemas.microsoft.com/office/drawing/2014/main" id="{FC2573BC-F6CC-4D53-56B4-EB623D529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825" y="0"/>
            <a:ext cx="91487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36959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9D556-F036-B311-60DD-F83B2706C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Series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21334-32FB-2909-3380-59BE2D351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Data usually needs to be reshaped to be useful. </a:t>
            </a:r>
          </a:p>
          <a:p>
            <a:r>
              <a:rPr lang="en-US" dirty="0"/>
              <a:t>The shape of our output can differ here.</a:t>
            </a:r>
          </a:p>
          <a:p>
            <a:pPr lvl="1"/>
            <a:r>
              <a:rPr lang="en-US" dirty="0"/>
              <a:t>One node is the next prediction – the next day/week/year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We can create a multiple node output for several predictions at once. </a:t>
            </a:r>
          </a:p>
          <a:p>
            <a:r>
              <a:rPr lang="en-US" dirty="0"/>
              <a:t>I’d generally recommend deciding the data size and making a function to construct it from your data – if you have changes, set things like #records to be parameters. </a:t>
            </a:r>
          </a:p>
          <a:p>
            <a:pPr lvl="1"/>
            <a:r>
              <a:rPr lang="en-US" dirty="0"/>
              <a:t>Keep it as a separate goal form the modelling bits, and check it independently. </a:t>
            </a:r>
          </a:p>
          <a:p>
            <a:r>
              <a:rPr lang="en-US" dirty="0"/>
              <a:t>Note: there are functions to create datasets from time data in </a:t>
            </a:r>
            <a:r>
              <a:rPr lang="en-US" dirty="0" err="1"/>
              <a:t>tf</a:t>
            </a:r>
            <a:r>
              <a:rPr lang="en-US" dirty="0"/>
              <a:t>/</a:t>
            </a:r>
            <a:r>
              <a:rPr lang="en-US" dirty="0" err="1"/>
              <a:t>keras</a:t>
            </a:r>
            <a:r>
              <a:rPr lang="en-US" dirty="0"/>
              <a:t>, the examples mostly do it by hand so we can see the details. This is easy to make a mistake on. </a:t>
            </a:r>
          </a:p>
        </p:txBody>
      </p:sp>
    </p:spTree>
    <p:extLst>
      <p:ext uri="{BB962C8B-B14F-4D97-AF65-F5344CB8AC3E}">
        <p14:creationId xmlns:p14="http://schemas.microsoft.com/office/powerpoint/2010/main" val="28962515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D7079-E5A6-8B4B-2E3A-6A256485A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 in </a:t>
            </a:r>
            <a:r>
              <a:rPr lang="en-US" dirty="0" err="1"/>
              <a:t>Keras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A5917-F007-5AAD-8DC6-F1C390315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LSTM (or RNN) layers can be added just like any other layer. </a:t>
            </a:r>
          </a:p>
          <a:p>
            <a:pPr lvl="1"/>
            <a:r>
              <a:rPr lang="en-US" dirty="0"/>
              <a:t>The nodes param is roughly like the filters in a CNN model – layers have many. </a:t>
            </a:r>
          </a:p>
          <a:p>
            <a:r>
              <a:rPr lang="en-US" dirty="0"/>
              <a:t>When there’s more than one LSTM layer, we need to enable ‘</a:t>
            </a:r>
            <a:r>
              <a:rPr lang="en-US" dirty="0" err="1"/>
              <a:t>return_sequences</a:t>
            </a:r>
            <a:r>
              <a:rPr lang="en-US" dirty="0"/>
              <a:t>’. </a:t>
            </a:r>
          </a:p>
          <a:p>
            <a:r>
              <a:rPr lang="en-US" dirty="0"/>
              <a:t>The output layer normally has one node per prediction, no activation. </a:t>
            </a:r>
          </a:p>
          <a:p>
            <a:r>
              <a:rPr lang="en-US" dirty="0"/>
              <a:t>Making multiple predictions into the future is one place where custom loss is useful. </a:t>
            </a:r>
          </a:p>
          <a:p>
            <a:pPr lvl="1"/>
            <a:r>
              <a:rPr lang="en-US" dirty="0"/>
              <a:t>Could weight the value of errors for the next prediction vs the one 10 instances later. </a:t>
            </a:r>
          </a:p>
          <a:p>
            <a:pPr lvl="1"/>
            <a:r>
              <a:rPr lang="en-US" dirty="0"/>
              <a:t>Differing considerations could make accuracy at different time steps matter more. </a:t>
            </a:r>
          </a:p>
          <a:p>
            <a:r>
              <a:rPr lang="en-US" dirty="0"/>
              <a:t>LSTM layers are often/usually paired with a dropout (and/or regular regularization). </a:t>
            </a:r>
          </a:p>
          <a:p>
            <a:pPr lvl="1"/>
            <a:r>
              <a:rPr lang="en-US" dirty="0"/>
              <a:t>We can add it as a parameter to the layer directly.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1382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3A983-1BC8-44D9-F818-1A4BB2795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Tuning LSTM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514EB-A4D9-7797-8DF4-F086374E3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Like other models, we generally want to have a larger model for a larger problem. </a:t>
            </a:r>
          </a:p>
          <a:p>
            <a:pPr lvl="1"/>
            <a:r>
              <a:rPr lang="en-US" dirty="0"/>
              <a:t>Estimate - Units = samples in training data / ((# input neurons + # output neurons) * alpha)</a:t>
            </a:r>
          </a:p>
          <a:p>
            <a:pPr lvl="1"/>
            <a:r>
              <a:rPr lang="en-US" dirty="0"/>
              <a:t>Unstructured problems are more likely to benefit from more layers, each with fewer units. </a:t>
            </a:r>
          </a:p>
          <a:p>
            <a:pPr lvl="1"/>
            <a:r>
              <a:rPr lang="en-US" dirty="0"/>
              <a:t>Structured problems (sales or stock prices) may benefit from fewer, larger layers. </a:t>
            </a:r>
          </a:p>
          <a:p>
            <a:r>
              <a:rPr lang="en-US" dirty="0"/>
              <a:t>Hyperparameter tuning is back on the menu, boys!</a:t>
            </a:r>
          </a:p>
          <a:p>
            <a:pPr lvl="1"/>
            <a:r>
              <a:rPr lang="en-US" dirty="0"/>
              <a:t>LSTM models can be determined via the </a:t>
            </a:r>
            <a:r>
              <a:rPr lang="en-US" dirty="0" err="1"/>
              <a:t>Keras</a:t>
            </a:r>
            <a:r>
              <a:rPr lang="en-US" dirty="0"/>
              <a:t> Tuner – layers, units, drop, other options… </a:t>
            </a:r>
          </a:p>
          <a:p>
            <a:pPr lvl="1"/>
            <a:r>
              <a:rPr lang="en-US" dirty="0"/>
              <a:t>Bayesian or Hyperband may help with time, as might sampling (smartly) the data. </a:t>
            </a:r>
          </a:p>
          <a:p>
            <a:pPr lvl="1"/>
            <a:r>
              <a:rPr lang="en-US" dirty="0"/>
              <a:t>LSTM models often employ a dropout for regularization, it performs well. </a:t>
            </a:r>
          </a:p>
          <a:p>
            <a:pPr lvl="1"/>
            <a:r>
              <a:rPr lang="en-US" dirty="0"/>
              <a:t>Large numbers of epochs are often helpful, possibly with small batches (~8-96). </a:t>
            </a:r>
          </a:p>
          <a:p>
            <a:pPr lvl="2"/>
            <a:r>
              <a:rPr lang="en-US" dirty="0"/>
              <a:t>Think – update model every day vs every </a:t>
            </a:r>
            <a:r>
              <a:rPr lang="en-US"/>
              <a:t>100 days.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0625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EB505-B6F3-29ED-A38F-2BCF36E0E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E91F0-39FA-34CD-55F6-447104447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448" y="1853754"/>
            <a:ext cx="11655551" cy="4199727"/>
          </a:xfrm>
        </p:spPr>
        <p:txBody>
          <a:bodyPr>
            <a:normAutofit/>
          </a:bodyPr>
          <a:lstStyle/>
          <a:p>
            <a:r>
              <a:rPr lang="en-US" dirty="0"/>
              <a:t>RNN based models are often used for text/NLP problems. </a:t>
            </a:r>
          </a:p>
          <a:p>
            <a:r>
              <a:rPr lang="en-US" dirty="0"/>
              <a:t>We need to generate embeddings to represent the value of the tokens. </a:t>
            </a:r>
          </a:p>
          <a:p>
            <a:pPr lvl="1"/>
            <a:r>
              <a:rPr lang="en-US" dirty="0"/>
              <a:t>Recall – count, </a:t>
            </a:r>
            <a:r>
              <a:rPr lang="en-US" dirty="0" err="1"/>
              <a:t>tf-idf</a:t>
            </a:r>
            <a:r>
              <a:rPr lang="en-US" dirty="0"/>
              <a:t>, and their </a:t>
            </a:r>
            <a:r>
              <a:rPr lang="en-US" dirty="0" err="1"/>
              <a:t>tsvd</a:t>
            </a:r>
            <a:r>
              <a:rPr lang="en-US" dirty="0"/>
              <a:t> outputs are ‘simple’ ways to represent tokens. </a:t>
            </a:r>
          </a:p>
          <a:p>
            <a:pPr lvl="1"/>
            <a:r>
              <a:rPr lang="en-US" dirty="0"/>
              <a:t>Word2Vec generated embeddings for tokens – multi-dimensional vectors to convey meaning.</a:t>
            </a:r>
          </a:p>
          <a:p>
            <a:r>
              <a:rPr lang="en-US" dirty="0"/>
              <a:t>In neural networks we can use an embedding layer to do it for us. </a:t>
            </a:r>
          </a:p>
          <a:p>
            <a:pPr lvl="1"/>
            <a:r>
              <a:rPr lang="en-US" dirty="0"/>
              <a:t>If in the model, this would be done on GPU (this is what the examples do). </a:t>
            </a:r>
          </a:p>
          <a:p>
            <a:pPr lvl="1"/>
            <a:r>
              <a:rPr lang="en-US" dirty="0"/>
              <a:t>You could also map it as part of the pipeline to get it on CPU. </a:t>
            </a:r>
          </a:p>
          <a:p>
            <a:pPr lvl="1"/>
            <a:r>
              <a:rPr lang="en-US" dirty="0"/>
              <a:t>This could be a slow step if data is big – real NLP embedding spaces are massive and vocabs are larger.</a:t>
            </a:r>
          </a:p>
          <a:p>
            <a:r>
              <a:rPr lang="en-US" dirty="0"/>
              <a:t>In general, NN will perform well with massive data and large embedding spaces – NNs win with complexity.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1E92BB-50D6-8BF3-36F9-794F454DE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176" y="-1"/>
            <a:ext cx="3925824" cy="2758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1710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0A867-99E2-904B-62B6-7C2A0C6D8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Being BI is in… if it Performs better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B5499-96C7-43AF-E68F-D8040AB79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Bidirectional LSTM layers feed the previous sequence bot forwards and backwards. </a:t>
            </a:r>
          </a:p>
          <a:p>
            <a:r>
              <a:rPr lang="en-US" dirty="0"/>
              <a:t>Common in NLP applications. </a:t>
            </a:r>
          </a:p>
        </p:txBody>
      </p:sp>
    </p:spTree>
    <p:extLst>
      <p:ext uri="{BB962C8B-B14F-4D97-AF65-F5344CB8AC3E}">
        <p14:creationId xmlns:p14="http://schemas.microsoft.com/office/powerpoint/2010/main" val="9040972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A5EE1-4AAC-0801-3067-67CFEA11C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47CC8-CAB3-0B63-7176-21FD7965C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LSTMs can be used to generate things, like text. </a:t>
            </a:r>
          </a:p>
          <a:p>
            <a:r>
              <a:rPr lang="en-US" dirty="0"/>
              <a:t>Text generation is simpler than it sounds at first glance. </a:t>
            </a:r>
          </a:p>
          <a:p>
            <a:pPr lvl="1"/>
            <a:r>
              <a:rPr lang="en-US" dirty="0"/>
              <a:t>Train a model to be able to predict the next word (or token) from text. </a:t>
            </a:r>
          </a:p>
          <a:p>
            <a:pPr lvl="1"/>
            <a:r>
              <a:rPr lang="en-US" dirty="0"/>
              <a:t>Generate text by taking in the previous text, and predict the next word.</a:t>
            </a:r>
          </a:p>
          <a:p>
            <a:pPr lvl="1"/>
            <a:r>
              <a:rPr lang="en-US" dirty="0"/>
              <a:t>The ‘previous text’ + ‘predicted word’ is then the source for the next prediction. </a:t>
            </a:r>
          </a:p>
          <a:p>
            <a:r>
              <a:rPr lang="en-US" dirty="0"/>
              <a:t>We can treat it as 1 word tokens, large LLMs may have different splits – it varies. </a:t>
            </a:r>
          </a:p>
          <a:p>
            <a:pPr lvl="1"/>
            <a:r>
              <a:rPr lang="en-US" dirty="0"/>
              <a:t>E.g. predict a root word, then the correct suffix: run to running or runner. </a:t>
            </a:r>
          </a:p>
          <a:p>
            <a:pPr lvl="1"/>
            <a:r>
              <a:rPr lang="en-US" dirty="0"/>
              <a:t>2+ grams for thinks like ‘downhill skiing’ and ‘oven glove’. </a:t>
            </a:r>
          </a:p>
        </p:txBody>
      </p:sp>
    </p:spTree>
    <p:extLst>
      <p:ext uri="{BB962C8B-B14F-4D97-AF65-F5344CB8AC3E}">
        <p14:creationId xmlns:p14="http://schemas.microsoft.com/office/powerpoint/2010/main" val="1855590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078A6-AE76-455E-16FF-DBE689E24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Got the Right Temperature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58B8B-5A13-1308-9D5C-91BCB28AD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Generative models usually utilize a parameter called temperature. </a:t>
            </a:r>
          </a:p>
          <a:p>
            <a:r>
              <a:rPr lang="en-US" dirty="0"/>
              <a:t>Temperature basically introduces randomness to a prediction. </a:t>
            </a:r>
          </a:p>
          <a:p>
            <a:pPr lvl="1"/>
            <a:r>
              <a:rPr lang="en-US" dirty="0"/>
              <a:t>A model will default to try to predict the correct (most likely) next token. </a:t>
            </a:r>
          </a:p>
          <a:p>
            <a:pPr lvl="1"/>
            <a:r>
              <a:rPr lang="en-US" dirty="0"/>
              <a:t>People don’t really speak like that, especially if writing one piece of prose. </a:t>
            </a:r>
          </a:p>
          <a:p>
            <a:pPr lvl="1"/>
            <a:r>
              <a:rPr lang="en-US" dirty="0"/>
              <a:t>Normal sounding text will use synonyms an alternate terms to avoid sounding robotic. </a:t>
            </a:r>
          </a:p>
          <a:p>
            <a:r>
              <a:rPr lang="en-US" dirty="0"/>
              <a:t>Temperature makes the actual prediction probabilistic. </a:t>
            </a:r>
          </a:p>
          <a:p>
            <a:pPr lvl="1"/>
            <a:r>
              <a:rPr lang="en-US" dirty="0"/>
              <a:t>The ‘correct’ answer is most likely, but we are choosing from all likely predictions. </a:t>
            </a:r>
          </a:p>
          <a:p>
            <a:pPr lvl="1"/>
            <a:r>
              <a:rPr lang="en-US" dirty="0"/>
              <a:t>Sometimes we want to return a word that is not optimal, but reasonably likely. </a:t>
            </a:r>
          </a:p>
          <a:p>
            <a:pPr lvl="1"/>
            <a:r>
              <a:rPr lang="en-US" dirty="0"/>
              <a:t>The higher the temperature is, the more likely we are to choose an imperfect option. </a:t>
            </a:r>
          </a:p>
          <a:p>
            <a:pPr lvl="1"/>
            <a:r>
              <a:rPr lang="en-US" dirty="0"/>
              <a:t>Multiple implementations of this idea can exist. </a:t>
            </a:r>
          </a:p>
        </p:txBody>
      </p:sp>
    </p:spTree>
    <p:extLst>
      <p:ext uri="{BB962C8B-B14F-4D97-AF65-F5344CB8AC3E}">
        <p14:creationId xmlns:p14="http://schemas.microsoft.com/office/powerpoint/2010/main" val="18896352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BD4AB-1131-C7BB-2DCF-1D6BF9FC4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43069-FA3D-B363-3351-CFE53FEEF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10117569" cy="4278689"/>
          </a:xfrm>
        </p:spPr>
        <p:txBody>
          <a:bodyPr>
            <a:normAutofit/>
          </a:bodyPr>
          <a:lstStyle/>
          <a:p>
            <a:r>
              <a:rPr lang="en-US" dirty="0"/>
              <a:t>Sequential problems are common – prices of anything traded, weather, “life stuff”,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Highlight an example of real-world challenge for analysts – defining the </a:t>
            </a:r>
            <a:r>
              <a:rPr lang="en-US" i="1" dirty="0"/>
              <a:t>type</a:t>
            </a:r>
            <a:r>
              <a:rPr lang="en-US" dirty="0"/>
              <a:t> of solution. </a:t>
            </a:r>
          </a:p>
          <a:p>
            <a:pPr lvl="1"/>
            <a:r>
              <a:rPr lang="en-US" dirty="0"/>
              <a:t>Classification/regression are relatively simple in their structure, or they can be. </a:t>
            </a:r>
          </a:p>
          <a:p>
            <a:pPr lvl="1"/>
            <a:r>
              <a:rPr lang="en-US" dirty="0"/>
              <a:t>We have a target to predict, features we can use, and we can make a model to predict y from X. </a:t>
            </a:r>
          </a:p>
          <a:p>
            <a:pPr lvl="1"/>
            <a:r>
              <a:rPr lang="en-US" dirty="0"/>
              <a:t>Sequential models bring ambiguity to the forefront more – how far in advance can we predict? Should we use </a:t>
            </a:r>
            <a:r>
              <a:rPr lang="en-US" i="1" dirty="0"/>
              <a:t>any</a:t>
            </a:r>
            <a:r>
              <a:rPr lang="en-US" dirty="0"/>
              <a:t> other features? Can we use our predictions to feed other predictions?</a:t>
            </a:r>
          </a:p>
          <a:p>
            <a:r>
              <a:rPr lang="en-US" dirty="0"/>
              <a:t>Many time series (esp. long term) problems inherently involve ‘features’ we (likely) don’t have. </a:t>
            </a:r>
          </a:p>
          <a:p>
            <a:pPr lvl="1"/>
            <a:r>
              <a:rPr lang="en-US" dirty="0"/>
              <a:t>Commodity prices, climate trends, or product sales are often highly impacted by things like laws, regulations, or decisions from other actors that are hard or impossible to capture in data. </a:t>
            </a:r>
          </a:p>
          <a:p>
            <a:pPr lvl="1"/>
            <a:r>
              <a:rPr lang="en-US" dirty="0"/>
              <a:t>Large and complex models can ‘learn around’ this, but with limits. ‘More data’ often not as useful. </a:t>
            </a:r>
          </a:p>
        </p:txBody>
      </p:sp>
    </p:spTree>
    <p:extLst>
      <p:ext uri="{BB962C8B-B14F-4D97-AF65-F5344CB8AC3E}">
        <p14:creationId xmlns:p14="http://schemas.microsoft.com/office/powerpoint/2010/main" val="245411479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{2C098A6B-0D6A-6740-AB07-6AAE29A34FE3}tf10001119</Template>
  <TotalTime>14317</TotalTime>
  <Words>2847</Words>
  <Application>Microsoft Macintosh PowerPoint</Application>
  <PresentationFormat>Widescreen</PresentationFormat>
  <Paragraphs>237</Paragraphs>
  <Slides>41</Slides>
  <Notes>0</Notes>
  <HiddenSlides>7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Gill Sans MT</vt:lpstr>
      <vt:lpstr>Gallery</vt:lpstr>
      <vt:lpstr>Keep The House</vt:lpstr>
      <vt:lpstr>Recurrent Neural Networks</vt:lpstr>
      <vt:lpstr>RNN Basics</vt:lpstr>
      <vt:lpstr>Big Difference – ‘Looping’</vt:lpstr>
      <vt:lpstr>Recurrent Neural Networks</vt:lpstr>
      <vt:lpstr>RNN Depiction</vt:lpstr>
      <vt:lpstr>RNN Implementation</vt:lpstr>
      <vt:lpstr>RNN Basic Structure</vt:lpstr>
      <vt:lpstr>Applications</vt:lpstr>
      <vt:lpstr>PowerPoint Presentation</vt:lpstr>
      <vt:lpstr>PowerPoint Presentation</vt:lpstr>
      <vt:lpstr>Rnn Basic Concepts</vt:lpstr>
      <vt:lpstr>Mo’ Gradients, Mo’ Problems</vt:lpstr>
      <vt:lpstr>Training a RNN and Issues</vt:lpstr>
      <vt:lpstr>Enter Long-Short Term Memory…</vt:lpstr>
      <vt:lpstr>Long Short-Term Memory</vt:lpstr>
      <vt:lpstr>PowerPoint Presentation</vt:lpstr>
      <vt:lpstr>Forget Gate</vt:lpstr>
      <vt:lpstr>Cell State</vt:lpstr>
      <vt:lpstr>Input Gate</vt:lpstr>
      <vt:lpstr>Output Gate</vt:lpstr>
      <vt:lpstr>State it Clearly</vt:lpstr>
      <vt:lpstr>Data flows through, in order…</vt:lpstr>
      <vt:lpstr>Training and Activation</vt:lpstr>
      <vt:lpstr>LSTM in Parts</vt:lpstr>
      <vt:lpstr>LSTM In Effect</vt:lpstr>
      <vt:lpstr>PowerPoint Presentation</vt:lpstr>
      <vt:lpstr>Let’s Go Bi</vt:lpstr>
      <vt:lpstr>Recall Word2Vec…</vt:lpstr>
      <vt:lpstr>Building LSTM Data</vt:lpstr>
      <vt:lpstr>LSTM Data</vt:lpstr>
      <vt:lpstr>PowerPoint Presentation</vt:lpstr>
      <vt:lpstr>PowerPoint Presentation</vt:lpstr>
      <vt:lpstr>Time Series Data</vt:lpstr>
      <vt:lpstr>LSTM in Keras</vt:lpstr>
      <vt:lpstr>Tuning LSTM Models</vt:lpstr>
      <vt:lpstr>Text Notes</vt:lpstr>
      <vt:lpstr>Being BI is in… if it Performs better</vt:lpstr>
      <vt:lpstr>Generative Models</vt:lpstr>
      <vt:lpstr>Got the Right Temperature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Recurrent Neural Networks</dc:title>
  <dc:creator>Akeem Semper</dc:creator>
  <cp:lastModifiedBy>Akeem Semper</cp:lastModifiedBy>
  <cp:revision>34</cp:revision>
  <dcterms:created xsi:type="dcterms:W3CDTF">2022-04-05T17:46:49Z</dcterms:created>
  <dcterms:modified xsi:type="dcterms:W3CDTF">2025-04-08T20:51:11Z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2025-03-31T19:21:29Z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81ccdabd-cc91-421d-80b7-24cc67936ad6</vt:lpwstr>
  </property>
  <property fmtid="{D5CDD505-2E9C-101B-9397-08002B2CF9AE}" pid="8" name="MSIP_Label_10877899-02b0-462c-b2a9-b7d15c4f96fe_ContentBits">
    <vt:lpwstr>0</vt:lpwstr>
  </property>
</Properties>
</file>