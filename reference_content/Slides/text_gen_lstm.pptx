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78" r:id="rId3"/>
    <p:sldId id="256" r:id="rId4"/>
    <p:sldId id="258" r:id="rId5"/>
    <p:sldId id="259" r:id="rId6"/>
    <p:sldId id="289" r:id="rId7"/>
    <p:sldId id="272" r:id="rId8"/>
    <p:sldId id="273" r:id="rId9"/>
    <p:sldId id="257" r:id="rId10"/>
    <p:sldId id="262" r:id="rId11"/>
    <p:sldId id="260" r:id="rId12"/>
    <p:sldId id="283" r:id="rId13"/>
    <p:sldId id="279" r:id="rId14"/>
    <p:sldId id="261" r:id="rId15"/>
    <p:sldId id="285" r:id="rId16"/>
    <p:sldId id="284" r:id="rId17"/>
    <p:sldId id="263" r:id="rId18"/>
    <p:sldId id="264" r:id="rId19"/>
    <p:sldId id="286" r:id="rId20"/>
    <p:sldId id="288" r:id="rId21"/>
    <p:sldId id="274" r:id="rId22"/>
    <p:sldId id="287" r:id="rId23"/>
    <p:sldId id="265" r:id="rId24"/>
    <p:sldId id="266" r:id="rId25"/>
    <p:sldId id="267" r:id="rId26"/>
    <p:sldId id="280" r:id="rId27"/>
    <p:sldId id="281" r:id="rId28"/>
    <p:sldId id="277" r:id="rId29"/>
    <p:sldId id="268" r:id="rId30"/>
    <p:sldId id="275" r:id="rId31"/>
    <p:sldId id="290" r:id="rId32"/>
    <p:sldId id="282" r:id="rId33"/>
    <p:sldId id="291" r:id="rId34"/>
    <p:sldId id="271" r:id="rId35"/>
    <p:sldId id="269" r:id="rId36"/>
    <p:sldId id="27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10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2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04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37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97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6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1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04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53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68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F02AF-78C0-C14E-AD4B-AA630D193019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C21DD24-7870-9543-B510-756F7D4D79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96E6-1989-3894-BE63-3B20FA8E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D87D5-E880-1186-F0E5-8E4C7D11C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Generative models. (Ch8, first part. Has a character-by-character example). 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Text generation with LSTMs. </a:t>
            </a:r>
          </a:p>
          <a:p>
            <a:pPr lvl="1"/>
            <a:r>
              <a:rPr lang="en-US" dirty="0"/>
              <a:t>Data preparation for generation – mostly manually. </a:t>
            </a:r>
          </a:p>
          <a:p>
            <a:pPr lvl="1"/>
            <a:r>
              <a:rPr lang="en-US" dirty="0"/>
              <a:t>Text padding. </a:t>
            </a:r>
          </a:p>
          <a:p>
            <a:pPr lvl="1"/>
            <a:r>
              <a:rPr lang="en-US" dirty="0"/>
              <a:t>Bidirectional LSTM layers. </a:t>
            </a:r>
          </a:p>
          <a:p>
            <a:pPr lvl="1"/>
            <a:r>
              <a:rPr lang="en-US" dirty="0"/>
              <a:t>Temperature. </a:t>
            </a:r>
          </a:p>
          <a:p>
            <a:r>
              <a:rPr lang="en-US" dirty="0"/>
              <a:t>Go on summer vacation!</a:t>
            </a:r>
          </a:p>
        </p:txBody>
      </p:sp>
    </p:spTree>
    <p:extLst>
      <p:ext uri="{BB962C8B-B14F-4D97-AF65-F5344CB8AC3E}">
        <p14:creationId xmlns:p14="http://schemas.microsoft.com/office/powerpoint/2010/main" val="391413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BBD1-B727-4634-4B8D-A2881076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19289"/>
            <a:ext cx="3944157" cy="1334465"/>
          </a:xfrm>
        </p:spPr>
        <p:txBody>
          <a:bodyPr>
            <a:normAutofit/>
          </a:bodyPr>
          <a:lstStyle/>
          <a:p>
            <a:r>
              <a:rPr lang="en-US" dirty="0"/>
              <a:t>A little Data science Humor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C0656-3E75-4202-17A2-19A3AED7A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78C3F9-B638-34C2-42A1-50BDF5F77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9"/>
          <a:stretch>
            <a:fillRect/>
          </a:stretch>
        </p:blipFill>
        <p:spPr bwMode="auto">
          <a:xfrm>
            <a:off x="5395736" y="0"/>
            <a:ext cx="6775050" cy="647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03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19A7-928A-8E8E-35F1-C85EE3203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B798F-E73B-B6DD-4907-5069BB3FD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9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52D8-F0B2-44EC-39C8-DFF50063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76DB-58D1-3987-9A5B-83E596374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LSTM models are excellent in dealing with temporal relationships in data. </a:t>
            </a:r>
          </a:p>
          <a:p>
            <a:r>
              <a:rPr lang="en-US" dirty="0"/>
              <a:t>The recurrence allows the model to maintain a ‘memory’ of what came before. </a:t>
            </a:r>
          </a:p>
          <a:p>
            <a:r>
              <a:rPr lang="en-US" dirty="0"/>
              <a:t>LSTM models are good because they are able to do several things:</a:t>
            </a:r>
          </a:p>
          <a:p>
            <a:pPr lvl="1"/>
            <a:r>
              <a:rPr lang="en-US" dirty="0"/>
              <a:t>Maintain a long-term memory. </a:t>
            </a:r>
          </a:p>
          <a:p>
            <a:pPr lvl="1"/>
            <a:r>
              <a:rPr lang="en-US" dirty="0"/>
              <a:t>Maintain a short-term memory. </a:t>
            </a:r>
          </a:p>
          <a:p>
            <a:pPr lvl="1"/>
            <a:r>
              <a:rPr lang="en-US" dirty="0"/>
              <a:t>Combine these with new data to make predictions. </a:t>
            </a:r>
          </a:p>
          <a:p>
            <a:pPr lvl="1"/>
            <a:r>
              <a:rPr lang="en-US" dirty="0"/>
              <a:t>Be selective about updating the memories with new data. </a:t>
            </a:r>
          </a:p>
          <a:p>
            <a:r>
              <a:rPr lang="en-US" dirty="0"/>
              <a:t>Each of the LSTM units has several gates to process all of this. </a:t>
            </a:r>
          </a:p>
        </p:txBody>
      </p:sp>
    </p:spTree>
    <p:extLst>
      <p:ext uri="{BB962C8B-B14F-4D97-AF65-F5344CB8AC3E}">
        <p14:creationId xmlns:p14="http://schemas.microsoft.com/office/powerpoint/2010/main" val="147216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BDAD-1A39-AF20-59E9-FF8727C7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09D2-7516-A9BD-B10B-18479C25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n Intuitive Explanation of LSTM. Recurrent Neural Networks | by Ottavio  Calzone | Medium">
            <a:extLst>
              <a:ext uri="{FF2B5EF4-FFF2-40B4-BE49-F238E27FC236}">
                <a16:creationId xmlns:a16="http://schemas.microsoft.com/office/drawing/2014/main" id="{580F7536-19EF-593F-43F6-08C23F0BA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550"/>
            <a:ext cx="12192000" cy="618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54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99AF-ABCB-C379-727E-DCEC3186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04519"/>
            <a:ext cx="11054854" cy="1049235"/>
          </a:xfrm>
        </p:spPr>
        <p:txBody>
          <a:bodyPr/>
          <a:lstStyle/>
          <a:p>
            <a:r>
              <a:rPr lang="en-US" dirty="0"/>
              <a:t>Why does this help and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01FE-2862-DE6B-0F4A-8D23EE7C3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065" y="2015732"/>
            <a:ext cx="6838789" cy="4037749"/>
          </a:xfrm>
        </p:spPr>
        <p:txBody>
          <a:bodyPr/>
          <a:lstStyle/>
          <a:p>
            <a:r>
              <a:rPr lang="en-US" dirty="0"/>
              <a:t>Predicting the next item is what time series models do. </a:t>
            </a:r>
          </a:p>
          <a:p>
            <a:r>
              <a:rPr lang="en-US" dirty="0"/>
              <a:t>Natural language is kind of a special application of that. </a:t>
            </a:r>
          </a:p>
          <a:p>
            <a:r>
              <a:rPr lang="en-US" dirty="0"/>
              <a:t>In a sentence, different parts impact other parts, e.g.</a:t>
            </a:r>
          </a:p>
          <a:p>
            <a:pPr lvl="1"/>
            <a:r>
              <a:rPr lang="en-US" dirty="0"/>
              <a:t>“The dancer is backing that ass up” vs “the donkey trainer is backing that ass up”. </a:t>
            </a:r>
          </a:p>
          <a:p>
            <a:pPr lvl="1"/>
            <a:r>
              <a:rPr lang="en-US" dirty="0"/>
              <a:t>The subject of the sentence totally changes meaning. </a:t>
            </a:r>
          </a:p>
          <a:p>
            <a:r>
              <a:rPr lang="en-US" dirty="0"/>
              <a:t>The states of the LSTM (hopefully) help the model know this. </a:t>
            </a:r>
          </a:p>
          <a:p>
            <a:pPr lvl="1"/>
            <a:r>
              <a:rPr lang="en-US" dirty="0"/>
              <a:t>What from the previous info should impact next prediction. </a:t>
            </a:r>
          </a:p>
        </p:txBody>
      </p:sp>
      <p:pic>
        <p:nvPicPr>
          <p:cNvPr id="4098" name="Picture 2" descr="Back Dat Ass Up&quot; Sticker for Sale by Tanis-Tweedale | Redbubble">
            <a:extLst>
              <a:ext uri="{FF2B5EF4-FFF2-40B4-BE49-F238E27FC236}">
                <a16:creationId xmlns:a16="http://schemas.microsoft.com/office/drawing/2014/main" id="{E009EB54-3168-062F-8B59-17A788218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3" b="5088"/>
          <a:stretch>
            <a:fillRect/>
          </a:stretch>
        </p:blipFill>
        <p:spPr bwMode="auto">
          <a:xfrm>
            <a:off x="321440" y="1853754"/>
            <a:ext cx="3894625" cy="465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simple overview of RNN, LSTM and Attention Mechanism | by Manu Chauhan |  The Startup | Medium">
            <a:extLst>
              <a:ext uri="{FF2B5EF4-FFF2-40B4-BE49-F238E27FC236}">
                <a16:creationId xmlns:a16="http://schemas.microsoft.com/office/drawing/2014/main" id="{C7114A2D-A147-99AF-EED5-9E20F8BDD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411" y="-21774"/>
            <a:ext cx="5177589" cy="187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20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70BA-981C-9181-8AC3-97C1097C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9B50-9E1E-436F-1C05-508174F05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4924"/>
            <a:ext cx="9603275" cy="4098557"/>
          </a:xfrm>
        </p:spPr>
        <p:txBody>
          <a:bodyPr/>
          <a:lstStyle/>
          <a:p>
            <a:r>
              <a:rPr lang="en-US" dirty="0"/>
              <a:t>We’ll look at this in some level of detail:</a:t>
            </a:r>
          </a:p>
          <a:p>
            <a:pPr lvl="1"/>
            <a:r>
              <a:rPr lang="en-US" dirty="0"/>
              <a:t>Constructing datasets. </a:t>
            </a:r>
          </a:p>
          <a:p>
            <a:pPr lvl="1"/>
            <a:r>
              <a:rPr lang="en-US" dirty="0"/>
              <a:t>Padding</a:t>
            </a:r>
          </a:p>
          <a:p>
            <a:pPr lvl="1"/>
            <a:r>
              <a:rPr lang="en-US" dirty="0"/>
              <a:t>Shape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In many/most applications we’d automate some of this through loaders. </a:t>
            </a:r>
          </a:p>
          <a:p>
            <a:r>
              <a:rPr lang="en-US" dirty="0"/>
              <a:t>It is common for us to need to define preprocessing. </a:t>
            </a:r>
          </a:p>
          <a:p>
            <a:pPr lvl="1"/>
            <a:r>
              <a:rPr lang="en-US" dirty="0"/>
              <a:t>E.g. provide a preprocessor to map. </a:t>
            </a:r>
          </a:p>
        </p:txBody>
      </p:sp>
    </p:spTree>
    <p:extLst>
      <p:ext uri="{BB962C8B-B14F-4D97-AF65-F5344CB8AC3E}">
        <p14:creationId xmlns:p14="http://schemas.microsoft.com/office/powerpoint/2010/main" val="290177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39A9-EDB9-B03C-D348-9FA3989E6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519"/>
            <a:ext cx="6409156" cy="1049235"/>
          </a:xfrm>
        </p:spPr>
        <p:txBody>
          <a:bodyPr/>
          <a:lstStyle/>
          <a:p>
            <a:r>
              <a:rPr lang="en-US" dirty="0"/>
              <a:t>Key Idea – Here and Elsewhere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17F3-BFE4-6832-BBB1-605F7694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21" y="2015732"/>
            <a:ext cx="11256578" cy="4037749"/>
          </a:xfrm>
        </p:spPr>
        <p:txBody>
          <a:bodyPr>
            <a:normAutofit/>
          </a:bodyPr>
          <a:lstStyle/>
          <a:p>
            <a:r>
              <a:rPr lang="en-US" dirty="0"/>
              <a:t>One key thing here is that anything can predict, we need to choose the best interpretation.</a:t>
            </a:r>
          </a:p>
          <a:p>
            <a:r>
              <a:rPr lang="en-US" dirty="0"/>
              <a:t>Any model that can calculate loss and adjust weights will ‘work’ with gradient descent. </a:t>
            </a:r>
          </a:p>
          <a:p>
            <a:pPr lvl="1"/>
            <a:r>
              <a:rPr lang="en-US" dirty="0"/>
              <a:t>In images, CNNs capture spatial data, and that tends to be a good feature set. </a:t>
            </a:r>
          </a:p>
          <a:p>
            <a:pPr lvl="1"/>
            <a:r>
              <a:rPr lang="en-US" dirty="0"/>
              <a:t>In time series (and now text), RNNs capture temporal data, that tends to work well here. </a:t>
            </a:r>
          </a:p>
          <a:p>
            <a:r>
              <a:rPr lang="en-US" dirty="0"/>
              <a:t>This representation is flexible – and can vary. </a:t>
            </a:r>
          </a:p>
          <a:p>
            <a:pPr lvl="1"/>
            <a:r>
              <a:rPr lang="en-US" dirty="0"/>
              <a:t>Some models can combine different parts to generate features. </a:t>
            </a:r>
          </a:p>
          <a:p>
            <a:pPr lvl="1"/>
            <a:r>
              <a:rPr lang="en-US" dirty="0"/>
              <a:t>Image models can use RNN parts, time-series can use CNN parts. </a:t>
            </a:r>
          </a:p>
          <a:p>
            <a:pPr lvl="1"/>
            <a:r>
              <a:rPr lang="en-US" dirty="0"/>
              <a:t>For time series in particular, the hierarchical representations seem to work well. </a:t>
            </a:r>
          </a:p>
          <a:p>
            <a:r>
              <a:rPr lang="en-US" b="1" dirty="0"/>
              <a:t>We basically just want the best features for the dense bit – CNN, statistical, RNN, NN, </a:t>
            </a:r>
            <a:r>
              <a:rPr lang="en-US" b="1" dirty="0" err="1"/>
              <a:t>etc</a:t>
            </a:r>
            <a:r>
              <a:rPr lang="en-US" b="1" dirty="0"/>
              <a:t>…</a:t>
            </a:r>
          </a:p>
        </p:txBody>
      </p:sp>
      <p:pic>
        <p:nvPicPr>
          <p:cNvPr id="1026" name="Picture 2" descr="Convolutional Neural Network (CNN) for Time Series Classification - AI  Business -Macnica">
            <a:extLst>
              <a:ext uri="{FF2B5EF4-FFF2-40B4-BE49-F238E27FC236}">
                <a16:creationId xmlns:a16="http://schemas.microsoft.com/office/drawing/2014/main" id="{4DC3FBA9-B3F0-D554-9F2D-9BD618A67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155" y="65101"/>
            <a:ext cx="5782845" cy="186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54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217F-29B9-0F13-1827-E29CCF7E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C3147-248D-7FA1-5D5F-44A93AD72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Text is one of the things that has temporal relationships in the data. </a:t>
            </a:r>
          </a:p>
          <a:p>
            <a:pPr lvl="1"/>
            <a:r>
              <a:rPr lang="en-US" dirty="0"/>
              <a:t>The order of words matter, as does what came earlier in the sequence. </a:t>
            </a:r>
          </a:p>
          <a:p>
            <a:r>
              <a:rPr lang="en-US" dirty="0"/>
              <a:t>We can use a model to predict the next word, or set of words. </a:t>
            </a:r>
          </a:p>
          <a:p>
            <a:pPr lvl="1"/>
            <a:r>
              <a:rPr lang="en-US" dirty="0"/>
              <a:t>Input – previous tokens. </a:t>
            </a:r>
          </a:p>
          <a:p>
            <a:pPr lvl="1"/>
            <a:r>
              <a:rPr lang="en-US" dirty="0"/>
              <a:t>Output – next token(s). </a:t>
            </a:r>
          </a:p>
          <a:p>
            <a:r>
              <a:rPr lang="en-US" dirty="0"/>
              <a:t>A piece of text is a weird time-series of words. </a:t>
            </a:r>
          </a:p>
          <a:p>
            <a:r>
              <a:rPr lang="en-US" dirty="0"/>
              <a:t>We can make a model that predicts the next word, then the next,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Eventually, we’ll basically have Siri. </a:t>
            </a:r>
          </a:p>
        </p:txBody>
      </p:sp>
    </p:spTree>
    <p:extLst>
      <p:ext uri="{BB962C8B-B14F-4D97-AF65-F5344CB8AC3E}">
        <p14:creationId xmlns:p14="http://schemas.microsoft.com/office/powerpoint/2010/main" val="382914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3E18-8339-2DD9-4BED-8AEE908C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C73E-455F-0224-0F28-2E8A36AF8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ext Generation using LSTM">
            <a:extLst>
              <a:ext uri="{FF2B5EF4-FFF2-40B4-BE49-F238E27FC236}">
                <a16:creationId xmlns:a16="http://schemas.microsoft.com/office/drawing/2014/main" id="{38AC7608-B39E-C2E6-D83B-4ED54AD42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0"/>
            <a:ext cx="1219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3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9F35-C90B-D7C2-C0E2-FCFBC469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predicting, what about Generating Text?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5384A-745F-0025-99F6-F0EF8325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apply these LSTM models to predict the next word. </a:t>
            </a:r>
          </a:p>
          <a:p>
            <a:r>
              <a:rPr lang="en-US" dirty="0"/>
              <a:t>We can then tell it to generate that word!</a:t>
            </a:r>
          </a:p>
          <a:p>
            <a:r>
              <a:rPr lang="en-US" dirty="0" err="1"/>
              <a:t>ChatGPT</a:t>
            </a:r>
            <a:r>
              <a:rPr lang="en-US" dirty="0"/>
              <a:t>, watch out! </a:t>
            </a:r>
          </a:p>
          <a:p>
            <a:r>
              <a:rPr lang="en-US" dirty="0"/>
              <a:t>We just need to setup the data properly:</a:t>
            </a:r>
          </a:p>
          <a:p>
            <a:pPr lvl="1"/>
            <a:r>
              <a:rPr lang="en-US" dirty="0"/>
              <a:t>The input is the previous set of words. </a:t>
            </a:r>
          </a:p>
          <a:p>
            <a:pPr lvl="1"/>
            <a:r>
              <a:rPr lang="en-US" dirty="0"/>
              <a:t>The output is the next word.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63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8599-856D-E296-4560-348526EE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Generation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97CF-D293-2A4F-5D69-95F17BA4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4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60E-CC17-57E6-1E20-68CE6992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9CF84-A295-691C-0D58-8A6B1DA93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711" y="1853753"/>
            <a:ext cx="10405242" cy="41997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generation data is a little different than normal, but mostly like a time series. </a:t>
            </a:r>
          </a:p>
          <a:p>
            <a:pPr lvl="1"/>
            <a:r>
              <a:rPr lang="en-US" dirty="0"/>
              <a:t>We have “some” previous tokens as features, the next token is the target. </a:t>
            </a:r>
          </a:p>
          <a:p>
            <a:r>
              <a:rPr lang="en-US" dirty="0"/>
              <a:t>That some can vary:</a:t>
            </a:r>
          </a:p>
          <a:p>
            <a:pPr lvl="1"/>
            <a:r>
              <a:rPr lang="en-US" dirty="0"/>
              <a:t>You need to predict the second word in a response as well as the 2,456</a:t>
            </a:r>
            <a:r>
              <a:rPr lang="en-US" baseline="30000" dirty="0"/>
              <a:t>th</a:t>
            </a:r>
            <a:r>
              <a:rPr lang="en-US" dirty="0"/>
              <a:t> word. </a:t>
            </a:r>
          </a:p>
          <a:p>
            <a:r>
              <a:rPr lang="en-US" dirty="0"/>
              <a:t>Can make a sliding window, like a time series (easier with big text chunks).</a:t>
            </a:r>
          </a:p>
          <a:p>
            <a:r>
              <a:rPr lang="en-US" dirty="0"/>
              <a:t>Can also do a similar thing within each small document (row). </a:t>
            </a:r>
          </a:p>
          <a:p>
            <a:pPr lvl="1"/>
            <a:r>
              <a:rPr lang="en-US" dirty="0"/>
              <a:t>Like the picture. </a:t>
            </a:r>
          </a:p>
          <a:p>
            <a:r>
              <a:rPr lang="en-US" dirty="0"/>
              <a:t>Details kind of don’t matter, we want the model to learn to predict the next word. The </a:t>
            </a:r>
            <a:r>
              <a:rPr lang="en-US" i="1" dirty="0"/>
              <a:t>exact</a:t>
            </a:r>
            <a:r>
              <a:rPr lang="en-US" dirty="0"/>
              <a:t> subset of data it sees can vary a lot, as long as it is representative.  </a:t>
            </a:r>
          </a:p>
          <a:p>
            <a:pPr lvl="1"/>
            <a:r>
              <a:rPr lang="en-US" dirty="0"/>
              <a:t>E.g. under time constraints, is predicting every word of that sentence important, or seeing more…</a:t>
            </a:r>
          </a:p>
        </p:txBody>
      </p:sp>
    </p:spTree>
    <p:extLst>
      <p:ext uri="{BB962C8B-B14F-4D97-AF65-F5344CB8AC3E}">
        <p14:creationId xmlns:p14="http://schemas.microsoft.com/office/powerpoint/2010/main" val="428035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F4EA-3A46-26F9-792C-FD0FF8FF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54A8-164F-FB79-64F9-29A5F4BA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Our data again needs to be processed and reshaped. </a:t>
            </a:r>
          </a:p>
          <a:p>
            <a:r>
              <a:rPr lang="en-US" dirty="0"/>
              <a:t>We need to strip and tokenize the data. (This changes with ‘good’ models as they predict things like commas). </a:t>
            </a:r>
          </a:p>
          <a:p>
            <a:r>
              <a:rPr lang="en-US" dirty="0"/>
              <a:t>We need to shape the data. </a:t>
            </a:r>
          </a:p>
          <a:p>
            <a:pPr lvl="1"/>
            <a:r>
              <a:rPr lang="en-US" dirty="0"/>
              <a:t>X – previous M tokens. </a:t>
            </a:r>
          </a:p>
          <a:p>
            <a:pPr lvl="1"/>
            <a:r>
              <a:rPr lang="en-US" dirty="0"/>
              <a:t>T – next N tokens. </a:t>
            </a:r>
          </a:p>
          <a:p>
            <a:r>
              <a:rPr lang="en-US" dirty="0"/>
              <a:t>We need to </a:t>
            </a:r>
            <a:r>
              <a:rPr lang="en-US" b="1" i="1" dirty="0"/>
              <a:t>pad</a:t>
            </a:r>
            <a:r>
              <a:rPr lang="en-US" dirty="0"/>
              <a:t> the data, or make every record the same length. </a:t>
            </a:r>
          </a:p>
          <a:p>
            <a:pPr lvl="1"/>
            <a:r>
              <a:rPr lang="en-US" dirty="0"/>
              <a:t>Models need fixed size data, but sentences are any length. </a:t>
            </a:r>
          </a:p>
          <a:p>
            <a:pPr lvl="1"/>
            <a:r>
              <a:rPr lang="en-US" dirty="0"/>
              <a:t>We add blanks to either end to standardize the length. </a:t>
            </a:r>
          </a:p>
        </p:txBody>
      </p:sp>
    </p:spTree>
    <p:extLst>
      <p:ext uri="{BB962C8B-B14F-4D97-AF65-F5344CB8AC3E}">
        <p14:creationId xmlns:p14="http://schemas.microsoft.com/office/powerpoint/2010/main" val="362687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052F-5454-1103-70AD-27E770C0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6ADB-0821-845A-B130-F6B72753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dataset will be a bunch of these items:</a:t>
            </a:r>
          </a:p>
          <a:p>
            <a:pPr lvl="1"/>
            <a:r>
              <a:rPr lang="en-US" dirty="0"/>
              <a:t>Previous next features. </a:t>
            </a:r>
          </a:p>
          <a:p>
            <a:pPr lvl="1"/>
            <a:r>
              <a:rPr lang="en-US" dirty="0"/>
              <a:t>Next token target.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45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2ACE-1200-C987-71FE-1BC93216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3987-6338-D94A-A236-B20695469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0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8988-839A-1801-F457-954CBC7E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7B256-DC1A-31C0-E7E2-0711A88E4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Padding makes each tokenized text record into a set length. </a:t>
            </a:r>
          </a:p>
          <a:p>
            <a:r>
              <a:rPr lang="en-US" dirty="0"/>
              <a:t>Padding adds 0s either at the end or at the beginning of the text to fill it. </a:t>
            </a:r>
          </a:p>
          <a:p>
            <a:r>
              <a:rPr lang="en-US" dirty="0"/>
              <a:t>For generation, we want to pad at the beginning, as we want the ‘next’ item. </a:t>
            </a:r>
          </a:p>
        </p:txBody>
      </p:sp>
      <p:pic>
        <p:nvPicPr>
          <p:cNvPr id="3074" name="Picture 2" descr="Keras text preprocessing and image preprocessing - DWBI Technologies">
            <a:extLst>
              <a:ext uri="{FF2B5EF4-FFF2-40B4-BE49-F238E27FC236}">
                <a16:creationId xmlns:a16="http://schemas.microsoft.com/office/drawing/2014/main" id="{17ADFC3D-CF04-51BD-AADE-BC118B4EF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88" y="3429000"/>
            <a:ext cx="8902255" cy="337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42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DFA4-393E-5110-6900-68096A02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AC3D-573A-FAD8-A247-F31CBCB99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1308547"/>
          </a:xfrm>
        </p:spPr>
        <p:txBody>
          <a:bodyPr/>
          <a:lstStyle/>
          <a:p>
            <a:r>
              <a:rPr lang="en-US" dirty="0"/>
              <a:t>After (left) padding, we have a usable dataset. </a:t>
            </a:r>
          </a:p>
          <a:p>
            <a:pPr lvl="1"/>
            <a:r>
              <a:rPr lang="en-US" dirty="0"/>
              <a:t>Each X value will be a fixed number of tokens before the current word.</a:t>
            </a:r>
          </a:p>
          <a:p>
            <a:pPr lvl="1"/>
            <a:r>
              <a:rPr lang="en-US" dirty="0"/>
              <a:t>The target is the next token, we can train. (Blue is data)</a:t>
            </a:r>
          </a:p>
          <a:p>
            <a:pPr lvl="1"/>
            <a:endParaRPr lang="en-US" dirty="0"/>
          </a:p>
        </p:txBody>
      </p:sp>
      <p:pic>
        <p:nvPicPr>
          <p:cNvPr id="4098" name="Picture 2" descr="PackedBERT: How to accelerate NLP tasks for Transformers with packing">
            <a:extLst>
              <a:ext uri="{FF2B5EF4-FFF2-40B4-BE49-F238E27FC236}">
                <a16:creationId xmlns:a16="http://schemas.microsoft.com/office/drawing/2014/main" id="{D9E303AE-084E-660D-E255-9A480975C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5" t="23000" r="10562" b="23111"/>
          <a:stretch/>
        </p:blipFill>
        <p:spPr bwMode="auto">
          <a:xfrm>
            <a:off x="1451579" y="3162300"/>
            <a:ext cx="930402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75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0218-FE5A-2063-B0E7-F64FAFFE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 and Packing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E0DD-F8CF-892A-E021-4B4D6428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958" y="1853753"/>
            <a:ext cx="6874042" cy="419972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, we probably want packed sequences for efficiency. </a:t>
            </a:r>
          </a:p>
          <a:p>
            <a:pPr lvl="1"/>
            <a:r>
              <a:rPr lang="en-US" dirty="0"/>
              <a:t>Directs model to ignore the padded bits and save time. </a:t>
            </a:r>
          </a:p>
          <a:p>
            <a:pPr lvl="1"/>
            <a:r>
              <a:rPr lang="en-US" dirty="0"/>
              <a:t>We just feed the function padded sequences. </a:t>
            </a:r>
          </a:p>
          <a:p>
            <a:r>
              <a:rPr lang="en-US" dirty="0"/>
              <a:t>Here, we’ll also </a:t>
            </a:r>
            <a:r>
              <a:rPr lang="en-US" dirty="0" err="1"/>
              <a:t>pad_packed_sequences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Does the opposite, restores the padded parts. </a:t>
            </a:r>
          </a:p>
          <a:p>
            <a:r>
              <a:rPr lang="en-US" dirty="0"/>
              <a:t>This is ‘normal’ usage:</a:t>
            </a:r>
          </a:p>
          <a:p>
            <a:pPr lvl="1"/>
            <a:r>
              <a:rPr lang="en-US" dirty="0"/>
              <a:t>Pack to model</a:t>
            </a:r>
          </a:p>
          <a:p>
            <a:pPr lvl="1"/>
            <a:r>
              <a:rPr lang="en-US" dirty="0"/>
              <a:t>Pad back to original format. </a:t>
            </a:r>
          </a:p>
          <a:p>
            <a:pPr lvl="1"/>
            <a:r>
              <a:rPr lang="en-US" dirty="0"/>
              <a:t>In the last example we grabbed the hidden state directly because it was binomial and we needed to manipulate it.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719DD-4E2A-EDAB-EFA5-330176DE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579"/>
          <a:stretch>
            <a:fillRect/>
          </a:stretch>
        </p:blipFill>
        <p:spPr>
          <a:xfrm>
            <a:off x="0" y="1853754"/>
            <a:ext cx="5317958" cy="415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0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63FF-2D96-49B5-36CF-349192E4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663AB-2E94-7092-457A-0E5215B72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17" y="2015732"/>
            <a:ext cx="5511167" cy="3939900"/>
          </a:xfrm>
        </p:spPr>
        <p:txBody>
          <a:bodyPr/>
          <a:lstStyle/>
          <a:p>
            <a:r>
              <a:rPr lang="en-US" dirty="0"/>
              <a:t>In addition to the data, we need some other info to train. </a:t>
            </a:r>
          </a:p>
          <a:p>
            <a:pPr lvl="1"/>
            <a:r>
              <a:rPr lang="en-US" dirty="0"/>
              <a:t>Padding and unknown tokens – these are designated placeholders, so model doesn’t choke on new stuff. </a:t>
            </a:r>
          </a:p>
          <a:p>
            <a:pPr lvl="1"/>
            <a:r>
              <a:rPr lang="en-US" dirty="0"/>
              <a:t>Vocabulary – mapping of token number to word.  </a:t>
            </a:r>
          </a:p>
          <a:p>
            <a:pPr lvl="1"/>
            <a:r>
              <a:rPr lang="en-US" dirty="0"/>
              <a:t>Vocab size – how many output neurons do we need.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753C8-042D-52A1-32EF-82BB37D9F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484" y="2277643"/>
            <a:ext cx="6560516" cy="341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70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1A49-B251-0F54-6410-F75A8832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9DC87-C8DB-CA2C-8040-62F5D13F2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7" y="2015732"/>
            <a:ext cx="7873823" cy="4037749"/>
          </a:xfrm>
        </p:spPr>
        <p:txBody>
          <a:bodyPr/>
          <a:lstStyle/>
          <a:p>
            <a:r>
              <a:rPr lang="en-US" dirty="0"/>
              <a:t>To make things useful, we need to generate embeddings for the tokens. </a:t>
            </a:r>
          </a:p>
          <a:p>
            <a:r>
              <a:rPr lang="en-US" dirty="0"/>
              <a:t>This can be done in any way – we’ll use an embedding layer. </a:t>
            </a:r>
          </a:p>
          <a:p>
            <a:pPr lvl="1"/>
            <a:r>
              <a:rPr lang="en-US" dirty="0"/>
              <a:t>Can download and use embedding space pre-made, such as word2vec.</a:t>
            </a:r>
          </a:p>
          <a:p>
            <a:r>
              <a:rPr lang="en-US" dirty="0"/>
              <a:t>There are several options, they can be extended for customization. </a:t>
            </a:r>
          </a:p>
          <a:p>
            <a:r>
              <a:rPr lang="en-US" dirty="0"/>
              <a:t>Most important thing is the number of dimensions:</a:t>
            </a:r>
          </a:p>
          <a:p>
            <a:pPr lvl="1"/>
            <a:r>
              <a:rPr lang="en-US" dirty="0"/>
              <a:t>Higher dimension, better representation, slower, more data needed. </a:t>
            </a:r>
          </a:p>
          <a:p>
            <a:pPr lvl="1"/>
            <a:r>
              <a:rPr lang="en-US" dirty="0"/>
              <a:t>We can use ‘tens’ as a start, real LLMs can use thousands. </a:t>
            </a:r>
          </a:p>
        </p:txBody>
      </p:sp>
      <p:pic>
        <p:nvPicPr>
          <p:cNvPr id="2050" name="Picture 2" descr="Word embeddings | Text | TensorFlow">
            <a:extLst>
              <a:ext uri="{FF2B5EF4-FFF2-40B4-BE49-F238E27FC236}">
                <a16:creationId xmlns:a16="http://schemas.microsoft.com/office/drawing/2014/main" id="{C4590819-A05D-001C-EE50-E6BCD3DDA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1" t="9482" r="5849" b="7304"/>
          <a:stretch/>
        </p:blipFill>
        <p:spPr bwMode="auto">
          <a:xfrm>
            <a:off x="8006170" y="2050230"/>
            <a:ext cx="4185830" cy="305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473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9F48-8D07-6A60-12C4-4BCB348F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5F32-91C3-0293-8C3B-C9A0B6BDD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14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6FF3-69E9-A64D-99BE-2F7691D3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Model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B1894-E1A6-0D07-7927-6D634344E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81208"/>
          </a:xfrm>
        </p:spPr>
        <p:txBody>
          <a:bodyPr/>
          <a:lstStyle/>
          <a:p>
            <a:r>
              <a:rPr lang="en-US" dirty="0"/>
              <a:t>This is very simple processing for text, for a simple model. </a:t>
            </a:r>
          </a:p>
          <a:p>
            <a:r>
              <a:rPr lang="en-US" dirty="0"/>
              <a:t>In larger models, the data preparation is (or can be) different. </a:t>
            </a:r>
          </a:p>
          <a:p>
            <a:pPr lvl="1"/>
            <a:r>
              <a:rPr lang="en-US" dirty="0"/>
              <a:t>Construction of the datasets is potentially a lot of work. </a:t>
            </a:r>
          </a:p>
          <a:p>
            <a:pPr lvl="1"/>
            <a:r>
              <a:rPr lang="en-US" dirty="0"/>
              <a:t>Specific applications like chatbots may need to restructure data into prompt-response. </a:t>
            </a:r>
          </a:p>
          <a:p>
            <a:pPr lvl="1"/>
            <a:r>
              <a:rPr lang="en-US" dirty="0"/>
              <a:t>Other models are commonly used to help process the massive amount of data. </a:t>
            </a:r>
          </a:p>
          <a:p>
            <a:pPr lvl="1"/>
            <a:r>
              <a:rPr lang="en-US" dirty="0"/>
              <a:t>The dataset is massive, and may only have one or two epochs. </a:t>
            </a:r>
          </a:p>
          <a:p>
            <a:pPr lvl="1"/>
            <a:r>
              <a:rPr lang="en-US" dirty="0"/>
              <a:t>Tokens are often sub-word length, as models need to handle suffix/prefix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Large/smart models also have an assortment of things done to make them faster and better – reinforcement, specialized ‘sub-models’ (mixture of experts),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73726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3C70-5DBE-9649-91B6-454DF600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Text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826EC-950E-8AC7-B809-D4A1C655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Training the model is the same, once the data is setup. </a:t>
            </a:r>
          </a:p>
          <a:p>
            <a:r>
              <a:rPr lang="en-US" dirty="0"/>
              <a:t>To use it to chat,  we need to ‘wrap’ some generation logic around it. </a:t>
            </a:r>
          </a:p>
          <a:p>
            <a:pPr lvl="1"/>
            <a:r>
              <a:rPr lang="en-US" dirty="0"/>
              <a:t>Predict the next word, add it to the input, then that’s the input for predicting the next…</a:t>
            </a:r>
          </a:p>
          <a:p>
            <a:pPr lvl="1"/>
            <a:r>
              <a:rPr lang="en-US" dirty="0"/>
              <a:t>Recursive predictions from time series things. </a:t>
            </a:r>
          </a:p>
          <a:p>
            <a:pPr lvl="1"/>
            <a:r>
              <a:rPr lang="en-US" dirty="0"/>
              <a:t>The prediction is a token value, so we need to make it a word. </a:t>
            </a:r>
          </a:p>
          <a:p>
            <a:r>
              <a:rPr lang="en-US" dirty="0"/>
              <a:t>We can make a couple of simple functions to do this with our model. </a:t>
            </a:r>
          </a:p>
          <a:p>
            <a:r>
              <a:rPr lang="en-US" dirty="0"/>
              <a:t>When generating text, we need to provide some prompt that is the original X data. </a:t>
            </a:r>
          </a:p>
          <a:p>
            <a:r>
              <a:rPr lang="en-US" dirty="0"/>
              <a:t>How does the model ‘sound’? We can tune the temperature. </a:t>
            </a:r>
          </a:p>
        </p:txBody>
      </p:sp>
    </p:spTree>
    <p:extLst>
      <p:ext uri="{BB962C8B-B14F-4D97-AF65-F5344CB8AC3E}">
        <p14:creationId xmlns:p14="http://schemas.microsoft.com/office/powerpoint/2010/main" val="3282648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C816-5B34-ECC8-E609-514FF093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943C-280B-79C4-738F-4380B17D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1853754"/>
            <a:ext cx="9859888" cy="4199727"/>
          </a:xfrm>
        </p:spPr>
        <p:txBody>
          <a:bodyPr>
            <a:normAutofit/>
          </a:bodyPr>
          <a:lstStyle/>
          <a:p>
            <a:r>
              <a:rPr lang="en-US" dirty="0"/>
              <a:t>The model will normally select the most likely token as a prediction. </a:t>
            </a:r>
          </a:p>
          <a:p>
            <a:pPr lvl="1"/>
            <a:r>
              <a:rPr lang="en-US" dirty="0"/>
              <a:t>This usually makes sense, but for speech it really doesn’t. </a:t>
            </a:r>
          </a:p>
          <a:p>
            <a:pPr lvl="1"/>
            <a:r>
              <a:rPr lang="en-US" dirty="0"/>
              <a:t>A novelist isn’t trying to always choose the optimum/most likely word... </a:t>
            </a:r>
          </a:p>
          <a:p>
            <a:r>
              <a:rPr lang="en-US" dirty="0"/>
              <a:t>Temperature inserts random variation of the prediction. </a:t>
            </a:r>
          </a:p>
          <a:p>
            <a:pPr lvl="1"/>
            <a:r>
              <a:rPr lang="en-US" dirty="0"/>
              <a:t>Instead of just taking the most likely next token as the prediction, we will randomly select a token that is ‘in that area’.</a:t>
            </a:r>
          </a:p>
          <a:p>
            <a:pPr lvl="1"/>
            <a:r>
              <a:rPr lang="en-US" dirty="0"/>
              <a:t>The ‘correct’ next word is most likely, but we’ll vary our selection of similar words. </a:t>
            </a:r>
          </a:p>
          <a:p>
            <a:r>
              <a:rPr lang="en-US" dirty="0"/>
              <a:t>With large/complex models, this allows for synonyms or different structure to be used. </a:t>
            </a:r>
          </a:p>
          <a:p>
            <a:r>
              <a:rPr lang="en-US" dirty="0"/>
              <a:t>This makes generated text sound more normal, as it will vary word choice more. </a:t>
            </a:r>
          </a:p>
        </p:txBody>
      </p:sp>
      <p:pic>
        <p:nvPicPr>
          <p:cNvPr id="5122" name="Picture 2" descr="Sean Paul: The Celebrity Sensation">
            <a:extLst>
              <a:ext uri="{FF2B5EF4-FFF2-40B4-BE49-F238E27FC236}">
                <a16:creationId xmlns:a16="http://schemas.microsoft.com/office/drawing/2014/main" id="{19AE19B2-E99C-C205-0EE9-69F4627AC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180" y="0"/>
            <a:ext cx="3004820" cy="300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93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0677-BB05-DE6A-DC02-D6C5A7A7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introduces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BB31-D266-D539-94A4-EAA3F1315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mystifying the Temperature Parameter: A Visual Guide to Understanding its  Role in Large Language Models | by Mastering LLM (Large Language Model) |  Medium">
            <a:extLst>
              <a:ext uri="{FF2B5EF4-FFF2-40B4-BE49-F238E27FC236}">
                <a16:creationId xmlns:a16="http://schemas.microsoft.com/office/drawing/2014/main" id="{7EC4B624-1AF0-0503-8264-E55B71C69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7"/>
          <a:stretch>
            <a:fillRect/>
          </a:stretch>
        </p:blipFill>
        <p:spPr bwMode="auto">
          <a:xfrm>
            <a:off x="45156" y="1884798"/>
            <a:ext cx="5655733" cy="46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ftmax Temperature. Temperature is a hyperparameter of… | by Harshit  Sharma | Medium">
            <a:extLst>
              <a:ext uri="{FF2B5EF4-FFF2-40B4-BE49-F238E27FC236}">
                <a16:creationId xmlns:a16="http://schemas.microsoft.com/office/drawing/2014/main" id="{00D6B2D1-CE8D-2C81-5611-184BD83E3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" t="7737" r="5468" b="6831"/>
          <a:stretch>
            <a:fillRect/>
          </a:stretch>
        </p:blipFill>
        <p:spPr bwMode="auto">
          <a:xfrm>
            <a:off x="5881511" y="2035276"/>
            <a:ext cx="6265333" cy="35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675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E5DE-6469-3E69-1D8D-03445267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Tune that Temp!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3F9F-E773-5F01-DD16-E50B17808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4163626" cy="4037749"/>
          </a:xfrm>
        </p:spPr>
        <p:txBody>
          <a:bodyPr/>
          <a:lstStyle/>
          <a:p>
            <a:r>
              <a:rPr lang="en-US" dirty="0"/>
              <a:t>Temperature can also be used to tune a model for different uses.</a:t>
            </a:r>
          </a:p>
          <a:p>
            <a:pPr lvl="1"/>
            <a:r>
              <a:rPr lang="en-US" dirty="0"/>
              <a:t>Variations from “most correct” make different amounts of sense.  </a:t>
            </a:r>
          </a:p>
          <a:p>
            <a:r>
              <a:rPr lang="en-US" dirty="0"/>
              <a:t>There are other sampling methods as well. </a:t>
            </a:r>
          </a:p>
          <a:p>
            <a:pPr lvl="1"/>
            <a:r>
              <a:rPr lang="en-US" dirty="0"/>
              <a:t>Top-k: pick most likely, then select. </a:t>
            </a:r>
          </a:p>
          <a:p>
            <a:pPr lvl="1"/>
            <a:r>
              <a:rPr lang="en-US" dirty="0"/>
              <a:t>Could be anything. </a:t>
            </a:r>
          </a:p>
        </p:txBody>
      </p:sp>
      <p:pic>
        <p:nvPicPr>
          <p:cNvPr id="3074" name="Picture 2" descr="Decoding Temperature in Large Language Models: Fine-Tuning AI Responses |  by Dhiraj K | Artificial Intelligence in Plain English">
            <a:extLst>
              <a:ext uri="{FF2B5EF4-FFF2-40B4-BE49-F238E27FC236}">
                <a16:creationId xmlns:a16="http://schemas.microsoft.com/office/drawing/2014/main" id="{2DDC1DB8-1318-5322-269B-16C75E7FC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626" y="2015732"/>
            <a:ext cx="8028373" cy="389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08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443F-B075-C99E-41DB-6536F25C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AF96-E9F8-0ACD-EDC8-FF911932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 usage, there are several strategies for this. </a:t>
            </a:r>
          </a:p>
        </p:txBody>
      </p:sp>
    </p:spTree>
    <p:extLst>
      <p:ext uri="{BB962C8B-B14F-4D97-AF65-F5344CB8AC3E}">
        <p14:creationId xmlns:p14="http://schemas.microsoft.com/office/powerpoint/2010/main" val="1186212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9DAA-9ED5-C6C1-076F-6466A4F9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Lastly, Let’s Go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8619-5BAC-4AF9-C4C8-D7A3DFAA7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3"/>
            <a:ext cx="738378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also add LSTM layers that are bidirectional. </a:t>
            </a:r>
          </a:p>
          <a:p>
            <a:pPr lvl="1"/>
            <a:r>
              <a:rPr lang="en-US" dirty="0"/>
              <a:t>This is common in sentiment analysis, but transformers have largely surpassed this there as well. </a:t>
            </a:r>
          </a:p>
          <a:p>
            <a:r>
              <a:rPr lang="en-US" dirty="0"/>
              <a:t>These layers feed the data through the LSTM units in both directions. </a:t>
            </a:r>
          </a:p>
          <a:p>
            <a:r>
              <a:rPr lang="en-US" dirty="0"/>
              <a:t>This can allow the model to get context from before as well as after the word. </a:t>
            </a:r>
          </a:p>
          <a:p>
            <a:pPr lvl="1"/>
            <a:r>
              <a:rPr lang="en-US" dirty="0"/>
              <a:t>I.e. if a word in the future helps give context to something earlier.</a:t>
            </a:r>
          </a:p>
          <a:p>
            <a:pPr lvl="1"/>
            <a:r>
              <a:rPr lang="en-US" dirty="0"/>
              <a:t>“Server can you bring me this dish” vs. “He crashed the server” – meaning of ‘sever’ is better captured. </a:t>
            </a:r>
          </a:p>
          <a:p>
            <a:pPr lvl="1"/>
            <a:r>
              <a:rPr lang="en-US" dirty="0"/>
              <a:t>By processing it in reverse, model can capture relationships </a:t>
            </a:r>
            <a:r>
              <a:rPr lang="en-US" dirty="0" err="1"/>
              <a:t>bef</a:t>
            </a:r>
            <a:r>
              <a:rPr lang="en-US" dirty="0"/>
              <a:t>/aft.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59AAD6E-2B5D-9FD1-0410-BCF6B0F3F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780" y="1971203"/>
            <a:ext cx="4808220" cy="17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DCC82A9-4B25-AFFE-CB9E-DDA5107C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909" y="3841403"/>
            <a:ext cx="4388091" cy="232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256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E366-142C-816C-E97D-53C4F169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your Expectations…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818C-1306-2905-9D7E-8DEFA3C1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04" y="1853754"/>
            <a:ext cx="7939595" cy="4199727"/>
          </a:xfrm>
        </p:spPr>
        <p:txBody>
          <a:bodyPr>
            <a:normAutofit/>
          </a:bodyPr>
          <a:lstStyle/>
          <a:p>
            <a:r>
              <a:rPr lang="en-US" dirty="0"/>
              <a:t>Lower your expectations, even lower than the normally are here. </a:t>
            </a:r>
          </a:p>
          <a:p>
            <a:r>
              <a:rPr lang="en-US" dirty="0"/>
              <a:t>Good text generation is hard, and we aren’t making a great attempt. </a:t>
            </a:r>
          </a:p>
          <a:p>
            <a:pPr lvl="1"/>
            <a:r>
              <a:rPr lang="en-US" dirty="0"/>
              <a:t>Language is diverse - need large embedding space and model to capture it. </a:t>
            </a:r>
          </a:p>
          <a:p>
            <a:pPr lvl="1"/>
            <a:r>
              <a:rPr lang="en-US" dirty="0"/>
              <a:t>That requires massive datasets and time.  </a:t>
            </a:r>
          </a:p>
          <a:p>
            <a:pPr lvl="1"/>
            <a:r>
              <a:rPr lang="en-US" dirty="0"/>
              <a:t>Those mean it takes ages to train one – we aren’t even at a fraction of that. </a:t>
            </a:r>
          </a:p>
          <a:p>
            <a:r>
              <a:rPr lang="en-US" dirty="0"/>
              <a:t>E.g. this example from training – real-</a:t>
            </a:r>
            <a:r>
              <a:rPr lang="en-US" dirty="0" err="1"/>
              <a:t>ish</a:t>
            </a:r>
            <a:r>
              <a:rPr lang="en-US" dirty="0"/>
              <a:t> flipping to ‘junk’. </a:t>
            </a:r>
          </a:p>
          <a:p>
            <a:pPr lvl="1"/>
            <a:r>
              <a:rPr lang="en-US" dirty="0"/>
              <a:t>The model is ‘stuck’ and every prediction falls on ‘just’. </a:t>
            </a:r>
          </a:p>
          <a:p>
            <a:pPr lvl="1"/>
            <a:r>
              <a:rPr lang="en-US" dirty="0"/>
              <a:t>The model can (maybe) learn its way out of this, but may take time…</a:t>
            </a:r>
          </a:p>
          <a:p>
            <a:pPr lvl="2"/>
            <a:r>
              <a:rPr lang="en-US" dirty="0"/>
              <a:t>The temperature helps with randomness here.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84CD7-5821-45E5-8D3F-6F48AB9EB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457"/>
            <a:ext cx="4427621" cy="176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05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06F6-13DA-E5B3-EC4D-48B170E7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Chatbotification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2CC1-C176-28F5-E7FD-8BE84DB1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3" y="1853755"/>
            <a:ext cx="6098399" cy="4199726"/>
          </a:xfrm>
        </p:spPr>
        <p:txBody>
          <a:bodyPr/>
          <a:lstStyle/>
          <a:p>
            <a:r>
              <a:rPr lang="en-US" dirty="0"/>
              <a:t>Our model is a text generator, but not usable for normal interactions yet. </a:t>
            </a:r>
          </a:p>
          <a:p>
            <a:r>
              <a:rPr lang="en-US" dirty="0"/>
              <a:t>Need to wrap model in interface. </a:t>
            </a:r>
          </a:p>
          <a:p>
            <a:r>
              <a:rPr lang="en-US" dirty="0"/>
              <a:t>This does that (a little more efficiently):</a:t>
            </a:r>
          </a:p>
          <a:p>
            <a:pPr lvl="1"/>
            <a:r>
              <a:rPr lang="en-US" dirty="0"/>
              <a:t>Generate an output. </a:t>
            </a:r>
          </a:p>
          <a:p>
            <a:pPr lvl="1"/>
            <a:r>
              <a:rPr lang="en-US" dirty="0"/>
              <a:t>Stack the next prediction on top. </a:t>
            </a:r>
          </a:p>
          <a:p>
            <a:pPr lvl="1"/>
            <a:r>
              <a:rPr lang="en-US" dirty="0"/>
              <a:t>Generate a new prediction. </a:t>
            </a:r>
          </a:p>
          <a:p>
            <a:r>
              <a:rPr lang="en-US" dirty="0"/>
              <a:t>Send this a seed, get back a response. </a:t>
            </a:r>
          </a:p>
          <a:p>
            <a:pPr lvl="1"/>
            <a:r>
              <a:rPr lang="en-US" dirty="0"/>
              <a:t>A chat “tool” would call this to </a:t>
            </a:r>
            <a:r>
              <a:rPr lang="en-US"/>
              <a:t>get responses.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5FEB3-489B-9E0F-24FC-57A4FB1E23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645"/>
          <a:stretch>
            <a:fillRect/>
          </a:stretch>
        </p:blipFill>
        <p:spPr>
          <a:xfrm>
            <a:off x="6412832" y="1391655"/>
            <a:ext cx="5779168" cy="497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12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B99E-D4F3-C449-EB64-0BA8D6026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 want to have a good Model!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F523-F576-5A35-58E9-EF36C104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42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Training a real LLM is an industrial scale effort, we really can’t do it. </a:t>
            </a:r>
          </a:p>
          <a:p>
            <a:pPr lvl="1"/>
            <a:r>
              <a:rPr lang="en-US" dirty="0"/>
              <a:t>Language is complex, and models are massive.</a:t>
            </a:r>
          </a:p>
          <a:p>
            <a:pPr lvl="1"/>
            <a:r>
              <a:rPr lang="en-US" dirty="0"/>
              <a:t>Really need to distribute it to many systems for large models.  </a:t>
            </a:r>
          </a:p>
          <a:p>
            <a:r>
              <a:rPr lang="en-US" dirty="0"/>
              <a:t>E.g. Facebook’s llama models. </a:t>
            </a:r>
          </a:p>
          <a:p>
            <a:pPr lvl="1"/>
            <a:r>
              <a:rPr lang="en-US" dirty="0"/>
              <a:t>Gen 2 reportedly required nearly 2 million GPU hours. </a:t>
            </a:r>
          </a:p>
          <a:p>
            <a:pPr lvl="1"/>
            <a:r>
              <a:rPr lang="en-US" dirty="0"/>
              <a:t>Gen 4 (current) has over 5x as many parameters to train. </a:t>
            </a:r>
          </a:p>
          <a:p>
            <a:r>
              <a:rPr lang="en-US" dirty="0"/>
              <a:t>Smaller shortcuts for speed can really add up here (optimizers, vectorizing code, moving calculations to/from GPU, mathematical shortcuts like matrix calculus for gradients…)</a:t>
            </a:r>
          </a:p>
          <a:p>
            <a:pPr lvl="1"/>
            <a:r>
              <a:rPr lang="en-US" dirty="0"/>
              <a:t>Estimates of training data needs range between 10s and 1000s of tokens/param. </a:t>
            </a:r>
          </a:p>
          <a:p>
            <a:pPr lvl="1"/>
            <a:r>
              <a:rPr lang="en-US" dirty="0"/>
              <a:t>Costs can run into hundreds of millions for large models. </a:t>
            </a:r>
          </a:p>
          <a:p>
            <a:pPr lvl="1"/>
            <a:r>
              <a:rPr lang="en-US" dirty="0"/>
              <a:t>Some GPUs available on </a:t>
            </a:r>
            <a:r>
              <a:rPr lang="en-US" dirty="0" err="1"/>
              <a:t>colab</a:t>
            </a:r>
            <a:r>
              <a:rPr lang="en-US" dirty="0"/>
              <a:t> have 40 or 80gb of GPU ram, no consumer machine matches. </a:t>
            </a:r>
          </a:p>
        </p:txBody>
      </p:sp>
    </p:spTree>
    <p:extLst>
      <p:ext uri="{BB962C8B-B14F-4D97-AF65-F5344CB8AC3E}">
        <p14:creationId xmlns:p14="http://schemas.microsoft.com/office/powerpoint/2010/main" val="2588657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BA70-3830-8640-6775-B64235D8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that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4A026-5801-B41D-FFEC-D416489E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292506"/>
            <a:ext cx="8495515" cy="3566873"/>
          </a:xfrm>
        </p:spPr>
        <p:txBody>
          <a:bodyPr>
            <a:normAutofit/>
          </a:bodyPr>
          <a:lstStyle/>
          <a:p>
            <a:r>
              <a:rPr lang="en-US" dirty="0"/>
              <a:t>Training a semi-ok generative model (or other big stuff) takes a while. </a:t>
            </a:r>
          </a:p>
          <a:p>
            <a:pPr lvl="1"/>
            <a:r>
              <a:rPr lang="en-US" dirty="0"/>
              <a:t>Things can also crash or be disconnected. </a:t>
            </a:r>
          </a:p>
          <a:p>
            <a:r>
              <a:rPr lang="en-US" dirty="0"/>
              <a:t>It is a good idea to save weights. </a:t>
            </a:r>
          </a:p>
          <a:p>
            <a:r>
              <a:rPr lang="en-US" dirty="0"/>
              <a:t>Training can be restored by loading weights and starting training loop. </a:t>
            </a:r>
          </a:p>
          <a:p>
            <a:r>
              <a:rPr lang="en-US" dirty="0"/>
              <a:t>Example show connection to google drive. </a:t>
            </a:r>
          </a:p>
          <a:p>
            <a:r>
              <a:rPr lang="en-US" dirty="0"/>
              <a:t>Put it in with early stopping!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19658-6A2C-4F27-AE22-E27C98A25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220" y="9632"/>
            <a:ext cx="5256103" cy="22828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8FB558-0D12-47C6-BE65-517331087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815" y="5004247"/>
            <a:ext cx="4330700" cy="185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07AF8D-3D4F-5E65-7A5D-1A91673EE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838" y="2292506"/>
            <a:ext cx="3690162" cy="466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31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3D55-0A10-173A-4C5F-D4088089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Real Usage…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49D56-0466-0D4B-4CCA-7B670BDC2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This is the basis of generating text in most cases. </a:t>
            </a:r>
          </a:p>
          <a:p>
            <a:r>
              <a:rPr lang="en-US" dirty="0"/>
              <a:t>Real applications add some other tactics:</a:t>
            </a:r>
          </a:p>
          <a:p>
            <a:pPr lvl="1"/>
            <a:r>
              <a:rPr lang="en-US" dirty="0"/>
              <a:t>Custom prompt/response framing – e.g. a chatbot is setup so a question is an input and their response is a prediction. </a:t>
            </a:r>
          </a:p>
          <a:p>
            <a:pPr lvl="1"/>
            <a:r>
              <a:rPr lang="en-US" dirty="0"/>
              <a:t>Reinforcement – feedback is provided by a human for good/bad, or better response. This helps tune the model. This can also be done live, e.g. do you accept or reject a response. </a:t>
            </a:r>
          </a:p>
          <a:p>
            <a:pPr lvl="1"/>
            <a:r>
              <a:rPr lang="en-US" dirty="0"/>
              <a:t>Token variation – LLMs can use tokens that are smaller than a word. This helps since they need to understand sub-word things like a prefix. </a:t>
            </a:r>
          </a:p>
        </p:txBody>
      </p:sp>
    </p:spTree>
    <p:extLst>
      <p:ext uri="{BB962C8B-B14F-4D97-AF65-F5344CB8AC3E}">
        <p14:creationId xmlns:p14="http://schemas.microsoft.com/office/powerpoint/2010/main" val="1031140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E8BB-1CB8-1FAF-D053-CF957C35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ED0A-E2E5-024E-5F64-4994DCF3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820" y="1853754"/>
            <a:ext cx="10279379" cy="4199727"/>
          </a:xfrm>
        </p:spPr>
        <p:txBody>
          <a:bodyPr/>
          <a:lstStyle/>
          <a:p>
            <a:r>
              <a:rPr lang="en-US" dirty="0"/>
              <a:t>LSTM text generation works well, but transformers have surpassed it. </a:t>
            </a:r>
          </a:p>
          <a:p>
            <a:pPr lvl="1"/>
            <a:r>
              <a:rPr lang="en-US" dirty="0"/>
              <a:t>Transformers are better able to track what matters and what doesn’t in context. </a:t>
            </a:r>
          </a:p>
          <a:p>
            <a:pPr lvl="1"/>
            <a:r>
              <a:rPr lang="en-US" dirty="0"/>
              <a:t>Most of the other mechanics, like dealing with data, are similar. </a:t>
            </a:r>
          </a:p>
          <a:p>
            <a:r>
              <a:rPr lang="en-US" dirty="0"/>
              <a:t>We can train a simple, though awful, text generation model. </a:t>
            </a:r>
          </a:p>
          <a:p>
            <a:r>
              <a:rPr lang="en-US" dirty="0"/>
              <a:t>Actual generative models require lots of training – time and data – ours will be bad. </a:t>
            </a:r>
          </a:p>
          <a:p>
            <a:pPr lvl="1"/>
            <a:r>
              <a:rPr lang="en-US" dirty="0"/>
              <a:t>I heard a podcast where an ex-Open AI guy said the next generation would cost $1billion+ to train. </a:t>
            </a:r>
          </a:p>
        </p:txBody>
      </p:sp>
    </p:spTree>
    <p:extLst>
      <p:ext uri="{BB962C8B-B14F-4D97-AF65-F5344CB8AC3E}">
        <p14:creationId xmlns:p14="http://schemas.microsoft.com/office/powerpoint/2010/main" val="2264685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AAD0-25BC-7817-73CE-1C8EDBE7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some Summer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1BB6-7938-5E21-62D5-3B9CA2F1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214026" cy="419972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This isn’t generally the best time for hiring, but its also not very stable. </a:t>
            </a:r>
          </a:p>
          <a:p>
            <a:r>
              <a:rPr lang="en-US" sz="2400" dirty="0"/>
              <a:t>The best thing is probably to have some accomplishment/solution:</a:t>
            </a:r>
          </a:p>
          <a:p>
            <a:pPr lvl="1"/>
            <a:r>
              <a:rPr lang="en-US" sz="2000" dirty="0"/>
              <a:t>Sample workbooks doing default stuff (is it CC fraud?) is ok, but not really useful. </a:t>
            </a:r>
          </a:p>
          <a:p>
            <a:pPr lvl="1"/>
            <a:r>
              <a:rPr lang="en-US" sz="2000" dirty="0"/>
              <a:t>Something that is either </a:t>
            </a:r>
            <a:r>
              <a:rPr lang="en-US" sz="2000" b="1" dirty="0"/>
              <a:t>real</a:t>
            </a:r>
            <a:r>
              <a:rPr lang="en-US" sz="2000" dirty="0"/>
              <a:t> or </a:t>
            </a:r>
            <a:r>
              <a:rPr lang="en-US" sz="2000" b="1" dirty="0"/>
              <a:t>unique and realistic</a:t>
            </a:r>
            <a:r>
              <a:rPr lang="en-US" sz="2000" dirty="0"/>
              <a:t> is good. </a:t>
            </a:r>
          </a:p>
          <a:p>
            <a:pPr lvl="2"/>
            <a:r>
              <a:rPr lang="en-US" sz="1800" dirty="0"/>
              <a:t>Real things are best, but they are kind of hard to come by. If you can, do it. </a:t>
            </a:r>
          </a:p>
          <a:p>
            <a:pPr lvl="2"/>
            <a:r>
              <a:rPr lang="en-US" sz="1800" dirty="0"/>
              <a:t>Things are are unique or interesting are the best thing you can definitely do. </a:t>
            </a:r>
          </a:p>
          <a:p>
            <a:pPr lvl="1"/>
            <a:r>
              <a:rPr lang="en-US" sz="2000" dirty="0"/>
              <a:t>I’d make 1 or 2 example workbooks on some topic I know, and make them nice. (RE?)</a:t>
            </a:r>
            <a:endParaRPr lang="en-US" sz="1800" dirty="0"/>
          </a:p>
          <a:p>
            <a:pPr lvl="2"/>
            <a:r>
              <a:rPr lang="en-US" sz="1800" dirty="0"/>
              <a:t>Focus on presentation – no one is searching for answers like I’m obligated to </a:t>
            </a:r>
            <a:r>
              <a:rPr lang="en-US" sz="1800" dirty="0">
                <a:sym typeface="Wingdings" pitchFamily="2" charset="2"/>
              </a:rPr>
              <a:t></a:t>
            </a:r>
          </a:p>
          <a:p>
            <a:pPr lvl="1"/>
            <a:r>
              <a:rPr lang="en-US" sz="2000" dirty="0">
                <a:sym typeface="Wingdings" pitchFamily="2" charset="2"/>
              </a:rPr>
              <a:t>Look for contracts, mat. leaves, as well as BI/rpt. jobs (ideally w/ other connection)</a:t>
            </a:r>
          </a:p>
          <a:p>
            <a:r>
              <a:rPr lang="en-US" sz="2200" dirty="0">
                <a:sym typeface="Wingdings" pitchFamily="2" charset="2"/>
              </a:rPr>
              <a:t>For DS - Some agent-y examples are likely good use AI </a:t>
            </a:r>
            <a:r>
              <a:rPr lang="en-US" sz="2200" dirty="0" err="1">
                <a:sym typeface="Wingdings" pitchFamily="2" charset="2"/>
              </a:rPr>
              <a:t>apis</a:t>
            </a:r>
            <a:r>
              <a:rPr lang="en-US" sz="2200" dirty="0">
                <a:sym typeface="Wingdings" pitchFamily="2" charset="2"/>
              </a:rPr>
              <a:t> to do something else.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8452798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12667</TotalTime>
  <Words>2539</Words>
  <Application>Microsoft Macintosh PowerPoint</Application>
  <PresentationFormat>Widescreen</PresentationFormat>
  <Paragraphs>224</Paragraphs>
  <Slides>36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Gill Sans MT</vt:lpstr>
      <vt:lpstr>Wingdings</vt:lpstr>
      <vt:lpstr>Gallery</vt:lpstr>
      <vt:lpstr>Housekeeping</vt:lpstr>
      <vt:lpstr>A little Data science Humor</vt:lpstr>
      <vt:lpstr>Text Generation</vt:lpstr>
      <vt:lpstr>LSTM</vt:lpstr>
      <vt:lpstr>PowerPoint Presentation</vt:lpstr>
      <vt:lpstr>Why does this help and matter?</vt:lpstr>
      <vt:lpstr>Notes</vt:lpstr>
      <vt:lpstr>Key Idea – Here and Elsewhere</vt:lpstr>
      <vt:lpstr>Predicting Text</vt:lpstr>
      <vt:lpstr>PowerPoint Presentation</vt:lpstr>
      <vt:lpstr>Forget predicting, what about Generating Text?</vt:lpstr>
      <vt:lpstr>Text Generation Training Data</vt:lpstr>
      <vt:lpstr>Features and Targets</vt:lpstr>
      <vt:lpstr>Data Configuration</vt:lpstr>
      <vt:lpstr>Dataset Construction</vt:lpstr>
      <vt:lpstr>Data Preparation</vt:lpstr>
      <vt:lpstr>Padding</vt:lpstr>
      <vt:lpstr>Post Padding</vt:lpstr>
      <vt:lpstr>Sequences and Packing</vt:lpstr>
      <vt:lpstr>Dataset Construction</vt:lpstr>
      <vt:lpstr>Embedding</vt:lpstr>
      <vt:lpstr>PowerPoint Presentation</vt:lpstr>
      <vt:lpstr>Language Model Notes</vt:lpstr>
      <vt:lpstr>Training a Text Generator</vt:lpstr>
      <vt:lpstr>Temperature</vt:lpstr>
      <vt:lpstr>Temperature introduces Randomness</vt:lpstr>
      <vt:lpstr>Tune that Temp!</vt:lpstr>
      <vt:lpstr>Response Selection</vt:lpstr>
      <vt:lpstr>Lastly, Let’s Go Bi</vt:lpstr>
      <vt:lpstr>Lower your Expectations…</vt:lpstr>
      <vt:lpstr>Chatbotification</vt:lpstr>
      <vt:lpstr>But I want to have a good Model!</vt:lpstr>
      <vt:lpstr>Save that Weight</vt:lpstr>
      <vt:lpstr>In Real Usage…</vt:lpstr>
      <vt:lpstr>conclusion</vt:lpstr>
      <vt:lpstr>Do some Summer Stuff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43</cp:revision>
  <dcterms:created xsi:type="dcterms:W3CDTF">2024-04-18T19:29:58Z</dcterms:created>
  <dcterms:modified xsi:type="dcterms:W3CDTF">2026-04-09T18:55:34Z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2025-04-15T17:29:50Z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e26b7d8b-aea1-4775-8d48-b5e92216dc28</vt:lpwstr>
  </property>
  <property fmtid="{D5CDD505-2E9C-101B-9397-08002B2CF9AE}" pid="8" name="MSIP_Label_10877899-02b0-462c-b2a9-b7d15c4f96fe_ContentBits">
    <vt:lpwstr>0</vt:lpwstr>
  </property>
</Properties>
</file>